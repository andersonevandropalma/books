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2"/>
  </p:sldMasterIdLst>
  <p:sldIdLst>
    <p:sldId id="256" r:id="rId3"/>
    <p:sldId id="257" r:id="rId4"/>
    <p:sldId id="301" r:id="rId5"/>
    <p:sldId id="318" r:id="rId6"/>
    <p:sldId id="319" r:id="rId7"/>
    <p:sldId id="320" r:id="rId8"/>
    <p:sldId id="321" r:id="rId9"/>
    <p:sldId id="268" r:id="rId10"/>
    <p:sldId id="307" r:id="rId11"/>
    <p:sldId id="327" r:id="rId12"/>
    <p:sldId id="304" r:id="rId13"/>
    <p:sldId id="306" r:id="rId14"/>
    <p:sldId id="258" r:id="rId15"/>
    <p:sldId id="259" r:id="rId16"/>
    <p:sldId id="260" r:id="rId17"/>
    <p:sldId id="261" r:id="rId18"/>
    <p:sldId id="312" r:id="rId19"/>
    <p:sldId id="313" r:id="rId20"/>
    <p:sldId id="264" r:id="rId21"/>
    <p:sldId id="263" r:id="rId22"/>
    <p:sldId id="262" r:id="rId23"/>
    <p:sldId id="265" r:id="rId24"/>
    <p:sldId id="266" r:id="rId25"/>
    <p:sldId id="314" r:id="rId26"/>
    <p:sldId id="322" r:id="rId27"/>
    <p:sldId id="329" r:id="rId28"/>
    <p:sldId id="317" r:id="rId29"/>
    <p:sldId id="267" r:id="rId30"/>
    <p:sldId id="269" r:id="rId31"/>
    <p:sldId id="324" r:id="rId32"/>
    <p:sldId id="270" r:id="rId33"/>
    <p:sldId id="326" r:id="rId34"/>
    <p:sldId id="272" r:id="rId35"/>
    <p:sldId id="330" r:id="rId36"/>
    <p:sldId id="274" r:id="rId37"/>
    <p:sldId id="275" r:id="rId38"/>
    <p:sldId id="277" r:id="rId39"/>
    <p:sldId id="276" r:id="rId40"/>
    <p:sldId id="325" r:id="rId41"/>
    <p:sldId id="279" r:id="rId42"/>
    <p:sldId id="278" r:id="rId43"/>
    <p:sldId id="328" r:id="rId44"/>
    <p:sldId id="280" r:id="rId45"/>
    <p:sldId id="282" r:id="rId46"/>
    <p:sldId id="283" r:id="rId47"/>
    <p:sldId id="284" r:id="rId48"/>
    <p:sldId id="285" r:id="rId49"/>
    <p:sldId id="286" r:id="rId50"/>
    <p:sldId id="287" r:id="rId51"/>
    <p:sldId id="291" r:id="rId52"/>
    <p:sldId id="292" r:id="rId53"/>
    <p:sldId id="300" r:id="rId54"/>
    <p:sldId id="290" r:id="rId55"/>
    <p:sldId id="293" r:id="rId56"/>
    <p:sldId id="295" r:id="rId57"/>
    <p:sldId id="288" r:id="rId58"/>
    <p:sldId id="289" r:id="rId59"/>
    <p:sldId id="296" r:id="rId60"/>
    <p:sldId id="297" r:id="rId61"/>
    <p:sldId id="298" r:id="rId62"/>
    <p:sldId id="299" r:id="rId6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xmlns:mc="http://schemas.openxmlformats.org/markup-compatibility/2006" xmlns:a14="http://schemas.microsoft.com/office/drawing/2007/7/7/main" val="EB641B" mc:Ignorable=""/>
  </p:clrMru>
  <p:extLst>
    <p:ext uri="{E76CE94A-603C-4142-B9EB-6D1370010A27}">
      <p14:discardImageEditData xmlns:p14="http://schemas.microsoft.com/office/powerpoint/2007/7/12/main" val="0"/>
    </p:ext>
    <p:ext uri="{D31A062A-798A-4329-ABDD-BBA856620510}">
      <p14:defaultImageDpi xmlns:p14="http://schemas.microsoft.com/office/powerpoint/2007/7/12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>
      <p:cViewPr>
        <p:scale>
          <a:sx n="60" d="100"/>
          <a:sy n="60" d="100"/>
        </p:scale>
        <p:origin x="-1164" y="-3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17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pt-BR"/>
  <c:roundedCorners val="0"/>
  <mc:AlternateContent xmlns:mc="http://schemas.openxmlformats.org/markup-compatibility/2006">
    <mc:Choice xmlns:c14="http://schemas.openxmlformats.org/drawingml/2008/10/chart" Requires="c14">
      <c14:style val="119"/>
    </mc:Choice>
    <mc:Fallback>
      <c:style val="19"/>
    </mc:Fallback>
  </mc:AlternateContent>
  <c:chart>
    <c:title>
      <c:tx>
        <c:rich>
          <a:bodyPr/>
          <a:lstStyle/>
          <a:p>
            <a:pPr>
              <a:defRPr sz="2400"/>
            </a:pPr>
            <a:r>
              <a:rPr lang="en-US" sz="2400" dirty="0" smtClean="0"/>
              <a:t>Taxa de Cliques </a:t>
            </a:r>
            <a:r>
              <a:rPr lang="en-US" sz="2400" dirty="0" err="1" smtClean="0"/>
              <a:t>em</a:t>
            </a:r>
            <a:r>
              <a:rPr lang="en-US" sz="2400" dirty="0" smtClean="0"/>
              <a:t> 2008 – </a:t>
            </a:r>
            <a:r>
              <a:rPr lang="en-US" sz="2400" dirty="0" err="1" smtClean="0"/>
              <a:t>Folha</a:t>
            </a:r>
            <a:r>
              <a:rPr lang="en-US" sz="2400" dirty="0" smtClean="0"/>
              <a:t> de São Paulo</a:t>
            </a:r>
            <a:endParaRPr lang="en-US" sz="2400" dirty="0"/>
          </a:p>
        </c:rich>
      </c:tx>
      <c:layout/>
      <c:overlay val="0"/>
    </c:title>
    <c:autoTitleDeleted val="0"/>
    <c:view3D>
      <c:rotX val="30"/>
      <c:rotY val="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Cliques</c:v>
                </c:pt>
              </c:strCache>
            </c:strRef>
          </c:tx>
          <c:dPt>
            <c:idx val="0"/>
            <c:bubble3D val="0"/>
            <c:spPr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c:spPr>
          </c:dPt>
          <c:dLbls>
            <c:txPr>
              <a:bodyPr/>
              <a:lstStyle/>
              <a:p>
                <a:pPr>
                  <a:defRPr sz="2400" b="1"/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SEO</c:v>
                </c:pt>
                <c:pt idx="1">
                  <c:v>SEM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</c:dLbls>
      </c:pie3DChart>
    </c:plotArea>
    <c:plotVisOnly val="1"/>
    <c:dispBlanksAs val="zero"/>
    <c:showDLblsOverMax val="0"/>
  </c:chart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7428AE-99DE-4957-AE3F-033E1474F3B9}" type="doc">
      <dgm:prSet loTypeId="urn:microsoft.com/office/officeart/2005/8/layout/gear1" loCatId="process" qsTypeId="urn:microsoft.com/office/officeart/2005/8/quickstyle/simple2" qsCatId="simple" csTypeId="urn:microsoft.com/office/officeart/2005/8/colors/colorful1" csCatId="colorful" phldr="1"/>
      <dgm:spPr/>
    </dgm:pt>
    <dgm:pt modelId="{9A0F2C9A-872B-47EF-9941-1BE68D78A2F1}">
      <dgm:prSet phldrT="[Text]"/>
      <dgm:spPr/>
      <dgm:t>
        <a:bodyPr/>
        <a:lstStyle/>
        <a:p>
          <a:r>
            <a:rPr lang="pt-BR" b="1" dirty="0" smtClean="0"/>
            <a:t>Compreender</a:t>
          </a:r>
          <a:endParaRPr lang="pt-BR" b="1" dirty="0"/>
        </a:p>
      </dgm:t>
    </dgm:pt>
    <dgm:pt modelId="{DC2E1BE8-EE90-43C3-B2B8-59BBF1E4E4EB}" type="parTrans" cxnId="{87794145-3400-47AA-B093-6F52CDB3F27B}">
      <dgm:prSet/>
      <dgm:spPr/>
      <dgm:t>
        <a:bodyPr/>
        <a:lstStyle/>
        <a:p>
          <a:endParaRPr lang="pt-BR"/>
        </a:p>
      </dgm:t>
    </dgm:pt>
    <dgm:pt modelId="{28E1E574-7D6B-41C9-AA58-79E66E1A8AA9}" type="sibTrans" cxnId="{87794145-3400-47AA-B093-6F52CDB3F27B}">
      <dgm:prSet/>
      <dgm:spPr/>
      <dgm:t>
        <a:bodyPr/>
        <a:lstStyle/>
        <a:p>
          <a:endParaRPr lang="pt-BR"/>
        </a:p>
      </dgm:t>
    </dgm:pt>
    <dgm:pt modelId="{637FE5D1-0907-46CF-B422-BE27AEBBE503}">
      <dgm:prSet phldrT="[Text]"/>
      <dgm:spPr/>
      <dgm:t>
        <a:bodyPr/>
        <a:lstStyle/>
        <a:p>
          <a:r>
            <a:rPr lang="pt-BR" b="1" dirty="0" smtClean="0"/>
            <a:t>Anunciar</a:t>
          </a:r>
          <a:endParaRPr lang="pt-BR" b="1" dirty="0"/>
        </a:p>
      </dgm:t>
    </dgm:pt>
    <dgm:pt modelId="{ECACCC4E-0BE7-4E9F-82F6-8483F8ED9665}" type="parTrans" cxnId="{88585872-5478-4CBD-A211-4A77E027A1DB}">
      <dgm:prSet/>
      <dgm:spPr/>
      <dgm:t>
        <a:bodyPr/>
        <a:lstStyle/>
        <a:p>
          <a:endParaRPr lang="pt-BR"/>
        </a:p>
      </dgm:t>
    </dgm:pt>
    <dgm:pt modelId="{41763A82-7473-42A1-A404-8ABA88CC7915}" type="sibTrans" cxnId="{88585872-5478-4CBD-A211-4A77E027A1DB}">
      <dgm:prSet/>
      <dgm:spPr/>
      <dgm:t>
        <a:bodyPr/>
        <a:lstStyle/>
        <a:p>
          <a:endParaRPr lang="pt-BR"/>
        </a:p>
      </dgm:t>
    </dgm:pt>
    <dgm:pt modelId="{FB79F001-4047-4663-8314-27DA2919B580}">
      <dgm:prSet phldrT="[Text]"/>
      <dgm:spPr/>
      <dgm:t>
        <a:bodyPr/>
        <a:lstStyle/>
        <a:p>
          <a:r>
            <a:rPr lang="pt-BR" b="1" dirty="0" smtClean="0"/>
            <a:t>Vender</a:t>
          </a:r>
          <a:endParaRPr lang="pt-BR" b="1" dirty="0"/>
        </a:p>
      </dgm:t>
    </dgm:pt>
    <dgm:pt modelId="{9D9AF3A0-76B3-4C38-835D-86AFF3BF5211}" type="parTrans" cxnId="{1E0A6391-8B70-4E82-8534-A47F45588D22}">
      <dgm:prSet/>
      <dgm:spPr/>
      <dgm:t>
        <a:bodyPr/>
        <a:lstStyle/>
        <a:p>
          <a:endParaRPr lang="pt-BR"/>
        </a:p>
      </dgm:t>
    </dgm:pt>
    <dgm:pt modelId="{D25C07DA-FCA8-424E-ACC4-249EBAB261D9}" type="sibTrans" cxnId="{1E0A6391-8B70-4E82-8534-A47F45588D22}">
      <dgm:prSet/>
      <dgm:spPr/>
      <dgm:t>
        <a:bodyPr/>
        <a:lstStyle/>
        <a:p>
          <a:endParaRPr lang="pt-BR"/>
        </a:p>
      </dgm:t>
    </dgm:pt>
    <dgm:pt modelId="{F2533B29-9724-4659-9080-538C07C3DC3A}" type="pres">
      <dgm:prSet presAssocID="{897428AE-99DE-4957-AE3F-033E1474F3B9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F54EB7B1-DD1F-46E6-93B0-D2A3625A7DDB}" type="pres">
      <dgm:prSet presAssocID="{9A0F2C9A-872B-47EF-9941-1BE68D78A2F1}" presName="gear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FBC439A-3B95-4DFA-80FE-6BD67D22D598}" type="pres">
      <dgm:prSet presAssocID="{9A0F2C9A-872B-47EF-9941-1BE68D78A2F1}" presName="gear1srcNode" presStyleLbl="node1" presStyleIdx="0" presStyleCnt="3"/>
      <dgm:spPr/>
    </dgm:pt>
    <dgm:pt modelId="{84BE4C46-AFC4-4005-9EA2-DDF7AB6CA19B}" type="pres">
      <dgm:prSet presAssocID="{9A0F2C9A-872B-47EF-9941-1BE68D78A2F1}" presName="gear1dstNode" presStyleLbl="node1" presStyleIdx="0" presStyleCnt="3"/>
      <dgm:spPr/>
    </dgm:pt>
    <dgm:pt modelId="{A38DFEE4-B200-4ABF-B0A6-3045E743CF34}" type="pres">
      <dgm:prSet presAssocID="{637FE5D1-0907-46CF-B422-BE27AEBBE503}" presName="gear2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F460E61-49FA-4962-ADAB-E0AC17A83424}" type="pres">
      <dgm:prSet presAssocID="{637FE5D1-0907-46CF-B422-BE27AEBBE503}" presName="gear2srcNode" presStyleLbl="node1" presStyleIdx="1" presStyleCnt="3"/>
      <dgm:spPr/>
    </dgm:pt>
    <dgm:pt modelId="{FB5CA016-CCB6-4973-B89C-504E3BB3F464}" type="pres">
      <dgm:prSet presAssocID="{637FE5D1-0907-46CF-B422-BE27AEBBE503}" presName="gear2dstNode" presStyleLbl="node1" presStyleIdx="1" presStyleCnt="3"/>
      <dgm:spPr/>
    </dgm:pt>
    <dgm:pt modelId="{AF693FC4-4AE3-4377-B769-9CFE8EB9932C}" type="pres">
      <dgm:prSet presAssocID="{FB79F001-4047-4663-8314-27DA2919B580}" presName="gear3" presStyleLbl="node1" presStyleIdx="2" presStyleCnt="3"/>
      <dgm:spPr/>
    </dgm:pt>
    <dgm:pt modelId="{5EAFEC48-5A38-4EEE-B8FB-8405F735FEE9}" type="pres">
      <dgm:prSet presAssocID="{FB79F001-4047-4663-8314-27DA2919B580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9D0EFD38-7C30-414F-97D4-35293BA88EF2}" type="pres">
      <dgm:prSet presAssocID="{FB79F001-4047-4663-8314-27DA2919B580}" presName="gear3srcNode" presStyleLbl="node1" presStyleIdx="2" presStyleCnt="3"/>
      <dgm:spPr/>
    </dgm:pt>
    <dgm:pt modelId="{AEAD8617-6C7B-46FB-8D8D-E86193DCDE58}" type="pres">
      <dgm:prSet presAssocID="{FB79F001-4047-4663-8314-27DA2919B580}" presName="gear3dstNode" presStyleLbl="node1" presStyleIdx="2" presStyleCnt="3"/>
      <dgm:spPr/>
    </dgm:pt>
    <dgm:pt modelId="{5D5488CE-63A4-46FB-80C1-22E476B90B5B}" type="pres">
      <dgm:prSet presAssocID="{28E1E574-7D6B-41C9-AA58-79E66E1A8AA9}" presName="connector1" presStyleLbl="sibTrans2D1" presStyleIdx="0" presStyleCnt="3"/>
      <dgm:spPr/>
    </dgm:pt>
    <dgm:pt modelId="{D06E7D1B-CD4F-4D99-AD9F-54E380840BBC}" type="pres">
      <dgm:prSet presAssocID="{41763A82-7473-42A1-A404-8ABA88CC7915}" presName="connector2" presStyleLbl="sibTrans2D1" presStyleIdx="1" presStyleCnt="3"/>
      <dgm:spPr/>
    </dgm:pt>
    <dgm:pt modelId="{10C38EB0-C700-49F7-93CF-C1BEA88012F0}" type="pres">
      <dgm:prSet presAssocID="{D25C07DA-FCA8-424E-ACC4-249EBAB261D9}" presName="connector3" presStyleLbl="sibTrans2D1" presStyleIdx="2" presStyleCnt="3"/>
      <dgm:spPr/>
    </dgm:pt>
  </dgm:ptLst>
  <dgm:cxnLst>
    <dgm:cxn modelId="{8253C2E0-EFB4-4464-9B3E-ED87585FA6E9}" type="presOf" srcId="{FB79F001-4047-4663-8314-27DA2919B580}" destId="{5EAFEC48-5A38-4EEE-B8FB-8405F735FEE9}" srcOrd="1" destOrd="0" presId="urn:microsoft.com/office/officeart/2005/8/layout/gear1"/>
    <dgm:cxn modelId="{88585872-5478-4CBD-A211-4A77E027A1DB}" srcId="{897428AE-99DE-4957-AE3F-033E1474F3B9}" destId="{637FE5D1-0907-46CF-B422-BE27AEBBE503}" srcOrd="1" destOrd="0" parTransId="{ECACCC4E-0BE7-4E9F-82F6-8483F8ED9665}" sibTransId="{41763A82-7473-42A1-A404-8ABA88CC7915}"/>
    <dgm:cxn modelId="{95A7F818-96A6-454B-9164-CD9D51D3D2BB}" type="presOf" srcId="{FB79F001-4047-4663-8314-27DA2919B580}" destId="{AEAD8617-6C7B-46FB-8D8D-E86193DCDE58}" srcOrd="3" destOrd="0" presId="urn:microsoft.com/office/officeart/2005/8/layout/gear1"/>
    <dgm:cxn modelId="{45B8246F-0B8C-4DDA-8968-9AB14A18B275}" type="presOf" srcId="{D25C07DA-FCA8-424E-ACC4-249EBAB261D9}" destId="{10C38EB0-C700-49F7-93CF-C1BEA88012F0}" srcOrd="0" destOrd="0" presId="urn:microsoft.com/office/officeart/2005/8/layout/gear1"/>
    <dgm:cxn modelId="{87794145-3400-47AA-B093-6F52CDB3F27B}" srcId="{897428AE-99DE-4957-AE3F-033E1474F3B9}" destId="{9A0F2C9A-872B-47EF-9941-1BE68D78A2F1}" srcOrd="0" destOrd="0" parTransId="{DC2E1BE8-EE90-43C3-B2B8-59BBF1E4E4EB}" sibTransId="{28E1E574-7D6B-41C9-AA58-79E66E1A8AA9}"/>
    <dgm:cxn modelId="{CBF451B4-CD57-469F-8BDC-21E32004F1D7}" type="presOf" srcId="{9A0F2C9A-872B-47EF-9941-1BE68D78A2F1}" destId="{F54EB7B1-DD1F-46E6-93B0-D2A3625A7DDB}" srcOrd="0" destOrd="0" presId="urn:microsoft.com/office/officeart/2005/8/layout/gear1"/>
    <dgm:cxn modelId="{506CC117-BCDD-4A2D-9DB2-CD019640D7C4}" type="presOf" srcId="{9A0F2C9A-872B-47EF-9941-1BE68D78A2F1}" destId="{BFBC439A-3B95-4DFA-80FE-6BD67D22D598}" srcOrd="1" destOrd="0" presId="urn:microsoft.com/office/officeart/2005/8/layout/gear1"/>
    <dgm:cxn modelId="{CE001479-04B1-4CBF-BFC7-667D5BAB94DD}" type="presOf" srcId="{897428AE-99DE-4957-AE3F-033E1474F3B9}" destId="{F2533B29-9724-4659-9080-538C07C3DC3A}" srcOrd="0" destOrd="0" presId="urn:microsoft.com/office/officeart/2005/8/layout/gear1"/>
    <dgm:cxn modelId="{41291F07-3FD7-4659-BAC1-9F86F816AA2C}" type="presOf" srcId="{41763A82-7473-42A1-A404-8ABA88CC7915}" destId="{D06E7D1B-CD4F-4D99-AD9F-54E380840BBC}" srcOrd="0" destOrd="0" presId="urn:microsoft.com/office/officeart/2005/8/layout/gear1"/>
    <dgm:cxn modelId="{4B0C81C2-41BD-4A74-8D67-E1C4899B4848}" type="presOf" srcId="{FB79F001-4047-4663-8314-27DA2919B580}" destId="{AF693FC4-4AE3-4377-B769-9CFE8EB9932C}" srcOrd="0" destOrd="0" presId="urn:microsoft.com/office/officeart/2005/8/layout/gear1"/>
    <dgm:cxn modelId="{7BFD8B44-0A01-4BF5-B8CC-29EA74621FC1}" type="presOf" srcId="{FB79F001-4047-4663-8314-27DA2919B580}" destId="{9D0EFD38-7C30-414F-97D4-35293BA88EF2}" srcOrd="2" destOrd="0" presId="urn:microsoft.com/office/officeart/2005/8/layout/gear1"/>
    <dgm:cxn modelId="{1E0A6391-8B70-4E82-8534-A47F45588D22}" srcId="{897428AE-99DE-4957-AE3F-033E1474F3B9}" destId="{FB79F001-4047-4663-8314-27DA2919B580}" srcOrd="2" destOrd="0" parTransId="{9D9AF3A0-76B3-4C38-835D-86AFF3BF5211}" sibTransId="{D25C07DA-FCA8-424E-ACC4-249EBAB261D9}"/>
    <dgm:cxn modelId="{3183F3F5-047E-4BC5-BBE5-F37706DFC97D}" type="presOf" srcId="{637FE5D1-0907-46CF-B422-BE27AEBBE503}" destId="{FB5CA016-CCB6-4973-B89C-504E3BB3F464}" srcOrd="2" destOrd="0" presId="urn:microsoft.com/office/officeart/2005/8/layout/gear1"/>
    <dgm:cxn modelId="{899F03C0-73E3-4848-9F77-2B03625E50E5}" type="presOf" srcId="{637FE5D1-0907-46CF-B422-BE27AEBBE503}" destId="{A38DFEE4-B200-4ABF-B0A6-3045E743CF34}" srcOrd="0" destOrd="0" presId="urn:microsoft.com/office/officeart/2005/8/layout/gear1"/>
    <dgm:cxn modelId="{A09372AC-C388-43BF-9BA9-A4BF05295007}" type="presOf" srcId="{9A0F2C9A-872B-47EF-9941-1BE68D78A2F1}" destId="{84BE4C46-AFC4-4005-9EA2-DDF7AB6CA19B}" srcOrd="2" destOrd="0" presId="urn:microsoft.com/office/officeart/2005/8/layout/gear1"/>
    <dgm:cxn modelId="{EF76B9AE-CD8A-4B3B-9DA4-26887D37EEFB}" type="presOf" srcId="{637FE5D1-0907-46CF-B422-BE27AEBBE503}" destId="{6F460E61-49FA-4962-ADAB-E0AC17A83424}" srcOrd="1" destOrd="0" presId="urn:microsoft.com/office/officeart/2005/8/layout/gear1"/>
    <dgm:cxn modelId="{FDF4480B-EDFD-4B3F-89EE-2862DA29CE0A}" type="presOf" srcId="{28E1E574-7D6B-41C9-AA58-79E66E1A8AA9}" destId="{5D5488CE-63A4-46FB-80C1-22E476B90B5B}" srcOrd="0" destOrd="0" presId="urn:microsoft.com/office/officeart/2005/8/layout/gear1"/>
    <dgm:cxn modelId="{87563437-D322-461C-B025-B9454D61205A}" type="presParOf" srcId="{F2533B29-9724-4659-9080-538C07C3DC3A}" destId="{F54EB7B1-DD1F-46E6-93B0-D2A3625A7DDB}" srcOrd="0" destOrd="0" presId="urn:microsoft.com/office/officeart/2005/8/layout/gear1"/>
    <dgm:cxn modelId="{7456A980-70DD-4C13-B8A5-6346BC0653D3}" type="presParOf" srcId="{F2533B29-9724-4659-9080-538C07C3DC3A}" destId="{BFBC439A-3B95-4DFA-80FE-6BD67D22D598}" srcOrd="1" destOrd="0" presId="urn:microsoft.com/office/officeart/2005/8/layout/gear1"/>
    <dgm:cxn modelId="{6FA865D4-652D-4AF9-91AD-158AB3470189}" type="presParOf" srcId="{F2533B29-9724-4659-9080-538C07C3DC3A}" destId="{84BE4C46-AFC4-4005-9EA2-DDF7AB6CA19B}" srcOrd="2" destOrd="0" presId="urn:microsoft.com/office/officeart/2005/8/layout/gear1"/>
    <dgm:cxn modelId="{8C12FEE6-DF4F-4B23-A724-52637DC84308}" type="presParOf" srcId="{F2533B29-9724-4659-9080-538C07C3DC3A}" destId="{A38DFEE4-B200-4ABF-B0A6-3045E743CF34}" srcOrd="3" destOrd="0" presId="urn:microsoft.com/office/officeart/2005/8/layout/gear1"/>
    <dgm:cxn modelId="{3DC04E0A-7044-4126-8B07-47F8C7551739}" type="presParOf" srcId="{F2533B29-9724-4659-9080-538C07C3DC3A}" destId="{6F460E61-49FA-4962-ADAB-E0AC17A83424}" srcOrd="4" destOrd="0" presId="urn:microsoft.com/office/officeart/2005/8/layout/gear1"/>
    <dgm:cxn modelId="{009DCA4B-5173-4B23-9D05-91C1E16F4B97}" type="presParOf" srcId="{F2533B29-9724-4659-9080-538C07C3DC3A}" destId="{FB5CA016-CCB6-4973-B89C-504E3BB3F464}" srcOrd="5" destOrd="0" presId="urn:microsoft.com/office/officeart/2005/8/layout/gear1"/>
    <dgm:cxn modelId="{E3D04237-C34F-47F0-A70B-64E3E69A2E41}" type="presParOf" srcId="{F2533B29-9724-4659-9080-538C07C3DC3A}" destId="{AF693FC4-4AE3-4377-B769-9CFE8EB9932C}" srcOrd="6" destOrd="0" presId="urn:microsoft.com/office/officeart/2005/8/layout/gear1"/>
    <dgm:cxn modelId="{62186616-6D42-4149-9D40-336C428C6DC6}" type="presParOf" srcId="{F2533B29-9724-4659-9080-538C07C3DC3A}" destId="{5EAFEC48-5A38-4EEE-B8FB-8405F735FEE9}" srcOrd="7" destOrd="0" presId="urn:microsoft.com/office/officeart/2005/8/layout/gear1"/>
    <dgm:cxn modelId="{44E96774-6CFA-45E6-9C7D-653C77D61ECC}" type="presParOf" srcId="{F2533B29-9724-4659-9080-538C07C3DC3A}" destId="{9D0EFD38-7C30-414F-97D4-35293BA88EF2}" srcOrd="8" destOrd="0" presId="urn:microsoft.com/office/officeart/2005/8/layout/gear1"/>
    <dgm:cxn modelId="{16B5F185-EB49-473D-A3F8-02A2A8E23D77}" type="presParOf" srcId="{F2533B29-9724-4659-9080-538C07C3DC3A}" destId="{AEAD8617-6C7B-46FB-8D8D-E86193DCDE58}" srcOrd="9" destOrd="0" presId="urn:microsoft.com/office/officeart/2005/8/layout/gear1"/>
    <dgm:cxn modelId="{7B7F47FE-B609-46DF-B50D-B2E23B7C399A}" type="presParOf" srcId="{F2533B29-9724-4659-9080-538C07C3DC3A}" destId="{5D5488CE-63A4-46FB-80C1-22E476B90B5B}" srcOrd="10" destOrd="0" presId="urn:microsoft.com/office/officeart/2005/8/layout/gear1"/>
    <dgm:cxn modelId="{A6608DC1-C1DE-4125-980D-3D6090144F45}" type="presParOf" srcId="{F2533B29-9724-4659-9080-538C07C3DC3A}" destId="{D06E7D1B-CD4F-4D99-AD9F-54E380840BBC}" srcOrd="11" destOrd="0" presId="urn:microsoft.com/office/officeart/2005/8/layout/gear1"/>
    <dgm:cxn modelId="{A8CB98E9-355B-4292-974A-F791A5F41C67}" type="presParOf" srcId="{F2533B29-9724-4659-9080-538C07C3DC3A}" destId="{10C38EB0-C700-49F7-93CF-C1BEA88012F0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9F22AD-3EF6-465A-887F-061C6BD2662E}" type="doc">
      <dgm:prSet loTypeId="urn:microsoft.com/office/officeart/2005/8/layout/bProcess3" loCatId="process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pt-BR"/>
        </a:p>
      </dgm:t>
    </dgm:pt>
    <dgm:pt modelId="{81440D06-56F8-4AAC-8D67-13565956A5F1}">
      <dgm:prSet phldrT="[Text]"/>
      <dgm:spPr/>
      <dgm:t>
        <a:bodyPr/>
        <a:lstStyle/>
        <a:p>
          <a:r>
            <a:rPr lang="pt-BR" dirty="0" smtClean="0"/>
            <a:t>Necessidade</a:t>
          </a:r>
          <a:endParaRPr lang="pt-BR" dirty="0"/>
        </a:p>
      </dgm:t>
    </dgm:pt>
    <dgm:pt modelId="{FBEDAC50-D075-4681-B3DA-156480C83914}" type="parTrans" cxnId="{7B5E6125-FE93-40D2-86A3-07B4596BAE27}">
      <dgm:prSet/>
      <dgm:spPr/>
      <dgm:t>
        <a:bodyPr/>
        <a:lstStyle/>
        <a:p>
          <a:endParaRPr lang="pt-BR"/>
        </a:p>
      </dgm:t>
    </dgm:pt>
    <dgm:pt modelId="{5DE7769D-56EA-4B74-9F55-2446049E6CBF}" type="sibTrans" cxnId="{7B5E6125-FE93-40D2-86A3-07B4596BAE27}">
      <dgm:prSet/>
      <dgm:spPr/>
      <dgm:t>
        <a:bodyPr/>
        <a:lstStyle/>
        <a:p>
          <a:endParaRPr lang="pt-BR"/>
        </a:p>
      </dgm:t>
    </dgm:pt>
    <dgm:pt modelId="{8EC9ACA9-3D05-4869-A597-ACC69AA8AAFB}">
      <dgm:prSet phldrT="[Text]"/>
      <dgm:spPr/>
      <dgm:t>
        <a:bodyPr/>
        <a:lstStyle/>
        <a:p>
          <a:r>
            <a:rPr lang="pt-BR" dirty="0" smtClean="0"/>
            <a:t>Público Alvo</a:t>
          </a:r>
          <a:endParaRPr lang="pt-BR" dirty="0"/>
        </a:p>
      </dgm:t>
    </dgm:pt>
    <dgm:pt modelId="{C86EE15F-F9E1-4DCF-BBC9-CF7FF6A2FD08}" type="parTrans" cxnId="{01C76BE8-E8CC-4624-82F6-0D31151B21D0}">
      <dgm:prSet/>
      <dgm:spPr/>
      <dgm:t>
        <a:bodyPr/>
        <a:lstStyle/>
        <a:p>
          <a:endParaRPr lang="pt-BR"/>
        </a:p>
      </dgm:t>
    </dgm:pt>
    <dgm:pt modelId="{932CCF62-6E4B-4058-A567-6E8FDE559A3A}" type="sibTrans" cxnId="{01C76BE8-E8CC-4624-82F6-0D31151B21D0}">
      <dgm:prSet/>
      <dgm:spPr/>
      <dgm:t>
        <a:bodyPr/>
        <a:lstStyle/>
        <a:p>
          <a:endParaRPr lang="pt-BR"/>
        </a:p>
      </dgm:t>
    </dgm:pt>
    <dgm:pt modelId="{70EBAB1F-1002-4356-8256-4F5975283714}">
      <dgm:prSet phldrT="[Text]"/>
      <dgm:spPr/>
      <dgm:t>
        <a:bodyPr/>
        <a:lstStyle/>
        <a:p>
          <a:r>
            <a:rPr lang="pt-BR" dirty="0" smtClean="0"/>
            <a:t>Conteúdo</a:t>
          </a:r>
          <a:endParaRPr lang="pt-BR" dirty="0"/>
        </a:p>
      </dgm:t>
    </dgm:pt>
    <dgm:pt modelId="{7275FC76-ADE6-4B5F-9E3B-A59EE462A93C}" type="parTrans" cxnId="{2E9BAB79-157C-4461-B9CB-CF41DF356603}">
      <dgm:prSet/>
      <dgm:spPr/>
      <dgm:t>
        <a:bodyPr/>
        <a:lstStyle/>
        <a:p>
          <a:endParaRPr lang="pt-BR"/>
        </a:p>
      </dgm:t>
    </dgm:pt>
    <dgm:pt modelId="{E464AEF4-D53E-4AE4-8954-B876456C2C9E}" type="sibTrans" cxnId="{2E9BAB79-157C-4461-B9CB-CF41DF356603}">
      <dgm:prSet/>
      <dgm:spPr/>
      <dgm:t>
        <a:bodyPr/>
        <a:lstStyle/>
        <a:p>
          <a:endParaRPr lang="pt-BR"/>
        </a:p>
      </dgm:t>
    </dgm:pt>
    <dgm:pt modelId="{152A3958-F41A-4037-842C-AC98502A3015}">
      <dgm:prSet phldrT="[Text]"/>
      <dgm:spPr/>
      <dgm:t>
        <a:bodyPr/>
        <a:lstStyle/>
        <a:p>
          <a:r>
            <a:rPr lang="pt-BR" dirty="0" smtClean="0"/>
            <a:t>Codificação</a:t>
          </a:r>
          <a:endParaRPr lang="pt-BR" dirty="0"/>
        </a:p>
      </dgm:t>
    </dgm:pt>
    <dgm:pt modelId="{D43CB871-B3FC-4885-8F78-F4D4DD9316B3}" type="parTrans" cxnId="{CE205D72-6E27-4041-B5CB-C8ED4A059C58}">
      <dgm:prSet/>
      <dgm:spPr/>
      <dgm:t>
        <a:bodyPr/>
        <a:lstStyle/>
        <a:p>
          <a:endParaRPr lang="pt-BR"/>
        </a:p>
      </dgm:t>
    </dgm:pt>
    <dgm:pt modelId="{798D4F4A-8578-4EC9-80F2-96DDA1665F4C}" type="sibTrans" cxnId="{CE205D72-6E27-4041-B5CB-C8ED4A059C58}">
      <dgm:prSet/>
      <dgm:spPr/>
      <dgm:t>
        <a:bodyPr/>
        <a:lstStyle/>
        <a:p>
          <a:endParaRPr lang="pt-BR"/>
        </a:p>
      </dgm:t>
    </dgm:pt>
    <dgm:pt modelId="{38C0F89B-333C-4106-ADBB-C38CA175F230}">
      <dgm:prSet phldrT="[Text]"/>
      <dgm:spPr/>
      <dgm:t>
        <a:bodyPr/>
        <a:lstStyle/>
        <a:p>
          <a:r>
            <a:rPr lang="pt-BR" dirty="0" smtClean="0"/>
            <a:t>Publicação</a:t>
          </a:r>
          <a:endParaRPr lang="pt-BR" dirty="0"/>
        </a:p>
      </dgm:t>
    </dgm:pt>
    <dgm:pt modelId="{063BEE19-791B-476E-8911-A9A8693C6D44}" type="parTrans" cxnId="{4BC0EB16-0DC1-4B7D-B287-21DDD83EACF0}">
      <dgm:prSet/>
      <dgm:spPr/>
      <dgm:t>
        <a:bodyPr/>
        <a:lstStyle/>
        <a:p>
          <a:endParaRPr lang="pt-BR"/>
        </a:p>
      </dgm:t>
    </dgm:pt>
    <dgm:pt modelId="{12CED33C-530D-4021-8E53-4F049D211B77}" type="sibTrans" cxnId="{4BC0EB16-0DC1-4B7D-B287-21DDD83EACF0}">
      <dgm:prSet/>
      <dgm:spPr/>
      <dgm:t>
        <a:bodyPr/>
        <a:lstStyle/>
        <a:p>
          <a:endParaRPr lang="pt-BR"/>
        </a:p>
      </dgm:t>
    </dgm:pt>
    <dgm:pt modelId="{8273174F-EB08-42FA-AABD-C3FD7FE6D81E}">
      <dgm:prSet phldrT="[Text]"/>
      <dgm:spPr/>
      <dgm:t>
        <a:bodyPr/>
        <a:lstStyle/>
        <a:p>
          <a:r>
            <a:rPr lang="pt-BR" dirty="0" smtClean="0"/>
            <a:t>Otimização</a:t>
          </a:r>
          <a:endParaRPr lang="pt-BR" dirty="0"/>
        </a:p>
      </dgm:t>
    </dgm:pt>
    <dgm:pt modelId="{0238E6FB-0467-47B8-A765-891A2EA1BCBF}" type="parTrans" cxnId="{8A82542B-1ACF-4522-8600-A75EF8E1881F}">
      <dgm:prSet/>
      <dgm:spPr/>
      <dgm:t>
        <a:bodyPr/>
        <a:lstStyle/>
        <a:p>
          <a:endParaRPr lang="pt-BR"/>
        </a:p>
      </dgm:t>
    </dgm:pt>
    <dgm:pt modelId="{A7F7CA77-21F5-4573-B0D3-BB0E41A08539}" type="sibTrans" cxnId="{8A82542B-1ACF-4522-8600-A75EF8E1881F}">
      <dgm:prSet/>
      <dgm:spPr/>
      <dgm:t>
        <a:bodyPr/>
        <a:lstStyle/>
        <a:p>
          <a:endParaRPr lang="pt-BR"/>
        </a:p>
      </dgm:t>
    </dgm:pt>
    <dgm:pt modelId="{C3027FF8-7BFE-470A-9ECE-56531D5E7321}">
      <dgm:prSet phldrT="[Text]"/>
      <dgm:spPr/>
      <dgm:t>
        <a:bodyPr/>
        <a:lstStyle/>
        <a:p>
          <a:r>
            <a:rPr lang="pt-BR" dirty="0" smtClean="0"/>
            <a:t>Manutenção</a:t>
          </a:r>
          <a:endParaRPr lang="pt-BR" dirty="0"/>
        </a:p>
      </dgm:t>
    </dgm:pt>
    <dgm:pt modelId="{E155279F-D40D-481B-A455-58EBE44BA9B3}" type="parTrans" cxnId="{DBF3F5F6-2899-4A16-BB9A-C6E92BA94ED0}">
      <dgm:prSet/>
      <dgm:spPr/>
      <dgm:t>
        <a:bodyPr/>
        <a:lstStyle/>
        <a:p>
          <a:endParaRPr lang="pt-BR"/>
        </a:p>
      </dgm:t>
    </dgm:pt>
    <dgm:pt modelId="{A50E4D2B-4FB4-43C8-A2DF-98DA3EF4AD54}" type="sibTrans" cxnId="{DBF3F5F6-2899-4A16-BB9A-C6E92BA94ED0}">
      <dgm:prSet/>
      <dgm:spPr/>
      <dgm:t>
        <a:bodyPr/>
        <a:lstStyle/>
        <a:p>
          <a:endParaRPr lang="pt-BR"/>
        </a:p>
      </dgm:t>
    </dgm:pt>
    <dgm:pt modelId="{CA384774-6266-4098-B7F6-2460BBA40A10}">
      <dgm:prSet phldrT="[Text]"/>
      <dgm:spPr/>
      <dgm:t>
        <a:bodyPr/>
        <a:lstStyle/>
        <a:p>
          <a:r>
            <a:rPr lang="pt-BR" dirty="0" smtClean="0"/>
            <a:t>Arquitetura</a:t>
          </a:r>
          <a:endParaRPr lang="pt-BR" dirty="0"/>
        </a:p>
      </dgm:t>
    </dgm:pt>
    <dgm:pt modelId="{FDE35496-894A-4B35-A8F2-27D0A681063B}" type="parTrans" cxnId="{8EFF343C-B405-4EC4-8F5A-02FCD31AE84C}">
      <dgm:prSet/>
      <dgm:spPr/>
      <dgm:t>
        <a:bodyPr/>
        <a:lstStyle/>
        <a:p>
          <a:endParaRPr lang="pt-BR"/>
        </a:p>
      </dgm:t>
    </dgm:pt>
    <dgm:pt modelId="{4EA8F938-9409-40DD-B123-DFE3E1C5A9EE}" type="sibTrans" cxnId="{8EFF343C-B405-4EC4-8F5A-02FCD31AE84C}">
      <dgm:prSet/>
      <dgm:spPr/>
      <dgm:t>
        <a:bodyPr/>
        <a:lstStyle/>
        <a:p>
          <a:endParaRPr lang="pt-BR"/>
        </a:p>
      </dgm:t>
    </dgm:pt>
    <dgm:pt modelId="{E87A1A87-5CBD-4DD0-9965-ECCF61807C77}">
      <dgm:prSet phldrT="[Text]"/>
      <dgm:spPr/>
      <dgm:t>
        <a:bodyPr/>
        <a:lstStyle/>
        <a:p>
          <a:r>
            <a:rPr lang="pt-BR" dirty="0" smtClean="0"/>
            <a:t>Promoção</a:t>
          </a:r>
          <a:endParaRPr lang="pt-BR" dirty="0"/>
        </a:p>
      </dgm:t>
    </dgm:pt>
    <dgm:pt modelId="{8CBCAC53-1C25-4281-95FB-82D5FBC05B83}" type="parTrans" cxnId="{135A6A33-1E75-4BC7-8C66-5F325E08F053}">
      <dgm:prSet/>
      <dgm:spPr/>
    </dgm:pt>
    <dgm:pt modelId="{CCFDDCB2-EC50-4BED-80BC-0EA25879E40D}" type="sibTrans" cxnId="{135A6A33-1E75-4BC7-8C66-5F325E08F053}">
      <dgm:prSet/>
      <dgm:spPr/>
      <dgm:t>
        <a:bodyPr/>
        <a:lstStyle/>
        <a:p>
          <a:endParaRPr lang="pt-BR"/>
        </a:p>
      </dgm:t>
    </dgm:pt>
    <dgm:pt modelId="{21A4B1C6-2FB4-44B8-886D-FC6D43D49DB4}" type="pres">
      <dgm:prSet presAssocID="{A79F22AD-3EF6-465A-887F-061C6BD2662E}" presName="Name0" presStyleCnt="0">
        <dgm:presLayoutVars>
          <dgm:dir/>
          <dgm:resizeHandles val="exact"/>
        </dgm:presLayoutVars>
      </dgm:prSet>
      <dgm:spPr/>
    </dgm:pt>
    <dgm:pt modelId="{9CD8ED68-EDF9-45E7-8808-2993F876B43E}" type="pres">
      <dgm:prSet presAssocID="{81440D06-56F8-4AAC-8D67-13565956A5F1}" presName="node" presStyleLbl="node1" presStyleIdx="0" presStyleCnt="9">
        <dgm:presLayoutVars>
          <dgm:bulletEnabled val="1"/>
        </dgm:presLayoutVars>
      </dgm:prSet>
      <dgm:spPr/>
    </dgm:pt>
    <dgm:pt modelId="{5B92B9F7-3C2F-4311-A44E-FFBE25B71055}" type="pres">
      <dgm:prSet presAssocID="{5DE7769D-56EA-4B74-9F55-2446049E6CBF}" presName="sibTrans" presStyleLbl="sibTrans1D1" presStyleIdx="0" presStyleCnt="8"/>
      <dgm:spPr/>
    </dgm:pt>
    <dgm:pt modelId="{44EC91BE-4F11-498D-9022-3D060A9FEA9E}" type="pres">
      <dgm:prSet presAssocID="{5DE7769D-56EA-4B74-9F55-2446049E6CBF}" presName="connectorText" presStyleLbl="sibTrans1D1" presStyleIdx="0" presStyleCnt="8"/>
      <dgm:spPr/>
    </dgm:pt>
    <dgm:pt modelId="{2E582D2B-BD61-4035-94BD-7A239D3BF4B2}" type="pres">
      <dgm:prSet presAssocID="{8EC9ACA9-3D05-4869-A597-ACC69AA8AAFB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83B10F1-1E23-4E17-A975-AD4A48318C0A}" type="pres">
      <dgm:prSet presAssocID="{932CCF62-6E4B-4058-A567-6E8FDE559A3A}" presName="sibTrans" presStyleLbl="sibTrans1D1" presStyleIdx="1" presStyleCnt="8"/>
      <dgm:spPr/>
    </dgm:pt>
    <dgm:pt modelId="{78643943-18C5-4DA3-93A6-F5474416EBFD}" type="pres">
      <dgm:prSet presAssocID="{932CCF62-6E4B-4058-A567-6E8FDE559A3A}" presName="connectorText" presStyleLbl="sibTrans1D1" presStyleIdx="1" presStyleCnt="8"/>
      <dgm:spPr/>
    </dgm:pt>
    <dgm:pt modelId="{D4199E71-F004-447B-93DA-EC9D59E1C207}" type="pres">
      <dgm:prSet presAssocID="{70EBAB1F-1002-4356-8256-4F5975283714}" presName="node" presStyleLbl="node1" presStyleIdx="2" presStyleCnt="9">
        <dgm:presLayoutVars>
          <dgm:bulletEnabled val="1"/>
        </dgm:presLayoutVars>
      </dgm:prSet>
      <dgm:spPr/>
    </dgm:pt>
    <dgm:pt modelId="{A0D228BD-8549-4D76-8904-2718CC3C13FA}" type="pres">
      <dgm:prSet presAssocID="{E464AEF4-D53E-4AE4-8954-B876456C2C9E}" presName="sibTrans" presStyleLbl="sibTrans1D1" presStyleIdx="2" presStyleCnt="8"/>
      <dgm:spPr/>
    </dgm:pt>
    <dgm:pt modelId="{7F4C37F2-3CF9-4BB7-B6AE-CA917670A3AA}" type="pres">
      <dgm:prSet presAssocID="{E464AEF4-D53E-4AE4-8954-B876456C2C9E}" presName="connectorText" presStyleLbl="sibTrans1D1" presStyleIdx="2" presStyleCnt="8"/>
      <dgm:spPr/>
    </dgm:pt>
    <dgm:pt modelId="{56F8F499-1E4F-459E-A0A8-B609D081F1DB}" type="pres">
      <dgm:prSet presAssocID="{CA384774-6266-4098-B7F6-2460BBA40A10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F7BE013-B7FF-4D50-BED6-93AED0A0009E}" type="pres">
      <dgm:prSet presAssocID="{4EA8F938-9409-40DD-B123-DFE3E1C5A9EE}" presName="sibTrans" presStyleLbl="sibTrans1D1" presStyleIdx="3" presStyleCnt="8"/>
      <dgm:spPr/>
    </dgm:pt>
    <dgm:pt modelId="{20BCA1D1-AD51-4A4D-974C-30B86A41E6B3}" type="pres">
      <dgm:prSet presAssocID="{4EA8F938-9409-40DD-B123-DFE3E1C5A9EE}" presName="connectorText" presStyleLbl="sibTrans1D1" presStyleIdx="3" presStyleCnt="8"/>
      <dgm:spPr/>
    </dgm:pt>
    <dgm:pt modelId="{319F75DD-60AB-41BD-8ACB-1138A103D492}" type="pres">
      <dgm:prSet presAssocID="{152A3958-F41A-4037-842C-AC98502A3015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5191B2C-C400-47A3-9C0D-313075F33769}" type="pres">
      <dgm:prSet presAssocID="{798D4F4A-8578-4EC9-80F2-96DDA1665F4C}" presName="sibTrans" presStyleLbl="sibTrans1D1" presStyleIdx="4" presStyleCnt="8"/>
      <dgm:spPr/>
    </dgm:pt>
    <dgm:pt modelId="{4DDFFEA6-158C-4F7A-B7B6-BC1755BF7616}" type="pres">
      <dgm:prSet presAssocID="{798D4F4A-8578-4EC9-80F2-96DDA1665F4C}" presName="connectorText" presStyleLbl="sibTrans1D1" presStyleIdx="4" presStyleCnt="8"/>
      <dgm:spPr/>
    </dgm:pt>
    <dgm:pt modelId="{F2CBD17C-E5B5-497F-8CBD-3B93F8083173}" type="pres">
      <dgm:prSet presAssocID="{8273174F-EB08-42FA-AABD-C3FD7FE6D81E}" presName="node" presStyleLbl="node1" presStyleIdx="5" presStyleCnt="9">
        <dgm:presLayoutVars>
          <dgm:bulletEnabled val="1"/>
        </dgm:presLayoutVars>
      </dgm:prSet>
      <dgm:spPr/>
    </dgm:pt>
    <dgm:pt modelId="{7FD320D5-FB4E-450F-BF0A-FFBFCBF9C068}" type="pres">
      <dgm:prSet presAssocID="{A7F7CA77-21F5-4573-B0D3-BB0E41A08539}" presName="sibTrans" presStyleLbl="sibTrans1D1" presStyleIdx="5" presStyleCnt="8"/>
      <dgm:spPr/>
    </dgm:pt>
    <dgm:pt modelId="{D884FA65-D1B8-4E76-8A3E-FE6EFC3B5A05}" type="pres">
      <dgm:prSet presAssocID="{A7F7CA77-21F5-4573-B0D3-BB0E41A08539}" presName="connectorText" presStyleLbl="sibTrans1D1" presStyleIdx="5" presStyleCnt="8"/>
      <dgm:spPr/>
    </dgm:pt>
    <dgm:pt modelId="{B700EFAA-9E34-4C77-A8FA-BA5DF909C538}" type="pres">
      <dgm:prSet presAssocID="{38C0F89B-333C-4106-ADBB-C38CA175F230}" presName="node" presStyleLbl="node1" presStyleIdx="6" presStyleCnt="9">
        <dgm:presLayoutVars>
          <dgm:bulletEnabled val="1"/>
        </dgm:presLayoutVars>
      </dgm:prSet>
      <dgm:spPr/>
    </dgm:pt>
    <dgm:pt modelId="{465454E7-7A00-406B-84F4-2D55D858345E}" type="pres">
      <dgm:prSet presAssocID="{12CED33C-530D-4021-8E53-4F049D211B77}" presName="sibTrans" presStyleLbl="sibTrans1D1" presStyleIdx="6" presStyleCnt="8"/>
      <dgm:spPr/>
    </dgm:pt>
    <dgm:pt modelId="{1535DB64-3822-40B0-99AD-127064352DB9}" type="pres">
      <dgm:prSet presAssocID="{12CED33C-530D-4021-8E53-4F049D211B77}" presName="connectorText" presStyleLbl="sibTrans1D1" presStyleIdx="6" presStyleCnt="8"/>
      <dgm:spPr/>
    </dgm:pt>
    <dgm:pt modelId="{3FA78C0C-5474-466F-897F-21E508F15DDE}" type="pres">
      <dgm:prSet presAssocID="{E87A1A87-5CBD-4DD0-9965-ECCF61807C77}" presName="node" presStyleLbl="node1" presStyleIdx="7" presStyleCnt="9">
        <dgm:presLayoutVars>
          <dgm:bulletEnabled val="1"/>
        </dgm:presLayoutVars>
      </dgm:prSet>
      <dgm:spPr/>
    </dgm:pt>
    <dgm:pt modelId="{A923CD3A-7DF2-40F8-A521-EF1506589F66}" type="pres">
      <dgm:prSet presAssocID="{CCFDDCB2-EC50-4BED-80BC-0EA25879E40D}" presName="sibTrans" presStyleLbl="sibTrans1D1" presStyleIdx="7" presStyleCnt="8"/>
      <dgm:spPr/>
    </dgm:pt>
    <dgm:pt modelId="{65C075D4-809C-42BE-A764-24607FBC24EA}" type="pres">
      <dgm:prSet presAssocID="{CCFDDCB2-EC50-4BED-80BC-0EA25879E40D}" presName="connectorText" presStyleLbl="sibTrans1D1" presStyleIdx="7" presStyleCnt="8"/>
      <dgm:spPr/>
    </dgm:pt>
    <dgm:pt modelId="{8A5226B8-FA75-455B-AF42-B702778C08A7}" type="pres">
      <dgm:prSet presAssocID="{C3027FF8-7BFE-470A-9ECE-56531D5E7321}" presName="node" presStyleLbl="node1" presStyleIdx="8" presStyleCnt="9">
        <dgm:presLayoutVars>
          <dgm:bulletEnabled val="1"/>
        </dgm:presLayoutVars>
      </dgm:prSet>
      <dgm:spPr/>
    </dgm:pt>
  </dgm:ptLst>
  <dgm:cxnLst>
    <dgm:cxn modelId="{9B0BD93F-9843-4027-A5D3-CA247778F9AA}" type="presOf" srcId="{CCFDDCB2-EC50-4BED-80BC-0EA25879E40D}" destId="{A923CD3A-7DF2-40F8-A521-EF1506589F66}" srcOrd="0" destOrd="0" presId="urn:microsoft.com/office/officeart/2005/8/layout/bProcess3"/>
    <dgm:cxn modelId="{2BE14189-3916-4ADE-A26C-415C2F52E9AA}" type="presOf" srcId="{932CCF62-6E4B-4058-A567-6E8FDE559A3A}" destId="{78643943-18C5-4DA3-93A6-F5474416EBFD}" srcOrd="1" destOrd="0" presId="urn:microsoft.com/office/officeart/2005/8/layout/bProcess3"/>
    <dgm:cxn modelId="{BD9A0782-7FD0-412F-9464-56568E344B44}" type="presOf" srcId="{38C0F89B-333C-4106-ADBB-C38CA175F230}" destId="{B700EFAA-9E34-4C77-A8FA-BA5DF909C538}" srcOrd="0" destOrd="0" presId="urn:microsoft.com/office/officeart/2005/8/layout/bProcess3"/>
    <dgm:cxn modelId="{4541B0F7-9416-429C-8C49-82E3B1E0872A}" type="presOf" srcId="{5DE7769D-56EA-4B74-9F55-2446049E6CBF}" destId="{5B92B9F7-3C2F-4311-A44E-FFBE25B71055}" srcOrd="0" destOrd="0" presId="urn:microsoft.com/office/officeart/2005/8/layout/bProcess3"/>
    <dgm:cxn modelId="{8A82542B-1ACF-4522-8600-A75EF8E1881F}" srcId="{A79F22AD-3EF6-465A-887F-061C6BD2662E}" destId="{8273174F-EB08-42FA-AABD-C3FD7FE6D81E}" srcOrd="5" destOrd="0" parTransId="{0238E6FB-0467-47B8-A765-891A2EA1BCBF}" sibTransId="{A7F7CA77-21F5-4573-B0D3-BB0E41A08539}"/>
    <dgm:cxn modelId="{2A11D294-9962-4D4B-9791-8172B599A2F3}" type="presOf" srcId="{4EA8F938-9409-40DD-B123-DFE3E1C5A9EE}" destId="{20BCA1D1-AD51-4A4D-974C-30B86A41E6B3}" srcOrd="1" destOrd="0" presId="urn:microsoft.com/office/officeart/2005/8/layout/bProcess3"/>
    <dgm:cxn modelId="{CB358AA7-9E1D-4A50-B727-53F45FC17710}" type="presOf" srcId="{CA384774-6266-4098-B7F6-2460BBA40A10}" destId="{56F8F499-1E4F-459E-A0A8-B609D081F1DB}" srcOrd="0" destOrd="0" presId="urn:microsoft.com/office/officeart/2005/8/layout/bProcess3"/>
    <dgm:cxn modelId="{C8E16EB9-3C6A-4C08-AE0C-A0E79C283C83}" type="presOf" srcId="{8EC9ACA9-3D05-4869-A597-ACC69AA8AAFB}" destId="{2E582D2B-BD61-4035-94BD-7A239D3BF4B2}" srcOrd="0" destOrd="0" presId="urn:microsoft.com/office/officeart/2005/8/layout/bProcess3"/>
    <dgm:cxn modelId="{EBA58243-4309-4D6E-A9A9-1A228FFE1807}" type="presOf" srcId="{CCFDDCB2-EC50-4BED-80BC-0EA25879E40D}" destId="{65C075D4-809C-42BE-A764-24607FBC24EA}" srcOrd="1" destOrd="0" presId="urn:microsoft.com/office/officeart/2005/8/layout/bProcess3"/>
    <dgm:cxn modelId="{ACC98AD9-6744-4D66-8AF5-278A5A0847F0}" type="presOf" srcId="{A7F7CA77-21F5-4573-B0D3-BB0E41A08539}" destId="{7FD320D5-FB4E-450F-BF0A-FFBFCBF9C068}" srcOrd="0" destOrd="0" presId="urn:microsoft.com/office/officeart/2005/8/layout/bProcess3"/>
    <dgm:cxn modelId="{01C76BE8-E8CC-4624-82F6-0D31151B21D0}" srcId="{A79F22AD-3EF6-465A-887F-061C6BD2662E}" destId="{8EC9ACA9-3D05-4869-A597-ACC69AA8AAFB}" srcOrd="1" destOrd="0" parTransId="{C86EE15F-F9E1-4DCF-BBC9-CF7FF6A2FD08}" sibTransId="{932CCF62-6E4B-4058-A567-6E8FDE559A3A}"/>
    <dgm:cxn modelId="{7F8BD07F-32CF-421A-BEA0-0C5BDFAEBBDB}" type="presOf" srcId="{A7F7CA77-21F5-4573-B0D3-BB0E41A08539}" destId="{D884FA65-D1B8-4E76-8A3E-FE6EFC3B5A05}" srcOrd="1" destOrd="0" presId="urn:microsoft.com/office/officeart/2005/8/layout/bProcess3"/>
    <dgm:cxn modelId="{590633D1-DD93-456B-BB81-458C3B6E5A80}" type="presOf" srcId="{798D4F4A-8578-4EC9-80F2-96DDA1665F4C}" destId="{45191B2C-C400-47A3-9C0D-313075F33769}" srcOrd="0" destOrd="0" presId="urn:microsoft.com/office/officeart/2005/8/layout/bProcess3"/>
    <dgm:cxn modelId="{7B5E6125-FE93-40D2-86A3-07B4596BAE27}" srcId="{A79F22AD-3EF6-465A-887F-061C6BD2662E}" destId="{81440D06-56F8-4AAC-8D67-13565956A5F1}" srcOrd="0" destOrd="0" parTransId="{FBEDAC50-D075-4681-B3DA-156480C83914}" sibTransId="{5DE7769D-56EA-4B74-9F55-2446049E6CBF}"/>
    <dgm:cxn modelId="{4C5531CF-DEB7-4A86-8B42-60B9D83E8033}" type="presOf" srcId="{798D4F4A-8578-4EC9-80F2-96DDA1665F4C}" destId="{4DDFFEA6-158C-4F7A-B7B6-BC1755BF7616}" srcOrd="1" destOrd="0" presId="urn:microsoft.com/office/officeart/2005/8/layout/bProcess3"/>
    <dgm:cxn modelId="{8F325283-12D9-487C-88D6-707713151566}" type="presOf" srcId="{A79F22AD-3EF6-465A-887F-061C6BD2662E}" destId="{21A4B1C6-2FB4-44B8-886D-FC6D43D49DB4}" srcOrd="0" destOrd="0" presId="urn:microsoft.com/office/officeart/2005/8/layout/bProcess3"/>
    <dgm:cxn modelId="{CE205D72-6E27-4041-B5CB-C8ED4A059C58}" srcId="{A79F22AD-3EF6-465A-887F-061C6BD2662E}" destId="{152A3958-F41A-4037-842C-AC98502A3015}" srcOrd="4" destOrd="0" parTransId="{D43CB871-B3FC-4885-8F78-F4D4DD9316B3}" sibTransId="{798D4F4A-8578-4EC9-80F2-96DDA1665F4C}"/>
    <dgm:cxn modelId="{420C4894-84F5-4329-82F2-69855C2000C4}" type="presOf" srcId="{4EA8F938-9409-40DD-B123-DFE3E1C5A9EE}" destId="{6F7BE013-B7FF-4D50-BED6-93AED0A0009E}" srcOrd="0" destOrd="0" presId="urn:microsoft.com/office/officeart/2005/8/layout/bProcess3"/>
    <dgm:cxn modelId="{2E9BAB79-157C-4461-B9CB-CF41DF356603}" srcId="{A79F22AD-3EF6-465A-887F-061C6BD2662E}" destId="{70EBAB1F-1002-4356-8256-4F5975283714}" srcOrd="2" destOrd="0" parTransId="{7275FC76-ADE6-4B5F-9E3B-A59EE462A93C}" sibTransId="{E464AEF4-D53E-4AE4-8954-B876456C2C9E}"/>
    <dgm:cxn modelId="{0D1EC0ED-CAB6-4D7C-8203-087734BA616C}" type="presOf" srcId="{E464AEF4-D53E-4AE4-8954-B876456C2C9E}" destId="{A0D228BD-8549-4D76-8904-2718CC3C13FA}" srcOrd="0" destOrd="0" presId="urn:microsoft.com/office/officeart/2005/8/layout/bProcess3"/>
    <dgm:cxn modelId="{AEBB5471-DA5F-4E0B-A227-68A25E1E2325}" type="presOf" srcId="{5DE7769D-56EA-4B74-9F55-2446049E6CBF}" destId="{44EC91BE-4F11-498D-9022-3D060A9FEA9E}" srcOrd="1" destOrd="0" presId="urn:microsoft.com/office/officeart/2005/8/layout/bProcess3"/>
    <dgm:cxn modelId="{75184BD5-782E-4F32-8E7E-788FCD8CDDA8}" type="presOf" srcId="{12CED33C-530D-4021-8E53-4F049D211B77}" destId="{1535DB64-3822-40B0-99AD-127064352DB9}" srcOrd="1" destOrd="0" presId="urn:microsoft.com/office/officeart/2005/8/layout/bProcess3"/>
    <dgm:cxn modelId="{E15DB44B-518F-426D-9E2A-BFE3AE8FF2CE}" type="presOf" srcId="{70EBAB1F-1002-4356-8256-4F5975283714}" destId="{D4199E71-F004-447B-93DA-EC9D59E1C207}" srcOrd="0" destOrd="0" presId="urn:microsoft.com/office/officeart/2005/8/layout/bProcess3"/>
    <dgm:cxn modelId="{FF31FEAD-CF4C-4EC4-93C5-D5E3F0839156}" type="presOf" srcId="{C3027FF8-7BFE-470A-9ECE-56531D5E7321}" destId="{8A5226B8-FA75-455B-AF42-B702778C08A7}" srcOrd="0" destOrd="0" presId="urn:microsoft.com/office/officeart/2005/8/layout/bProcess3"/>
    <dgm:cxn modelId="{CEEC60B9-EF7C-4CF1-8F6B-B75DE57E9EEA}" type="presOf" srcId="{12CED33C-530D-4021-8E53-4F049D211B77}" destId="{465454E7-7A00-406B-84F4-2D55D858345E}" srcOrd="0" destOrd="0" presId="urn:microsoft.com/office/officeart/2005/8/layout/bProcess3"/>
    <dgm:cxn modelId="{E01EB342-AF95-498D-BC66-93EB20131881}" type="presOf" srcId="{932CCF62-6E4B-4058-A567-6E8FDE559A3A}" destId="{783B10F1-1E23-4E17-A975-AD4A48318C0A}" srcOrd="0" destOrd="0" presId="urn:microsoft.com/office/officeart/2005/8/layout/bProcess3"/>
    <dgm:cxn modelId="{DBF3F5F6-2899-4A16-BB9A-C6E92BA94ED0}" srcId="{A79F22AD-3EF6-465A-887F-061C6BD2662E}" destId="{C3027FF8-7BFE-470A-9ECE-56531D5E7321}" srcOrd="8" destOrd="0" parTransId="{E155279F-D40D-481B-A455-58EBE44BA9B3}" sibTransId="{A50E4D2B-4FB4-43C8-A2DF-98DA3EF4AD54}"/>
    <dgm:cxn modelId="{7DCF0B26-671E-4C38-AEB7-F77406F21DEA}" type="presOf" srcId="{8273174F-EB08-42FA-AABD-C3FD7FE6D81E}" destId="{F2CBD17C-E5B5-497F-8CBD-3B93F8083173}" srcOrd="0" destOrd="0" presId="urn:microsoft.com/office/officeart/2005/8/layout/bProcess3"/>
    <dgm:cxn modelId="{B9879BA2-5070-4A10-B0D4-FB377CA24BF7}" type="presOf" srcId="{152A3958-F41A-4037-842C-AC98502A3015}" destId="{319F75DD-60AB-41BD-8ACB-1138A103D492}" srcOrd="0" destOrd="0" presId="urn:microsoft.com/office/officeart/2005/8/layout/bProcess3"/>
    <dgm:cxn modelId="{A70BBC38-74D4-448E-B869-5FF670540CBF}" type="presOf" srcId="{E87A1A87-5CBD-4DD0-9965-ECCF61807C77}" destId="{3FA78C0C-5474-466F-897F-21E508F15DDE}" srcOrd="0" destOrd="0" presId="urn:microsoft.com/office/officeart/2005/8/layout/bProcess3"/>
    <dgm:cxn modelId="{8EFF343C-B405-4EC4-8F5A-02FCD31AE84C}" srcId="{A79F22AD-3EF6-465A-887F-061C6BD2662E}" destId="{CA384774-6266-4098-B7F6-2460BBA40A10}" srcOrd="3" destOrd="0" parTransId="{FDE35496-894A-4B35-A8F2-27D0A681063B}" sibTransId="{4EA8F938-9409-40DD-B123-DFE3E1C5A9EE}"/>
    <dgm:cxn modelId="{4BC0EB16-0DC1-4B7D-B287-21DDD83EACF0}" srcId="{A79F22AD-3EF6-465A-887F-061C6BD2662E}" destId="{38C0F89B-333C-4106-ADBB-C38CA175F230}" srcOrd="6" destOrd="0" parTransId="{063BEE19-791B-476E-8911-A9A8693C6D44}" sibTransId="{12CED33C-530D-4021-8E53-4F049D211B77}"/>
    <dgm:cxn modelId="{135A6A33-1E75-4BC7-8C66-5F325E08F053}" srcId="{A79F22AD-3EF6-465A-887F-061C6BD2662E}" destId="{E87A1A87-5CBD-4DD0-9965-ECCF61807C77}" srcOrd="7" destOrd="0" parTransId="{8CBCAC53-1C25-4281-95FB-82D5FBC05B83}" sibTransId="{CCFDDCB2-EC50-4BED-80BC-0EA25879E40D}"/>
    <dgm:cxn modelId="{3EA338B0-4D12-48BC-825C-BB3388CC87BD}" type="presOf" srcId="{81440D06-56F8-4AAC-8D67-13565956A5F1}" destId="{9CD8ED68-EDF9-45E7-8808-2993F876B43E}" srcOrd="0" destOrd="0" presId="urn:microsoft.com/office/officeart/2005/8/layout/bProcess3"/>
    <dgm:cxn modelId="{89E5F30C-0C12-4728-88B3-9479EA8C323B}" type="presOf" srcId="{E464AEF4-D53E-4AE4-8954-B876456C2C9E}" destId="{7F4C37F2-3CF9-4BB7-B6AE-CA917670A3AA}" srcOrd="1" destOrd="0" presId="urn:microsoft.com/office/officeart/2005/8/layout/bProcess3"/>
    <dgm:cxn modelId="{650EFDB5-399F-451A-B3BE-9C66219B3006}" type="presParOf" srcId="{21A4B1C6-2FB4-44B8-886D-FC6D43D49DB4}" destId="{9CD8ED68-EDF9-45E7-8808-2993F876B43E}" srcOrd="0" destOrd="0" presId="urn:microsoft.com/office/officeart/2005/8/layout/bProcess3"/>
    <dgm:cxn modelId="{516DC9C5-CB70-4121-A8F2-4A7AE57AA4BD}" type="presParOf" srcId="{21A4B1C6-2FB4-44B8-886D-FC6D43D49DB4}" destId="{5B92B9F7-3C2F-4311-A44E-FFBE25B71055}" srcOrd="1" destOrd="0" presId="urn:microsoft.com/office/officeart/2005/8/layout/bProcess3"/>
    <dgm:cxn modelId="{3CCD0DD2-23F3-4860-BECE-A9F725C5F943}" type="presParOf" srcId="{5B92B9F7-3C2F-4311-A44E-FFBE25B71055}" destId="{44EC91BE-4F11-498D-9022-3D060A9FEA9E}" srcOrd="0" destOrd="0" presId="urn:microsoft.com/office/officeart/2005/8/layout/bProcess3"/>
    <dgm:cxn modelId="{D6C88659-F9E6-4C9F-A5FE-74D1182CC38C}" type="presParOf" srcId="{21A4B1C6-2FB4-44B8-886D-FC6D43D49DB4}" destId="{2E582D2B-BD61-4035-94BD-7A239D3BF4B2}" srcOrd="2" destOrd="0" presId="urn:microsoft.com/office/officeart/2005/8/layout/bProcess3"/>
    <dgm:cxn modelId="{7018AC72-D404-4517-AF5F-1761503EC72F}" type="presParOf" srcId="{21A4B1C6-2FB4-44B8-886D-FC6D43D49DB4}" destId="{783B10F1-1E23-4E17-A975-AD4A48318C0A}" srcOrd="3" destOrd="0" presId="urn:microsoft.com/office/officeart/2005/8/layout/bProcess3"/>
    <dgm:cxn modelId="{0C7826D1-894B-49D3-8C09-91F1B11B4DEF}" type="presParOf" srcId="{783B10F1-1E23-4E17-A975-AD4A48318C0A}" destId="{78643943-18C5-4DA3-93A6-F5474416EBFD}" srcOrd="0" destOrd="0" presId="urn:microsoft.com/office/officeart/2005/8/layout/bProcess3"/>
    <dgm:cxn modelId="{6902ED30-0586-4FAF-ACB7-960518B2061F}" type="presParOf" srcId="{21A4B1C6-2FB4-44B8-886D-FC6D43D49DB4}" destId="{D4199E71-F004-447B-93DA-EC9D59E1C207}" srcOrd="4" destOrd="0" presId="urn:microsoft.com/office/officeart/2005/8/layout/bProcess3"/>
    <dgm:cxn modelId="{CE7FCF18-AD64-41E8-B6D4-E43A59447CC5}" type="presParOf" srcId="{21A4B1C6-2FB4-44B8-886D-FC6D43D49DB4}" destId="{A0D228BD-8549-4D76-8904-2718CC3C13FA}" srcOrd="5" destOrd="0" presId="urn:microsoft.com/office/officeart/2005/8/layout/bProcess3"/>
    <dgm:cxn modelId="{EF6A6DC9-CD28-4AE7-9058-3DDCC6A1C9F0}" type="presParOf" srcId="{A0D228BD-8549-4D76-8904-2718CC3C13FA}" destId="{7F4C37F2-3CF9-4BB7-B6AE-CA917670A3AA}" srcOrd="0" destOrd="0" presId="urn:microsoft.com/office/officeart/2005/8/layout/bProcess3"/>
    <dgm:cxn modelId="{D11514B3-E773-4F43-ADBC-8DD5FCF213EB}" type="presParOf" srcId="{21A4B1C6-2FB4-44B8-886D-FC6D43D49DB4}" destId="{56F8F499-1E4F-459E-A0A8-B609D081F1DB}" srcOrd="6" destOrd="0" presId="urn:microsoft.com/office/officeart/2005/8/layout/bProcess3"/>
    <dgm:cxn modelId="{455D72F4-9F4E-4E83-BA7B-11178EA88833}" type="presParOf" srcId="{21A4B1C6-2FB4-44B8-886D-FC6D43D49DB4}" destId="{6F7BE013-B7FF-4D50-BED6-93AED0A0009E}" srcOrd="7" destOrd="0" presId="urn:microsoft.com/office/officeart/2005/8/layout/bProcess3"/>
    <dgm:cxn modelId="{ED6C3769-72BB-4331-8876-F50441FF9AC6}" type="presParOf" srcId="{6F7BE013-B7FF-4D50-BED6-93AED0A0009E}" destId="{20BCA1D1-AD51-4A4D-974C-30B86A41E6B3}" srcOrd="0" destOrd="0" presId="urn:microsoft.com/office/officeart/2005/8/layout/bProcess3"/>
    <dgm:cxn modelId="{04963DAE-4880-4CA2-8733-2D9C99340185}" type="presParOf" srcId="{21A4B1C6-2FB4-44B8-886D-FC6D43D49DB4}" destId="{319F75DD-60AB-41BD-8ACB-1138A103D492}" srcOrd="8" destOrd="0" presId="urn:microsoft.com/office/officeart/2005/8/layout/bProcess3"/>
    <dgm:cxn modelId="{9FC4D5CE-7222-46D9-9B7F-55C52CCC3618}" type="presParOf" srcId="{21A4B1C6-2FB4-44B8-886D-FC6D43D49DB4}" destId="{45191B2C-C400-47A3-9C0D-313075F33769}" srcOrd="9" destOrd="0" presId="urn:microsoft.com/office/officeart/2005/8/layout/bProcess3"/>
    <dgm:cxn modelId="{752E1555-0953-4FF4-9635-47A4C4094322}" type="presParOf" srcId="{45191B2C-C400-47A3-9C0D-313075F33769}" destId="{4DDFFEA6-158C-4F7A-B7B6-BC1755BF7616}" srcOrd="0" destOrd="0" presId="urn:microsoft.com/office/officeart/2005/8/layout/bProcess3"/>
    <dgm:cxn modelId="{680ED464-F3AF-424E-9B87-3BF3BABC6271}" type="presParOf" srcId="{21A4B1C6-2FB4-44B8-886D-FC6D43D49DB4}" destId="{F2CBD17C-E5B5-497F-8CBD-3B93F8083173}" srcOrd="10" destOrd="0" presId="urn:microsoft.com/office/officeart/2005/8/layout/bProcess3"/>
    <dgm:cxn modelId="{06205473-A276-4C6A-BF43-B6555D19672C}" type="presParOf" srcId="{21A4B1C6-2FB4-44B8-886D-FC6D43D49DB4}" destId="{7FD320D5-FB4E-450F-BF0A-FFBFCBF9C068}" srcOrd="11" destOrd="0" presId="urn:microsoft.com/office/officeart/2005/8/layout/bProcess3"/>
    <dgm:cxn modelId="{57713B9B-20E7-44F6-ADB6-AF2E6D358259}" type="presParOf" srcId="{7FD320D5-FB4E-450F-BF0A-FFBFCBF9C068}" destId="{D884FA65-D1B8-4E76-8A3E-FE6EFC3B5A05}" srcOrd="0" destOrd="0" presId="urn:microsoft.com/office/officeart/2005/8/layout/bProcess3"/>
    <dgm:cxn modelId="{8230EBD3-287C-480C-BF9B-5E77E729D4A2}" type="presParOf" srcId="{21A4B1C6-2FB4-44B8-886D-FC6D43D49DB4}" destId="{B700EFAA-9E34-4C77-A8FA-BA5DF909C538}" srcOrd="12" destOrd="0" presId="urn:microsoft.com/office/officeart/2005/8/layout/bProcess3"/>
    <dgm:cxn modelId="{78E9D9D7-CE3F-48E6-B2BD-F6803AAE91E8}" type="presParOf" srcId="{21A4B1C6-2FB4-44B8-886D-FC6D43D49DB4}" destId="{465454E7-7A00-406B-84F4-2D55D858345E}" srcOrd="13" destOrd="0" presId="urn:microsoft.com/office/officeart/2005/8/layout/bProcess3"/>
    <dgm:cxn modelId="{6D5159EC-0602-4175-8E67-F86DF4AC2793}" type="presParOf" srcId="{465454E7-7A00-406B-84F4-2D55D858345E}" destId="{1535DB64-3822-40B0-99AD-127064352DB9}" srcOrd="0" destOrd="0" presId="urn:microsoft.com/office/officeart/2005/8/layout/bProcess3"/>
    <dgm:cxn modelId="{C3840BBF-1AB2-4286-9DB7-5EF7253DADFF}" type="presParOf" srcId="{21A4B1C6-2FB4-44B8-886D-FC6D43D49DB4}" destId="{3FA78C0C-5474-466F-897F-21E508F15DDE}" srcOrd="14" destOrd="0" presId="urn:microsoft.com/office/officeart/2005/8/layout/bProcess3"/>
    <dgm:cxn modelId="{F399BD6A-8D27-47C3-8C33-59266C23A2D1}" type="presParOf" srcId="{21A4B1C6-2FB4-44B8-886D-FC6D43D49DB4}" destId="{A923CD3A-7DF2-40F8-A521-EF1506589F66}" srcOrd="15" destOrd="0" presId="urn:microsoft.com/office/officeart/2005/8/layout/bProcess3"/>
    <dgm:cxn modelId="{3BF21F83-0429-481F-801C-4059E4F20478}" type="presParOf" srcId="{A923CD3A-7DF2-40F8-A521-EF1506589F66}" destId="{65C075D4-809C-42BE-A764-24607FBC24EA}" srcOrd="0" destOrd="0" presId="urn:microsoft.com/office/officeart/2005/8/layout/bProcess3"/>
    <dgm:cxn modelId="{6C3F4E47-9435-4576-9FFC-C42B902B7F7C}" type="presParOf" srcId="{21A4B1C6-2FB4-44B8-886D-FC6D43D49DB4}" destId="{8A5226B8-FA75-455B-AF42-B702778C08A7}" srcOrd="1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4EB7B1-DD1F-46E6-93B0-D2A3625A7DDB}">
      <dsp:nvSpPr>
        <dsp:cNvPr id="0" name=""/>
        <dsp:cNvSpPr/>
      </dsp:nvSpPr>
      <dsp:spPr>
        <a:xfrm>
          <a:off x="3888501" y="2036683"/>
          <a:ext cx="2489279" cy="2489279"/>
        </a:xfrm>
        <a:prstGeom prst="gear9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xmlns:mc="http://schemas.openxmlformats.org/markup-compatibility/2006" xmlns:a14="http://schemas.microsoft.com/office/drawing/2007/7/7/main" val="000000" mc:Ignorable="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b="1" kern="1200" dirty="0" smtClean="0"/>
            <a:t>Compreender</a:t>
          </a:r>
          <a:endParaRPr lang="pt-BR" sz="1800" b="1" kern="1200" dirty="0"/>
        </a:p>
      </dsp:txBody>
      <dsp:txXfrm>
        <a:off x="4388957" y="2619785"/>
        <a:ext cx="1488367" cy="1279541"/>
      </dsp:txXfrm>
    </dsp:sp>
    <dsp:sp modelId="{A38DFEE4-B200-4ABF-B0A6-3045E743CF34}">
      <dsp:nvSpPr>
        <dsp:cNvPr id="0" name=""/>
        <dsp:cNvSpPr/>
      </dsp:nvSpPr>
      <dsp:spPr>
        <a:xfrm>
          <a:off x="2440193" y="1448308"/>
          <a:ext cx="1810385" cy="1810385"/>
        </a:xfrm>
        <a:prstGeom prst="gear6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xmlns:mc="http://schemas.openxmlformats.org/markup-compatibility/2006" xmlns:a14="http://schemas.microsoft.com/office/drawing/2007/7/7/main" val="000000" mc:Ignorable="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b="1" kern="1200" dirty="0" smtClean="0"/>
            <a:t>Anunciar</a:t>
          </a:r>
          <a:endParaRPr lang="pt-BR" sz="1800" b="1" kern="1200" dirty="0"/>
        </a:p>
      </dsp:txBody>
      <dsp:txXfrm>
        <a:off x="2895963" y="1906833"/>
        <a:ext cx="898845" cy="893335"/>
      </dsp:txXfrm>
    </dsp:sp>
    <dsp:sp modelId="{AF693FC4-4AE3-4377-B769-9CFE8EB9932C}">
      <dsp:nvSpPr>
        <dsp:cNvPr id="0" name=""/>
        <dsp:cNvSpPr/>
      </dsp:nvSpPr>
      <dsp:spPr>
        <a:xfrm rot="20700000">
          <a:off x="3454194" y="199327"/>
          <a:ext cx="1773807" cy="1773807"/>
        </a:xfrm>
        <a:prstGeom prst="gear6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xmlns:mc="http://schemas.openxmlformats.org/markup-compatibility/2006" xmlns:a14="http://schemas.microsoft.com/office/drawing/2007/7/7/main" val="000000" mc:Ignorable="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b="1" kern="1200" dirty="0" smtClean="0"/>
            <a:t>Vender</a:t>
          </a:r>
          <a:endParaRPr lang="pt-BR" sz="1800" b="1" kern="1200" dirty="0"/>
        </a:p>
      </dsp:txBody>
      <dsp:txXfrm>
        <a:off x="3843242" y="588375"/>
        <a:ext cx="995711" cy="995711"/>
      </dsp:txXfrm>
    </dsp:sp>
    <dsp:sp modelId="{5D5488CE-63A4-46FB-80C1-22E476B90B5B}">
      <dsp:nvSpPr>
        <dsp:cNvPr id="0" name=""/>
        <dsp:cNvSpPr/>
      </dsp:nvSpPr>
      <dsp:spPr>
        <a:xfrm>
          <a:off x="3700746" y="1658974"/>
          <a:ext cx="3186277" cy="3186277"/>
        </a:xfrm>
        <a:prstGeom prst="circularArrow">
          <a:avLst>
            <a:gd name="adj1" fmla="val 4687"/>
            <a:gd name="adj2" fmla="val 299029"/>
            <a:gd name="adj3" fmla="val 2523572"/>
            <a:gd name="adj4" fmla="val 15845412"/>
            <a:gd name="adj5" fmla="val 5469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xmlns:mc="http://schemas.openxmlformats.org/markup-compatibility/2006" xmlns:a14="http://schemas.microsoft.com/office/drawing/2007/7/7/main" val="000000" mc:Ignorable="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06E7D1B-CD4F-4D99-AD9F-54E380840BBC}">
      <dsp:nvSpPr>
        <dsp:cNvPr id="0" name=""/>
        <dsp:cNvSpPr/>
      </dsp:nvSpPr>
      <dsp:spPr>
        <a:xfrm>
          <a:off x="2119577" y="1046315"/>
          <a:ext cx="2315030" cy="2315030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xmlns:mc="http://schemas.openxmlformats.org/markup-compatibility/2006" xmlns:a14="http://schemas.microsoft.com/office/drawing/2007/7/7/main" val="000000" mc:Ignorable="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0C38EB0-C700-49F7-93CF-C1BEA88012F0}">
      <dsp:nvSpPr>
        <dsp:cNvPr id="0" name=""/>
        <dsp:cNvSpPr/>
      </dsp:nvSpPr>
      <dsp:spPr>
        <a:xfrm>
          <a:off x="3043894" y="-190626"/>
          <a:ext cx="2496068" cy="2496068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xmlns:mc="http://schemas.openxmlformats.org/markup-compatibility/2006" xmlns:a14="http://schemas.microsoft.com/office/drawing/2007/7/7/main" val="000000" mc:Ignorable="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92B9F7-3C2F-4311-A44E-FFBE25B71055}">
      <dsp:nvSpPr>
        <dsp:cNvPr id="0" name=""/>
        <dsp:cNvSpPr/>
      </dsp:nvSpPr>
      <dsp:spPr>
        <a:xfrm>
          <a:off x="2652165" y="556312"/>
          <a:ext cx="4296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9662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2855490" y="599731"/>
        <a:ext cx="23013" cy="4602"/>
      </dsp:txXfrm>
    </dsp:sp>
    <dsp:sp modelId="{9CD8ED68-EDF9-45E7-8808-2993F876B43E}">
      <dsp:nvSpPr>
        <dsp:cNvPr id="0" name=""/>
        <dsp:cNvSpPr/>
      </dsp:nvSpPr>
      <dsp:spPr>
        <a:xfrm>
          <a:off x="652822" y="1689"/>
          <a:ext cx="2001142" cy="120068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xmlns:mc="http://schemas.openxmlformats.org/markup-compatibility/2006" xmlns:a14="http://schemas.microsoft.com/office/drawing/2007/7/7/main" val="000000" mc:Ignorable="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500" kern="1200" dirty="0" smtClean="0"/>
            <a:t>Necessidade</a:t>
          </a:r>
          <a:endParaRPr lang="pt-BR" sz="2500" kern="1200" dirty="0"/>
        </a:p>
      </dsp:txBody>
      <dsp:txXfrm>
        <a:off x="652822" y="1689"/>
        <a:ext cx="2001142" cy="1200685"/>
      </dsp:txXfrm>
    </dsp:sp>
    <dsp:sp modelId="{783B10F1-1E23-4E17-A975-AD4A48318C0A}">
      <dsp:nvSpPr>
        <dsp:cNvPr id="0" name=""/>
        <dsp:cNvSpPr/>
      </dsp:nvSpPr>
      <dsp:spPr>
        <a:xfrm>
          <a:off x="5113571" y="556312"/>
          <a:ext cx="4296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9662" y="45720"/>
              </a:lnTo>
            </a:path>
          </a:pathLst>
        </a:custGeom>
        <a:noFill/>
        <a:ln w="9525" cap="flat" cmpd="sng" algn="ctr">
          <a:solidFill>
            <a:schemeClr val="accent4">
              <a:hueOff val="-637824"/>
              <a:satOff val="3843"/>
              <a:lumOff val="30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5316896" y="599731"/>
        <a:ext cx="23013" cy="4602"/>
      </dsp:txXfrm>
    </dsp:sp>
    <dsp:sp modelId="{2E582D2B-BD61-4035-94BD-7A239D3BF4B2}">
      <dsp:nvSpPr>
        <dsp:cNvPr id="0" name=""/>
        <dsp:cNvSpPr/>
      </dsp:nvSpPr>
      <dsp:spPr>
        <a:xfrm>
          <a:off x="3114228" y="1689"/>
          <a:ext cx="2001142" cy="1200685"/>
        </a:xfrm>
        <a:prstGeom prst="rect">
          <a:avLst/>
        </a:prstGeom>
        <a:gradFill rotWithShape="0">
          <a:gsLst>
            <a:gs pos="0">
              <a:schemeClr val="accent4">
                <a:hueOff val="-558096"/>
                <a:satOff val="3362"/>
                <a:lumOff val="270"/>
                <a:alphaOff val="0"/>
                <a:shade val="51000"/>
                <a:satMod val="130000"/>
              </a:schemeClr>
            </a:gs>
            <a:gs pos="80000">
              <a:schemeClr val="accent4">
                <a:hueOff val="-558096"/>
                <a:satOff val="3362"/>
                <a:lumOff val="270"/>
                <a:alphaOff val="0"/>
                <a:shade val="93000"/>
                <a:satMod val="130000"/>
              </a:schemeClr>
            </a:gs>
            <a:gs pos="100000">
              <a:schemeClr val="accent4">
                <a:hueOff val="-558096"/>
                <a:satOff val="3362"/>
                <a:lumOff val="27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xmlns:mc="http://schemas.openxmlformats.org/markup-compatibility/2006" xmlns:a14="http://schemas.microsoft.com/office/drawing/2007/7/7/main" val="000000" mc:Ignorable="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500" kern="1200" dirty="0" smtClean="0"/>
            <a:t>Público Alvo</a:t>
          </a:r>
          <a:endParaRPr lang="pt-BR" sz="2500" kern="1200" dirty="0"/>
        </a:p>
      </dsp:txBody>
      <dsp:txXfrm>
        <a:off x="3114228" y="1689"/>
        <a:ext cx="2001142" cy="1200685"/>
      </dsp:txXfrm>
    </dsp:sp>
    <dsp:sp modelId="{A0D228BD-8549-4D76-8904-2718CC3C13FA}">
      <dsp:nvSpPr>
        <dsp:cNvPr id="0" name=""/>
        <dsp:cNvSpPr/>
      </dsp:nvSpPr>
      <dsp:spPr>
        <a:xfrm>
          <a:off x="1653394" y="1200575"/>
          <a:ext cx="4922811" cy="429662"/>
        </a:xfrm>
        <a:custGeom>
          <a:avLst/>
          <a:gdLst/>
          <a:ahLst/>
          <a:cxnLst/>
          <a:rect l="0" t="0" r="0" b="0"/>
          <a:pathLst>
            <a:path>
              <a:moveTo>
                <a:pt x="4922811" y="0"/>
              </a:moveTo>
              <a:lnTo>
                <a:pt x="4922811" y="231931"/>
              </a:lnTo>
              <a:lnTo>
                <a:pt x="0" y="231931"/>
              </a:lnTo>
              <a:lnTo>
                <a:pt x="0" y="429662"/>
              </a:lnTo>
            </a:path>
          </a:pathLst>
        </a:custGeom>
        <a:noFill/>
        <a:ln w="9525" cap="flat" cmpd="sng" algn="ctr">
          <a:solidFill>
            <a:schemeClr val="accent4">
              <a:hueOff val="-1275649"/>
              <a:satOff val="7685"/>
              <a:lumOff val="61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3991192" y="1413105"/>
        <a:ext cx="247214" cy="4602"/>
      </dsp:txXfrm>
    </dsp:sp>
    <dsp:sp modelId="{D4199E71-F004-447B-93DA-EC9D59E1C207}">
      <dsp:nvSpPr>
        <dsp:cNvPr id="0" name=""/>
        <dsp:cNvSpPr/>
      </dsp:nvSpPr>
      <dsp:spPr>
        <a:xfrm>
          <a:off x="5575634" y="1689"/>
          <a:ext cx="2001142" cy="1200685"/>
        </a:xfrm>
        <a:prstGeom prst="rect">
          <a:avLst/>
        </a:prstGeom>
        <a:gradFill rotWithShape="0">
          <a:gsLst>
            <a:gs pos="0">
              <a:schemeClr val="accent4">
                <a:hueOff val="-1116192"/>
                <a:satOff val="6725"/>
                <a:lumOff val="539"/>
                <a:alphaOff val="0"/>
                <a:shade val="51000"/>
                <a:satMod val="130000"/>
              </a:schemeClr>
            </a:gs>
            <a:gs pos="80000">
              <a:schemeClr val="accent4">
                <a:hueOff val="-1116192"/>
                <a:satOff val="6725"/>
                <a:lumOff val="539"/>
                <a:alphaOff val="0"/>
                <a:shade val="93000"/>
                <a:satMod val="130000"/>
              </a:schemeClr>
            </a:gs>
            <a:gs pos="100000">
              <a:schemeClr val="accent4">
                <a:hueOff val="-1116192"/>
                <a:satOff val="6725"/>
                <a:lumOff val="53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xmlns:mc="http://schemas.openxmlformats.org/markup-compatibility/2006" xmlns:a14="http://schemas.microsoft.com/office/drawing/2007/7/7/main" val="000000" mc:Ignorable="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500" kern="1200" dirty="0" smtClean="0"/>
            <a:t>Conteúdo</a:t>
          </a:r>
          <a:endParaRPr lang="pt-BR" sz="2500" kern="1200" dirty="0"/>
        </a:p>
      </dsp:txBody>
      <dsp:txXfrm>
        <a:off x="5575634" y="1689"/>
        <a:ext cx="2001142" cy="1200685"/>
      </dsp:txXfrm>
    </dsp:sp>
    <dsp:sp modelId="{6F7BE013-B7FF-4D50-BED6-93AED0A0009E}">
      <dsp:nvSpPr>
        <dsp:cNvPr id="0" name=""/>
        <dsp:cNvSpPr/>
      </dsp:nvSpPr>
      <dsp:spPr>
        <a:xfrm>
          <a:off x="2652165" y="2217261"/>
          <a:ext cx="4296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9662" y="45720"/>
              </a:lnTo>
            </a:path>
          </a:pathLst>
        </a:custGeom>
        <a:noFill/>
        <a:ln w="9525" cap="flat" cmpd="sng" algn="ctr">
          <a:solidFill>
            <a:schemeClr val="accent4">
              <a:hueOff val="-1913473"/>
              <a:satOff val="11528"/>
              <a:lumOff val="92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2855490" y="2260680"/>
        <a:ext cx="23013" cy="4602"/>
      </dsp:txXfrm>
    </dsp:sp>
    <dsp:sp modelId="{56F8F499-1E4F-459E-A0A8-B609D081F1DB}">
      <dsp:nvSpPr>
        <dsp:cNvPr id="0" name=""/>
        <dsp:cNvSpPr/>
      </dsp:nvSpPr>
      <dsp:spPr>
        <a:xfrm>
          <a:off x="652822" y="1662638"/>
          <a:ext cx="2001142" cy="1200685"/>
        </a:xfrm>
        <a:prstGeom prst="rect">
          <a:avLst/>
        </a:prstGeom>
        <a:gradFill rotWithShape="0">
          <a:gsLst>
            <a:gs pos="0">
              <a:schemeClr val="accent4">
                <a:hueOff val="-1674289"/>
                <a:satOff val="10087"/>
                <a:lumOff val="809"/>
                <a:alphaOff val="0"/>
                <a:shade val="51000"/>
                <a:satMod val="130000"/>
              </a:schemeClr>
            </a:gs>
            <a:gs pos="80000">
              <a:schemeClr val="accent4">
                <a:hueOff val="-1674289"/>
                <a:satOff val="10087"/>
                <a:lumOff val="809"/>
                <a:alphaOff val="0"/>
                <a:shade val="93000"/>
                <a:satMod val="130000"/>
              </a:schemeClr>
            </a:gs>
            <a:gs pos="100000">
              <a:schemeClr val="accent4">
                <a:hueOff val="-1674289"/>
                <a:satOff val="10087"/>
                <a:lumOff val="80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xmlns:mc="http://schemas.openxmlformats.org/markup-compatibility/2006" xmlns:a14="http://schemas.microsoft.com/office/drawing/2007/7/7/main" val="000000" mc:Ignorable="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500" kern="1200" dirty="0" smtClean="0"/>
            <a:t>Arquitetura</a:t>
          </a:r>
          <a:endParaRPr lang="pt-BR" sz="2500" kern="1200" dirty="0"/>
        </a:p>
      </dsp:txBody>
      <dsp:txXfrm>
        <a:off x="652822" y="1662638"/>
        <a:ext cx="2001142" cy="1200685"/>
      </dsp:txXfrm>
    </dsp:sp>
    <dsp:sp modelId="{45191B2C-C400-47A3-9C0D-313075F33769}">
      <dsp:nvSpPr>
        <dsp:cNvPr id="0" name=""/>
        <dsp:cNvSpPr/>
      </dsp:nvSpPr>
      <dsp:spPr>
        <a:xfrm>
          <a:off x="5113571" y="2217261"/>
          <a:ext cx="4296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9662" y="45720"/>
              </a:lnTo>
            </a:path>
          </a:pathLst>
        </a:custGeom>
        <a:noFill/>
        <a:ln w="9525" cap="flat" cmpd="sng" algn="ctr">
          <a:solidFill>
            <a:schemeClr val="accent4">
              <a:hueOff val="-2551297"/>
              <a:satOff val="15371"/>
              <a:lumOff val="123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5316896" y="2260680"/>
        <a:ext cx="23013" cy="4602"/>
      </dsp:txXfrm>
    </dsp:sp>
    <dsp:sp modelId="{319F75DD-60AB-41BD-8ACB-1138A103D492}">
      <dsp:nvSpPr>
        <dsp:cNvPr id="0" name=""/>
        <dsp:cNvSpPr/>
      </dsp:nvSpPr>
      <dsp:spPr>
        <a:xfrm>
          <a:off x="3114228" y="1662638"/>
          <a:ext cx="2001142" cy="1200685"/>
        </a:xfrm>
        <a:prstGeom prst="rect">
          <a:avLst/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xmlns:mc="http://schemas.openxmlformats.org/markup-compatibility/2006" xmlns:a14="http://schemas.microsoft.com/office/drawing/2007/7/7/main" val="000000" mc:Ignorable="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500" kern="1200" dirty="0" smtClean="0"/>
            <a:t>Codificação</a:t>
          </a:r>
          <a:endParaRPr lang="pt-BR" sz="2500" kern="1200" dirty="0"/>
        </a:p>
      </dsp:txBody>
      <dsp:txXfrm>
        <a:off x="3114228" y="1662638"/>
        <a:ext cx="2001142" cy="1200685"/>
      </dsp:txXfrm>
    </dsp:sp>
    <dsp:sp modelId="{7FD320D5-FB4E-450F-BF0A-FFBFCBF9C068}">
      <dsp:nvSpPr>
        <dsp:cNvPr id="0" name=""/>
        <dsp:cNvSpPr/>
      </dsp:nvSpPr>
      <dsp:spPr>
        <a:xfrm>
          <a:off x="1653394" y="2861524"/>
          <a:ext cx="4922811" cy="429662"/>
        </a:xfrm>
        <a:custGeom>
          <a:avLst/>
          <a:gdLst/>
          <a:ahLst/>
          <a:cxnLst/>
          <a:rect l="0" t="0" r="0" b="0"/>
          <a:pathLst>
            <a:path>
              <a:moveTo>
                <a:pt x="4922811" y="0"/>
              </a:moveTo>
              <a:lnTo>
                <a:pt x="4922811" y="231931"/>
              </a:lnTo>
              <a:lnTo>
                <a:pt x="0" y="231931"/>
              </a:lnTo>
              <a:lnTo>
                <a:pt x="0" y="429662"/>
              </a:lnTo>
            </a:path>
          </a:pathLst>
        </a:custGeom>
        <a:noFill/>
        <a:ln w="9525" cap="flat" cmpd="sng" algn="ctr">
          <a:solidFill>
            <a:schemeClr val="accent4">
              <a:hueOff val="-3189121"/>
              <a:satOff val="19214"/>
              <a:lumOff val="154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3991192" y="3074054"/>
        <a:ext cx="247214" cy="4602"/>
      </dsp:txXfrm>
    </dsp:sp>
    <dsp:sp modelId="{F2CBD17C-E5B5-497F-8CBD-3B93F8083173}">
      <dsp:nvSpPr>
        <dsp:cNvPr id="0" name=""/>
        <dsp:cNvSpPr/>
      </dsp:nvSpPr>
      <dsp:spPr>
        <a:xfrm>
          <a:off x="5575634" y="1662638"/>
          <a:ext cx="2001142" cy="1200685"/>
        </a:xfrm>
        <a:prstGeom prst="rect">
          <a:avLst/>
        </a:prstGeom>
        <a:gradFill rotWithShape="0">
          <a:gsLst>
            <a:gs pos="0">
              <a:schemeClr val="accent4">
                <a:hueOff val="-2790481"/>
                <a:satOff val="16812"/>
                <a:lumOff val="1348"/>
                <a:alphaOff val="0"/>
                <a:shade val="51000"/>
                <a:satMod val="130000"/>
              </a:schemeClr>
            </a:gs>
            <a:gs pos="80000">
              <a:schemeClr val="accent4">
                <a:hueOff val="-2790481"/>
                <a:satOff val="16812"/>
                <a:lumOff val="1348"/>
                <a:alphaOff val="0"/>
                <a:shade val="93000"/>
                <a:satMod val="130000"/>
              </a:schemeClr>
            </a:gs>
            <a:gs pos="100000">
              <a:schemeClr val="accent4">
                <a:hueOff val="-2790481"/>
                <a:satOff val="16812"/>
                <a:lumOff val="134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xmlns:mc="http://schemas.openxmlformats.org/markup-compatibility/2006" xmlns:a14="http://schemas.microsoft.com/office/drawing/2007/7/7/main" val="000000" mc:Ignorable="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500" kern="1200" dirty="0" smtClean="0"/>
            <a:t>Otimização</a:t>
          </a:r>
          <a:endParaRPr lang="pt-BR" sz="2500" kern="1200" dirty="0"/>
        </a:p>
      </dsp:txBody>
      <dsp:txXfrm>
        <a:off x="5575634" y="1662638"/>
        <a:ext cx="2001142" cy="1200685"/>
      </dsp:txXfrm>
    </dsp:sp>
    <dsp:sp modelId="{465454E7-7A00-406B-84F4-2D55D858345E}">
      <dsp:nvSpPr>
        <dsp:cNvPr id="0" name=""/>
        <dsp:cNvSpPr/>
      </dsp:nvSpPr>
      <dsp:spPr>
        <a:xfrm>
          <a:off x="2652165" y="3878210"/>
          <a:ext cx="4296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9662" y="45720"/>
              </a:lnTo>
            </a:path>
          </a:pathLst>
        </a:custGeom>
        <a:noFill/>
        <a:ln w="9525" cap="flat" cmpd="sng" algn="ctr">
          <a:solidFill>
            <a:schemeClr val="accent4">
              <a:hueOff val="-3826945"/>
              <a:satOff val="23056"/>
              <a:lumOff val="184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2855490" y="3921628"/>
        <a:ext cx="23013" cy="4602"/>
      </dsp:txXfrm>
    </dsp:sp>
    <dsp:sp modelId="{B700EFAA-9E34-4C77-A8FA-BA5DF909C538}">
      <dsp:nvSpPr>
        <dsp:cNvPr id="0" name=""/>
        <dsp:cNvSpPr/>
      </dsp:nvSpPr>
      <dsp:spPr>
        <a:xfrm>
          <a:off x="652822" y="3323587"/>
          <a:ext cx="2001142" cy="1200685"/>
        </a:xfrm>
        <a:prstGeom prst="rect">
          <a:avLst/>
        </a:prstGeom>
        <a:gradFill rotWithShape="0">
          <a:gsLst>
            <a:gs pos="0">
              <a:schemeClr val="accent4">
                <a:hueOff val="-3348577"/>
                <a:satOff val="20174"/>
                <a:lumOff val="1617"/>
                <a:alphaOff val="0"/>
                <a:shade val="51000"/>
                <a:satMod val="130000"/>
              </a:schemeClr>
            </a:gs>
            <a:gs pos="80000">
              <a:schemeClr val="accent4">
                <a:hueOff val="-3348577"/>
                <a:satOff val="20174"/>
                <a:lumOff val="1617"/>
                <a:alphaOff val="0"/>
                <a:shade val="93000"/>
                <a:satMod val="130000"/>
              </a:schemeClr>
            </a:gs>
            <a:gs pos="100000">
              <a:schemeClr val="accent4">
                <a:hueOff val="-3348577"/>
                <a:satOff val="20174"/>
                <a:lumOff val="161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xmlns:mc="http://schemas.openxmlformats.org/markup-compatibility/2006" xmlns:a14="http://schemas.microsoft.com/office/drawing/2007/7/7/main" val="000000" mc:Ignorable="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500" kern="1200" dirty="0" smtClean="0"/>
            <a:t>Publicação</a:t>
          </a:r>
          <a:endParaRPr lang="pt-BR" sz="2500" kern="1200" dirty="0"/>
        </a:p>
      </dsp:txBody>
      <dsp:txXfrm>
        <a:off x="652822" y="3323587"/>
        <a:ext cx="2001142" cy="1200685"/>
      </dsp:txXfrm>
    </dsp:sp>
    <dsp:sp modelId="{A923CD3A-7DF2-40F8-A521-EF1506589F66}">
      <dsp:nvSpPr>
        <dsp:cNvPr id="0" name=""/>
        <dsp:cNvSpPr/>
      </dsp:nvSpPr>
      <dsp:spPr>
        <a:xfrm>
          <a:off x="5113571" y="3878210"/>
          <a:ext cx="4296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9662" y="45720"/>
              </a:lnTo>
            </a:path>
          </a:pathLst>
        </a:custGeom>
        <a:noFill/>
        <a:ln w="9525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5316896" y="3921628"/>
        <a:ext cx="23013" cy="4602"/>
      </dsp:txXfrm>
    </dsp:sp>
    <dsp:sp modelId="{3FA78C0C-5474-466F-897F-21E508F15DDE}">
      <dsp:nvSpPr>
        <dsp:cNvPr id="0" name=""/>
        <dsp:cNvSpPr/>
      </dsp:nvSpPr>
      <dsp:spPr>
        <a:xfrm>
          <a:off x="3114228" y="3323587"/>
          <a:ext cx="2001142" cy="1200685"/>
        </a:xfrm>
        <a:prstGeom prst="rect">
          <a:avLst/>
        </a:prstGeom>
        <a:gradFill rotWithShape="0">
          <a:gsLst>
            <a:gs pos="0">
              <a:schemeClr val="accent4">
                <a:hueOff val="-3906673"/>
                <a:satOff val="23537"/>
                <a:lumOff val="1887"/>
                <a:alphaOff val="0"/>
                <a:shade val="51000"/>
                <a:satMod val="130000"/>
              </a:schemeClr>
            </a:gs>
            <a:gs pos="80000">
              <a:schemeClr val="accent4">
                <a:hueOff val="-3906673"/>
                <a:satOff val="23537"/>
                <a:lumOff val="1887"/>
                <a:alphaOff val="0"/>
                <a:shade val="93000"/>
                <a:satMod val="130000"/>
              </a:schemeClr>
            </a:gs>
            <a:gs pos="100000">
              <a:schemeClr val="accent4">
                <a:hueOff val="-3906673"/>
                <a:satOff val="23537"/>
                <a:lumOff val="188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xmlns:mc="http://schemas.openxmlformats.org/markup-compatibility/2006" xmlns:a14="http://schemas.microsoft.com/office/drawing/2007/7/7/main" val="000000" mc:Ignorable="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500" kern="1200" dirty="0" smtClean="0"/>
            <a:t>Promoção</a:t>
          </a:r>
          <a:endParaRPr lang="pt-BR" sz="2500" kern="1200" dirty="0"/>
        </a:p>
      </dsp:txBody>
      <dsp:txXfrm>
        <a:off x="3114228" y="3323587"/>
        <a:ext cx="2001142" cy="1200685"/>
      </dsp:txXfrm>
    </dsp:sp>
    <dsp:sp modelId="{8A5226B8-FA75-455B-AF42-B702778C08A7}">
      <dsp:nvSpPr>
        <dsp:cNvPr id="0" name=""/>
        <dsp:cNvSpPr/>
      </dsp:nvSpPr>
      <dsp:spPr>
        <a:xfrm>
          <a:off x="5575634" y="3323587"/>
          <a:ext cx="2001142" cy="1200685"/>
        </a:xfrm>
        <a:prstGeom prst="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xmlns:mc="http://schemas.openxmlformats.org/markup-compatibility/2006" xmlns:a14="http://schemas.microsoft.com/office/drawing/2007/7/7/main" val="000000" mc:Ignorable="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500" kern="1200" dirty="0" smtClean="0"/>
            <a:t>Manutenção</a:t>
          </a:r>
          <a:endParaRPr lang="pt-BR" sz="2500" kern="1200" dirty="0"/>
        </a:p>
      </dsp:txBody>
      <dsp:txXfrm>
        <a:off x="5575634" y="3323587"/>
        <a:ext cx="2001142" cy="12006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5211-1B0C-4779-9D91-DB3E3D460681}" type="datetimeFigureOut">
              <a:rPr lang="pt-BR" smtClean="0"/>
              <a:t>26/10/2009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700C1-4415-4115-95B7-1A997B8869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07/7/12/main" val="4222329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5211-1B0C-4779-9D91-DB3E3D460681}" type="datetimeFigureOut">
              <a:rPr lang="pt-BR" smtClean="0"/>
              <a:t>26/10/2009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700C1-4415-4115-95B7-1A997B8869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07/7/12/main" val="480650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5211-1B0C-4779-9D91-DB3E3D460681}" type="datetimeFigureOut">
              <a:rPr lang="pt-BR" smtClean="0"/>
              <a:t>26/10/2009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700C1-4415-4115-95B7-1A997B8869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07/7/12/main" val="151954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5211-1B0C-4779-9D91-DB3E3D460681}" type="datetimeFigureOut">
              <a:rPr lang="pt-BR" smtClean="0"/>
              <a:t>26/10/2009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700C1-4415-4115-95B7-1A997B8869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07/7/12/main" val="768390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5211-1B0C-4779-9D91-DB3E3D460681}" type="datetimeFigureOut">
              <a:rPr lang="pt-BR" smtClean="0"/>
              <a:t>26/10/2009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700C1-4415-4115-95B7-1A997B8869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07/7/12/main" val="1029911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5211-1B0C-4779-9D91-DB3E3D460681}" type="datetimeFigureOut">
              <a:rPr lang="pt-BR" smtClean="0"/>
              <a:t>26/10/2009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700C1-4415-4115-95B7-1A997B8869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07/7/12/main" val="697251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5211-1B0C-4779-9D91-DB3E3D460681}" type="datetimeFigureOut">
              <a:rPr lang="pt-BR" smtClean="0"/>
              <a:t>26/10/2009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700C1-4415-4115-95B7-1A997B8869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07/7/12/main" val="154102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5211-1B0C-4779-9D91-DB3E3D460681}" type="datetimeFigureOut">
              <a:rPr lang="pt-BR" smtClean="0"/>
              <a:t>26/10/2009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700C1-4415-4115-95B7-1A997B8869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07/7/12/main" val="24953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5211-1B0C-4779-9D91-DB3E3D460681}" type="datetimeFigureOut">
              <a:rPr lang="pt-BR" smtClean="0"/>
              <a:t>26/10/2009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700C1-4415-4115-95B7-1A997B8869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07/7/12/main" val="3765400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5211-1B0C-4779-9D91-DB3E3D460681}" type="datetimeFigureOut">
              <a:rPr lang="pt-BR" smtClean="0"/>
              <a:t>26/10/2009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700C1-4415-4115-95B7-1A997B8869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07/7/12/main" val="1314158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5211-1B0C-4779-9D91-DB3E3D460681}" type="datetimeFigureOut">
              <a:rPr lang="pt-BR" smtClean="0"/>
              <a:t>26/10/2009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700C1-4415-4115-95B7-1A997B8869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07/7/12/main" val="69408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15211-1B0C-4779-9D91-DB3E3D460681}" type="datetimeFigureOut">
              <a:rPr lang="pt-BR" smtClean="0"/>
              <a:t>26/10/2009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700C1-4415-4115-95B7-1A997B8869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07/7/12/main" val="1958798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dnews.com.br/publicidade.php?id=84421" TargetMode="External"/><Relationship Id="rId2" Type="http://schemas.openxmlformats.org/officeDocument/2006/relationships/hyperlink" Target="http://www.osnumerosdainternet.com.br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gif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signer404.com/" TargetMode="External"/><Relationship Id="rId2" Type="http://schemas.openxmlformats.org/officeDocument/2006/relationships/hyperlink" Target="mailto:luizeof@gmail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orangeweb.com.b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57818" y="2230505"/>
            <a:ext cx="3714744" cy="2000264"/>
          </a:xfrm>
        </p:spPr>
        <p:txBody>
          <a:bodyPr>
            <a:noAutofit/>
          </a:bodyPr>
          <a:lstStyle/>
          <a:p>
            <a:pPr algn="l"/>
            <a:r>
              <a:rPr lang="pt-BR" sz="48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Search</a:t>
            </a:r>
            <a:br>
              <a:rPr lang="pt-BR" sz="48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</a:br>
            <a:r>
              <a:rPr lang="pt-BR" sz="48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Engine</a:t>
            </a:r>
            <a:br>
              <a:rPr lang="pt-BR" sz="48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</a:br>
            <a:r>
              <a:rPr lang="pt-BR" sz="48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Optimization</a:t>
            </a:r>
            <a:endParaRPr lang="pt-BR" sz="48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282" y="1301810"/>
            <a:ext cx="5149679" cy="3770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3900" b="1" dirty="0" smtClean="0">
                <a:ln w="28575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55000" dist="50800" dir="5400000" algn="tl">
                    <a:srgbClr xmlns:mc="http://schemas.openxmlformats.org/markup-compatibility/2006" xmlns:a14="http://schemas.microsoft.com/office/drawing/2007/7/7/main" val="000000" mc:Ignorable="">
                      <a:alpha val="33000"/>
                    </a:srgbClr>
                  </a:outerShdw>
                </a:effectLst>
              </a:rPr>
              <a:t>SEO</a:t>
            </a:r>
            <a:endParaRPr lang="pt-BR" sz="23900" b="1" dirty="0">
              <a:ln w="28575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chemeClr val="accent1">
                  <a:lumMod val="50000"/>
                </a:schemeClr>
              </a:solidFill>
              <a:effectLst>
                <a:outerShdw blurRad="55000" dist="50800" dir="5400000" algn="tl">
                  <a:srgbClr xmlns:mc="http://schemas.openxmlformats.org/markup-compatibility/2006" xmlns:a14="http://schemas.microsoft.com/office/drawing/2007/7/7/main" val="000000" mc:Ignorable="">
                    <a:alpha val="3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07/7/12/main" val="219587777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pt-BR" sz="4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xmlns:mc="http://schemas.openxmlformats.org/markup-compatibility/2006" xmlns:a14="http://schemas.microsoft.com/office/drawing/2007/7/7/main" val="000000" mc:Ignorable="">
                      <a:alpha val="65000"/>
                    </a:srgbClr>
                  </a:outerShdw>
                </a:effectLst>
              </a:rPr>
              <a:t>Luiz Eduardo de </a:t>
            </a:r>
            <a:r>
              <a:rPr lang="pt-BR" sz="4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xmlns:mc="http://schemas.openxmlformats.org/markup-compatibility/2006" xmlns:a14="http://schemas.microsoft.com/office/drawing/2007/7/7/main" val="000000" mc:Ignorable="">
                      <a:alpha val="65000"/>
                    </a:srgbClr>
                  </a:outerShdw>
                </a:effectLst>
              </a:rPr>
              <a:t>Oliveira </a:t>
            </a:r>
            <a:r>
              <a:rPr lang="pt-BR" sz="4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xmlns:mc="http://schemas.openxmlformats.org/markup-compatibility/2006" xmlns:a14="http://schemas.microsoft.com/office/drawing/2007/7/7/main" val="000000" mc:Ignorable="">
                      <a:alpha val="65000"/>
                    </a:srgbClr>
                  </a:outerShdw>
                </a:effectLst>
              </a:rPr>
              <a:t>Fonseca</a:t>
            </a:r>
            <a:endParaRPr lang="pt-BR" sz="48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xmlns:mc="http://schemas.openxmlformats.org/markup-compatibility/2006" xmlns:a14="http://schemas.microsoft.com/office/drawing/2007/7/7/main" val="000000" mc:Ignorable="">
                    <a:alpha val="65000"/>
                  </a:srgbClr>
                </a:outerShdw>
              </a:effectLst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b="1" i="1" dirty="0" smtClean="0"/>
              <a:t>Profissão</a:t>
            </a:r>
            <a:endParaRPr lang="pt-BR" sz="2000" b="1" i="1" dirty="0" smtClean="0"/>
          </a:p>
          <a:p>
            <a:r>
              <a:rPr lang="pt-BR" sz="2000" dirty="0" smtClean="0"/>
              <a:t>Programador / Web Designer</a:t>
            </a:r>
          </a:p>
          <a:p>
            <a:pPr marL="0" indent="0">
              <a:buNone/>
            </a:pPr>
            <a:r>
              <a:rPr lang="pt-BR" sz="2400" b="1" i="1" dirty="0" smtClean="0"/>
              <a:t>Empresa</a:t>
            </a:r>
            <a:endParaRPr lang="pt-BR" b="1" i="1" dirty="0" smtClean="0"/>
          </a:p>
          <a:p>
            <a:r>
              <a:rPr lang="pt-BR" sz="2000" dirty="0" smtClean="0"/>
              <a:t>O Lojão Magazine</a:t>
            </a:r>
          </a:p>
          <a:p>
            <a:r>
              <a:rPr lang="pt-BR" sz="2000" dirty="0" smtClean="0"/>
              <a:t>Agência Orangeweb</a:t>
            </a:r>
          </a:p>
          <a:p>
            <a:pPr marL="0" indent="0">
              <a:buNone/>
            </a:pPr>
            <a:r>
              <a:rPr lang="pt-BR" sz="2400" b="1" i="1" dirty="0" smtClean="0"/>
              <a:t>Formação</a:t>
            </a:r>
            <a:endParaRPr lang="pt-BR" b="1" i="1" dirty="0" smtClean="0"/>
          </a:p>
          <a:p>
            <a:r>
              <a:rPr lang="pt-BR" sz="2000" dirty="0"/>
              <a:t>Tecnólogo em Sistemas para Internet – Veris IBTA (Cursando</a:t>
            </a:r>
            <a:r>
              <a:rPr lang="pt-BR" sz="2000" dirty="0" smtClean="0"/>
              <a:t>)</a:t>
            </a:r>
          </a:p>
          <a:p>
            <a:r>
              <a:rPr lang="pt-BR" sz="2000" dirty="0" smtClean="0"/>
              <a:t>Técnico em Informática – ETE João Gomes Araújo (Completo)</a:t>
            </a:r>
          </a:p>
          <a:p>
            <a:r>
              <a:rPr lang="pt-BR" sz="2000" dirty="0" smtClean="0"/>
              <a:t>Técnico em Assessoria e Gerenciamento Empresarial – ETE João Gomes Araújo (Módulo 1)</a:t>
            </a:r>
          </a:p>
        </p:txBody>
      </p:sp>
    </p:spTree>
    <p:extLst>
      <p:ext uri="{BB962C8B-B14F-4D97-AF65-F5344CB8AC3E}">
        <p14:creationId xmlns:p14="http://schemas.microsoft.com/office/powerpoint/2007/7/12/main" val="3005239224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72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Hey </a:t>
            </a:r>
            <a:r>
              <a:rPr lang="pt-BR" sz="72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! </a:t>
            </a:r>
            <a:r>
              <a:rPr lang="pt-BR" sz="72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/>
            </a:r>
            <a:br>
              <a:rPr lang="pt-BR" sz="72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</a:br>
            <a:r>
              <a:rPr lang="pt-BR" sz="72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O </a:t>
            </a:r>
            <a:r>
              <a:rPr lang="pt-BR" sz="72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que está acontecendo ?</a:t>
            </a:r>
            <a:endParaRPr lang="pt-BR" sz="72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7290" y="4714884"/>
            <a:ext cx="6400800" cy="928694"/>
          </a:xfrm>
        </p:spPr>
        <p:txBody>
          <a:bodyPr/>
          <a:lstStyle/>
          <a:p>
            <a:r>
              <a:rPr lang="pt-BR" dirty="0" smtClean="0"/>
              <a:t>Oh Brave New World...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4175154106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80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A “Bolha” e </a:t>
            </a:r>
            <a:r>
              <a:rPr lang="pt-BR" sz="80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o ”Pós-Bolha</a:t>
            </a:r>
            <a:r>
              <a:rPr lang="pt-BR" sz="80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”</a:t>
            </a:r>
            <a:endParaRPr lang="pt-BR" sz="80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7290" y="4429132"/>
            <a:ext cx="6400800" cy="1752600"/>
          </a:xfrm>
        </p:spPr>
        <p:txBody>
          <a:bodyPr/>
          <a:lstStyle/>
          <a:p>
            <a:r>
              <a:rPr lang="pt-BR" dirty="0" smtClean="0"/>
              <a:t>Eu acreditava...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2941489622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66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Internet, </a:t>
            </a:r>
            <a:r>
              <a:rPr lang="pt-BR" sz="66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Publicidade </a:t>
            </a:r>
            <a:r>
              <a:rPr lang="pt-BR" sz="6600" b="1" dirty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e</a:t>
            </a:r>
            <a:r>
              <a:rPr lang="pt-BR" sz="66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 </a:t>
            </a:r>
            <a:r>
              <a:rPr lang="pt-BR" sz="66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Propaganda</a:t>
            </a:r>
            <a:endParaRPr lang="pt-BR" sz="66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7290" y="4857760"/>
            <a:ext cx="6400800" cy="895344"/>
          </a:xfrm>
        </p:spPr>
        <p:txBody>
          <a:bodyPr/>
          <a:lstStyle/>
          <a:p>
            <a:r>
              <a:rPr lang="pt-BR" dirty="0" smtClean="0"/>
              <a:t>Um novo mercado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4271341062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54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Publicidade?</a:t>
            </a:r>
            <a:endParaRPr lang="pt-BR" sz="54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</a:t>
            </a:r>
            <a:r>
              <a:rPr lang="pt-BR" dirty="0"/>
              <a:t> </a:t>
            </a:r>
            <a:r>
              <a:rPr lang="pt-BR" b="1" dirty="0"/>
              <a:t>Publicidade</a:t>
            </a:r>
            <a:r>
              <a:rPr lang="pt-BR" dirty="0"/>
              <a:t> é definida como a arte de despertar no público o desejo de compra, levando-o à ação</a:t>
            </a:r>
            <a:r>
              <a:rPr lang="pt-BR" dirty="0" smtClean="0"/>
              <a:t>.</a:t>
            </a:r>
          </a:p>
          <a:p>
            <a:r>
              <a:rPr lang="pt-BR" dirty="0"/>
              <a:t>U</a:t>
            </a:r>
            <a:r>
              <a:rPr lang="pt-BR" dirty="0" smtClean="0"/>
              <a:t>m </a:t>
            </a:r>
            <a:r>
              <a:rPr lang="pt-BR" dirty="0"/>
              <a:t>conjunto de técnicas de ação coletiva, utilizadas no sentido de </a:t>
            </a:r>
            <a:r>
              <a:rPr lang="pt-BR" b="1" dirty="0"/>
              <a:t>promover o lucro de uma atividade comercial</a:t>
            </a:r>
            <a:r>
              <a:rPr lang="pt-BR" dirty="0"/>
              <a:t>, </a:t>
            </a:r>
            <a:r>
              <a:rPr lang="pt-BR" b="1" dirty="0"/>
              <a:t>conquistando</a:t>
            </a:r>
            <a:r>
              <a:rPr lang="pt-BR" dirty="0"/>
              <a:t>, </a:t>
            </a:r>
            <a:r>
              <a:rPr lang="pt-BR" b="1" dirty="0"/>
              <a:t>aumentando</a:t>
            </a:r>
            <a:r>
              <a:rPr lang="pt-BR" dirty="0"/>
              <a:t> ou </a:t>
            </a:r>
            <a:r>
              <a:rPr lang="pt-BR" b="1" dirty="0"/>
              <a:t>mantendo</a:t>
            </a:r>
            <a:r>
              <a:rPr lang="pt-BR" dirty="0"/>
              <a:t> </a:t>
            </a:r>
            <a:r>
              <a:rPr lang="pt-BR" b="1" dirty="0"/>
              <a:t>clientes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07/7/12/main" val="1581475934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54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Propaganda?</a:t>
            </a:r>
            <a:endParaRPr lang="pt-BR" sz="54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b="1" dirty="0"/>
              <a:t>Propaganda</a:t>
            </a:r>
            <a:r>
              <a:rPr lang="pt-BR" dirty="0"/>
              <a:t> é um conjunto de técnicas de ação individual, utilizadas no sentido de </a:t>
            </a:r>
            <a:r>
              <a:rPr lang="pt-BR" b="1" dirty="0"/>
              <a:t>promover a adesão a um dado sistema ideológico </a:t>
            </a:r>
            <a:r>
              <a:rPr lang="pt-BR" dirty="0"/>
              <a:t>(</a:t>
            </a:r>
            <a:r>
              <a:rPr lang="pt-BR" b="1" dirty="0"/>
              <a:t>político, social ou </a:t>
            </a:r>
            <a:r>
              <a:rPr lang="pt-BR" b="1" dirty="0" smtClean="0"/>
              <a:t>econômico</a:t>
            </a:r>
            <a:r>
              <a:rPr lang="pt-BR" dirty="0" smtClean="0"/>
              <a:t>).</a:t>
            </a:r>
          </a:p>
          <a:p>
            <a:r>
              <a:rPr lang="pt-BR" dirty="0"/>
              <a:t>É o </a:t>
            </a:r>
            <a:r>
              <a:rPr lang="pt-BR" b="1" dirty="0"/>
              <a:t>efeito de propagar</a:t>
            </a:r>
            <a:r>
              <a:rPr lang="pt-BR" dirty="0"/>
              <a:t>. É </a:t>
            </a:r>
            <a:r>
              <a:rPr lang="pt-BR" b="1" dirty="0"/>
              <a:t>projetar a imagem da empresa no mercado</a:t>
            </a:r>
            <a:r>
              <a:rPr lang="pt-BR" dirty="0"/>
              <a:t>, através dos meios de comunicação </a:t>
            </a:r>
            <a:r>
              <a:rPr lang="pt-BR" dirty="0" smtClean="0"/>
              <a:t>disponíveis.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538659522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ular Callout 3"/>
          <p:cNvSpPr/>
          <p:nvPr/>
        </p:nvSpPr>
        <p:spPr>
          <a:xfrm>
            <a:off x="642910" y="1643050"/>
            <a:ext cx="8001056" cy="3714776"/>
          </a:xfrm>
          <a:prstGeom prst="wedgeRoundRectCallout">
            <a:avLst/>
          </a:prstGeom>
          <a:ln w="7620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4800" b="1" i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“É melhor ser o primeiro do que ser o melhor...”</a:t>
            </a:r>
            <a:endParaRPr lang="pt-BR" sz="4800" b="1" i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Al Ries</a:t>
            </a:r>
            <a:r>
              <a:rPr lang="pt-BR" dirty="0" smtClean="0"/>
              <a:t>, em seu livro “</a:t>
            </a:r>
            <a:r>
              <a:rPr lang="pt-BR" b="1" i="1" dirty="0" smtClean="0"/>
              <a:t>As 22 consagradas leis do marketing</a:t>
            </a:r>
            <a:r>
              <a:rPr lang="pt-BR" dirty="0" smtClean="0"/>
              <a:t>”.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4161966736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Ser bem visto, é bem melhor do que simplesmente ser visto...</a:t>
            </a:r>
            <a:endParaRPr lang="pt-BR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14348" y="2143116"/>
            <a:ext cx="7772400" cy="1349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8000" b="1" dirty="0" smtClean="0">
                <a:solidFill>
                  <a:srgbClr xmlns:mc="http://schemas.openxmlformats.org/markup-compatibility/2006" xmlns:a14="http://schemas.microsoft.com/office/drawing/2007/7/7/main" val="FF0000" mc:Ignorable=""/>
                </a:solidFill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“Encontrabilidade”</a:t>
            </a:r>
            <a:endParaRPr lang="pt-BR" sz="8000" b="1" dirty="0">
              <a:solidFill>
                <a:srgbClr xmlns:mc="http://schemas.openxmlformats.org/markup-compatibility/2006" xmlns:a14="http://schemas.microsoft.com/office/drawing/2007/7/7/main" val="FF0000" mc:Ignorable=""/>
              </a:solidFill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07/7/12/main" val="3197078730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54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.. E então, tudo mudou...</a:t>
            </a:r>
            <a:endParaRPr lang="pt-BR" sz="54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Surge um novo termo...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199842598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6000" b="1" dirty="0" smtClean="0">
                <a:solidFill>
                  <a:srgbClr xmlns:mc="http://schemas.openxmlformats.org/markup-compatibility/2006" xmlns:a14="http://schemas.microsoft.com/office/drawing/2007/7/7/main" val="FF0000" mc:Ignorable=""/>
                </a:solidFill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Encontrabilidade</a:t>
            </a:r>
            <a:r>
              <a:rPr lang="pt-BR" sz="4800" b="1" dirty="0" smtClean="0">
                <a:solidFill>
                  <a:srgbClr xmlns:mc="http://schemas.openxmlformats.org/markup-compatibility/2006" xmlns:a14="http://schemas.microsoft.com/office/drawing/2007/7/7/main" val="FF0000" mc:Ignorable=""/>
                </a:solidFill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:</a:t>
            </a:r>
            <a:r>
              <a:rPr lang="pt-BR" b="1" dirty="0" smtClean="0">
                <a:solidFill>
                  <a:srgbClr xmlns:mc="http://schemas.openxmlformats.org/markup-compatibility/2006" xmlns:a14="http://schemas.microsoft.com/office/drawing/2007/7/7/main" val="FF0000" mc:Ignorable=""/>
                </a:solidFill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/>
            </a:r>
            <a:br>
              <a:rPr lang="pt-BR" b="1" dirty="0" smtClean="0">
                <a:solidFill>
                  <a:srgbClr xmlns:mc="http://schemas.openxmlformats.org/markup-compatibility/2006" xmlns:a14="http://schemas.microsoft.com/office/drawing/2007/7/7/main" val="FF0000" mc:Ignorable=""/>
                </a:solidFill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</a:br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/>
            </a:r>
            <a:b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</a:br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Para reter e </a:t>
            </a:r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vender, </a:t>
            </a:r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primeiro é preciso que </a:t>
            </a:r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o cliente conheça e chegue </a:t>
            </a:r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até </a:t>
            </a:r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você.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852" y="4962548"/>
            <a:ext cx="6400800" cy="1752600"/>
          </a:xfrm>
        </p:spPr>
        <p:txBody>
          <a:bodyPr/>
          <a:lstStyle/>
          <a:p>
            <a:r>
              <a:rPr lang="pt-BR" dirty="0" smtClean="0"/>
              <a:t>Esse é só o primeiro passo.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3163583557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60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Então, vamos por partes....</a:t>
            </a:r>
            <a:endParaRPr lang="pt-BR" sz="60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7290" y="4357694"/>
            <a:ext cx="6400800" cy="971560"/>
          </a:xfrm>
        </p:spPr>
        <p:txBody>
          <a:bodyPr/>
          <a:lstStyle/>
          <a:p>
            <a:r>
              <a:rPr lang="pt-BR" dirty="0" smtClean="0"/>
              <a:t>Sim, como já dizia o velho Jack 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2784456375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80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SEO ?</a:t>
            </a:r>
            <a:endParaRPr lang="pt-BR" sz="80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3600" dirty="0" smtClean="0"/>
              <a:t>O que é isso?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07/7/12/main" val="1538801634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Definição de SEO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115328" cy="4525963"/>
          </a:xfrm>
        </p:spPr>
        <p:txBody>
          <a:bodyPr>
            <a:normAutofit fontScale="92500"/>
          </a:bodyPr>
          <a:lstStyle/>
          <a:p>
            <a:r>
              <a:rPr lang="pt-BR" dirty="0" smtClean="0"/>
              <a:t>É </a:t>
            </a:r>
            <a:r>
              <a:rPr lang="pt-BR" dirty="0"/>
              <a:t>o conjunto de estratégias com o objetivo de </a:t>
            </a:r>
            <a:r>
              <a:rPr lang="pt-BR" b="1" dirty="0"/>
              <a:t>potencializar</a:t>
            </a:r>
            <a:r>
              <a:rPr lang="pt-BR" dirty="0"/>
              <a:t> e </a:t>
            </a:r>
            <a:r>
              <a:rPr lang="pt-BR" b="1" dirty="0"/>
              <a:t>melhorar</a:t>
            </a:r>
            <a:r>
              <a:rPr lang="pt-BR" dirty="0"/>
              <a:t> o posicionamento de um site nas páginas de resultados </a:t>
            </a:r>
            <a:r>
              <a:rPr lang="pt-BR" b="1" dirty="0"/>
              <a:t>naturais (orgânicos) </a:t>
            </a:r>
            <a:r>
              <a:rPr lang="pt-BR" dirty="0"/>
              <a:t>nos sites de </a:t>
            </a:r>
            <a:r>
              <a:rPr lang="pt-BR" dirty="0" smtClean="0"/>
              <a:t>busca. (Wikipédia)</a:t>
            </a:r>
          </a:p>
          <a:p>
            <a:endParaRPr lang="pt-BR" dirty="0" smtClean="0"/>
          </a:p>
          <a:p>
            <a:r>
              <a:rPr lang="pt-BR" dirty="0" smtClean="0"/>
              <a:t>Trata-se da Otimização de Websites (Código e Conteúdo) para Mecanismos de Busca  – para a varredura de palavras-chave e indexação do conteúdo.</a:t>
            </a:r>
          </a:p>
          <a:p>
            <a:endParaRPr lang="pt-BR" dirty="0"/>
          </a:p>
          <a:p>
            <a:r>
              <a:rPr lang="pt-BR" dirty="0" smtClean="0"/>
              <a:t>É uma etapa do </a:t>
            </a:r>
            <a:r>
              <a:rPr lang="pt-BR" b="1" dirty="0" smtClean="0"/>
              <a:t>SEM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3918676328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80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Ok, mas então o que é SEM ?</a:t>
            </a:r>
            <a:endParaRPr lang="pt-BR" sz="80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86256"/>
            <a:ext cx="6400800" cy="1352544"/>
          </a:xfrm>
        </p:spPr>
        <p:txBody>
          <a:bodyPr/>
          <a:lstStyle/>
          <a:p>
            <a:r>
              <a:rPr lang="pt-BR" b="1" dirty="0" smtClean="0"/>
              <a:t>SEM</a:t>
            </a:r>
            <a:r>
              <a:rPr lang="pt-BR" dirty="0" smtClean="0"/>
              <a:t> é o primo rico do SEO.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1686131384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Definição de SEM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115328" cy="4525963"/>
          </a:xfrm>
        </p:spPr>
        <p:txBody>
          <a:bodyPr>
            <a:normAutofit lnSpcReduction="10000"/>
          </a:bodyPr>
          <a:lstStyle/>
          <a:p>
            <a:r>
              <a:rPr lang="pt-BR" b="1" dirty="0"/>
              <a:t>SEM</a:t>
            </a:r>
            <a:r>
              <a:rPr lang="pt-BR" dirty="0"/>
              <a:t>, ou </a:t>
            </a:r>
            <a:r>
              <a:rPr lang="pt-BR" b="1" dirty="0"/>
              <a:t>Search Engine Marketing</a:t>
            </a:r>
            <a:r>
              <a:rPr lang="pt-BR" dirty="0"/>
              <a:t>, é um conjunto de técnicas de </a:t>
            </a:r>
            <a:r>
              <a:rPr lang="pt-BR" b="1" dirty="0"/>
              <a:t>Marketing na Internet </a:t>
            </a:r>
            <a:r>
              <a:rPr lang="pt-BR" dirty="0"/>
              <a:t>que tem por objetivo a </a:t>
            </a:r>
            <a:r>
              <a:rPr lang="pt-BR" b="1" dirty="0"/>
              <a:t>promoção de um website </a:t>
            </a:r>
            <a:r>
              <a:rPr lang="pt-BR" dirty="0"/>
              <a:t>nas páginas de </a:t>
            </a:r>
            <a:r>
              <a:rPr lang="pt-BR" dirty="0" smtClean="0"/>
              <a:t>resultado </a:t>
            </a:r>
            <a:r>
              <a:rPr lang="pt-BR" dirty="0"/>
              <a:t>de um </a:t>
            </a:r>
            <a:r>
              <a:rPr lang="pt-BR" dirty="0" smtClean="0"/>
              <a:t>buscador utilizando </a:t>
            </a:r>
            <a:r>
              <a:rPr lang="pt-BR" b="1" dirty="0" smtClean="0"/>
              <a:t>links patrocinados</a:t>
            </a:r>
            <a:r>
              <a:rPr lang="pt-BR" dirty="0" smtClean="0"/>
              <a:t>.</a:t>
            </a:r>
            <a:endParaRPr lang="pt-BR" dirty="0" smtClean="0"/>
          </a:p>
          <a:p>
            <a:pPr marL="0" indent="0">
              <a:buNone/>
            </a:pPr>
            <a:endParaRPr lang="pt-BR" b="1" dirty="0" smtClean="0"/>
          </a:p>
          <a:p>
            <a:pPr marL="0" indent="0">
              <a:buNone/>
            </a:pPr>
            <a:r>
              <a:rPr lang="pt-BR" b="1" dirty="0" smtClean="0"/>
              <a:t>O SEM é dividido em três partes:</a:t>
            </a:r>
          </a:p>
          <a:p>
            <a:r>
              <a:rPr lang="pt-BR" dirty="0" smtClean="0"/>
              <a:t>O SEO </a:t>
            </a:r>
          </a:p>
          <a:p>
            <a:r>
              <a:rPr lang="pt-BR" dirty="0" smtClean="0"/>
              <a:t>Os Links Patrocinados</a:t>
            </a:r>
          </a:p>
          <a:p>
            <a:r>
              <a:rPr lang="pt-BR" dirty="0" smtClean="0"/>
              <a:t>O entendimento do comportamento do Consumidor</a:t>
            </a:r>
          </a:p>
        </p:txBody>
      </p:sp>
    </p:spTree>
    <p:extLst>
      <p:ext uri="{BB962C8B-B14F-4D97-AF65-F5344CB8AC3E}">
        <p14:creationId xmlns:p14="http://schemas.microsoft.com/office/powerpoint/2007/7/12/main" val="2703014590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Links </a:t>
            </a:r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Patrocinados ?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Forma de publicidade através de resultados de uma busca. Costuma ter relevância com a </a:t>
            </a:r>
            <a:r>
              <a:rPr lang="pt-BR" dirty="0" smtClean="0"/>
              <a:t>palavra-chave </a:t>
            </a:r>
            <a:r>
              <a:rPr lang="pt-BR" dirty="0"/>
              <a:t>utilizada na procura</a:t>
            </a:r>
            <a:r>
              <a:rPr lang="pt-BR" dirty="0" smtClean="0"/>
              <a:t>.</a:t>
            </a:r>
          </a:p>
          <a:p>
            <a:r>
              <a:rPr lang="pt-BR" sz="2800" dirty="0" smtClean="0"/>
              <a:t>Também conhecido como Posicionamento Pago.</a:t>
            </a:r>
          </a:p>
          <a:p>
            <a:r>
              <a:rPr lang="pt-BR" sz="2800" dirty="0" smtClean="0"/>
              <a:t>Pode ser baseado em CPC (Custo por Clique)</a:t>
            </a:r>
          </a:p>
          <a:p>
            <a:r>
              <a:rPr lang="pt-BR" sz="2800" dirty="0" smtClean="0"/>
              <a:t>Pode ser baseado em CPM(Custo por Mil Exibições)</a:t>
            </a:r>
          </a:p>
          <a:p>
            <a:r>
              <a:rPr lang="pt-BR" sz="2800" dirty="0" smtClean="0"/>
              <a:t>É exibido no Google além de sites e blogs parceiros</a:t>
            </a:r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07/7/12/main" val="1099504571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Quanto Custa ?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Não há um gasto mínimo obrigatório, apenas uma pequena taxa de </a:t>
            </a:r>
            <a:r>
              <a:rPr lang="pt-BR" dirty="0" smtClean="0"/>
              <a:t>ativação.</a:t>
            </a:r>
            <a:endParaRPr lang="pt-BR" dirty="0"/>
          </a:p>
          <a:p>
            <a:r>
              <a:rPr lang="pt-BR" dirty="0"/>
              <a:t>Você define o limite de quanto deseja gastar por dia.</a:t>
            </a:r>
          </a:p>
          <a:p>
            <a:r>
              <a:rPr lang="pt-BR" dirty="0"/>
              <a:t>Você especifica quanto deseja pagar por clique ou impressão.</a:t>
            </a:r>
          </a:p>
          <a:p>
            <a:r>
              <a:rPr lang="pt-BR" dirty="0" smtClean="0"/>
              <a:t>Possui Ferramenta </a:t>
            </a:r>
            <a:r>
              <a:rPr lang="pt-BR" dirty="0"/>
              <a:t>de palavras-chave  para analisar estimativas dos custos e do tráfego das </a:t>
            </a:r>
            <a:r>
              <a:rPr lang="pt-BR" dirty="0" smtClean="0"/>
              <a:t>palavras-chave.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1498983230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54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Humm, então devo usar SEO ou SEM?</a:t>
            </a:r>
            <a:endParaRPr lang="pt-BR" sz="54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Depende da sua necessidade...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4161988442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SEO ou SEM?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 </a:t>
            </a:r>
            <a:r>
              <a:rPr lang="pt-BR" b="1" dirty="0" smtClean="0"/>
              <a:t>SEO</a:t>
            </a:r>
            <a:r>
              <a:rPr lang="pt-BR" dirty="0" smtClean="0"/>
              <a:t> é recomendado para empresas que querem </a:t>
            </a:r>
            <a:r>
              <a:rPr lang="pt-BR" dirty="0" smtClean="0"/>
              <a:t>valorizar a marca, estar bem posicionada em relação aos concorrentes.</a:t>
            </a:r>
            <a:endParaRPr lang="pt-BR" dirty="0" smtClean="0"/>
          </a:p>
          <a:p>
            <a:endParaRPr lang="pt-BR" dirty="0"/>
          </a:p>
          <a:p>
            <a:r>
              <a:rPr lang="pt-BR" dirty="0" smtClean="0"/>
              <a:t>O </a:t>
            </a:r>
            <a:r>
              <a:rPr lang="pt-BR" b="1" dirty="0" smtClean="0"/>
              <a:t>SEM</a:t>
            </a:r>
            <a:r>
              <a:rPr lang="pt-BR" dirty="0" smtClean="0"/>
              <a:t> é destinado para empresas que querem </a:t>
            </a:r>
            <a:r>
              <a:rPr lang="pt-BR" dirty="0" smtClean="0"/>
              <a:t>vender </a:t>
            </a:r>
            <a:r>
              <a:rPr lang="pt-BR" dirty="0" smtClean="0"/>
              <a:t>produtos ou serviços.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3020147976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28A0092B-C50C-407e-A947-70E740481C1C">
                <a14:useLocalDpi xmlns:a14="http://schemas.microsoft.com/office/drawing/2007/7/7/main" val="0"/>
              </a:ext>
            </a:extLst>
          </a:blip>
          <a:srcRect t="10674" r="23371" b="6980"/>
          <a:stretch/>
        </p:blipFill>
        <p:spPr bwMode="auto">
          <a:xfrm>
            <a:off x="1500166" y="1643050"/>
            <a:ext cx="6715172" cy="4510053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07/7/7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07/7/7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07/7/7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8572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54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SEO </a:t>
            </a:r>
            <a:r>
              <a:rPr lang="pt-BR" b="1" dirty="0" smtClean="0">
                <a:solidFill>
                  <a:srgbClr xmlns:mc="http://schemas.openxmlformats.org/markup-compatibility/2006" xmlns:a14="http://schemas.microsoft.com/office/drawing/2007/7/7/main" val="FF0000" mc:Ignorable=""/>
                </a:solidFill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não é</a:t>
            </a:r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 </a:t>
            </a:r>
            <a:r>
              <a:rPr lang="pt-BR" sz="54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SEM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ight Arrow 4"/>
          <p:cNvSpPr/>
          <p:nvPr/>
        </p:nvSpPr>
        <p:spPr>
          <a:xfrm rot="19643117">
            <a:off x="563531" y="2559379"/>
            <a:ext cx="979700" cy="78731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ight Arrow 5"/>
          <p:cNvSpPr/>
          <p:nvPr/>
        </p:nvSpPr>
        <p:spPr>
          <a:xfrm rot="8407795">
            <a:off x="7436877" y="2657582"/>
            <a:ext cx="1128291" cy="87793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Box 6"/>
          <p:cNvSpPr txBox="1"/>
          <p:nvPr/>
        </p:nvSpPr>
        <p:spPr>
          <a:xfrm>
            <a:off x="285720" y="3429000"/>
            <a:ext cx="931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SEO</a:t>
            </a:r>
            <a:endParaRPr lang="pt-BR" sz="36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98667" y="1928802"/>
            <a:ext cx="103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SEM</a:t>
            </a:r>
            <a:endParaRPr lang="pt-BR" sz="36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07/7/12/main" val="2522836060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Mas qual rende mais ?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07/7/12/main" val="416971590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07/7/12/main" val="1304467894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54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E como anda o mercado ?</a:t>
            </a:r>
            <a:endParaRPr lang="pt-BR" sz="54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Vamos ver alguns números...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1890311934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  <a:hlinkClick r:id="rId2"/>
              </a:rPr>
              <a:t>www.osnumerosdainternet.com.br</a:t>
            </a:r>
            <a:r>
              <a:rPr lang="pt-BR" sz="40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 </a:t>
            </a:r>
            <a:endParaRPr lang="pt-BR" sz="40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Brasileiro gasta 30% do tempo online no </a:t>
            </a:r>
            <a:r>
              <a:rPr lang="pt-BR" dirty="0" smtClean="0"/>
              <a:t>Google (Busca, Orkut e Youtube) </a:t>
            </a:r>
            <a:r>
              <a:rPr lang="pt-BR" sz="2400" dirty="0" smtClean="0"/>
              <a:t>(Fev/2009)</a:t>
            </a:r>
            <a:endParaRPr lang="pt-BR" dirty="0" smtClean="0"/>
          </a:p>
          <a:p>
            <a:r>
              <a:rPr lang="pt-BR" dirty="0"/>
              <a:t>Crise provoca aumento de publicidade </a:t>
            </a:r>
            <a:r>
              <a:rPr lang="pt-BR" dirty="0" smtClean="0"/>
              <a:t>online </a:t>
            </a:r>
            <a:r>
              <a:rPr lang="pt-BR" sz="2400" dirty="0" smtClean="0"/>
              <a:t>(Jun/2009)</a:t>
            </a:r>
            <a:endParaRPr lang="pt-BR" dirty="0"/>
          </a:p>
          <a:p>
            <a:r>
              <a:rPr lang="pt-BR" dirty="0"/>
              <a:t>Publicidade online cresce 44,1% e lidera entre as </a:t>
            </a:r>
            <a:r>
              <a:rPr lang="pt-BR" dirty="0" smtClean="0"/>
              <a:t>mídias </a:t>
            </a:r>
            <a:r>
              <a:rPr lang="pt-BR" sz="2400" dirty="0" smtClean="0"/>
              <a:t>(Ago/2009)</a:t>
            </a:r>
            <a:endParaRPr lang="pt-BR" dirty="0"/>
          </a:p>
          <a:p>
            <a:r>
              <a:rPr lang="pt-BR" dirty="0" smtClean="0"/>
              <a:t>Web </a:t>
            </a:r>
            <a:r>
              <a:rPr lang="pt-BR" dirty="0"/>
              <a:t>brasileira vai faturar R$ 1 bilhão em </a:t>
            </a:r>
            <a:r>
              <a:rPr lang="pt-BR" dirty="0" smtClean="0"/>
              <a:t>2009</a:t>
            </a:r>
          </a:p>
          <a:p>
            <a:pPr marL="0" indent="0">
              <a:buNone/>
            </a:pPr>
            <a:endParaRPr lang="pt-BR" sz="2400" dirty="0" smtClean="0"/>
          </a:p>
          <a:p>
            <a:pPr marL="0" indent="0" algn="r">
              <a:buNone/>
            </a:pPr>
            <a:r>
              <a:rPr lang="pt-BR" sz="2000" dirty="0" smtClean="0"/>
              <a:t>Fonte: Redação</a:t>
            </a:r>
            <a:r>
              <a:rPr lang="pt-BR" sz="2000" dirty="0"/>
              <a:t> </a:t>
            </a:r>
            <a:r>
              <a:rPr lang="pt-BR" sz="2000" dirty="0">
                <a:hlinkClick r:id="rId3"/>
              </a:rPr>
              <a:t>Adnews</a:t>
            </a:r>
            <a:r>
              <a:rPr lang="pt-BR" sz="2000" dirty="0"/>
              <a:t>, com informações do IDGNow</a:t>
            </a:r>
            <a:r>
              <a:rPr lang="pt-BR" sz="2000" dirty="0" smtClean="0"/>
              <a:t>!.</a:t>
            </a:r>
            <a:endParaRPr lang="pt-BR" sz="20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3555800270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54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“Em tempos de </a:t>
            </a:r>
            <a:r>
              <a:rPr lang="pt-BR" sz="54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crise: </a:t>
            </a:r>
            <a:r>
              <a:rPr lang="pt-BR" sz="54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Enquanto </a:t>
            </a:r>
            <a:r>
              <a:rPr lang="pt-BR" sz="5400" b="1" dirty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alguns </a:t>
            </a:r>
            <a:r>
              <a:rPr lang="pt-BR" sz="54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choram, outros </a:t>
            </a:r>
            <a:r>
              <a:rPr lang="pt-BR" sz="54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anunciam e </a:t>
            </a:r>
            <a:r>
              <a:rPr lang="pt-BR" sz="54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vendem </a:t>
            </a:r>
            <a:r>
              <a:rPr lang="pt-BR" sz="54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lenços.”</a:t>
            </a:r>
            <a:endParaRPr lang="pt-BR" sz="54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852" y="5072074"/>
            <a:ext cx="6400800" cy="928694"/>
          </a:xfrm>
        </p:spPr>
        <p:txBody>
          <a:bodyPr/>
          <a:lstStyle/>
          <a:p>
            <a:r>
              <a:rPr lang="pt-BR" dirty="0" smtClean="0"/>
              <a:t>Ditado popular.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959162875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Você conhece o Marketing Viral?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U</a:t>
            </a:r>
            <a:r>
              <a:rPr lang="pt-BR" dirty="0" smtClean="0"/>
              <a:t>ma </a:t>
            </a:r>
            <a:r>
              <a:rPr lang="pt-BR" dirty="0"/>
              <a:t>das estratégias mais eficientes do marketing </a:t>
            </a:r>
            <a:r>
              <a:rPr lang="pt-BR" dirty="0" smtClean="0"/>
              <a:t>digital.</a:t>
            </a:r>
          </a:p>
          <a:p>
            <a:r>
              <a:rPr lang="pt-BR" dirty="0"/>
              <a:t>Muitas empresas não perceberam o quanto a Internet e as redes sociais potencializaram o alcance de uma peça </a:t>
            </a:r>
            <a:r>
              <a:rPr lang="pt-BR" dirty="0" smtClean="0"/>
              <a:t>viral.</a:t>
            </a:r>
          </a:p>
          <a:p>
            <a:r>
              <a:rPr lang="pt-BR" dirty="0" smtClean="0"/>
              <a:t>O primeiro objetivo do Viral </a:t>
            </a:r>
            <a:r>
              <a:rPr lang="pt-BR" dirty="0"/>
              <a:t>é fazer com que surpreenda as </a:t>
            </a:r>
            <a:r>
              <a:rPr lang="pt-BR" dirty="0" smtClean="0"/>
              <a:t>pessoas e </a:t>
            </a:r>
            <a:r>
              <a:rPr lang="pt-BR" dirty="0"/>
              <a:t>a </a:t>
            </a:r>
            <a:r>
              <a:rPr lang="pt-BR" dirty="0" smtClean="0"/>
              <a:t>segunda é </a:t>
            </a:r>
            <a:r>
              <a:rPr lang="pt-BR" dirty="0"/>
              <a:t>que ele faça com que as pessoas sintam </a:t>
            </a:r>
            <a:r>
              <a:rPr lang="pt-BR" dirty="0" smtClean="0"/>
              <a:t>algo.</a:t>
            </a:r>
          </a:p>
          <a:p>
            <a:r>
              <a:rPr lang="pt-BR" dirty="0" smtClean="0"/>
              <a:t>É o famoso “olha que legal esse vídeo...”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3498423614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60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O “Google Marketing”</a:t>
            </a:r>
            <a:endParaRPr lang="pt-BR" sz="60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O que isso muda na minha empresa?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386121551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O foco é o </a:t>
            </a:r>
            <a:r>
              <a:rPr lang="pt-BR" b="1" dirty="0" smtClean="0">
                <a:solidFill>
                  <a:srgbClr xmlns:mc="http://schemas.openxmlformats.org/markup-compatibility/2006" xmlns:a14="http://schemas.microsoft.com/office/drawing/2007/7/7/main" val="FF0000" mc:Ignorable=""/>
                </a:solidFill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Cliente</a:t>
            </a:r>
            <a:endParaRPr lang="pt-BR" b="1" dirty="0">
              <a:solidFill>
                <a:srgbClr xmlns:mc="http://schemas.openxmlformats.org/markup-compatibility/2006" xmlns:a14="http://schemas.microsoft.com/office/drawing/2007/7/7/main" val="FF0000" mc:Ignorable=""/>
              </a:solidFill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 </a:t>
            </a:r>
            <a:r>
              <a:rPr lang="pt-BR" b="1" dirty="0" smtClean="0"/>
              <a:t>Cliente</a:t>
            </a:r>
            <a:r>
              <a:rPr lang="pt-BR" dirty="0" smtClean="0"/>
              <a:t> possui lugar de destaque nas empresas “2.0”.</a:t>
            </a:r>
          </a:p>
          <a:p>
            <a:r>
              <a:rPr lang="pt-BR" dirty="0" smtClean="0"/>
              <a:t>O </a:t>
            </a:r>
            <a:r>
              <a:rPr lang="pt-BR" b="1" dirty="0" smtClean="0"/>
              <a:t>Marketing de Permissão </a:t>
            </a:r>
            <a:r>
              <a:rPr lang="pt-BR" dirty="0" smtClean="0"/>
              <a:t>entra na jogada e coloca o </a:t>
            </a:r>
            <a:r>
              <a:rPr lang="pt-BR" b="1" dirty="0" smtClean="0"/>
              <a:t>Marketing de Interrupção </a:t>
            </a:r>
            <a:r>
              <a:rPr lang="pt-BR" dirty="0" smtClean="0"/>
              <a:t>pra escanteio...</a:t>
            </a:r>
          </a:p>
          <a:p>
            <a:r>
              <a:rPr lang="pt-BR" dirty="0" smtClean="0"/>
              <a:t>A </a:t>
            </a:r>
            <a:r>
              <a:rPr lang="pt-BR" b="1" dirty="0" smtClean="0"/>
              <a:t>Publicidade</a:t>
            </a:r>
            <a:r>
              <a:rPr lang="pt-BR" dirty="0" smtClean="0"/>
              <a:t> faz goleada na </a:t>
            </a:r>
            <a:r>
              <a:rPr lang="pt-BR" b="1" dirty="0" smtClean="0"/>
              <a:t>Propaganda</a:t>
            </a:r>
            <a:r>
              <a:rPr lang="pt-BR" dirty="0" smtClean="0"/>
              <a:t>.</a:t>
            </a:r>
          </a:p>
          <a:p>
            <a:r>
              <a:rPr lang="pt-BR" dirty="0" smtClean="0"/>
              <a:t>O site é do cliente, e não seu e nem do dono.</a:t>
            </a:r>
          </a:p>
        </p:txBody>
      </p:sp>
    </p:spTree>
    <p:extLst>
      <p:ext uri="{BB962C8B-B14F-4D97-AF65-F5344CB8AC3E}">
        <p14:creationId xmlns:p14="http://schemas.microsoft.com/office/powerpoint/2007/7/12/main" val="3734744550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4800" b="1" dirty="0" smtClean="0"/>
              <a:t>Já que estamos falando dos clientes...</a:t>
            </a:r>
            <a:endParaRPr lang="pt-BR" sz="4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Relacionamento, relacionamento, relacionamento .. ( mais 5x 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2933940212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Como funciona o Relacionamento com o Cliente</a:t>
            </a:r>
            <a:endParaRPr lang="pt-BR" sz="28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07/7/12/main" val="586242273"/>
              </p:ext>
            </p:extLst>
          </p:nvPr>
        </p:nvGraphicFramePr>
        <p:xfrm>
          <a:off x="71406" y="1571612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07/7/12/main" val="391773115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O Relacionamento com o Cliente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Marketing de Relacionamento na web?</a:t>
            </a:r>
          </a:p>
          <a:p>
            <a:r>
              <a:rPr lang="pt-BR" dirty="0" smtClean="0"/>
              <a:t>Conteúdo direcionado para nichos?</a:t>
            </a:r>
          </a:p>
          <a:p>
            <a:r>
              <a:rPr lang="pt-BR" dirty="0" smtClean="0"/>
              <a:t>Comunicação Viral ?</a:t>
            </a:r>
          </a:p>
          <a:p>
            <a:r>
              <a:rPr lang="pt-BR" dirty="0" smtClean="0"/>
              <a:t>Blogs corporativos ?</a:t>
            </a:r>
          </a:p>
          <a:p>
            <a:r>
              <a:rPr lang="pt-BR" dirty="0" smtClean="0"/>
              <a:t>Interação do começo ao fim </a:t>
            </a:r>
            <a:r>
              <a:rPr lang="pt-BR" dirty="0" smtClean="0"/>
              <a:t>?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07/7/12/main" val="3228804670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54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“</a:t>
            </a:r>
            <a:r>
              <a:rPr lang="pt-BR" sz="5400" b="1" dirty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Conheça seu consumidor como a si </a:t>
            </a:r>
            <a:r>
              <a:rPr lang="pt-BR" sz="54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mesmo.”</a:t>
            </a:r>
            <a:endParaRPr lang="pt-BR" sz="54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48168"/>
            <a:ext cx="6400800" cy="1752600"/>
          </a:xfrm>
        </p:spPr>
        <p:txBody>
          <a:bodyPr/>
          <a:lstStyle/>
          <a:p>
            <a:r>
              <a:rPr lang="pt-BR" dirty="0" smtClean="0"/>
              <a:t>Uma regra.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3580334281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O Papel dos buscadores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Concentrar a informação</a:t>
            </a:r>
          </a:p>
          <a:p>
            <a:r>
              <a:rPr lang="pt-BR" dirty="0" smtClean="0"/>
              <a:t>Dar relevência para a informação</a:t>
            </a:r>
          </a:p>
          <a:p>
            <a:r>
              <a:rPr lang="pt-BR" dirty="0" smtClean="0"/>
              <a:t>Direcionar o conteúdo ao usuário</a:t>
            </a:r>
          </a:p>
          <a:p>
            <a:r>
              <a:rPr lang="pt-BR" dirty="0" smtClean="0"/>
              <a:t>Exibir anúncios de acordo com o contexto</a:t>
            </a:r>
          </a:p>
          <a:p>
            <a:r>
              <a:rPr lang="pt-BR" dirty="0" smtClean="0"/>
              <a:t>Fazer estatísticas de pesquisa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2589066641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O Google Analytics e o ROI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ROI = É a medida do Retorno de Investimento.</a:t>
            </a:r>
          </a:p>
          <a:p>
            <a:r>
              <a:rPr lang="pt-BR" dirty="0"/>
              <a:t>O Google Analytics é a solução de análise da web de cunho </a:t>
            </a:r>
            <a:r>
              <a:rPr lang="pt-BR" dirty="0" smtClean="0"/>
              <a:t>empresarial.</a:t>
            </a:r>
          </a:p>
          <a:p>
            <a:r>
              <a:rPr lang="pt-BR" dirty="0"/>
              <a:t>F</a:t>
            </a:r>
            <a:r>
              <a:rPr lang="pt-BR" dirty="0" smtClean="0"/>
              <a:t>ornece </a:t>
            </a:r>
            <a:r>
              <a:rPr lang="pt-BR" dirty="0"/>
              <a:t>a </a:t>
            </a:r>
            <a:r>
              <a:rPr lang="pt-BR" dirty="0" smtClean="0"/>
              <a:t>uma </a:t>
            </a:r>
            <a:r>
              <a:rPr lang="pt-BR" dirty="0"/>
              <a:t>ótima visibilidade do tráfego e da eficiência do marketing do seu </a:t>
            </a:r>
            <a:r>
              <a:rPr lang="pt-BR" dirty="0" smtClean="0"/>
              <a:t>website.</a:t>
            </a:r>
          </a:p>
          <a:p>
            <a:r>
              <a:rPr lang="pt-BR" dirty="0" smtClean="0"/>
              <a:t>Ajuda a entender a </a:t>
            </a:r>
            <a:r>
              <a:rPr lang="pt-BR" dirty="0"/>
              <a:t>intenção do visitante, </a:t>
            </a:r>
            <a:r>
              <a:rPr lang="pt-BR" dirty="0" smtClean="0"/>
              <a:t>descobrindo o </a:t>
            </a:r>
            <a:r>
              <a:rPr lang="pt-BR" dirty="0"/>
              <a:t>que os clientes estão realmente procurando e o tempo gasto </a:t>
            </a:r>
            <a:r>
              <a:rPr lang="pt-BR" dirty="0" smtClean="0"/>
              <a:t>por eles.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249556835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Quais os buscadores existentes ?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Google</a:t>
            </a:r>
          </a:p>
          <a:p>
            <a:r>
              <a:rPr lang="pt-BR" dirty="0" smtClean="0"/>
              <a:t>Bing</a:t>
            </a:r>
          </a:p>
          <a:p>
            <a:r>
              <a:rPr lang="pt-BR" dirty="0" smtClean="0"/>
              <a:t>Yahoo!</a:t>
            </a:r>
          </a:p>
          <a:p>
            <a:r>
              <a:rPr lang="pt-BR" dirty="0" smtClean="0"/>
              <a:t>Ask.com</a:t>
            </a:r>
          </a:p>
          <a:p>
            <a:r>
              <a:rPr lang="pt-BR" dirty="0" smtClean="0"/>
              <a:t>Altavista</a:t>
            </a:r>
          </a:p>
          <a:p>
            <a:r>
              <a:rPr lang="pt-BR" dirty="0" smtClean="0"/>
              <a:t>UOL / Terra / iG / Telefônica</a:t>
            </a:r>
          </a:p>
          <a:p>
            <a:r>
              <a:rPr lang="pt-BR" dirty="0" smtClean="0"/>
              <a:t>E muitos outros...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1322553298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60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Ok, e onde está a receita do bolo ?</a:t>
            </a:r>
            <a:endParaRPr lang="pt-BR" sz="60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511405"/>
            <a:ext cx="6400800" cy="989297"/>
          </a:xfrm>
        </p:spPr>
        <p:txBody>
          <a:bodyPr>
            <a:normAutofit lnSpcReduction="10000"/>
          </a:bodyPr>
          <a:lstStyle/>
          <a:p>
            <a:r>
              <a:rPr lang="pt-BR" dirty="0" smtClean="0"/>
              <a:t>Não sei, pergunte ao seu </a:t>
            </a:r>
            <a:r>
              <a:rPr lang="pt-BR" dirty="0" smtClean="0"/>
              <a:t>público o que ele deseja...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2123570223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SEO – O Básico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Foco no público alvo</a:t>
            </a:r>
          </a:p>
          <a:p>
            <a:r>
              <a:rPr lang="pt-BR" dirty="0" smtClean="0"/>
              <a:t>Ofereça conteúdo </a:t>
            </a:r>
            <a:r>
              <a:rPr lang="pt-BR" sz="2400" i="1" dirty="0" smtClean="0"/>
              <a:t>(de qualidade viu!)</a:t>
            </a:r>
            <a:endParaRPr lang="pt-BR" i="1" dirty="0" smtClean="0"/>
          </a:p>
          <a:p>
            <a:r>
              <a:rPr lang="pt-BR" dirty="0" smtClean="0"/>
              <a:t>Crie uma navegação fácil</a:t>
            </a:r>
          </a:p>
          <a:p>
            <a:r>
              <a:rPr lang="pt-BR" dirty="0" smtClean="0"/>
              <a:t>Evite criar sites “</a:t>
            </a:r>
            <a:r>
              <a:rPr lang="pt-BR" b="1" i="1" dirty="0" smtClean="0"/>
              <a:t>outdoor</a:t>
            </a:r>
            <a:r>
              <a:rPr lang="pt-BR" dirty="0" smtClean="0"/>
              <a:t>”</a:t>
            </a:r>
          </a:p>
          <a:p>
            <a:r>
              <a:rPr lang="pt-BR" dirty="0" smtClean="0"/>
              <a:t>Banner e Pop-Up? Nem pensar....</a:t>
            </a:r>
          </a:p>
          <a:p>
            <a:r>
              <a:rPr lang="pt-BR" dirty="0" smtClean="0"/>
              <a:t>Por favor, eu quero aquela maçã que está mais bonita...</a:t>
            </a:r>
          </a:p>
        </p:txBody>
      </p:sp>
    </p:spTree>
    <p:extLst>
      <p:ext uri="{BB962C8B-B14F-4D97-AF65-F5344CB8AC3E}">
        <p14:creationId xmlns:p14="http://schemas.microsoft.com/office/powerpoint/2007/7/12/main" val="2794808347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48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“Vamos contratar uns garotos para fazer os sites e banners em flash?”</a:t>
            </a:r>
            <a:endParaRPr lang="pt-BR" sz="48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75090"/>
            <a:ext cx="6400800" cy="1197050"/>
          </a:xfrm>
        </p:spPr>
        <p:txBody>
          <a:bodyPr/>
          <a:lstStyle/>
          <a:p>
            <a:r>
              <a:rPr lang="pt-BR" dirty="0" smtClean="0"/>
              <a:t>Sim! vamos criar um site bem colorido </a:t>
            </a:r>
            <a:r>
              <a:rPr lang="pt-BR" dirty="0" smtClean="0"/>
              <a:t>e bonito...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658640762"/>
      </p:ext>
    </p:extLst>
  </p:cSld>
  <p:clrMapOvr>
    <a:masterClrMapping/>
  </p:clrMapOvr>
  <mc:AlternateContent xmlns:mc="http://schemas.openxmlformats.org/markup-compatibility/2006">
    <mc:Choice xmlns:p14="http://schemas.microsoft.com/office/powerpoint/2007/7/12/main" Requires="p14">
      <p:transition spd="slow" p14:dur="2000"/>
    </mc:Choice>
    <mc:Fallback>
      <p:transition xmlns:p14="http://schemas.microsoft.com/office/powerpoint/2007/7/12/main" spd="slow"/>
    </mc:Fallback>
  </mc:AlternateContent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Projeto de um website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07/7/12/main" val="363136759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07/7/12/main" val="4193849077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Alguns detalhes...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Saiba o que está escrevendo</a:t>
            </a:r>
          </a:p>
          <a:p>
            <a:r>
              <a:rPr lang="pt-BR" dirty="0" smtClean="0"/>
              <a:t>Faça uso de imagens</a:t>
            </a:r>
            <a:r>
              <a:rPr lang="pt-BR" dirty="0" smtClean="0"/>
              <a:t>, </a:t>
            </a:r>
            <a:r>
              <a:rPr lang="pt-BR" dirty="0" smtClean="0"/>
              <a:t>pois “elas </a:t>
            </a:r>
            <a:r>
              <a:rPr lang="pt-BR" dirty="0" smtClean="0"/>
              <a:t>valem mais que mil </a:t>
            </a:r>
            <a:r>
              <a:rPr lang="pt-BR" dirty="0" smtClean="0"/>
              <a:t>palavras”</a:t>
            </a:r>
            <a:endParaRPr lang="pt-BR" dirty="0" smtClean="0"/>
          </a:p>
          <a:p>
            <a:r>
              <a:rPr lang="pt-BR" dirty="0" smtClean="0"/>
              <a:t>Lembre-se do Youtube, orkut, twitter...</a:t>
            </a:r>
          </a:p>
          <a:p>
            <a:r>
              <a:rPr lang="pt-BR" dirty="0" smtClean="0"/>
              <a:t>Contrate um redator (se possível)</a:t>
            </a:r>
            <a:endParaRPr lang="pt-BR" dirty="0"/>
          </a:p>
          <a:p>
            <a:r>
              <a:rPr lang="pt-BR" dirty="0" smtClean="0"/>
              <a:t>Não fale bem de você mesmo, deixe os usuários falarem...</a:t>
            </a:r>
          </a:p>
          <a:p>
            <a:r>
              <a:rPr lang="pt-BR" dirty="0" smtClean="0"/>
              <a:t>Onde estou? Quem é você? Onde estou indo?</a:t>
            </a:r>
          </a:p>
        </p:txBody>
      </p:sp>
    </p:spTree>
    <p:extLst>
      <p:ext uri="{BB962C8B-B14F-4D97-AF65-F5344CB8AC3E}">
        <p14:creationId xmlns:p14="http://schemas.microsoft.com/office/powerpoint/2007/7/12/main" val="1389483712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Formatação e conteúdo não andam juntos, mas frequentam o mesmo lugar...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Eu sei, eles não se misturam...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3677664692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Os ícones da web</a:t>
            </a:r>
            <a:endParaRPr lang="pt-BR" sz="60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http://userlogos.org/files/logos/sandwiches/youtube.png"/>
          <p:cNvPicPr>
            <a:picLocks noChangeAspect="1" noChangeArrowheads="1"/>
          </p:cNvPicPr>
          <p:nvPr/>
        </p:nvPicPr>
        <p:blipFill>
          <a:blip r:embed="rId2">
            <a:extLst>
              <a:ext uri="28A0092B-C50C-407e-A947-70E740481C1C">
                <a14:useLocalDpi xmlns:a14="http://schemas.microsoft.com/office/drawing/2007/7/7/main" val="0"/>
              </a:ext>
            </a:extLst>
          </a:blip>
          <a:srcRect/>
          <a:stretch>
            <a:fillRect/>
          </a:stretch>
        </p:blipFill>
        <p:spPr bwMode="auto">
          <a:xfrm>
            <a:off x="428596" y="2357430"/>
            <a:ext cx="2000264" cy="15001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07/7/7/main">
                <a:solidFill>
                  <a:srgbClr xmlns:mc="http://schemas.openxmlformats.org/markup-compatibility/2006" val="FFFFFF" mc:Ignorable=""/>
                </a:solidFill>
              </a14:hiddenFill>
            </a:ext>
          </a:extLst>
        </p:spPr>
      </p:pic>
      <p:pic>
        <p:nvPicPr>
          <p:cNvPr id="1028" name="Picture 4" descr="http://www.arbor.edu/uploadedImages/Academic_Technologies/Home_Page_Callouts/twitter_logo-1.gif"/>
          <p:cNvPicPr>
            <a:picLocks noChangeAspect="1" noChangeArrowheads="1"/>
          </p:cNvPicPr>
          <p:nvPr/>
        </p:nvPicPr>
        <p:blipFill>
          <a:blip r:embed="rId3">
            <a:extLst>
              <a:ext uri="28A0092B-C50C-407e-A947-70E740481C1C">
                <a14:useLocalDpi xmlns:a14="http://schemas.microsoft.com/office/drawing/2007/7/7/main" val="0"/>
              </a:ext>
            </a:extLst>
          </a:blip>
          <a:srcRect/>
          <a:stretch>
            <a:fillRect/>
          </a:stretch>
        </p:blipFill>
        <p:spPr bwMode="auto">
          <a:xfrm>
            <a:off x="2998795" y="2568341"/>
            <a:ext cx="2644775" cy="6429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07/7/7/main">
                <a:solidFill>
                  <a:srgbClr xmlns:mc="http://schemas.openxmlformats.org/markup-compatibility/2006" val="FFFFFF" mc:Ignorable=""/>
                </a:solidFill>
              </a14:hiddenFill>
            </a:ext>
          </a:extLst>
        </p:spPr>
      </p:pic>
      <p:pic>
        <p:nvPicPr>
          <p:cNvPr id="1032" name="Picture 8" descr="http://www.atlantahall.com/logomarcas/orkut-logo%5B1%5D.png"/>
          <p:cNvPicPr>
            <a:picLocks noChangeAspect="1" noChangeArrowheads="1"/>
          </p:cNvPicPr>
          <p:nvPr/>
        </p:nvPicPr>
        <p:blipFill>
          <a:blip r:embed="rId4">
            <a:extLst>
              <a:ext uri="28A0092B-C50C-407e-A947-70E740481C1C">
                <a14:useLocalDpi xmlns:a14="http://schemas.microsoft.com/office/drawing/2007/7/7/main" val="0"/>
              </a:ext>
            </a:extLst>
          </a:blip>
          <a:srcRect/>
          <a:stretch>
            <a:fillRect/>
          </a:stretch>
        </p:blipFill>
        <p:spPr bwMode="auto">
          <a:xfrm>
            <a:off x="357158" y="4071942"/>
            <a:ext cx="2428892" cy="12144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07/7/7/main">
                <a:solidFill>
                  <a:srgbClr xmlns:mc="http://schemas.openxmlformats.org/markup-compatibility/2006" val="FFFFFF" mc:Ignorable=""/>
                </a:solidFill>
              </a14:hiddenFill>
            </a:ext>
          </a:extLst>
        </p:spPr>
      </p:pic>
      <p:pic>
        <p:nvPicPr>
          <p:cNvPr id="1036" name="Picture 12" descr="http://upload.wikimedia.org/wikipedia/ka/8/8c/Google_logo_transparent.png"/>
          <p:cNvPicPr>
            <a:picLocks noChangeAspect="1" noChangeArrowheads="1"/>
          </p:cNvPicPr>
          <p:nvPr/>
        </p:nvPicPr>
        <p:blipFill>
          <a:blip r:embed="rId5">
            <a:extLst>
              <a:ext uri="28A0092B-C50C-407e-A947-70E740481C1C">
                <a14:useLocalDpi xmlns:a14="http://schemas.microsoft.com/office/drawing/2007/7/7/main" val="0"/>
              </a:ext>
            </a:extLst>
          </a:blip>
          <a:srcRect/>
          <a:stretch>
            <a:fillRect/>
          </a:stretch>
        </p:blipFill>
        <p:spPr bwMode="auto">
          <a:xfrm>
            <a:off x="3000364" y="3832426"/>
            <a:ext cx="5848328" cy="21683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07/7/7/main">
                <a:solidFill>
                  <a:srgbClr xmlns:mc="http://schemas.openxmlformats.org/markup-compatibility/2006" val="FFFFFF" mc:Ignorable=""/>
                </a:solidFill>
              </a14:hiddenFill>
            </a:ext>
          </a:extLst>
        </p:spPr>
      </p:pic>
      <p:pic>
        <p:nvPicPr>
          <p:cNvPr id="1038" name="Picture 14" descr="http://www.colegiointernacional.com.br/anhembimorumbi/images/stories/festajunina/flickr-logo.gif"/>
          <p:cNvPicPr>
            <a:picLocks noChangeAspect="1" noChangeArrowheads="1"/>
          </p:cNvPicPr>
          <p:nvPr/>
        </p:nvPicPr>
        <p:blipFill>
          <a:blip r:embed="rId6">
            <a:extLst>
              <a:ext uri="28A0092B-C50C-407e-A947-70E740481C1C">
                <a14:useLocalDpi xmlns:a14="http://schemas.microsoft.com/office/drawing/2007/7/7/main" val="0"/>
              </a:ext>
            </a:extLst>
          </a:blip>
          <a:srcRect/>
          <a:stretch>
            <a:fillRect/>
          </a:stretch>
        </p:blipFill>
        <p:spPr bwMode="auto">
          <a:xfrm>
            <a:off x="6143636" y="2428868"/>
            <a:ext cx="2286016" cy="8961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07/7/7/main">
                <a:solidFill>
                  <a:srgbClr xmlns:mc="http://schemas.openxmlformats.org/markup-compatibility/2006" val="FFFFFF" mc:Ignorable="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07/7/12/main" val="2145743740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Vídeos no Youtube, Fotos no Flickr, comunidades no Orkut e notícias no Twitter...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Eu sei, eu sei .. Cada um no seu quadrado...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3111162856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54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Então, agora é hora do conteúdo...</a:t>
            </a:r>
            <a:endParaRPr lang="pt-BR" sz="54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Mas de novo?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2247393270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Qual a importância do conteúdo?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Prende a atenção dos usuários</a:t>
            </a:r>
          </a:p>
          <a:p>
            <a:r>
              <a:rPr lang="pt-BR" dirty="0" smtClean="0"/>
              <a:t>Cria satisfação e sensação de segurança</a:t>
            </a:r>
          </a:p>
          <a:p>
            <a:r>
              <a:rPr lang="pt-BR" dirty="0" smtClean="0"/>
              <a:t>Gera palavras-chave</a:t>
            </a:r>
          </a:p>
          <a:p>
            <a:r>
              <a:rPr lang="pt-BR" dirty="0" smtClean="0"/>
              <a:t>Pode se tornar referência</a:t>
            </a:r>
            <a:endParaRPr lang="pt-BR" dirty="0"/>
          </a:p>
          <a:p>
            <a:r>
              <a:rPr lang="pt-BR" dirty="0" smtClean="0"/>
              <a:t>Mostra que você entende do assunto</a:t>
            </a:r>
          </a:p>
          <a:p>
            <a:r>
              <a:rPr lang="pt-BR" dirty="0" smtClean="0"/>
              <a:t>É um ótimo canal de comunicação</a:t>
            </a:r>
          </a:p>
          <a:p>
            <a:r>
              <a:rPr lang="pt-BR" dirty="0" smtClean="0"/>
              <a:t>Não grite, apenas fale...</a:t>
            </a:r>
          </a:p>
          <a:p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07/7/12/main" val="3081373562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54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Palavras-chave?</a:t>
            </a:r>
            <a:endParaRPr lang="pt-BR" sz="54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Elas podem abrir várias portas...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2799936818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Palavras-chave?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Ajudam o usuário a encontrar seu site</a:t>
            </a:r>
          </a:p>
          <a:p>
            <a:r>
              <a:rPr lang="pt-BR" dirty="0" smtClean="0"/>
              <a:t>Ajudam na relevância do texto</a:t>
            </a:r>
          </a:p>
          <a:p>
            <a:r>
              <a:rPr lang="pt-BR" dirty="0" smtClean="0"/>
              <a:t>Fornecem estatísticas para os buscadores</a:t>
            </a:r>
          </a:p>
          <a:p>
            <a:r>
              <a:rPr lang="pt-BR" dirty="0" smtClean="0"/>
              <a:t>Podem ser combinadas, aumentando a relevância do seu site</a:t>
            </a:r>
          </a:p>
          <a:p>
            <a:r>
              <a:rPr lang="pt-BR" dirty="0" smtClean="0"/>
              <a:t>Cuidado, elas </a:t>
            </a:r>
            <a:r>
              <a:rPr lang="pt-BR" dirty="0" smtClean="0"/>
              <a:t>podem </a:t>
            </a:r>
            <a:r>
              <a:rPr lang="pt-BR" dirty="0" smtClean="0"/>
              <a:t>matar</a:t>
            </a:r>
            <a:r>
              <a:rPr lang="pt-BR" dirty="0" smtClean="0"/>
              <a:t>...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3899000276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60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E como se dar bem</a:t>
            </a:r>
            <a:r>
              <a:rPr lang="pt-BR" sz="60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?</a:t>
            </a:r>
            <a:endParaRPr lang="pt-BR" sz="60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33854"/>
            <a:ext cx="6400800" cy="1752600"/>
          </a:xfrm>
        </p:spPr>
        <p:txBody>
          <a:bodyPr/>
          <a:lstStyle/>
          <a:p>
            <a:r>
              <a:rPr lang="pt-BR" dirty="0" smtClean="0"/>
              <a:t>Sabendo q</a:t>
            </a:r>
            <a:r>
              <a:rPr lang="pt-BR" dirty="0" smtClean="0"/>
              <a:t>ue </a:t>
            </a:r>
            <a:r>
              <a:rPr lang="pt-BR" dirty="0" smtClean="0"/>
              <a:t>seu site não é o único na internet...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1646185642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Como se diferenciar?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Otimize </a:t>
            </a:r>
            <a:r>
              <a:rPr lang="pt-BR" dirty="0" smtClean="0"/>
              <a:t>seu código XHTML</a:t>
            </a:r>
          </a:p>
          <a:p>
            <a:r>
              <a:rPr lang="pt-BR" dirty="0" smtClean="0"/>
              <a:t>Faça u</a:t>
            </a:r>
            <a:r>
              <a:rPr lang="pt-BR" dirty="0" smtClean="0"/>
              <a:t>so consciente do Adobe Flash</a:t>
            </a:r>
            <a:endParaRPr lang="pt-BR" dirty="0" smtClean="0"/>
          </a:p>
          <a:p>
            <a:r>
              <a:rPr lang="pt-BR" dirty="0" smtClean="0"/>
              <a:t>Evite menu em javascript</a:t>
            </a:r>
          </a:p>
          <a:p>
            <a:r>
              <a:rPr lang="pt-BR" dirty="0" smtClean="0"/>
              <a:t>Cuide de suas imagens ou fotos</a:t>
            </a:r>
          </a:p>
          <a:p>
            <a:r>
              <a:rPr lang="pt-BR" dirty="0" smtClean="0"/>
              <a:t>Crie títulos diferentes para cada página</a:t>
            </a:r>
          </a:p>
          <a:p>
            <a:r>
              <a:rPr lang="pt-BR" dirty="0" smtClean="0"/>
              <a:t>Converse com seus visinhos, e aumente seu PageRank</a:t>
            </a:r>
          </a:p>
          <a:p>
            <a:r>
              <a:rPr lang="pt-BR" dirty="0" smtClean="0"/>
              <a:t>Não coloque uma melancia na cabeça...</a:t>
            </a:r>
          </a:p>
        </p:txBody>
      </p:sp>
    </p:spTree>
    <p:extLst>
      <p:ext uri="{BB962C8B-B14F-4D97-AF65-F5344CB8AC3E}">
        <p14:creationId xmlns:p14="http://schemas.microsoft.com/office/powerpoint/2007/7/12/main" val="669057715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60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Então as tags podem me ajudar?</a:t>
            </a:r>
            <a:endParaRPr lang="pt-BR" sz="60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Sim, elas são extremamente importantes...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3707341241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A tal “Web Semântica”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Títulos são títulos, parágrafos são parágrafos e </a:t>
            </a:r>
            <a:r>
              <a:rPr lang="pt-BR" dirty="0" smtClean="0"/>
              <a:t>os buscadores sabem disso.</a:t>
            </a:r>
            <a:endParaRPr lang="pt-BR" dirty="0" smtClean="0"/>
          </a:p>
          <a:p>
            <a:r>
              <a:rPr lang="pt-BR" dirty="0" smtClean="0"/>
              <a:t>Separe o XHTML do </a:t>
            </a:r>
            <a:r>
              <a:rPr lang="pt-BR" dirty="0" smtClean="0"/>
              <a:t>CSS.</a:t>
            </a:r>
            <a:endParaRPr lang="pt-BR" dirty="0" smtClean="0"/>
          </a:p>
          <a:p>
            <a:r>
              <a:rPr lang="pt-BR" dirty="0" smtClean="0"/>
              <a:t>Use as tags </a:t>
            </a:r>
            <a:r>
              <a:rPr lang="pt-BR" dirty="0" smtClean="0"/>
              <a:t>corretamente e </a:t>
            </a:r>
            <a:r>
              <a:rPr lang="pt-BR" dirty="0" smtClean="0"/>
              <a:t>preencha seus </a:t>
            </a:r>
            <a:r>
              <a:rPr lang="pt-BR" dirty="0" smtClean="0"/>
              <a:t>atributos mais importantes.</a:t>
            </a:r>
            <a:endParaRPr lang="pt-BR" dirty="0" smtClean="0"/>
          </a:p>
          <a:p>
            <a:r>
              <a:rPr lang="pt-BR" dirty="0" smtClean="0"/>
              <a:t>Crie descrições para imagens, afinal o Google não sabe que é você na </a:t>
            </a:r>
            <a:r>
              <a:rPr lang="pt-BR" dirty="0" smtClean="0"/>
              <a:t>foto.</a:t>
            </a:r>
            <a:endParaRPr lang="pt-BR" dirty="0" smtClean="0"/>
          </a:p>
          <a:p>
            <a:r>
              <a:rPr lang="pt-BR" dirty="0" smtClean="0"/>
              <a:t>Novamente, </a:t>
            </a:r>
            <a:r>
              <a:rPr lang="pt-BR" dirty="0" smtClean="0"/>
              <a:t>pense bem no Adobe Flash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37084406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Continuando com a Web Semântica...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smtClean="0"/>
              <a:t>Evite:</a:t>
            </a:r>
            <a:r>
              <a:rPr lang="pt-BR" dirty="0" smtClean="0"/>
              <a:t> Para mais informações, </a:t>
            </a:r>
            <a:r>
              <a:rPr lang="pt-BR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clique aqui</a:t>
            </a:r>
            <a:r>
              <a:rPr lang="pt-BR" dirty="0" smtClean="0"/>
              <a:t>.</a:t>
            </a:r>
          </a:p>
          <a:p>
            <a:r>
              <a:rPr lang="pt-BR" dirty="0"/>
              <a:t>h</a:t>
            </a:r>
            <a:r>
              <a:rPr lang="pt-BR" dirty="0" smtClean="0"/>
              <a:t>1, h2, h3, h4, p, q, a, ul, ol, dl ...</a:t>
            </a:r>
          </a:p>
          <a:p>
            <a:r>
              <a:rPr lang="pt-BR" dirty="0" smtClean="0"/>
              <a:t>Faça </a:t>
            </a:r>
            <a:r>
              <a:rPr lang="pt-BR" dirty="0" smtClean="0"/>
              <a:t>uso das meta tags</a:t>
            </a:r>
          </a:p>
          <a:p>
            <a:r>
              <a:rPr lang="pt-BR" dirty="0" smtClean="0"/>
              <a:t>Links e âncoras são </a:t>
            </a:r>
            <a:r>
              <a:rPr lang="pt-BR" dirty="0" smtClean="0"/>
              <a:t>valiosos</a:t>
            </a:r>
            <a:endParaRPr lang="pt-BR" dirty="0" smtClean="0"/>
          </a:p>
          <a:p>
            <a:r>
              <a:rPr lang="pt-BR" dirty="0" smtClean="0"/>
              <a:t>Evite </a:t>
            </a:r>
            <a:r>
              <a:rPr lang="pt-BR" dirty="0" smtClean="0"/>
              <a:t>Javascript </a:t>
            </a:r>
            <a:r>
              <a:rPr lang="pt-BR" dirty="0" smtClean="0"/>
              <a:t>Obstrusivo</a:t>
            </a:r>
          </a:p>
          <a:p>
            <a:r>
              <a:rPr lang="pt-BR" dirty="0" smtClean="0"/>
              <a:t>Tabelas somente para dados tabulares</a:t>
            </a:r>
          </a:p>
          <a:p>
            <a:r>
              <a:rPr lang="pt-BR" dirty="0" smtClean="0"/>
              <a:t>Relacione seu conteúdo</a:t>
            </a:r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2890528763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48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Esse papo de tag é bobeira, me mostra um exemplo prático então...</a:t>
            </a:r>
            <a:endParaRPr lang="pt-BR" sz="48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533920"/>
            <a:ext cx="6400800" cy="1752600"/>
          </a:xfrm>
        </p:spPr>
        <p:txBody>
          <a:bodyPr/>
          <a:lstStyle/>
          <a:p>
            <a:r>
              <a:rPr lang="pt-BR" dirty="0" smtClean="0"/>
              <a:t>Então vamos ver 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3622006133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36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Um breve exemplo </a:t>
            </a:r>
            <a:r>
              <a:rPr lang="pt-BR" sz="36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de bom uso das </a:t>
            </a:r>
            <a:r>
              <a:rPr lang="pt-BR" sz="36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tags...</a:t>
            </a:r>
            <a:endParaRPr lang="pt-BR" sz="36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28A0092B-C50C-407e-A947-70E740481C1C">
                <a14:useLocalDpi xmlns:a14="http://schemas.microsoft.com/office/drawing/2007/7/7/main" val="0"/>
              </a:ext>
            </a:extLst>
          </a:blip>
          <a:srcRect l="566" t="13241" r="49390" b="52414"/>
          <a:stretch/>
        </p:blipFill>
        <p:spPr bwMode="auto">
          <a:xfrm>
            <a:off x="571472" y="2143116"/>
            <a:ext cx="7994167" cy="3429024"/>
          </a:xfrm>
          <a:prstGeom prst="rect">
            <a:avLst/>
          </a:prstGeom>
          <a:effectLst>
            <a:outerShdw blurRad="63500"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07/7/7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07/7/7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Left Arrow 6"/>
          <p:cNvSpPr/>
          <p:nvPr/>
        </p:nvSpPr>
        <p:spPr>
          <a:xfrm rot="18664039">
            <a:off x="3936084" y="2653580"/>
            <a:ext cx="1684006" cy="30850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extBox 7"/>
          <p:cNvSpPr txBox="1"/>
          <p:nvPr/>
        </p:nvSpPr>
        <p:spPr>
          <a:xfrm>
            <a:off x="5286380" y="1714488"/>
            <a:ext cx="15616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 smtClean="0">
                <a:solidFill>
                  <a:srgbClr xmlns:mc="http://schemas.openxmlformats.org/markup-compatibility/2006" xmlns:a14="http://schemas.microsoft.com/office/drawing/2007/7/7/main" val="FF0000" mc:Ignorable=""/>
                </a:solidFill>
              </a:rPr>
              <a:t>&lt;title&gt;</a:t>
            </a:r>
            <a:endParaRPr lang="pt-BR" sz="4000" b="1" dirty="0">
              <a:solidFill>
                <a:srgbClr xmlns:mc="http://schemas.openxmlformats.org/markup-compatibility/2006" xmlns:a14="http://schemas.microsoft.com/office/drawing/2007/7/7/main" val="FF0000" mc:Ignorable=""/>
              </a:solidFill>
            </a:endParaRPr>
          </a:p>
        </p:txBody>
      </p:sp>
      <p:sp>
        <p:nvSpPr>
          <p:cNvPr id="11" name="Left Arrow 10"/>
          <p:cNvSpPr/>
          <p:nvPr/>
        </p:nvSpPr>
        <p:spPr>
          <a:xfrm rot="4236059">
            <a:off x="5968450" y="4516769"/>
            <a:ext cx="1707694" cy="53472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6000760" y="5500702"/>
            <a:ext cx="30873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 smtClean="0">
                <a:solidFill>
                  <a:srgbClr xmlns:mc="http://schemas.openxmlformats.org/markup-compatibility/2006" xmlns:a14="http://schemas.microsoft.com/office/drawing/2007/7/7/main" val="FF0000" mc:Ignorable=""/>
                </a:solidFill>
              </a:rPr>
              <a:t>&lt;description&gt;</a:t>
            </a:r>
            <a:endParaRPr lang="pt-BR" sz="4000" b="1" dirty="0">
              <a:solidFill>
                <a:srgbClr xmlns:mc="http://schemas.openxmlformats.org/markup-compatibility/2006" xmlns:a14="http://schemas.microsoft.com/office/drawing/2007/7/7/main" val="FF0000" mc:Ignorable=""/>
              </a:solidFill>
            </a:endParaRPr>
          </a:p>
        </p:txBody>
      </p:sp>
      <p:sp>
        <p:nvSpPr>
          <p:cNvPr id="14" name="Left Arrow 13"/>
          <p:cNvSpPr/>
          <p:nvPr/>
        </p:nvSpPr>
        <p:spPr>
          <a:xfrm rot="7040891">
            <a:off x="2408276" y="5355778"/>
            <a:ext cx="969863" cy="54393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TextBox 14"/>
          <p:cNvSpPr txBox="1"/>
          <p:nvPr/>
        </p:nvSpPr>
        <p:spPr>
          <a:xfrm>
            <a:off x="1744475" y="5754127"/>
            <a:ext cx="9701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 smtClean="0">
                <a:solidFill>
                  <a:srgbClr xmlns:mc="http://schemas.openxmlformats.org/markup-compatibility/2006" xmlns:a14="http://schemas.microsoft.com/office/drawing/2007/7/7/main" val="FF0000" mc:Ignorable=""/>
                </a:solidFill>
              </a:rPr>
              <a:t>&lt;p&gt;</a:t>
            </a:r>
            <a:endParaRPr lang="pt-BR" sz="4000" b="1" dirty="0">
              <a:solidFill>
                <a:srgbClr xmlns:mc="http://schemas.openxmlformats.org/markup-compatibility/2006" xmlns:a14="http://schemas.microsoft.com/office/drawing/2007/7/7/main" val="FF0000" mc:Ignorable="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07/7/12/main" val="2678351292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Elementos externos...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Robots.txt</a:t>
            </a:r>
          </a:p>
          <a:p>
            <a:r>
              <a:rPr lang="pt-BR" dirty="0" smtClean="0"/>
              <a:t>Sitemap.xml</a:t>
            </a:r>
          </a:p>
          <a:p>
            <a:r>
              <a:rPr lang="pt-BR" dirty="0" smtClean="0"/>
              <a:t>Url’s </a:t>
            </a:r>
            <a:r>
              <a:rPr lang="pt-BR" dirty="0"/>
              <a:t>Amigáveis </a:t>
            </a:r>
            <a:r>
              <a:rPr lang="pt-BR" dirty="0" smtClean="0"/>
              <a:t>– Evite o (?pag=1087&amp;id=1)</a:t>
            </a:r>
            <a:endParaRPr lang="pt-BR" dirty="0" smtClean="0"/>
          </a:p>
          <a:p>
            <a:r>
              <a:rPr lang="pt-BR" dirty="0" smtClean="0"/>
              <a:t>Conteúdo duplicado</a:t>
            </a:r>
          </a:p>
          <a:p>
            <a:r>
              <a:rPr lang="pt-BR" dirty="0" smtClean="0"/>
              <a:t>Cuidado com o seu Page </a:t>
            </a:r>
            <a:r>
              <a:rPr lang="pt-BR" dirty="0" smtClean="0"/>
              <a:t>Rank</a:t>
            </a:r>
          </a:p>
          <a:p>
            <a:pPr marL="0" indent="0">
              <a:buNone/>
            </a:pPr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1523973449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54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PageRank ? O que é isso ?</a:t>
            </a:r>
            <a:endParaRPr lang="pt-BR" sz="54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É o seu nível de popularidade na internet...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1228277840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O PageRank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Diz qual a popularidade do seu site</a:t>
            </a:r>
          </a:p>
          <a:p>
            <a:r>
              <a:rPr lang="pt-BR" dirty="0" smtClean="0"/>
              <a:t>É atualizado constantemente</a:t>
            </a:r>
          </a:p>
          <a:p>
            <a:r>
              <a:rPr lang="pt-BR" dirty="0" smtClean="0"/>
              <a:t>Não pode ser comprado</a:t>
            </a:r>
          </a:p>
          <a:p>
            <a:r>
              <a:rPr lang="pt-BR" dirty="0" smtClean="0"/>
              <a:t>Não é o único critério do Google, além dele existem mais de mil ...</a:t>
            </a:r>
          </a:p>
          <a:p>
            <a:r>
              <a:rPr lang="pt-BR" b="1" dirty="0"/>
              <a:t>Diga</a:t>
            </a:r>
            <a:r>
              <a:rPr lang="pt-BR" dirty="0"/>
              <a:t>-</a:t>
            </a:r>
            <a:r>
              <a:rPr lang="pt-BR" b="1" dirty="0"/>
              <a:t>me</a:t>
            </a:r>
            <a:r>
              <a:rPr lang="pt-BR" dirty="0"/>
              <a:t> com </a:t>
            </a:r>
            <a:r>
              <a:rPr lang="pt-BR" dirty="0" smtClean="0"/>
              <a:t>quem </a:t>
            </a:r>
            <a:r>
              <a:rPr lang="pt-BR" b="1" dirty="0" smtClean="0"/>
              <a:t>andas</a:t>
            </a:r>
            <a:r>
              <a:rPr lang="pt-BR" dirty="0"/>
              <a:t>, que eu saberei </a:t>
            </a:r>
            <a:r>
              <a:rPr lang="pt-BR" b="1" dirty="0"/>
              <a:t>quem és</a:t>
            </a:r>
            <a:r>
              <a:rPr lang="pt-BR" dirty="0" smtClean="0"/>
              <a:t>...</a:t>
            </a:r>
            <a:endParaRPr lang="pt-BR" dirty="0" smtClean="0"/>
          </a:p>
          <a:p>
            <a:r>
              <a:rPr lang="pt-BR" dirty="0" smtClean="0"/>
              <a:t>Faz toda a diferença na busca...</a:t>
            </a:r>
          </a:p>
        </p:txBody>
      </p:sp>
    </p:spTree>
    <p:extLst>
      <p:ext uri="{BB962C8B-B14F-4D97-AF65-F5344CB8AC3E}">
        <p14:creationId xmlns:p14="http://schemas.microsoft.com/office/powerpoint/2007/7/12/main" val="1723337078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60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E qual é a dica final?</a:t>
            </a:r>
            <a:endParaRPr lang="pt-BR" sz="60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Está na próxima página...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1314659083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86058"/>
            <a:ext cx="7772400" cy="1336386"/>
          </a:xfrm>
        </p:spPr>
        <p:txBody>
          <a:bodyPr>
            <a:noAutofit/>
          </a:bodyPr>
          <a:lstStyle/>
          <a:p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Seja facilmente encontrado, ofereça conteúdo de qualidade, use os meios corretos para transmitir a informação, seja criativo, acompanhe o mercado e acima de tudo</a:t>
            </a:r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:</a:t>
            </a:r>
            <a:b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</a:br>
            <a: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/>
            </a:r>
            <a:br>
              <a:rPr lang="pt-BR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</a:br>
            <a:r>
              <a:rPr lang="pt-BR" b="1" dirty="0" smtClean="0">
                <a:solidFill>
                  <a:srgbClr xmlns:mc="http://schemas.openxmlformats.org/markup-compatibility/2006" xmlns:a14="http://schemas.microsoft.com/office/drawing/2007/7/7/main" val="FF0000" mc:Ignorable=""/>
                </a:solidFill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Entenda </a:t>
            </a:r>
            <a:r>
              <a:rPr lang="pt-BR" b="1" dirty="0" smtClean="0">
                <a:solidFill>
                  <a:srgbClr xmlns:mc="http://schemas.openxmlformats.org/markup-compatibility/2006" xmlns:a14="http://schemas.microsoft.com/office/drawing/2007/7/7/main" val="FF0000" mc:Ignorable=""/>
                </a:solidFill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e Atenda seu Cliente !</a:t>
            </a:r>
            <a:endParaRPr lang="pt-BR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07/7/12/main" val="852558139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72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Perguntas?</a:t>
            </a:r>
            <a:endParaRPr lang="pt-BR" sz="72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???????????????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2556973543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2910" y="642918"/>
            <a:ext cx="7772400" cy="1470025"/>
          </a:xfrm>
        </p:spPr>
        <p:txBody>
          <a:bodyPr>
            <a:noAutofit/>
          </a:bodyPr>
          <a:lstStyle/>
          <a:p>
            <a:r>
              <a:rPr lang="pt-BR" sz="80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Muito </a:t>
            </a:r>
            <a:r>
              <a:rPr lang="pt-BR" sz="80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Obrigado</a:t>
            </a:r>
            <a:r>
              <a:rPr lang="pt-BR" sz="8000" b="1" dirty="0" smtClean="0">
                <a:effectLst>
                  <a:outerShdw blurRad="38100" dist="38100" dir="2700000" algn="tl">
                    <a:srgbClr xmlns:mc="http://schemas.openxmlformats.org/markup-compatibility/2006" xmlns:a14="http://schemas.microsoft.com/office/drawing/2007/7/7/main" val="000000" mc:Ignorable="">
                      <a:alpha val="43137"/>
                    </a:srgbClr>
                  </a:outerShdw>
                </a:effectLst>
              </a:rPr>
              <a:t>!</a:t>
            </a:r>
            <a:endParaRPr lang="pt-BR" sz="8000" b="1" dirty="0">
              <a:effectLst>
                <a:outerShdw blurRad="38100" dist="38100" dir="2700000" algn="tl">
                  <a:srgbClr xmlns:mc="http://schemas.openxmlformats.org/markup-compatibility/2006" xmlns:a14="http://schemas.microsoft.com/office/drawing/2007/7/7/main" val="000000" mc:Ignorable="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90846"/>
            <a:ext cx="6400800" cy="1752600"/>
          </a:xfrm>
        </p:spPr>
        <p:txBody>
          <a:bodyPr>
            <a:noAutofit/>
          </a:bodyPr>
          <a:lstStyle/>
          <a:p>
            <a:r>
              <a:rPr lang="pt-BR" sz="3600" b="1" dirty="0" smtClean="0"/>
              <a:t>Luiz Eduardo de Oliveira </a:t>
            </a:r>
            <a:r>
              <a:rPr lang="pt-BR" sz="3600" b="1" dirty="0" smtClean="0"/>
              <a:t>Fonseca</a:t>
            </a:r>
          </a:p>
          <a:p>
            <a:endParaRPr lang="pt-BR" sz="3600" b="1" dirty="0" smtClean="0"/>
          </a:p>
          <a:p>
            <a:r>
              <a:rPr lang="pt-BR" dirty="0" smtClean="0">
                <a:hlinkClick r:id="rId2"/>
              </a:rPr>
              <a:t>luizeof@gmail.com</a:t>
            </a:r>
            <a:endParaRPr lang="pt-BR" dirty="0" smtClean="0"/>
          </a:p>
          <a:p>
            <a:r>
              <a:rPr lang="pt-BR" dirty="0" smtClean="0">
                <a:hlinkClick r:id="rId3"/>
              </a:rPr>
              <a:t>www.designer404.com</a:t>
            </a:r>
            <a:endParaRPr lang="pt-BR" dirty="0" smtClean="0"/>
          </a:p>
          <a:p>
            <a:r>
              <a:rPr lang="pt-BR" dirty="0" smtClean="0">
                <a:hlinkClick r:id="rId4"/>
              </a:rPr>
              <a:t>www.orangeweb.com.br</a:t>
            </a:r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07/7/12/main" val="3162153107"/>
      </p:ext>
    </p:extLst>
  </p:cSld>
  <p:clrMapOvr>
    <a:masterClrMapping/>
  </p:clrMapOvr>
  <p:timing>
    <p:tnLst>
      <p:par>
        <p:cTn xmlns:p14="http://schemas.microsoft.com/office/powerpoint/2007/7/12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xmlns:mc="http://schemas.openxmlformats.org/markup-compatibility/2006" xmlns:a14="http://schemas.microsoft.com/office/drawing/2007/7/7/main" val="1F497D" mc:Ignorable=""/>
      </a:dk2>
      <a:lt2>
        <a:srgbClr xmlns:mc="http://schemas.openxmlformats.org/markup-compatibility/2006" xmlns:a14="http://schemas.microsoft.com/office/drawing/2007/7/7/main" val="EEECE1" mc:Ignorable=""/>
      </a:lt2>
      <a:accent1>
        <a:srgbClr xmlns:mc="http://schemas.openxmlformats.org/markup-compatibility/2006" xmlns:a14="http://schemas.microsoft.com/office/drawing/2007/7/7/main" val="4F81BD" mc:Ignorable=""/>
      </a:accent1>
      <a:accent2>
        <a:srgbClr xmlns:mc="http://schemas.openxmlformats.org/markup-compatibility/2006" xmlns:a14="http://schemas.microsoft.com/office/drawing/2007/7/7/main" val="C0504D" mc:Ignorable=""/>
      </a:accent2>
      <a:accent3>
        <a:srgbClr xmlns:mc="http://schemas.openxmlformats.org/markup-compatibility/2006" xmlns:a14="http://schemas.microsoft.com/office/drawing/2007/7/7/main" val="9BBB59" mc:Ignorable=""/>
      </a:accent3>
      <a:accent4>
        <a:srgbClr xmlns:mc="http://schemas.openxmlformats.org/markup-compatibility/2006" xmlns:a14="http://schemas.microsoft.com/office/drawing/2007/7/7/main" val="8064A2" mc:Ignorable=""/>
      </a:accent4>
      <a:accent5>
        <a:srgbClr xmlns:mc="http://schemas.openxmlformats.org/markup-compatibility/2006" xmlns:a14="http://schemas.microsoft.com/office/drawing/2007/7/7/main" val="4BACC6" mc:Ignorable=""/>
      </a:accent5>
      <a:accent6>
        <a:srgbClr xmlns:mc="http://schemas.openxmlformats.org/markup-compatibility/2006" xmlns:a14="http://schemas.microsoft.com/office/drawing/2007/7/7/main" val="F79646" mc:Ignorable=""/>
      </a:accent6>
      <a:hlink>
        <a:srgbClr xmlns:mc="http://schemas.openxmlformats.org/markup-compatibility/2006" xmlns:a14="http://schemas.microsoft.com/office/drawing/2007/7/7/main" val="0000FF" mc:Ignorable=""/>
      </a:hlink>
      <a:folHlink>
        <a:srgbClr xmlns:mc="http://schemas.openxmlformats.org/markup-compatibility/2006" xmlns:a14="http://schemas.microsoft.com/office/drawing/2007/7/7/main" val="800080" mc:Ignorable="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xmlns:mc="http://schemas.openxmlformats.org/markup-compatibility/2006" xmlns:a14="http://schemas.microsoft.com/office/drawing/2007/7/7/main" val="000000" mc:Ignorable="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xmlns:mc="http://schemas.openxmlformats.org/markup-compatibility/2006" xmlns:a14="http://schemas.microsoft.com/office/drawing/2007/7/7/main" val="000000" mc:Ignorable="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xmlns:mc="http://schemas.openxmlformats.org/markup-compatibility/2006" xmlns:a14="http://schemas.microsoft.com/office/drawing/2007/7/7/main" val="000000" mc:Ignorable="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outs:outSpaceData xmlns:outs="http://schemas.microsoft.com/office/2009/outspace/metadata">
  <outs:relatedDates>
    <outs:relatedDate>
      <outs:type>3</outs:type>
      <outs:displayName>Last Modified</outs:displayName>
      <outs:dateTime>2009-10-25T20:02:38Z</outs:dateTime>
      <outs:isPinned>true</outs:isPinned>
    </outs:relatedDate>
    <outs:relatedDate>
      <outs:type>2</outs:type>
      <outs:displayName>Created</outs:displayName>
      <outs:dateTime>2009-10-10T23:33:59Z</outs:dateTime>
      <outs:isPinned>true</outs:isPinned>
    </outs:relatedDate>
    <outs:relatedDate>
      <outs:type>4</outs:type>
      <outs:displayName>Last Printed</outs:displayName>
      <outs:dateTime/>
      <outs:isPinned>true</outs:isPinned>
    </outs:relatedDate>
  </outs:relatedDates>
  <outs:relatedDocuments>
    <outs:relatedDocument>
      <outs:type>2</outs:type>
      <outs:displayName>Other documents in current folder</outs:displayName>
      <outs:uri/>
      <outs:isPinned>true</outs:isPinned>
    </outs:relatedDocument>
  </outs:relatedDocuments>
  <outs:relatedPeople>
    <outs:relatedPeopleItem>
      <outs:category>Author</outs:category>
      <outs:people>
        <outs:relatedPerson>
          <outs:displayName>LuizEduardo</outs:displayName>
          <outs:accountName/>
        </outs:relatedPerson>
      </outs:people>
      <outs:source>0</outs:source>
      <outs:isPinned>true</outs:isPinned>
    </outs:relatedPeopleItem>
    <outs:relatedPeopleItem>
      <outs:category>Last modified by</outs:category>
      <outs:people>
        <outs:relatedPerson>
          <outs:displayName>LuizEduardo</outs:displayName>
          <outs:accountName/>
        </outs:relatedPerson>
      </outs:people>
      <outs:source>0</outs:source>
      <outs:isPinned>true</outs:isPinned>
    </outs:relatedPeopleItem>
    <outs:relatedPeopleItem>
      <outs:category>Manager</outs:category>
      <outs:people/>
      <outs:source>0</outs:source>
      <outs:isPinned>false</outs:isPinned>
    </outs:relatedPeopleItem>
  </outs:relatedPeople>
  <propertyMetadataList xmlns="http://schemas.microsoft.com/office/2009/outspace/metadata">
    <propertyMetadata>
      <type>0</type>
      <propertyId>2228224</propertyId>
      <propertyName/>
      <isPinned>true</isPinned>
    </propertyMetadata>
    <propertyMetadata>
      <type>0</type>
      <propertyId>1114115</propertyId>
      <propertyName/>
      <isPinned>true</isPinned>
    </propertyMetadata>
    <propertyMetadata>
      <type>0</type>
      <propertyId>1114117</propertyId>
      <propertyName/>
      <isPinned>true</isPinned>
    </propertyMetadata>
    <propertyMetadata>
      <type>0</type>
      <propertyId>589825</propertyId>
      <propertyName/>
      <isPinned>false</isPinned>
    </propertyMetadata>
    <propertyMetadata>
      <type>0</type>
      <propertyId>1114116</propertyId>
      <propertyName/>
      <isPinned>false</isPinned>
    </propertyMetadata>
    <propertyMetadata>
      <type>0</type>
      <propertyId>14</propertyId>
      <propertyName/>
      <isPinned>true</isPinned>
    </propertyMetadata>
    <propertyMetadata>
      <type>0</type>
      <propertyId>8</propertyId>
      <propertyName/>
      <isPinned>true</isPinned>
    </propertyMetadata>
    <propertyMetadata>
      <type>0</type>
      <propertyId>6</propertyId>
      <propertyName/>
      <isPinned>false</isPinned>
    </propertyMetadata>
    <propertyMetadata>
      <type>0</type>
      <propertyId>1114118</propertyId>
      <propertyName/>
      <isPinned>false</isPinned>
    </propertyMetadata>
    <propertyMetadata>
      <type>0</type>
      <propertyId>1179649</propertyId>
      <propertyName/>
      <isPinned>false</isPinned>
    </propertyMetadata>
    <propertyMetadata>
      <type>0</type>
      <propertyId>655365</propertyId>
      <propertyName/>
      <isPinned>false</isPinned>
    </propertyMetadata>
    <propertyMetadata>
      <type>0</type>
      <propertyId>1</propertyId>
      <propertyName/>
      <isPinned>false</isPinned>
    </propertyMetadata>
    <propertyMetadata>
      <type>0</type>
      <propertyId>0</propertyId>
      <propertyName/>
      <isPinned>true</isPinned>
    </propertyMetadata>
    <propertyMetadata>
      <type>0</type>
      <propertyId>13</propertyId>
      <propertyName/>
      <isPinned>false</isPinned>
    </propertyMetadata>
    <propertyMetadata>
      <type>0</type>
      <propertyId>1179653</propertyId>
      <propertyName/>
      <isPinned>false</isPinned>
    </propertyMetadata>
    <propertyMetadata>
      <type>0</type>
      <propertyId>22</propertyId>
      <propertyName/>
      <isPinned>false</isPinned>
    </propertyMetadata>
  </propertyMetadataList>
  <outs:corruptMetadataWasLost/>
</outs:outSpaceData>
</file>

<file path=customXml/itemProps1.xml><?xml version="1.0" encoding="utf-8"?>
<ds:datastoreItem xmlns:ds="http://schemas.openxmlformats.org/officeDocument/2006/customXml" ds:itemID="{A7DB9DD6-F8AA-4938-ADAA-2FD913BC51FA}">
  <ds:schemaRefs>
    <ds:schemaRef ds:uri="http://schemas.microsoft.com/office/2009/outspace/meta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807</TotalTime>
  <Words>1562</Words>
  <Application>Microsoft Office PowerPoint</Application>
  <PresentationFormat>On-screen Show (4:3)</PresentationFormat>
  <Paragraphs>238</Paragraphs>
  <Slides>61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2" baseType="lpstr">
      <vt:lpstr>Office Theme</vt:lpstr>
      <vt:lpstr>Search Engine Optimization</vt:lpstr>
      <vt:lpstr>Luiz Eduardo de Oliveira Fonseca</vt:lpstr>
      <vt:lpstr>Hey !  O que está acontecendo ?</vt:lpstr>
      <vt:lpstr>A “Bolha” e o ”Pós-Bolha”</vt:lpstr>
      <vt:lpstr>Internet, Publicidade e Propaganda</vt:lpstr>
      <vt:lpstr>Publicidade?</vt:lpstr>
      <vt:lpstr>Propaganda?</vt:lpstr>
      <vt:lpstr>“É melhor ser o primeiro do que ser o melhor...”</vt:lpstr>
      <vt:lpstr>PowerPoint Presentation</vt:lpstr>
      <vt:lpstr>.. E então, tudo mudou...</vt:lpstr>
      <vt:lpstr>Encontrabilidade:  Para reter e vender, primeiro é preciso que o cliente conheça e chegue até você.</vt:lpstr>
      <vt:lpstr>Então, vamos por partes....</vt:lpstr>
      <vt:lpstr>SEO ?</vt:lpstr>
      <vt:lpstr>Definição de SEO</vt:lpstr>
      <vt:lpstr>Ok, mas então o que é SEM ?</vt:lpstr>
      <vt:lpstr>Definição de SEM</vt:lpstr>
      <vt:lpstr>Links Patrocinados ?</vt:lpstr>
      <vt:lpstr>Quanto Custa ?</vt:lpstr>
      <vt:lpstr>Humm, então devo usar SEO ou SEM?</vt:lpstr>
      <vt:lpstr>SEO ou SEM?</vt:lpstr>
      <vt:lpstr>PowerPoint Presentation</vt:lpstr>
      <vt:lpstr>Mas qual rende mais ?</vt:lpstr>
      <vt:lpstr>E como anda o mercado ?</vt:lpstr>
      <vt:lpstr>www.osnumerosdainternet.com.br </vt:lpstr>
      <vt:lpstr>“Em tempos de crise: Enquanto alguns choram, outros anunciam e vendem lenços.”</vt:lpstr>
      <vt:lpstr>Você conhece o Marketing Viral?</vt:lpstr>
      <vt:lpstr>O “Google Marketing”</vt:lpstr>
      <vt:lpstr>O foco é o Cliente</vt:lpstr>
      <vt:lpstr>Já que estamos falando dos clientes...</vt:lpstr>
      <vt:lpstr>Como funciona o Relacionamento com o Cliente</vt:lpstr>
      <vt:lpstr>O Relacionamento com o Cliente</vt:lpstr>
      <vt:lpstr>“Conheça seu consumidor como a si mesmo.”</vt:lpstr>
      <vt:lpstr>O Papel dos buscadores</vt:lpstr>
      <vt:lpstr>O Google Analytics e o ROI</vt:lpstr>
      <vt:lpstr>Quais os buscadores existentes ?</vt:lpstr>
      <vt:lpstr>Ok, e onde está a receita do bolo ?</vt:lpstr>
      <vt:lpstr>SEO – O Básico</vt:lpstr>
      <vt:lpstr>“Vamos contratar uns garotos para fazer os sites e banners em flash?”</vt:lpstr>
      <vt:lpstr>Projeto de um website</vt:lpstr>
      <vt:lpstr>Alguns detalhes...</vt:lpstr>
      <vt:lpstr>Formatação e conteúdo não andam juntos, mas frequentam o mesmo lugar...</vt:lpstr>
      <vt:lpstr>Os ícones da web</vt:lpstr>
      <vt:lpstr>Vídeos no Youtube, Fotos no Flickr, comunidades no Orkut e notícias no Twitter...</vt:lpstr>
      <vt:lpstr>Então, agora é hora do conteúdo...</vt:lpstr>
      <vt:lpstr>Qual a importância do conteúdo?</vt:lpstr>
      <vt:lpstr>Palavras-chave?</vt:lpstr>
      <vt:lpstr>Palavras-chave?</vt:lpstr>
      <vt:lpstr>E como se dar bem?</vt:lpstr>
      <vt:lpstr>Como se diferenciar?</vt:lpstr>
      <vt:lpstr>Então as tags podem me ajudar?</vt:lpstr>
      <vt:lpstr>A tal “Web Semântica”</vt:lpstr>
      <vt:lpstr>Continuando com a Web Semântica...</vt:lpstr>
      <vt:lpstr>Esse papo de tag é bobeira, me mostra um exemplo prático então...</vt:lpstr>
      <vt:lpstr>Um breve exemplo de bom uso das tags...</vt:lpstr>
      <vt:lpstr>Elementos externos...</vt:lpstr>
      <vt:lpstr>PageRank ? O que é isso ?</vt:lpstr>
      <vt:lpstr>O PageRank</vt:lpstr>
      <vt:lpstr>E qual é a dica final?</vt:lpstr>
      <vt:lpstr>Seja facilmente encontrado, ofereça conteúdo de qualidade, use os meios corretos para transmitir a informação, seja criativo, acompanhe o mercado e acima de tudo:  Entenda e Atenda seu Cliente !</vt:lpstr>
      <vt:lpstr>Perguntas?</vt:lpstr>
      <vt:lpstr>Muito Obrigado!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Engine Optimization</dc:title>
  <dc:creator>LuizEduardo</dc:creator>
  <cp:lastModifiedBy>LuizEduardo</cp:lastModifiedBy>
  <cp:revision>640</cp:revision>
  <dcterms:created xsi:type="dcterms:W3CDTF">2009-10-10T23:33:59Z</dcterms:created>
  <dcterms:modified xsi:type="dcterms:W3CDTF">2009-10-27T02:48:01Z</dcterms:modified>
</cp:coreProperties>
</file>