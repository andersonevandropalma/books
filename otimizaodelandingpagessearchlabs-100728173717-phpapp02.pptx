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29.xml" ContentType="application/vnd.openxmlformats-officedocument.presentationml.slide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Override1.xml" ContentType="application/vnd.openxmlformats-officedocument.themeOverride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2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Masters/slideMaster4.xml" ContentType="application/vnd.openxmlformats-officedocument.presentationml.slideMaster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notesSlides/notesSlide3.xml" ContentType="application/vnd.openxmlformats-officedocument.presentationml.notesSlide+xml"/>
  <Override PartName="/ppt/diagrams/drawing3.xml" ContentType="application/vnd.ms-office.drawingml.diagramDrawing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36.xml" ContentType="application/vnd.openxmlformats-officedocument.presentationml.slideLayout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emf" ContentType="image/x-emf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Override2.xml" ContentType="application/vnd.openxmlformats-officedocument.themeOverride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Default Extension="gif" ContentType="image/gif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layout2.xml" ContentType="application/vnd.openxmlformats-officedocument.drawingml.diagramLayout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layout3.xml" ContentType="application/vnd.openxmlformats-officedocument.drawingml.diagramLayout+xml"/>
  <Override PartName="/ppt/notesSlides/notesSlide21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5.xml" ContentType="application/vnd.openxmlformats-officedocument.presentationml.slideLayout+xml"/>
  <Override PartName="/ppt/diagrams/drawing1.xml" ContentType="application/vnd.ms-office.drawingml.diagramDrawing+xml"/>
  <Override PartName="/ppt/notesSlides/notesSlide1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  <p:sldMasterId id="2147483668" r:id="rId2"/>
    <p:sldMasterId id="2147483670" r:id="rId3"/>
    <p:sldMasterId id="2147483672" r:id="rId4"/>
  </p:sldMasterIdLst>
  <p:notesMasterIdLst>
    <p:notesMasterId r:id="rId50"/>
  </p:notesMasterIdLst>
  <p:sldIdLst>
    <p:sldId id="262" r:id="rId5"/>
    <p:sldId id="270" r:id="rId6"/>
    <p:sldId id="293" r:id="rId7"/>
    <p:sldId id="308" r:id="rId8"/>
    <p:sldId id="296" r:id="rId9"/>
    <p:sldId id="297" r:id="rId10"/>
    <p:sldId id="309" r:id="rId11"/>
    <p:sldId id="294" r:id="rId12"/>
    <p:sldId id="310" r:id="rId13"/>
    <p:sldId id="311" r:id="rId14"/>
    <p:sldId id="312" r:id="rId15"/>
    <p:sldId id="295" r:id="rId16"/>
    <p:sldId id="342" r:id="rId17"/>
    <p:sldId id="281" r:id="rId18"/>
    <p:sldId id="315" r:id="rId19"/>
    <p:sldId id="314" r:id="rId20"/>
    <p:sldId id="316" r:id="rId21"/>
    <p:sldId id="343" r:id="rId22"/>
    <p:sldId id="318" r:id="rId23"/>
    <p:sldId id="319" r:id="rId24"/>
    <p:sldId id="275" r:id="rId25"/>
    <p:sldId id="276" r:id="rId26"/>
    <p:sldId id="344" r:id="rId27"/>
    <p:sldId id="282" r:id="rId28"/>
    <p:sldId id="299" r:id="rId29"/>
    <p:sldId id="300" r:id="rId30"/>
    <p:sldId id="325" r:id="rId31"/>
    <p:sldId id="321" r:id="rId32"/>
    <p:sldId id="302" r:id="rId33"/>
    <p:sldId id="322" r:id="rId34"/>
    <p:sldId id="301" r:id="rId35"/>
    <p:sldId id="326" r:id="rId36"/>
    <p:sldId id="327" r:id="rId37"/>
    <p:sldId id="324" r:id="rId38"/>
    <p:sldId id="323" r:id="rId39"/>
    <p:sldId id="328" r:id="rId40"/>
    <p:sldId id="329" r:id="rId41"/>
    <p:sldId id="345" r:id="rId42"/>
    <p:sldId id="334" r:id="rId43"/>
    <p:sldId id="335" r:id="rId44"/>
    <p:sldId id="336" r:id="rId45"/>
    <p:sldId id="340" r:id="rId46"/>
    <p:sldId id="337" r:id="rId47"/>
    <p:sldId id="338" r:id="rId48"/>
    <p:sldId id="271" r:id="rId49"/>
  </p:sldIdLst>
  <p:sldSz cx="13004800" cy="97536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600" kern="1200">
        <a:solidFill>
          <a:schemeClr val="tx1"/>
        </a:solidFill>
        <a:latin typeface="Verdana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600" kern="1200">
        <a:solidFill>
          <a:schemeClr val="tx1"/>
        </a:solidFill>
        <a:latin typeface="Verdana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600" kern="1200">
        <a:solidFill>
          <a:schemeClr val="tx1"/>
        </a:solidFill>
        <a:latin typeface="Verdana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600" kern="1200">
        <a:solidFill>
          <a:schemeClr val="tx1"/>
        </a:solidFill>
        <a:latin typeface="Verdana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600" kern="1200">
        <a:solidFill>
          <a:schemeClr val="tx1"/>
        </a:solidFill>
        <a:latin typeface="Verdana" pitchFamily="34" charset="0"/>
        <a:ea typeface="+mn-ea"/>
        <a:cs typeface="Arial" charset="0"/>
      </a:defRPr>
    </a:lvl5pPr>
    <a:lvl6pPr marL="2286000" algn="l" defTabSz="914400" rtl="0" eaLnBrk="1" latinLnBrk="0" hangingPunct="1">
      <a:defRPr sz="2600" kern="1200">
        <a:solidFill>
          <a:schemeClr val="tx1"/>
        </a:solidFill>
        <a:latin typeface="Verdana" pitchFamily="34" charset="0"/>
        <a:ea typeface="+mn-ea"/>
        <a:cs typeface="Arial" charset="0"/>
      </a:defRPr>
    </a:lvl6pPr>
    <a:lvl7pPr marL="2743200" algn="l" defTabSz="914400" rtl="0" eaLnBrk="1" latinLnBrk="0" hangingPunct="1">
      <a:defRPr sz="2600" kern="1200">
        <a:solidFill>
          <a:schemeClr val="tx1"/>
        </a:solidFill>
        <a:latin typeface="Verdana" pitchFamily="34" charset="0"/>
        <a:ea typeface="+mn-ea"/>
        <a:cs typeface="Arial" charset="0"/>
      </a:defRPr>
    </a:lvl7pPr>
    <a:lvl8pPr marL="3200400" algn="l" defTabSz="914400" rtl="0" eaLnBrk="1" latinLnBrk="0" hangingPunct="1">
      <a:defRPr sz="2600" kern="1200">
        <a:solidFill>
          <a:schemeClr val="tx1"/>
        </a:solidFill>
        <a:latin typeface="Verdana" pitchFamily="34" charset="0"/>
        <a:ea typeface="+mn-ea"/>
        <a:cs typeface="Arial" charset="0"/>
      </a:defRPr>
    </a:lvl8pPr>
    <a:lvl9pPr marL="3657600" algn="l" defTabSz="914400" rtl="0" eaLnBrk="1" latinLnBrk="0" hangingPunct="1">
      <a:defRPr sz="2600" kern="1200">
        <a:solidFill>
          <a:schemeClr val="tx1"/>
        </a:solidFill>
        <a:latin typeface="Verdana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993300"/>
    <a:srgbClr val="363636"/>
    <a:srgbClr val="272767"/>
    <a:srgbClr val="624290"/>
    <a:srgbClr val="825FB5"/>
    <a:srgbClr val="6B54C0"/>
    <a:srgbClr val="0000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17" autoAdjust="0"/>
    <p:restoredTop sz="93414" autoAdjust="0"/>
  </p:normalViewPr>
  <p:slideViewPr>
    <p:cSldViewPr>
      <p:cViewPr varScale="1">
        <p:scale>
          <a:sx n="60" d="100"/>
          <a:sy n="60" d="100"/>
        </p:scale>
        <p:origin x="-1278" y="-78"/>
      </p:cViewPr>
      <p:guideLst>
        <p:guide orient="horz" pos="3072"/>
        <p:guide pos="40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gif"/><Relationship Id="rId2" Type="http://schemas.openxmlformats.org/officeDocument/2006/relationships/image" Target="../media/image41.gif"/><Relationship Id="rId1" Type="http://schemas.openxmlformats.org/officeDocument/2006/relationships/image" Target="../media/image40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gif"/><Relationship Id="rId2" Type="http://schemas.openxmlformats.org/officeDocument/2006/relationships/image" Target="../media/image41.gif"/><Relationship Id="rId1" Type="http://schemas.openxmlformats.org/officeDocument/2006/relationships/image" Target="../media/image4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8FA1B7-2153-4C04-9DDC-BFCBD6BDFE8F}" type="doc">
      <dgm:prSet loTypeId="urn:microsoft.com/office/officeart/2005/8/layout/vList4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A7F3930-34C3-44E5-AE39-EF481E19F79F}">
      <dgm:prSet phldrT="[Text]"/>
      <dgm:spPr/>
      <dgm:t>
        <a:bodyPr/>
        <a:lstStyle/>
        <a:p>
          <a:r>
            <a:rPr lang="pt-BR" dirty="0" smtClean="0"/>
            <a:t>Antes/Depois</a:t>
          </a:r>
          <a:endParaRPr lang="en-US" dirty="0"/>
        </a:p>
      </dgm:t>
    </dgm:pt>
    <dgm:pt modelId="{8E978400-8B3E-4F5C-96E4-CC9CAF3A24EC}" type="parTrans" cxnId="{4ED9A592-C918-43FA-94A2-7C9474AFCA2C}">
      <dgm:prSet/>
      <dgm:spPr/>
      <dgm:t>
        <a:bodyPr/>
        <a:lstStyle/>
        <a:p>
          <a:endParaRPr lang="en-US"/>
        </a:p>
      </dgm:t>
    </dgm:pt>
    <dgm:pt modelId="{7DEAF502-BC94-45ED-BF6B-D58B9007A6F3}" type="sibTrans" cxnId="{4ED9A592-C918-43FA-94A2-7C9474AFCA2C}">
      <dgm:prSet/>
      <dgm:spPr/>
      <dgm:t>
        <a:bodyPr/>
        <a:lstStyle/>
        <a:p>
          <a:endParaRPr lang="en-US"/>
        </a:p>
      </dgm:t>
    </dgm:pt>
    <dgm:pt modelId="{AA6B7AA1-E913-4ECA-95DC-6A6A7EDFDDBC}">
      <dgm:prSet phldrT="[Text]"/>
      <dgm:spPr/>
      <dgm:t>
        <a:bodyPr/>
        <a:lstStyle/>
        <a:p>
          <a:r>
            <a:rPr lang="pt-BR" dirty="0" smtClean="0"/>
            <a:t>Mais simples de realizar.</a:t>
          </a:r>
          <a:endParaRPr lang="en-US" dirty="0"/>
        </a:p>
      </dgm:t>
    </dgm:pt>
    <dgm:pt modelId="{29F08938-2ACE-4E6D-9063-5DACBE513E95}" type="parTrans" cxnId="{0E189C0F-BBBF-4923-BB6E-6664506400CB}">
      <dgm:prSet/>
      <dgm:spPr/>
      <dgm:t>
        <a:bodyPr/>
        <a:lstStyle/>
        <a:p>
          <a:endParaRPr lang="en-US"/>
        </a:p>
      </dgm:t>
    </dgm:pt>
    <dgm:pt modelId="{630CB7DA-AA21-49B3-A159-57DAC44C5C34}" type="sibTrans" cxnId="{0E189C0F-BBBF-4923-BB6E-6664506400CB}">
      <dgm:prSet/>
      <dgm:spPr/>
      <dgm:t>
        <a:bodyPr/>
        <a:lstStyle/>
        <a:p>
          <a:endParaRPr lang="en-US"/>
        </a:p>
      </dgm:t>
    </dgm:pt>
    <dgm:pt modelId="{17A4A142-C329-4192-9F0C-9730F1D7F03D}">
      <dgm:prSet phldrT="[Text]"/>
      <dgm:spPr/>
      <dgm:t>
        <a:bodyPr/>
        <a:lstStyle/>
        <a:p>
          <a:r>
            <a:rPr lang="pt-BR" dirty="0" smtClean="0"/>
            <a:t>Muitos fatores podem influenciar o resultado.</a:t>
          </a:r>
          <a:endParaRPr lang="en-US" dirty="0"/>
        </a:p>
      </dgm:t>
    </dgm:pt>
    <dgm:pt modelId="{5BD1EE62-5F9F-440D-B5C2-9D9B2F388F87}" type="parTrans" cxnId="{CE7400FD-BA92-48D6-8981-C6EEC0A656C4}">
      <dgm:prSet/>
      <dgm:spPr/>
      <dgm:t>
        <a:bodyPr/>
        <a:lstStyle/>
        <a:p>
          <a:endParaRPr lang="en-US"/>
        </a:p>
      </dgm:t>
    </dgm:pt>
    <dgm:pt modelId="{17099967-94AD-48A6-90A5-8AF244324172}" type="sibTrans" cxnId="{CE7400FD-BA92-48D6-8981-C6EEC0A656C4}">
      <dgm:prSet/>
      <dgm:spPr/>
      <dgm:t>
        <a:bodyPr/>
        <a:lstStyle/>
        <a:p>
          <a:endParaRPr lang="en-US"/>
        </a:p>
      </dgm:t>
    </dgm:pt>
    <dgm:pt modelId="{D46B25D3-9322-4337-83C3-CFE7C642F6DE}">
      <dgm:prSet phldrT="[Text]"/>
      <dgm:spPr/>
      <dgm:t>
        <a:bodyPr/>
        <a:lstStyle/>
        <a:p>
          <a:r>
            <a:rPr lang="pt-BR" dirty="0" smtClean="0"/>
            <a:t>Teste A/B</a:t>
          </a:r>
          <a:endParaRPr lang="en-US" dirty="0"/>
        </a:p>
      </dgm:t>
    </dgm:pt>
    <dgm:pt modelId="{235CA9C2-6ED0-44E5-805A-D8501906E674}" type="parTrans" cxnId="{2E8F1AF7-94F9-4E6C-9589-AB2E2889F1D2}">
      <dgm:prSet/>
      <dgm:spPr/>
      <dgm:t>
        <a:bodyPr/>
        <a:lstStyle/>
        <a:p>
          <a:endParaRPr lang="en-US"/>
        </a:p>
      </dgm:t>
    </dgm:pt>
    <dgm:pt modelId="{A4726147-D9D2-4ED2-9E5E-96286D07ECAB}" type="sibTrans" cxnId="{2E8F1AF7-94F9-4E6C-9589-AB2E2889F1D2}">
      <dgm:prSet/>
      <dgm:spPr/>
      <dgm:t>
        <a:bodyPr/>
        <a:lstStyle/>
        <a:p>
          <a:endParaRPr lang="en-US"/>
        </a:p>
      </dgm:t>
    </dgm:pt>
    <dgm:pt modelId="{630FAF72-FF17-4C9F-9168-0540291E55E7}">
      <dgm:prSet phldrT="[Text]"/>
      <dgm:spPr/>
      <dgm:t>
        <a:bodyPr/>
        <a:lstStyle/>
        <a:p>
          <a:r>
            <a:rPr lang="pt-BR" dirty="0" smtClean="0"/>
            <a:t>Fácil de configurar e controlar.</a:t>
          </a:r>
          <a:endParaRPr lang="en-US" dirty="0"/>
        </a:p>
      </dgm:t>
    </dgm:pt>
    <dgm:pt modelId="{5CD3BB53-67D7-4623-844A-40AEECDEFB87}" type="parTrans" cxnId="{D7003DF9-1A81-4821-ACD4-96C313E6CA85}">
      <dgm:prSet/>
      <dgm:spPr/>
      <dgm:t>
        <a:bodyPr/>
        <a:lstStyle/>
        <a:p>
          <a:endParaRPr lang="en-US"/>
        </a:p>
      </dgm:t>
    </dgm:pt>
    <dgm:pt modelId="{3540EEFE-A732-4F4C-89A7-FFDAEABCDF9E}" type="sibTrans" cxnId="{D7003DF9-1A81-4821-ACD4-96C313E6CA85}">
      <dgm:prSet/>
      <dgm:spPr/>
      <dgm:t>
        <a:bodyPr/>
        <a:lstStyle/>
        <a:p>
          <a:endParaRPr lang="en-US"/>
        </a:p>
      </dgm:t>
    </dgm:pt>
    <dgm:pt modelId="{C0EB94C3-F5BA-4812-9D4D-FC54D0A9FBB7}">
      <dgm:prSet phldrT="[Text]"/>
      <dgm:spPr/>
      <dgm:t>
        <a:bodyPr/>
        <a:lstStyle/>
        <a:p>
          <a:r>
            <a:rPr lang="pt-BR" dirty="0" smtClean="0"/>
            <a:t>Ótimo para testar grandes modificações de layout e estruturais.</a:t>
          </a:r>
          <a:endParaRPr lang="en-US" dirty="0"/>
        </a:p>
      </dgm:t>
    </dgm:pt>
    <dgm:pt modelId="{C479DC96-9155-4CCD-9C36-877109C85FF1}" type="parTrans" cxnId="{2DC8DCD5-ED24-42E2-83D7-B5BBF7ECE94A}">
      <dgm:prSet/>
      <dgm:spPr/>
      <dgm:t>
        <a:bodyPr/>
        <a:lstStyle/>
        <a:p>
          <a:endParaRPr lang="en-US"/>
        </a:p>
      </dgm:t>
    </dgm:pt>
    <dgm:pt modelId="{994C7CE8-1404-4C76-BA4D-2874D59705D8}" type="sibTrans" cxnId="{2DC8DCD5-ED24-42E2-83D7-B5BBF7ECE94A}">
      <dgm:prSet/>
      <dgm:spPr/>
      <dgm:t>
        <a:bodyPr/>
        <a:lstStyle/>
        <a:p>
          <a:endParaRPr lang="en-US"/>
        </a:p>
      </dgm:t>
    </dgm:pt>
    <dgm:pt modelId="{70D4AEFE-D8F2-47D3-AED2-967C1F6C35D9}">
      <dgm:prSet phldrT="[Text]"/>
      <dgm:spPr/>
      <dgm:t>
        <a:bodyPr/>
        <a:lstStyle/>
        <a:p>
          <a:r>
            <a:rPr lang="pt-BR" dirty="0" smtClean="0"/>
            <a:t>Teste </a:t>
          </a:r>
          <a:r>
            <a:rPr lang="pt-BR" dirty="0" err="1" smtClean="0"/>
            <a:t>Multivariável</a:t>
          </a:r>
          <a:endParaRPr lang="en-US" dirty="0"/>
        </a:p>
      </dgm:t>
    </dgm:pt>
    <dgm:pt modelId="{18B960FC-6ECC-4A1F-BBB7-ED97EBB96E02}" type="parTrans" cxnId="{E64D6DAC-6B80-458B-90C9-C283016A051E}">
      <dgm:prSet/>
      <dgm:spPr/>
      <dgm:t>
        <a:bodyPr/>
        <a:lstStyle/>
        <a:p>
          <a:endParaRPr lang="en-US"/>
        </a:p>
      </dgm:t>
    </dgm:pt>
    <dgm:pt modelId="{20A024A6-5525-4EA5-856F-96FCE1F4D3D8}" type="sibTrans" cxnId="{E64D6DAC-6B80-458B-90C9-C283016A051E}">
      <dgm:prSet/>
      <dgm:spPr/>
      <dgm:t>
        <a:bodyPr/>
        <a:lstStyle/>
        <a:p>
          <a:endParaRPr lang="en-US"/>
        </a:p>
      </dgm:t>
    </dgm:pt>
    <dgm:pt modelId="{2B2C4C33-B759-47C1-892E-BF88C87B1CAB}">
      <dgm:prSet phldrT="[Text]"/>
      <dgm:spPr/>
      <dgm:t>
        <a:bodyPr/>
        <a:lstStyle/>
        <a:p>
          <a:r>
            <a:rPr lang="pt-BR" dirty="0" smtClean="0"/>
            <a:t>Requer mais recursos para implementar</a:t>
          </a:r>
          <a:endParaRPr lang="en-US" dirty="0"/>
        </a:p>
      </dgm:t>
    </dgm:pt>
    <dgm:pt modelId="{73882A45-4BE0-4816-BE7E-C9B04AAECF2D}" type="parTrans" cxnId="{AA163DAD-C5B2-4979-A691-00309000DE2D}">
      <dgm:prSet/>
      <dgm:spPr/>
      <dgm:t>
        <a:bodyPr/>
        <a:lstStyle/>
        <a:p>
          <a:endParaRPr lang="en-US"/>
        </a:p>
      </dgm:t>
    </dgm:pt>
    <dgm:pt modelId="{97EDCB45-0E6C-4F33-AE34-E76064A1052A}" type="sibTrans" cxnId="{AA163DAD-C5B2-4979-A691-00309000DE2D}">
      <dgm:prSet/>
      <dgm:spPr/>
      <dgm:t>
        <a:bodyPr/>
        <a:lstStyle/>
        <a:p>
          <a:endParaRPr lang="en-US"/>
        </a:p>
      </dgm:t>
    </dgm:pt>
    <dgm:pt modelId="{5C882D80-228C-46DD-A10E-E7BDE437113C}">
      <dgm:prSet phldrT="[Text]"/>
      <dgm:spPr/>
      <dgm:t>
        <a:bodyPr/>
        <a:lstStyle/>
        <a:p>
          <a:r>
            <a:rPr lang="pt-BR" dirty="0" smtClean="0"/>
            <a:t>Otimizações mais finas, para otimizar ainda mais suas páginas</a:t>
          </a:r>
          <a:endParaRPr lang="en-US" dirty="0"/>
        </a:p>
      </dgm:t>
    </dgm:pt>
    <dgm:pt modelId="{8CAC23EE-CC79-45FC-B035-E9CB86B3FF24}" type="parTrans" cxnId="{FB2C3F65-D2B4-4CA5-9123-15642618D0EF}">
      <dgm:prSet/>
      <dgm:spPr/>
      <dgm:t>
        <a:bodyPr/>
        <a:lstStyle/>
        <a:p>
          <a:endParaRPr lang="en-US"/>
        </a:p>
      </dgm:t>
    </dgm:pt>
    <dgm:pt modelId="{BDE0C30B-8DB6-49A3-A9E0-7CC521CE636D}" type="sibTrans" cxnId="{FB2C3F65-D2B4-4CA5-9123-15642618D0EF}">
      <dgm:prSet/>
      <dgm:spPr/>
      <dgm:t>
        <a:bodyPr/>
        <a:lstStyle/>
        <a:p>
          <a:endParaRPr lang="en-US"/>
        </a:p>
      </dgm:t>
    </dgm:pt>
    <dgm:pt modelId="{B1679068-A5EC-4FDA-AD11-BFBAE049C5FB}" type="pres">
      <dgm:prSet presAssocID="{118FA1B7-2153-4C04-9DDC-BFCBD6BDFE8F}" presName="linear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56F66EA-3465-4511-B2DC-5EC6F3B289F5}" type="pres">
      <dgm:prSet presAssocID="{4A7F3930-34C3-44E5-AE39-EF481E19F79F}" presName="comp" presStyleCnt="0"/>
      <dgm:spPr/>
    </dgm:pt>
    <dgm:pt modelId="{52C9813E-CC36-4475-B036-9CCAB9E89D38}" type="pres">
      <dgm:prSet presAssocID="{4A7F3930-34C3-44E5-AE39-EF481E19F79F}" presName="box" presStyleLbl="node1" presStyleIdx="0" presStyleCnt="3"/>
      <dgm:spPr/>
      <dgm:t>
        <a:bodyPr/>
        <a:lstStyle/>
        <a:p>
          <a:endParaRPr lang="en-US"/>
        </a:p>
      </dgm:t>
    </dgm:pt>
    <dgm:pt modelId="{BAF18BF1-6CFC-4A6B-911D-D178837167FD}" type="pres">
      <dgm:prSet presAssocID="{4A7F3930-34C3-44E5-AE39-EF481E19F79F}" presName="img" presStyleLbl="fgImgPlace1" presStyleIdx="0" presStyleCnt="3" custScaleX="59687" custScaleY="85410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7D11852E-86CD-426B-8814-BC068D8F8344}" type="pres">
      <dgm:prSet presAssocID="{4A7F3930-34C3-44E5-AE39-EF481E19F79F}" presName="text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304CF98-5706-4167-AA68-5DFC5FE3B761}" type="pres">
      <dgm:prSet presAssocID="{7DEAF502-BC94-45ED-BF6B-D58B9007A6F3}" presName="spacer" presStyleCnt="0"/>
      <dgm:spPr/>
    </dgm:pt>
    <dgm:pt modelId="{7C2778C6-7CD8-4A09-BA51-8940E5BD5305}" type="pres">
      <dgm:prSet presAssocID="{D46B25D3-9322-4337-83C3-CFE7C642F6DE}" presName="comp" presStyleCnt="0"/>
      <dgm:spPr/>
    </dgm:pt>
    <dgm:pt modelId="{202376AA-6748-487F-B7FB-A2B5E917EB75}" type="pres">
      <dgm:prSet presAssocID="{D46B25D3-9322-4337-83C3-CFE7C642F6DE}" presName="box" presStyleLbl="node1" presStyleIdx="1" presStyleCnt="3"/>
      <dgm:spPr/>
      <dgm:t>
        <a:bodyPr/>
        <a:lstStyle/>
        <a:p>
          <a:endParaRPr lang="en-US"/>
        </a:p>
      </dgm:t>
    </dgm:pt>
    <dgm:pt modelId="{860DBD3F-B594-4C36-B4E1-C97D209F4288}" type="pres">
      <dgm:prSet presAssocID="{D46B25D3-9322-4337-83C3-CFE7C642F6DE}" presName="img" presStyleLbl="fgImgPlace1" presStyleIdx="1" presStyleCnt="3" custScaleX="57946" custScaleY="75243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7546E4A9-D1C0-4ADD-97C2-FB04E6A7B9DD}" type="pres">
      <dgm:prSet presAssocID="{D46B25D3-9322-4337-83C3-CFE7C642F6DE}" presName="text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6A22BC3-9E05-46CD-95F1-D1329F0AF562}" type="pres">
      <dgm:prSet presAssocID="{A4726147-D9D2-4ED2-9E5E-96286D07ECAB}" presName="spacer" presStyleCnt="0"/>
      <dgm:spPr/>
    </dgm:pt>
    <dgm:pt modelId="{10CF3D42-D451-4BB1-9CCA-615D0302A6B5}" type="pres">
      <dgm:prSet presAssocID="{70D4AEFE-D8F2-47D3-AED2-967C1F6C35D9}" presName="comp" presStyleCnt="0"/>
      <dgm:spPr/>
    </dgm:pt>
    <dgm:pt modelId="{EC95F2F2-E2A3-47E5-9AB1-A6176463A41D}" type="pres">
      <dgm:prSet presAssocID="{70D4AEFE-D8F2-47D3-AED2-967C1F6C35D9}" presName="box" presStyleLbl="node1" presStyleIdx="2" presStyleCnt="3"/>
      <dgm:spPr/>
      <dgm:t>
        <a:bodyPr/>
        <a:lstStyle/>
        <a:p>
          <a:endParaRPr lang="en-US"/>
        </a:p>
      </dgm:t>
    </dgm:pt>
    <dgm:pt modelId="{BCF77AB3-E304-4693-8B45-6F0F6D823620}" type="pres">
      <dgm:prSet presAssocID="{70D4AEFE-D8F2-47D3-AED2-967C1F6C35D9}" presName="img" presStyleLbl="fgImgPlace1" presStyleIdx="2" presStyleCnt="3" custScaleX="57946" custScaleY="72997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  <dgm:pt modelId="{AB0163D2-B658-4FB0-8D3A-5C6634105396}" type="pres">
      <dgm:prSet presAssocID="{70D4AEFE-D8F2-47D3-AED2-967C1F6C35D9}" presName="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8AFF541-E16B-4232-B16A-18EDA23FDE17}" type="presOf" srcId="{C0EB94C3-F5BA-4812-9D4D-FC54D0A9FBB7}" destId="{7546E4A9-D1C0-4ADD-97C2-FB04E6A7B9DD}" srcOrd="1" destOrd="2" presId="urn:microsoft.com/office/officeart/2005/8/layout/vList4"/>
    <dgm:cxn modelId="{ABD010A7-D820-4665-96CB-16CDBC6618C9}" type="presOf" srcId="{AA6B7AA1-E913-4ECA-95DC-6A6A7EDFDDBC}" destId="{7D11852E-86CD-426B-8814-BC068D8F8344}" srcOrd="1" destOrd="1" presId="urn:microsoft.com/office/officeart/2005/8/layout/vList4"/>
    <dgm:cxn modelId="{2E8F1AF7-94F9-4E6C-9589-AB2E2889F1D2}" srcId="{118FA1B7-2153-4C04-9DDC-BFCBD6BDFE8F}" destId="{D46B25D3-9322-4337-83C3-CFE7C642F6DE}" srcOrd="1" destOrd="0" parTransId="{235CA9C2-6ED0-44E5-805A-D8501906E674}" sibTransId="{A4726147-D9D2-4ED2-9E5E-96286D07ECAB}"/>
    <dgm:cxn modelId="{AA163DAD-C5B2-4979-A691-00309000DE2D}" srcId="{70D4AEFE-D8F2-47D3-AED2-967C1F6C35D9}" destId="{2B2C4C33-B759-47C1-892E-BF88C87B1CAB}" srcOrd="0" destOrd="0" parTransId="{73882A45-4BE0-4816-BE7E-C9B04AAECF2D}" sibTransId="{97EDCB45-0E6C-4F33-AE34-E76064A1052A}"/>
    <dgm:cxn modelId="{FB2C3F65-D2B4-4CA5-9123-15642618D0EF}" srcId="{70D4AEFE-D8F2-47D3-AED2-967C1F6C35D9}" destId="{5C882D80-228C-46DD-A10E-E7BDE437113C}" srcOrd="1" destOrd="0" parTransId="{8CAC23EE-CC79-45FC-B035-E9CB86B3FF24}" sibTransId="{BDE0C30B-8DB6-49A3-A9E0-7CC521CE636D}"/>
    <dgm:cxn modelId="{6A63CFF0-11A7-41F4-AEFC-0DD0C9D96D76}" type="presOf" srcId="{C0EB94C3-F5BA-4812-9D4D-FC54D0A9FBB7}" destId="{202376AA-6748-487F-B7FB-A2B5E917EB75}" srcOrd="0" destOrd="2" presId="urn:microsoft.com/office/officeart/2005/8/layout/vList4"/>
    <dgm:cxn modelId="{18172F0A-B253-4C29-BBE5-B641E77C0606}" type="presOf" srcId="{D46B25D3-9322-4337-83C3-CFE7C642F6DE}" destId="{7546E4A9-D1C0-4ADD-97C2-FB04E6A7B9DD}" srcOrd="1" destOrd="0" presId="urn:microsoft.com/office/officeart/2005/8/layout/vList4"/>
    <dgm:cxn modelId="{581E5364-7127-45A0-A6C4-9A1B13D22FF1}" type="presOf" srcId="{5C882D80-228C-46DD-A10E-E7BDE437113C}" destId="{AB0163D2-B658-4FB0-8D3A-5C6634105396}" srcOrd="1" destOrd="2" presId="urn:microsoft.com/office/officeart/2005/8/layout/vList4"/>
    <dgm:cxn modelId="{F087B36B-D50E-499E-85C7-C2F088222CAB}" type="presOf" srcId="{70D4AEFE-D8F2-47D3-AED2-967C1F6C35D9}" destId="{AB0163D2-B658-4FB0-8D3A-5C6634105396}" srcOrd="1" destOrd="0" presId="urn:microsoft.com/office/officeart/2005/8/layout/vList4"/>
    <dgm:cxn modelId="{2DC8DCD5-ED24-42E2-83D7-B5BBF7ECE94A}" srcId="{D46B25D3-9322-4337-83C3-CFE7C642F6DE}" destId="{C0EB94C3-F5BA-4812-9D4D-FC54D0A9FBB7}" srcOrd="1" destOrd="0" parTransId="{C479DC96-9155-4CCD-9C36-877109C85FF1}" sibTransId="{994C7CE8-1404-4C76-BA4D-2874D59705D8}"/>
    <dgm:cxn modelId="{DFC6933A-BF63-4F9F-A0D6-948492E5FB0F}" type="presOf" srcId="{2B2C4C33-B759-47C1-892E-BF88C87B1CAB}" destId="{EC95F2F2-E2A3-47E5-9AB1-A6176463A41D}" srcOrd="0" destOrd="1" presId="urn:microsoft.com/office/officeart/2005/8/layout/vList4"/>
    <dgm:cxn modelId="{749A083A-A251-4F45-A91A-C5C24D67CAFD}" type="presOf" srcId="{AA6B7AA1-E913-4ECA-95DC-6A6A7EDFDDBC}" destId="{52C9813E-CC36-4475-B036-9CCAB9E89D38}" srcOrd="0" destOrd="1" presId="urn:microsoft.com/office/officeart/2005/8/layout/vList4"/>
    <dgm:cxn modelId="{04E74F03-C4FA-4A6D-A6CF-587000F0B467}" type="presOf" srcId="{118FA1B7-2153-4C04-9DDC-BFCBD6BDFE8F}" destId="{B1679068-A5EC-4FDA-AD11-BFBAE049C5FB}" srcOrd="0" destOrd="0" presId="urn:microsoft.com/office/officeart/2005/8/layout/vList4"/>
    <dgm:cxn modelId="{A77029CD-62BB-4A62-904B-87B44B690F0D}" type="presOf" srcId="{630FAF72-FF17-4C9F-9168-0540291E55E7}" destId="{202376AA-6748-487F-B7FB-A2B5E917EB75}" srcOrd="0" destOrd="1" presId="urn:microsoft.com/office/officeart/2005/8/layout/vList4"/>
    <dgm:cxn modelId="{E64D6DAC-6B80-458B-90C9-C283016A051E}" srcId="{118FA1B7-2153-4C04-9DDC-BFCBD6BDFE8F}" destId="{70D4AEFE-D8F2-47D3-AED2-967C1F6C35D9}" srcOrd="2" destOrd="0" parTransId="{18B960FC-6ECC-4A1F-BBB7-ED97EBB96E02}" sibTransId="{20A024A6-5525-4EA5-856F-96FCE1F4D3D8}"/>
    <dgm:cxn modelId="{0799F2E0-636D-4105-8B85-D0D1F019A7BB}" type="presOf" srcId="{17A4A142-C329-4192-9F0C-9730F1D7F03D}" destId="{52C9813E-CC36-4475-B036-9CCAB9E89D38}" srcOrd="0" destOrd="2" presId="urn:microsoft.com/office/officeart/2005/8/layout/vList4"/>
    <dgm:cxn modelId="{892BEB47-102A-43D9-87F0-02DA86A7C4FD}" type="presOf" srcId="{D46B25D3-9322-4337-83C3-CFE7C642F6DE}" destId="{202376AA-6748-487F-B7FB-A2B5E917EB75}" srcOrd="0" destOrd="0" presId="urn:microsoft.com/office/officeart/2005/8/layout/vList4"/>
    <dgm:cxn modelId="{0E189C0F-BBBF-4923-BB6E-6664506400CB}" srcId="{4A7F3930-34C3-44E5-AE39-EF481E19F79F}" destId="{AA6B7AA1-E913-4ECA-95DC-6A6A7EDFDDBC}" srcOrd="0" destOrd="0" parTransId="{29F08938-2ACE-4E6D-9063-5DACBE513E95}" sibTransId="{630CB7DA-AA21-49B3-A159-57DAC44C5C34}"/>
    <dgm:cxn modelId="{D1130C6B-1C4A-4C2A-9832-DC7C8F68C125}" type="presOf" srcId="{5C882D80-228C-46DD-A10E-E7BDE437113C}" destId="{EC95F2F2-E2A3-47E5-9AB1-A6176463A41D}" srcOrd="0" destOrd="2" presId="urn:microsoft.com/office/officeart/2005/8/layout/vList4"/>
    <dgm:cxn modelId="{CE7400FD-BA92-48D6-8981-C6EEC0A656C4}" srcId="{4A7F3930-34C3-44E5-AE39-EF481E19F79F}" destId="{17A4A142-C329-4192-9F0C-9730F1D7F03D}" srcOrd="1" destOrd="0" parTransId="{5BD1EE62-5F9F-440D-B5C2-9D9B2F388F87}" sibTransId="{17099967-94AD-48A6-90A5-8AF244324172}"/>
    <dgm:cxn modelId="{4ED9A592-C918-43FA-94A2-7C9474AFCA2C}" srcId="{118FA1B7-2153-4C04-9DDC-BFCBD6BDFE8F}" destId="{4A7F3930-34C3-44E5-AE39-EF481E19F79F}" srcOrd="0" destOrd="0" parTransId="{8E978400-8B3E-4F5C-96E4-CC9CAF3A24EC}" sibTransId="{7DEAF502-BC94-45ED-BF6B-D58B9007A6F3}"/>
    <dgm:cxn modelId="{7B5BAF24-CED7-4786-B21C-45B92CEAE6C1}" type="presOf" srcId="{17A4A142-C329-4192-9F0C-9730F1D7F03D}" destId="{7D11852E-86CD-426B-8814-BC068D8F8344}" srcOrd="1" destOrd="2" presId="urn:microsoft.com/office/officeart/2005/8/layout/vList4"/>
    <dgm:cxn modelId="{DE0AA136-83A8-4112-B5F7-48576A10DC73}" type="presOf" srcId="{70D4AEFE-D8F2-47D3-AED2-967C1F6C35D9}" destId="{EC95F2F2-E2A3-47E5-9AB1-A6176463A41D}" srcOrd="0" destOrd="0" presId="urn:microsoft.com/office/officeart/2005/8/layout/vList4"/>
    <dgm:cxn modelId="{4F80E7AF-1064-49D0-84F1-AFB8F656027D}" type="presOf" srcId="{630FAF72-FF17-4C9F-9168-0540291E55E7}" destId="{7546E4A9-D1C0-4ADD-97C2-FB04E6A7B9DD}" srcOrd="1" destOrd="1" presId="urn:microsoft.com/office/officeart/2005/8/layout/vList4"/>
    <dgm:cxn modelId="{A3B359EE-D7AF-4A1A-B8F2-23D0B445D6E3}" type="presOf" srcId="{4A7F3930-34C3-44E5-AE39-EF481E19F79F}" destId="{52C9813E-CC36-4475-B036-9CCAB9E89D38}" srcOrd="0" destOrd="0" presId="urn:microsoft.com/office/officeart/2005/8/layout/vList4"/>
    <dgm:cxn modelId="{8014F34B-4F1B-4FA4-99F7-254BD61591E3}" type="presOf" srcId="{2B2C4C33-B759-47C1-892E-BF88C87B1CAB}" destId="{AB0163D2-B658-4FB0-8D3A-5C6634105396}" srcOrd="1" destOrd="1" presId="urn:microsoft.com/office/officeart/2005/8/layout/vList4"/>
    <dgm:cxn modelId="{D7003DF9-1A81-4821-ACD4-96C313E6CA85}" srcId="{D46B25D3-9322-4337-83C3-CFE7C642F6DE}" destId="{630FAF72-FF17-4C9F-9168-0540291E55E7}" srcOrd="0" destOrd="0" parTransId="{5CD3BB53-67D7-4623-844A-40AEECDEFB87}" sibTransId="{3540EEFE-A732-4F4C-89A7-FFDAEABCDF9E}"/>
    <dgm:cxn modelId="{76FB2D9A-9A0E-4C04-A611-82FBCBFB48B2}" type="presOf" srcId="{4A7F3930-34C3-44E5-AE39-EF481E19F79F}" destId="{7D11852E-86CD-426B-8814-BC068D8F8344}" srcOrd="1" destOrd="0" presId="urn:microsoft.com/office/officeart/2005/8/layout/vList4"/>
    <dgm:cxn modelId="{CD7F7772-BE6E-46FC-AADF-65ACBB2F2F98}" type="presParOf" srcId="{B1679068-A5EC-4FDA-AD11-BFBAE049C5FB}" destId="{B56F66EA-3465-4511-B2DC-5EC6F3B289F5}" srcOrd="0" destOrd="0" presId="urn:microsoft.com/office/officeart/2005/8/layout/vList4"/>
    <dgm:cxn modelId="{15866312-0192-4BB8-92AF-282909A342F5}" type="presParOf" srcId="{B56F66EA-3465-4511-B2DC-5EC6F3B289F5}" destId="{52C9813E-CC36-4475-B036-9CCAB9E89D38}" srcOrd="0" destOrd="0" presId="urn:microsoft.com/office/officeart/2005/8/layout/vList4"/>
    <dgm:cxn modelId="{54F2CCA8-6501-40F0-BD72-7AA5D1169E79}" type="presParOf" srcId="{B56F66EA-3465-4511-B2DC-5EC6F3B289F5}" destId="{BAF18BF1-6CFC-4A6B-911D-D178837167FD}" srcOrd="1" destOrd="0" presId="urn:microsoft.com/office/officeart/2005/8/layout/vList4"/>
    <dgm:cxn modelId="{8165796E-8AAF-4943-8BBD-33B330E68683}" type="presParOf" srcId="{B56F66EA-3465-4511-B2DC-5EC6F3B289F5}" destId="{7D11852E-86CD-426B-8814-BC068D8F8344}" srcOrd="2" destOrd="0" presId="urn:microsoft.com/office/officeart/2005/8/layout/vList4"/>
    <dgm:cxn modelId="{AE86E2D9-7B8E-41F9-9FA4-D3AB4254DFAA}" type="presParOf" srcId="{B1679068-A5EC-4FDA-AD11-BFBAE049C5FB}" destId="{B304CF98-5706-4167-AA68-5DFC5FE3B761}" srcOrd="1" destOrd="0" presId="urn:microsoft.com/office/officeart/2005/8/layout/vList4"/>
    <dgm:cxn modelId="{A0C59096-37FA-4C90-9767-0EDB8F8327D5}" type="presParOf" srcId="{B1679068-A5EC-4FDA-AD11-BFBAE049C5FB}" destId="{7C2778C6-7CD8-4A09-BA51-8940E5BD5305}" srcOrd="2" destOrd="0" presId="urn:microsoft.com/office/officeart/2005/8/layout/vList4"/>
    <dgm:cxn modelId="{7D431990-EFBB-4B7F-A230-BDB2D44008E0}" type="presParOf" srcId="{7C2778C6-7CD8-4A09-BA51-8940E5BD5305}" destId="{202376AA-6748-487F-B7FB-A2B5E917EB75}" srcOrd="0" destOrd="0" presId="urn:microsoft.com/office/officeart/2005/8/layout/vList4"/>
    <dgm:cxn modelId="{02E0CBF0-2FE7-491D-850F-77A27B553360}" type="presParOf" srcId="{7C2778C6-7CD8-4A09-BA51-8940E5BD5305}" destId="{860DBD3F-B594-4C36-B4E1-C97D209F4288}" srcOrd="1" destOrd="0" presId="urn:microsoft.com/office/officeart/2005/8/layout/vList4"/>
    <dgm:cxn modelId="{7464C891-B119-4A94-A393-3A5F0A71B261}" type="presParOf" srcId="{7C2778C6-7CD8-4A09-BA51-8940E5BD5305}" destId="{7546E4A9-D1C0-4ADD-97C2-FB04E6A7B9DD}" srcOrd="2" destOrd="0" presId="urn:microsoft.com/office/officeart/2005/8/layout/vList4"/>
    <dgm:cxn modelId="{37258601-15E6-4257-AC95-00707AC70E94}" type="presParOf" srcId="{B1679068-A5EC-4FDA-AD11-BFBAE049C5FB}" destId="{16A22BC3-9E05-46CD-95F1-D1329F0AF562}" srcOrd="3" destOrd="0" presId="urn:microsoft.com/office/officeart/2005/8/layout/vList4"/>
    <dgm:cxn modelId="{F5F4F79C-5A32-421F-B0F6-C376360F32C5}" type="presParOf" srcId="{B1679068-A5EC-4FDA-AD11-BFBAE049C5FB}" destId="{10CF3D42-D451-4BB1-9CCA-615D0302A6B5}" srcOrd="4" destOrd="0" presId="urn:microsoft.com/office/officeart/2005/8/layout/vList4"/>
    <dgm:cxn modelId="{C145BDA9-56A4-4E19-9E16-7B2086838101}" type="presParOf" srcId="{10CF3D42-D451-4BB1-9CCA-615D0302A6B5}" destId="{EC95F2F2-E2A3-47E5-9AB1-A6176463A41D}" srcOrd="0" destOrd="0" presId="urn:microsoft.com/office/officeart/2005/8/layout/vList4"/>
    <dgm:cxn modelId="{AA0913F7-4FB0-4837-8CA5-48FCE90189C8}" type="presParOf" srcId="{10CF3D42-D451-4BB1-9CCA-615D0302A6B5}" destId="{BCF77AB3-E304-4693-8B45-6F0F6D823620}" srcOrd="1" destOrd="0" presId="urn:microsoft.com/office/officeart/2005/8/layout/vList4"/>
    <dgm:cxn modelId="{B4CF2C93-05D1-431D-8C7F-BE74A2B584B2}" type="presParOf" srcId="{10CF3D42-D451-4BB1-9CCA-615D0302A6B5}" destId="{AB0163D2-B658-4FB0-8D3A-5C6634105396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FA3246F-253F-4D6B-90AE-D704E598970B}" type="doc">
      <dgm:prSet loTypeId="urn:microsoft.com/office/officeart/2005/8/layout/process5" loCatId="process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FA46905-D7B5-4352-9712-03F0A98419D9}">
      <dgm:prSet phldrT="[Text]"/>
      <dgm:spPr/>
      <dgm:t>
        <a:bodyPr/>
        <a:lstStyle/>
        <a:p>
          <a:r>
            <a:rPr lang="pt-BR" dirty="0" smtClean="0"/>
            <a:t>Crie as duas versões da página a ser otimizada</a:t>
          </a:r>
          <a:endParaRPr lang="en-US" dirty="0"/>
        </a:p>
      </dgm:t>
    </dgm:pt>
    <dgm:pt modelId="{F287D427-73C7-4031-9C1C-F46226F71806}" type="parTrans" cxnId="{7E96BE90-B5D8-4170-86A8-FDD229CA471F}">
      <dgm:prSet/>
      <dgm:spPr/>
      <dgm:t>
        <a:bodyPr/>
        <a:lstStyle/>
        <a:p>
          <a:endParaRPr lang="en-US"/>
        </a:p>
      </dgm:t>
    </dgm:pt>
    <dgm:pt modelId="{A2BFCB77-7917-4ABC-8915-B48965FB693D}" type="sibTrans" cxnId="{7E96BE90-B5D8-4170-86A8-FDD229CA471F}">
      <dgm:prSet/>
      <dgm:spPr/>
      <dgm:t>
        <a:bodyPr/>
        <a:lstStyle/>
        <a:p>
          <a:endParaRPr lang="en-US"/>
        </a:p>
      </dgm:t>
    </dgm:pt>
    <dgm:pt modelId="{A9DE4F22-6B80-40F4-B61C-B63B1857A13B}">
      <dgm:prSet phldrT="[Text]"/>
      <dgm:spPr/>
      <dgm:t>
        <a:bodyPr/>
        <a:lstStyle/>
        <a:p>
          <a:r>
            <a:rPr lang="pt-BR" dirty="0" smtClean="0"/>
            <a:t>Especifique uma página para ser a página de conversão</a:t>
          </a:r>
          <a:endParaRPr lang="en-US" dirty="0"/>
        </a:p>
      </dgm:t>
    </dgm:pt>
    <dgm:pt modelId="{548CCB5D-3CA1-4971-B89A-1179E5F1C574}" type="parTrans" cxnId="{259610F6-0626-42C0-9DA7-CE763A99623C}">
      <dgm:prSet/>
      <dgm:spPr/>
      <dgm:t>
        <a:bodyPr/>
        <a:lstStyle/>
        <a:p>
          <a:endParaRPr lang="en-US"/>
        </a:p>
      </dgm:t>
    </dgm:pt>
    <dgm:pt modelId="{44100FD0-0234-4D20-BBA0-9587008575F6}" type="sibTrans" cxnId="{259610F6-0626-42C0-9DA7-CE763A99623C}">
      <dgm:prSet/>
      <dgm:spPr/>
      <dgm:t>
        <a:bodyPr/>
        <a:lstStyle/>
        <a:p>
          <a:endParaRPr lang="en-US"/>
        </a:p>
      </dgm:t>
    </dgm:pt>
    <dgm:pt modelId="{AD7513F7-5EA0-43B7-B571-4803ABB9CFE5}">
      <dgm:prSet phldrT="[Text]"/>
      <dgm:spPr/>
      <dgm:t>
        <a:bodyPr/>
        <a:lstStyle/>
        <a:p>
          <a:r>
            <a:rPr lang="pt-BR" dirty="0" smtClean="0"/>
            <a:t>Instale o código do GWO nas páginas seguindo as instruções</a:t>
          </a:r>
          <a:endParaRPr lang="en-US" dirty="0"/>
        </a:p>
      </dgm:t>
    </dgm:pt>
    <dgm:pt modelId="{9607E65A-7151-4459-808F-83F555F9D4C3}" type="parTrans" cxnId="{0578A894-BEA8-4494-A62B-3D0427BBF51C}">
      <dgm:prSet/>
      <dgm:spPr/>
      <dgm:t>
        <a:bodyPr/>
        <a:lstStyle/>
        <a:p>
          <a:endParaRPr lang="en-US"/>
        </a:p>
      </dgm:t>
    </dgm:pt>
    <dgm:pt modelId="{7949A62B-1DC3-4C9D-A8D8-6DCB1C63A719}" type="sibTrans" cxnId="{0578A894-BEA8-4494-A62B-3D0427BBF51C}">
      <dgm:prSet/>
      <dgm:spPr/>
      <dgm:t>
        <a:bodyPr/>
        <a:lstStyle/>
        <a:p>
          <a:endParaRPr lang="en-US"/>
        </a:p>
      </dgm:t>
    </dgm:pt>
    <dgm:pt modelId="{025E762E-0E11-404D-BC12-8F21D45B7DA6}">
      <dgm:prSet phldrT="[Text]"/>
      <dgm:spPr/>
      <dgm:t>
        <a:bodyPr/>
        <a:lstStyle/>
        <a:p>
          <a:r>
            <a:rPr lang="pt-BR" dirty="0" smtClean="0"/>
            <a:t>O GWO testa para ver se suas páginas estão corretamente configuradas</a:t>
          </a:r>
          <a:endParaRPr lang="en-US" dirty="0"/>
        </a:p>
      </dgm:t>
    </dgm:pt>
    <dgm:pt modelId="{F4269A47-4B7C-4D47-8E9A-F30994CAFB26}" type="parTrans" cxnId="{43097EE4-F5E6-4F60-A92E-0F6708C26E36}">
      <dgm:prSet/>
      <dgm:spPr/>
      <dgm:t>
        <a:bodyPr/>
        <a:lstStyle/>
        <a:p>
          <a:endParaRPr lang="en-US"/>
        </a:p>
      </dgm:t>
    </dgm:pt>
    <dgm:pt modelId="{953DF452-62F7-4A89-BCEA-31B0E2282BEF}" type="sibTrans" cxnId="{43097EE4-F5E6-4F60-A92E-0F6708C26E36}">
      <dgm:prSet/>
      <dgm:spPr/>
      <dgm:t>
        <a:bodyPr/>
        <a:lstStyle/>
        <a:p>
          <a:endParaRPr lang="en-US"/>
        </a:p>
      </dgm:t>
    </dgm:pt>
    <dgm:pt modelId="{A51AC146-1062-4C68-B1BF-D87A59F7226E}">
      <dgm:prSet phldrT="[Text]"/>
      <dgm:spPr/>
      <dgm:t>
        <a:bodyPr/>
        <a:lstStyle/>
        <a:p>
          <a:r>
            <a:rPr lang="pt-BR" dirty="0" smtClean="0"/>
            <a:t>Pronto. Você começou a medir a eficiência das versões</a:t>
          </a:r>
          <a:endParaRPr lang="en-US" dirty="0"/>
        </a:p>
      </dgm:t>
    </dgm:pt>
    <dgm:pt modelId="{C2EE3C60-51BF-4082-A3B7-A9683DA49311}" type="parTrans" cxnId="{65F6BB1D-A4C3-48A5-833E-2C5FAE5C9B69}">
      <dgm:prSet/>
      <dgm:spPr/>
      <dgm:t>
        <a:bodyPr/>
        <a:lstStyle/>
        <a:p>
          <a:endParaRPr lang="en-US"/>
        </a:p>
      </dgm:t>
    </dgm:pt>
    <dgm:pt modelId="{0168A250-1368-428A-8A4B-D52A4A4342B6}" type="sibTrans" cxnId="{65F6BB1D-A4C3-48A5-833E-2C5FAE5C9B69}">
      <dgm:prSet/>
      <dgm:spPr/>
      <dgm:t>
        <a:bodyPr/>
        <a:lstStyle/>
        <a:p>
          <a:endParaRPr lang="en-US"/>
        </a:p>
      </dgm:t>
    </dgm:pt>
    <dgm:pt modelId="{B8EB02AC-347C-470E-8934-FD096643987F}" type="pres">
      <dgm:prSet presAssocID="{CFA3246F-253F-4D6B-90AE-D704E598970B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C6C6F0EB-5A37-40A1-BA80-B9986B681CE9}" type="pres">
      <dgm:prSet presAssocID="{0FA46905-D7B5-4352-9712-03F0A98419D9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18D7B33-2932-4770-B9A4-F7887680CE39}" type="pres">
      <dgm:prSet presAssocID="{A2BFCB77-7917-4ABC-8915-B48965FB693D}" presName="sibTrans" presStyleLbl="sibTrans2D1" presStyleIdx="0" presStyleCnt="4"/>
      <dgm:spPr/>
      <dgm:t>
        <a:bodyPr/>
        <a:lstStyle/>
        <a:p>
          <a:endParaRPr lang="pt-BR"/>
        </a:p>
      </dgm:t>
    </dgm:pt>
    <dgm:pt modelId="{DADC4C20-3B08-4E43-A1DD-1A3B3350E394}" type="pres">
      <dgm:prSet presAssocID="{A2BFCB77-7917-4ABC-8915-B48965FB693D}" presName="connectorText" presStyleLbl="sibTrans2D1" presStyleIdx="0" presStyleCnt="4"/>
      <dgm:spPr/>
      <dgm:t>
        <a:bodyPr/>
        <a:lstStyle/>
        <a:p>
          <a:endParaRPr lang="pt-BR"/>
        </a:p>
      </dgm:t>
    </dgm:pt>
    <dgm:pt modelId="{45521A06-42CA-4115-9AB5-27DA257B3F6D}" type="pres">
      <dgm:prSet presAssocID="{A9DE4F22-6B80-40F4-B61C-B63B1857A13B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9A4706D-88A7-4909-932A-21E99F482BA1}" type="pres">
      <dgm:prSet presAssocID="{44100FD0-0234-4D20-BBA0-9587008575F6}" presName="sibTrans" presStyleLbl="sibTrans2D1" presStyleIdx="1" presStyleCnt="4"/>
      <dgm:spPr/>
      <dgm:t>
        <a:bodyPr/>
        <a:lstStyle/>
        <a:p>
          <a:endParaRPr lang="pt-BR"/>
        </a:p>
      </dgm:t>
    </dgm:pt>
    <dgm:pt modelId="{C471F40F-C8F0-4951-8502-491E97224AE8}" type="pres">
      <dgm:prSet presAssocID="{44100FD0-0234-4D20-BBA0-9587008575F6}" presName="connectorText" presStyleLbl="sibTrans2D1" presStyleIdx="1" presStyleCnt="4"/>
      <dgm:spPr/>
      <dgm:t>
        <a:bodyPr/>
        <a:lstStyle/>
        <a:p>
          <a:endParaRPr lang="pt-BR"/>
        </a:p>
      </dgm:t>
    </dgm:pt>
    <dgm:pt modelId="{8557BC6A-809F-431F-B45D-95CE3024799F}" type="pres">
      <dgm:prSet presAssocID="{AD7513F7-5EA0-43B7-B571-4803ABB9CFE5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4A543A0-D1ED-42F8-A04C-F93886091838}" type="pres">
      <dgm:prSet presAssocID="{7949A62B-1DC3-4C9D-A8D8-6DCB1C63A719}" presName="sibTrans" presStyleLbl="sibTrans2D1" presStyleIdx="2" presStyleCnt="4"/>
      <dgm:spPr/>
      <dgm:t>
        <a:bodyPr/>
        <a:lstStyle/>
        <a:p>
          <a:endParaRPr lang="pt-BR"/>
        </a:p>
      </dgm:t>
    </dgm:pt>
    <dgm:pt modelId="{59962CC8-774A-419B-BEEE-E9DD47470937}" type="pres">
      <dgm:prSet presAssocID="{7949A62B-1DC3-4C9D-A8D8-6DCB1C63A719}" presName="connectorText" presStyleLbl="sibTrans2D1" presStyleIdx="2" presStyleCnt="4"/>
      <dgm:spPr/>
      <dgm:t>
        <a:bodyPr/>
        <a:lstStyle/>
        <a:p>
          <a:endParaRPr lang="pt-BR"/>
        </a:p>
      </dgm:t>
    </dgm:pt>
    <dgm:pt modelId="{2AB47C50-7C3B-4693-98D4-CC83E50FD709}" type="pres">
      <dgm:prSet presAssocID="{025E762E-0E11-404D-BC12-8F21D45B7DA6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003E0EE-C3CD-4FEC-A8F6-F4CE2B647379}" type="pres">
      <dgm:prSet presAssocID="{953DF452-62F7-4A89-BCEA-31B0E2282BEF}" presName="sibTrans" presStyleLbl="sibTrans2D1" presStyleIdx="3" presStyleCnt="4"/>
      <dgm:spPr/>
      <dgm:t>
        <a:bodyPr/>
        <a:lstStyle/>
        <a:p>
          <a:endParaRPr lang="pt-BR"/>
        </a:p>
      </dgm:t>
    </dgm:pt>
    <dgm:pt modelId="{77C7A510-A05E-4005-88FE-E2C2782AD581}" type="pres">
      <dgm:prSet presAssocID="{953DF452-62F7-4A89-BCEA-31B0E2282BEF}" presName="connectorText" presStyleLbl="sibTrans2D1" presStyleIdx="3" presStyleCnt="4"/>
      <dgm:spPr/>
      <dgm:t>
        <a:bodyPr/>
        <a:lstStyle/>
        <a:p>
          <a:endParaRPr lang="pt-BR"/>
        </a:p>
      </dgm:t>
    </dgm:pt>
    <dgm:pt modelId="{A4B41307-C0E7-4043-B1A4-82E8B85155F2}" type="pres">
      <dgm:prSet presAssocID="{A51AC146-1062-4C68-B1BF-D87A59F7226E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93D5947C-415D-481F-BF90-CC5EADD08863}" type="presOf" srcId="{44100FD0-0234-4D20-BBA0-9587008575F6}" destId="{79A4706D-88A7-4909-932A-21E99F482BA1}" srcOrd="0" destOrd="0" presId="urn:microsoft.com/office/officeart/2005/8/layout/process5"/>
    <dgm:cxn modelId="{F426A0A8-8ED5-46D7-A3A0-644110AAEA12}" type="presOf" srcId="{A9DE4F22-6B80-40F4-B61C-B63B1857A13B}" destId="{45521A06-42CA-4115-9AB5-27DA257B3F6D}" srcOrd="0" destOrd="0" presId="urn:microsoft.com/office/officeart/2005/8/layout/process5"/>
    <dgm:cxn modelId="{BC4E7295-FC25-4DB0-A11A-6E38D5708EB4}" type="presOf" srcId="{953DF452-62F7-4A89-BCEA-31B0E2282BEF}" destId="{77C7A510-A05E-4005-88FE-E2C2782AD581}" srcOrd="1" destOrd="0" presId="urn:microsoft.com/office/officeart/2005/8/layout/process5"/>
    <dgm:cxn modelId="{46AFC9F3-BEB1-4278-B11D-9D53DDF7945D}" type="presOf" srcId="{0FA46905-D7B5-4352-9712-03F0A98419D9}" destId="{C6C6F0EB-5A37-40A1-BA80-B9986B681CE9}" srcOrd="0" destOrd="0" presId="urn:microsoft.com/office/officeart/2005/8/layout/process5"/>
    <dgm:cxn modelId="{259610F6-0626-42C0-9DA7-CE763A99623C}" srcId="{CFA3246F-253F-4D6B-90AE-D704E598970B}" destId="{A9DE4F22-6B80-40F4-B61C-B63B1857A13B}" srcOrd="1" destOrd="0" parTransId="{548CCB5D-3CA1-4971-B89A-1179E5F1C574}" sibTransId="{44100FD0-0234-4D20-BBA0-9587008575F6}"/>
    <dgm:cxn modelId="{0578A894-BEA8-4494-A62B-3D0427BBF51C}" srcId="{CFA3246F-253F-4D6B-90AE-D704E598970B}" destId="{AD7513F7-5EA0-43B7-B571-4803ABB9CFE5}" srcOrd="2" destOrd="0" parTransId="{9607E65A-7151-4459-808F-83F555F9D4C3}" sibTransId="{7949A62B-1DC3-4C9D-A8D8-6DCB1C63A719}"/>
    <dgm:cxn modelId="{1B1315AD-1325-455E-87AC-36E9E7C07CA6}" type="presOf" srcId="{953DF452-62F7-4A89-BCEA-31B0E2282BEF}" destId="{A003E0EE-C3CD-4FEC-A8F6-F4CE2B647379}" srcOrd="0" destOrd="0" presId="urn:microsoft.com/office/officeart/2005/8/layout/process5"/>
    <dgm:cxn modelId="{F1C9BB39-B122-4C06-877B-55F605E2102A}" type="presOf" srcId="{025E762E-0E11-404D-BC12-8F21D45B7DA6}" destId="{2AB47C50-7C3B-4693-98D4-CC83E50FD709}" srcOrd="0" destOrd="0" presId="urn:microsoft.com/office/officeart/2005/8/layout/process5"/>
    <dgm:cxn modelId="{372C99AD-F245-439B-A407-AF3FDCE75856}" type="presOf" srcId="{A2BFCB77-7917-4ABC-8915-B48965FB693D}" destId="{DADC4C20-3B08-4E43-A1DD-1A3B3350E394}" srcOrd="1" destOrd="0" presId="urn:microsoft.com/office/officeart/2005/8/layout/process5"/>
    <dgm:cxn modelId="{5279D0B9-BB43-46C0-9996-265D9724EB9C}" type="presOf" srcId="{AD7513F7-5EA0-43B7-B571-4803ABB9CFE5}" destId="{8557BC6A-809F-431F-B45D-95CE3024799F}" srcOrd="0" destOrd="0" presId="urn:microsoft.com/office/officeart/2005/8/layout/process5"/>
    <dgm:cxn modelId="{CDDE4EC9-74F9-439C-88DB-42F24F4C4F82}" type="presOf" srcId="{7949A62B-1DC3-4C9D-A8D8-6DCB1C63A719}" destId="{59962CC8-774A-419B-BEEE-E9DD47470937}" srcOrd="1" destOrd="0" presId="urn:microsoft.com/office/officeart/2005/8/layout/process5"/>
    <dgm:cxn modelId="{43097EE4-F5E6-4F60-A92E-0F6708C26E36}" srcId="{CFA3246F-253F-4D6B-90AE-D704E598970B}" destId="{025E762E-0E11-404D-BC12-8F21D45B7DA6}" srcOrd="3" destOrd="0" parTransId="{F4269A47-4B7C-4D47-8E9A-F30994CAFB26}" sibTransId="{953DF452-62F7-4A89-BCEA-31B0E2282BEF}"/>
    <dgm:cxn modelId="{1B69981E-C2FA-4FE4-8926-9A9F4F64DF25}" type="presOf" srcId="{CFA3246F-253F-4D6B-90AE-D704E598970B}" destId="{B8EB02AC-347C-470E-8934-FD096643987F}" srcOrd="0" destOrd="0" presId="urn:microsoft.com/office/officeart/2005/8/layout/process5"/>
    <dgm:cxn modelId="{3DCD0969-BA13-4837-9C70-A56AC404D75E}" type="presOf" srcId="{7949A62B-1DC3-4C9D-A8D8-6DCB1C63A719}" destId="{B4A543A0-D1ED-42F8-A04C-F93886091838}" srcOrd="0" destOrd="0" presId="urn:microsoft.com/office/officeart/2005/8/layout/process5"/>
    <dgm:cxn modelId="{B39BACC4-B9E6-4966-8DA0-045F635BC2F6}" type="presOf" srcId="{44100FD0-0234-4D20-BBA0-9587008575F6}" destId="{C471F40F-C8F0-4951-8502-491E97224AE8}" srcOrd="1" destOrd="0" presId="urn:microsoft.com/office/officeart/2005/8/layout/process5"/>
    <dgm:cxn modelId="{65F6BB1D-A4C3-48A5-833E-2C5FAE5C9B69}" srcId="{CFA3246F-253F-4D6B-90AE-D704E598970B}" destId="{A51AC146-1062-4C68-B1BF-D87A59F7226E}" srcOrd="4" destOrd="0" parTransId="{C2EE3C60-51BF-4082-A3B7-A9683DA49311}" sibTransId="{0168A250-1368-428A-8A4B-D52A4A4342B6}"/>
    <dgm:cxn modelId="{EC59C9C0-A9A8-4898-BD23-FB8A9381EF49}" type="presOf" srcId="{A51AC146-1062-4C68-B1BF-D87A59F7226E}" destId="{A4B41307-C0E7-4043-B1A4-82E8B85155F2}" srcOrd="0" destOrd="0" presId="urn:microsoft.com/office/officeart/2005/8/layout/process5"/>
    <dgm:cxn modelId="{7E96BE90-B5D8-4170-86A8-FDD229CA471F}" srcId="{CFA3246F-253F-4D6B-90AE-D704E598970B}" destId="{0FA46905-D7B5-4352-9712-03F0A98419D9}" srcOrd="0" destOrd="0" parTransId="{F287D427-73C7-4031-9C1C-F46226F71806}" sibTransId="{A2BFCB77-7917-4ABC-8915-B48965FB693D}"/>
    <dgm:cxn modelId="{EE72273E-4CE8-43F7-9C94-C8D3381EB479}" type="presOf" srcId="{A2BFCB77-7917-4ABC-8915-B48965FB693D}" destId="{618D7B33-2932-4770-B9A4-F7887680CE39}" srcOrd="0" destOrd="0" presId="urn:microsoft.com/office/officeart/2005/8/layout/process5"/>
    <dgm:cxn modelId="{036CEE9C-64EB-40DD-80AD-F237F31AC156}" type="presParOf" srcId="{B8EB02AC-347C-470E-8934-FD096643987F}" destId="{C6C6F0EB-5A37-40A1-BA80-B9986B681CE9}" srcOrd="0" destOrd="0" presId="urn:microsoft.com/office/officeart/2005/8/layout/process5"/>
    <dgm:cxn modelId="{0F60AAD5-F95A-4D4F-A172-A666AA84ED17}" type="presParOf" srcId="{B8EB02AC-347C-470E-8934-FD096643987F}" destId="{618D7B33-2932-4770-B9A4-F7887680CE39}" srcOrd="1" destOrd="0" presId="urn:microsoft.com/office/officeart/2005/8/layout/process5"/>
    <dgm:cxn modelId="{CB8EBF0D-925F-4AE5-9268-3602E1EA557A}" type="presParOf" srcId="{618D7B33-2932-4770-B9A4-F7887680CE39}" destId="{DADC4C20-3B08-4E43-A1DD-1A3B3350E394}" srcOrd="0" destOrd="0" presId="urn:microsoft.com/office/officeart/2005/8/layout/process5"/>
    <dgm:cxn modelId="{23A76F63-916E-415C-A7AD-6E7BF44AB12E}" type="presParOf" srcId="{B8EB02AC-347C-470E-8934-FD096643987F}" destId="{45521A06-42CA-4115-9AB5-27DA257B3F6D}" srcOrd="2" destOrd="0" presId="urn:microsoft.com/office/officeart/2005/8/layout/process5"/>
    <dgm:cxn modelId="{3DAA4D1A-B2F5-4665-B9F8-28A4F1E51328}" type="presParOf" srcId="{B8EB02AC-347C-470E-8934-FD096643987F}" destId="{79A4706D-88A7-4909-932A-21E99F482BA1}" srcOrd="3" destOrd="0" presId="urn:microsoft.com/office/officeart/2005/8/layout/process5"/>
    <dgm:cxn modelId="{579344E0-A673-4AA3-8537-7A5205091EFE}" type="presParOf" srcId="{79A4706D-88A7-4909-932A-21E99F482BA1}" destId="{C471F40F-C8F0-4951-8502-491E97224AE8}" srcOrd="0" destOrd="0" presId="urn:microsoft.com/office/officeart/2005/8/layout/process5"/>
    <dgm:cxn modelId="{8B65670A-AB80-42F6-935C-B3A9A0675361}" type="presParOf" srcId="{B8EB02AC-347C-470E-8934-FD096643987F}" destId="{8557BC6A-809F-431F-B45D-95CE3024799F}" srcOrd="4" destOrd="0" presId="urn:microsoft.com/office/officeart/2005/8/layout/process5"/>
    <dgm:cxn modelId="{205625F2-0459-4DB4-A880-7759BBB8F151}" type="presParOf" srcId="{B8EB02AC-347C-470E-8934-FD096643987F}" destId="{B4A543A0-D1ED-42F8-A04C-F93886091838}" srcOrd="5" destOrd="0" presId="urn:microsoft.com/office/officeart/2005/8/layout/process5"/>
    <dgm:cxn modelId="{BCE1FD5F-A597-4369-BF00-B7627E1D6087}" type="presParOf" srcId="{B4A543A0-D1ED-42F8-A04C-F93886091838}" destId="{59962CC8-774A-419B-BEEE-E9DD47470937}" srcOrd="0" destOrd="0" presId="urn:microsoft.com/office/officeart/2005/8/layout/process5"/>
    <dgm:cxn modelId="{A1B77F45-5464-4401-85D1-616B47DC7CA9}" type="presParOf" srcId="{B8EB02AC-347C-470E-8934-FD096643987F}" destId="{2AB47C50-7C3B-4693-98D4-CC83E50FD709}" srcOrd="6" destOrd="0" presId="urn:microsoft.com/office/officeart/2005/8/layout/process5"/>
    <dgm:cxn modelId="{130399A3-9A20-432E-A1EA-878433940CF6}" type="presParOf" srcId="{B8EB02AC-347C-470E-8934-FD096643987F}" destId="{A003E0EE-C3CD-4FEC-A8F6-F4CE2B647379}" srcOrd="7" destOrd="0" presId="urn:microsoft.com/office/officeart/2005/8/layout/process5"/>
    <dgm:cxn modelId="{329ADB95-FDC7-4CDE-BDE1-50C93D0E7FC0}" type="presParOf" srcId="{A003E0EE-C3CD-4FEC-A8F6-F4CE2B647379}" destId="{77C7A510-A05E-4005-88FE-E2C2782AD581}" srcOrd="0" destOrd="0" presId="urn:microsoft.com/office/officeart/2005/8/layout/process5"/>
    <dgm:cxn modelId="{D4BD57D4-2259-4121-A2D2-695310F9DD07}" type="presParOf" srcId="{B8EB02AC-347C-470E-8934-FD096643987F}" destId="{A4B41307-C0E7-4043-B1A4-82E8B85155F2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FA3246F-253F-4D6B-90AE-D704E598970B}" type="doc">
      <dgm:prSet loTypeId="urn:microsoft.com/office/officeart/2005/8/layout/process5" loCatId="process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FA46905-D7B5-4352-9712-03F0A98419D9}">
      <dgm:prSet phldrT="[Text]"/>
      <dgm:spPr/>
      <dgm:t>
        <a:bodyPr/>
        <a:lstStyle/>
        <a:p>
          <a:r>
            <a:rPr lang="pt-BR" dirty="0" smtClean="0"/>
            <a:t>Decida quais elementos da página você irá otimizar</a:t>
          </a:r>
          <a:endParaRPr lang="en-US" dirty="0"/>
        </a:p>
      </dgm:t>
    </dgm:pt>
    <dgm:pt modelId="{F287D427-73C7-4031-9C1C-F46226F71806}" type="parTrans" cxnId="{7E96BE90-B5D8-4170-86A8-FDD229CA471F}">
      <dgm:prSet/>
      <dgm:spPr/>
      <dgm:t>
        <a:bodyPr/>
        <a:lstStyle/>
        <a:p>
          <a:endParaRPr lang="en-US"/>
        </a:p>
      </dgm:t>
    </dgm:pt>
    <dgm:pt modelId="{A2BFCB77-7917-4ABC-8915-B48965FB693D}" type="sibTrans" cxnId="{7E96BE90-B5D8-4170-86A8-FDD229CA471F}">
      <dgm:prSet/>
      <dgm:spPr/>
      <dgm:t>
        <a:bodyPr/>
        <a:lstStyle/>
        <a:p>
          <a:endParaRPr lang="en-US"/>
        </a:p>
      </dgm:t>
    </dgm:pt>
    <dgm:pt modelId="{A9DE4F22-6B80-40F4-B61C-B63B1857A13B}">
      <dgm:prSet phldrT="[Text]"/>
      <dgm:spPr/>
      <dgm:t>
        <a:bodyPr/>
        <a:lstStyle/>
        <a:p>
          <a:r>
            <a:rPr lang="pt-BR" dirty="0" smtClean="0"/>
            <a:t>Especifique uma página para ser a página de conversão</a:t>
          </a:r>
          <a:endParaRPr lang="en-US" dirty="0"/>
        </a:p>
      </dgm:t>
    </dgm:pt>
    <dgm:pt modelId="{548CCB5D-3CA1-4971-B89A-1179E5F1C574}" type="parTrans" cxnId="{259610F6-0626-42C0-9DA7-CE763A99623C}">
      <dgm:prSet/>
      <dgm:spPr/>
      <dgm:t>
        <a:bodyPr/>
        <a:lstStyle/>
        <a:p>
          <a:endParaRPr lang="en-US"/>
        </a:p>
      </dgm:t>
    </dgm:pt>
    <dgm:pt modelId="{44100FD0-0234-4D20-BBA0-9587008575F6}" type="sibTrans" cxnId="{259610F6-0626-42C0-9DA7-CE763A99623C}">
      <dgm:prSet/>
      <dgm:spPr/>
      <dgm:t>
        <a:bodyPr/>
        <a:lstStyle/>
        <a:p>
          <a:endParaRPr lang="en-US"/>
        </a:p>
      </dgm:t>
    </dgm:pt>
    <dgm:pt modelId="{AD7513F7-5EA0-43B7-B571-4803ABB9CFE5}">
      <dgm:prSet phldrT="[Text]"/>
      <dgm:spPr/>
      <dgm:t>
        <a:bodyPr/>
        <a:lstStyle/>
        <a:p>
          <a:r>
            <a:rPr lang="pt-BR" dirty="0" smtClean="0"/>
            <a:t>Instale o código do GWO nas páginas seguindo as instruções</a:t>
          </a:r>
          <a:endParaRPr lang="en-US" dirty="0"/>
        </a:p>
      </dgm:t>
    </dgm:pt>
    <dgm:pt modelId="{9607E65A-7151-4459-808F-83F555F9D4C3}" type="parTrans" cxnId="{0578A894-BEA8-4494-A62B-3D0427BBF51C}">
      <dgm:prSet/>
      <dgm:spPr/>
      <dgm:t>
        <a:bodyPr/>
        <a:lstStyle/>
        <a:p>
          <a:endParaRPr lang="en-US"/>
        </a:p>
      </dgm:t>
    </dgm:pt>
    <dgm:pt modelId="{7949A62B-1DC3-4C9D-A8D8-6DCB1C63A719}" type="sibTrans" cxnId="{0578A894-BEA8-4494-A62B-3D0427BBF51C}">
      <dgm:prSet/>
      <dgm:spPr/>
      <dgm:t>
        <a:bodyPr/>
        <a:lstStyle/>
        <a:p>
          <a:endParaRPr lang="en-US"/>
        </a:p>
      </dgm:t>
    </dgm:pt>
    <dgm:pt modelId="{025E762E-0E11-404D-BC12-8F21D45B7DA6}">
      <dgm:prSet phldrT="[Text]"/>
      <dgm:spPr/>
      <dgm:t>
        <a:bodyPr/>
        <a:lstStyle/>
        <a:p>
          <a:r>
            <a:rPr lang="pt-BR" dirty="0" smtClean="0"/>
            <a:t>O GWO testa para ver se suas páginas estão corretamente configuradas</a:t>
          </a:r>
          <a:endParaRPr lang="en-US" dirty="0"/>
        </a:p>
      </dgm:t>
    </dgm:pt>
    <dgm:pt modelId="{F4269A47-4B7C-4D47-8E9A-F30994CAFB26}" type="parTrans" cxnId="{43097EE4-F5E6-4F60-A92E-0F6708C26E36}">
      <dgm:prSet/>
      <dgm:spPr/>
      <dgm:t>
        <a:bodyPr/>
        <a:lstStyle/>
        <a:p>
          <a:endParaRPr lang="en-US"/>
        </a:p>
      </dgm:t>
    </dgm:pt>
    <dgm:pt modelId="{953DF452-62F7-4A89-BCEA-31B0E2282BEF}" type="sibTrans" cxnId="{43097EE4-F5E6-4F60-A92E-0F6708C26E36}">
      <dgm:prSet/>
      <dgm:spPr/>
      <dgm:t>
        <a:bodyPr/>
        <a:lstStyle/>
        <a:p>
          <a:endParaRPr lang="en-US"/>
        </a:p>
      </dgm:t>
    </dgm:pt>
    <dgm:pt modelId="{A51AC146-1062-4C68-B1BF-D87A59F7226E}">
      <dgm:prSet phldrT="[Text]"/>
      <dgm:spPr/>
      <dgm:t>
        <a:bodyPr/>
        <a:lstStyle/>
        <a:p>
          <a:r>
            <a:rPr lang="pt-BR" dirty="0" smtClean="0"/>
            <a:t>Pronto. Você começou a medir a eficiência das versões</a:t>
          </a:r>
          <a:endParaRPr lang="en-US" dirty="0"/>
        </a:p>
      </dgm:t>
    </dgm:pt>
    <dgm:pt modelId="{C2EE3C60-51BF-4082-A3B7-A9683DA49311}" type="parTrans" cxnId="{65F6BB1D-A4C3-48A5-833E-2C5FAE5C9B69}">
      <dgm:prSet/>
      <dgm:spPr/>
      <dgm:t>
        <a:bodyPr/>
        <a:lstStyle/>
        <a:p>
          <a:endParaRPr lang="en-US"/>
        </a:p>
      </dgm:t>
    </dgm:pt>
    <dgm:pt modelId="{0168A250-1368-428A-8A4B-D52A4A4342B6}" type="sibTrans" cxnId="{65F6BB1D-A4C3-48A5-833E-2C5FAE5C9B69}">
      <dgm:prSet/>
      <dgm:spPr/>
      <dgm:t>
        <a:bodyPr/>
        <a:lstStyle/>
        <a:p>
          <a:endParaRPr lang="en-US"/>
        </a:p>
      </dgm:t>
    </dgm:pt>
    <dgm:pt modelId="{B8EB02AC-347C-470E-8934-FD096643987F}" type="pres">
      <dgm:prSet presAssocID="{CFA3246F-253F-4D6B-90AE-D704E598970B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6C6F0EB-5A37-40A1-BA80-B9986B681CE9}" type="pres">
      <dgm:prSet presAssocID="{0FA46905-D7B5-4352-9712-03F0A98419D9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18D7B33-2932-4770-B9A4-F7887680CE39}" type="pres">
      <dgm:prSet presAssocID="{A2BFCB77-7917-4ABC-8915-B48965FB693D}" presName="sibTrans" presStyleLbl="sibTrans2D1" presStyleIdx="0" presStyleCnt="4"/>
      <dgm:spPr/>
      <dgm:t>
        <a:bodyPr/>
        <a:lstStyle/>
        <a:p>
          <a:endParaRPr lang="en-US"/>
        </a:p>
      </dgm:t>
    </dgm:pt>
    <dgm:pt modelId="{DADC4C20-3B08-4E43-A1DD-1A3B3350E394}" type="pres">
      <dgm:prSet presAssocID="{A2BFCB77-7917-4ABC-8915-B48965FB693D}" presName="connectorText" presStyleLbl="sibTrans2D1" presStyleIdx="0" presStyleCnt="4"/>
      <dgm:spPr/>
      <dgm:t>
        <a:bodyPr/>
        <a:lstStyle/>
        <a:p>
          <a:endParaRPr lang="en-US"/>
        </a:p>
      </dgm:t>
    </dgm:pt>
    <dgm:pt modelId="{45521A06-42CA-4115-9AB5-27DA257B3F6D}" type="pres">
      <dgm:prSet presAssocID="{A9DE4F22-6B80-40F4-B61C-B63B1857A13B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9A4706D-88A7-4909-932A-21E99F482BA1}" type="pres">
      <dgm:prSet presAssocID="{44100FD0-0234-4D20-BBA0-9587008575F6}" presName="sibTrans" presStyleLbl="sibTrans2D1" presStyleIdx="1" presStyleCnt="4"/>
      <dgm:spPr/>
      <dgm:t>
        <a:bodyPr/>
        <a:lstStyle/>
        <a:p>
          <a:endParaRPr lang="en-US"/>
        </a:p>
      </dgm:t>
    </dgm:pt>
    <dgm:pt modelId="{C471F40F-C8F0-4951-8502-491E97224AE8}" type="pres">
      <dgm:prSet presAssocID="{44100FD0-0234-4D20-BBA0-9587008575F6}" presName="connectorText" presStyleLbl="sibTrans2D1" presStyleIdx="1" presStyleCnt="4"/>
      <dgm:spPr/>
      <dgm:t>
        <a:bodyPr/>
        <a:lstStyle/>
        <a:p>
          <a:endParaRPr lang="en-US"/>
        </a:p>
      </dgm:t>
    </dgm:pt>
    <dgm:pt modelId="{8557BC6A-809F-431F-B45D-95CE3024799F}" type="pres">
      <dgm:prSet presAssocID="{AD7513F7-5EA0-43B7-B571-4803ABB9CFE5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4A543A0-D1ED-42F8-A04C-F93886091838}" type="pres">
      <dgm:prSet presAssocID="{7949A62B-1DC3-4C9D-A8D8-6DCB1C63A719}" presName="sibTrans" presStyleLbl="sibTrans2D1" presStyleIdx="2" presStyleCnt="4"/>
      <dgm:spPr/>
      <dgm:t>
        <a:bodyPr/>
        <a:lstStyle/>
        <a:p>
          <a:endParaRPr lang="en-US"/>
        </a:p>
      </dgm:t>
    </dgm:pt>
    <dgm:pt modelId="{59962CC8-774A-419B-BEEE-E9DD47470937}" type="pres">
      <dgm:prSet presAssocID="{7949A62B-1DC3-4C9D-A8D8-6DCB1C63A719}" presName="connectorText" presStyleLbl="sibTrans2D1" presStyleIdx="2" presStyleCnt="4"/>
      <dgm:spPr/>
      <dgm:t>
        <a:bodyPr/>
        <a:lstStyle/>
        <a:p>
          <a:endParaRPr lang="en-US"/>
        </a:p>
      </dgm:t>
    </dgm:pt>
    <dgm:pt modelId="{2AB47C50-7C3B-4693-98D4-CC83E50FD709}" type="pres">
      <dgm:prSet presAssocID="{025E762E-0E11-404D-BC12-8F21D45B7DA6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003E0EE-C3CD-4FEC-A8F6-F4CE2B647379}" type="pres">
      <dgm:prSet presAssocID="{953DF452-62F7-4A89-BCEA-31B0E2282BEF}" presName="sibTrans" presStyleLbl="sibTrans2D1" presStyleIdx="3" presStyleCnt="4"/>
      <dgm:spPr/>
      <dgm:t>
        <a:bodyPr/>
        <a:lstStyle/>
        <a:p>
          <a:endParaRPr lang="en-US"/>
        </a:p>
      </dgm:t>
    </dgm:pt>
    <dgm:pt modelId="{77C7A510-A05E-4005-88FE-E2C2782AD581}" type="pres">
      <dgm:prSet presAssocID="{953DF452-62F7-4A89-BCEA-31B0E2282BEF}" presName="connectorText" presStyleLbl="sibTrans2D1" presStyleIdx="3" presStyleCnt="4"/>
      <dgm:spPr/>
      <dgm:t>
        <a:bodyPr/>
        <a:lstStyle/>
        <a:p>
          <a:endParaRPr lang="en-US"/>
        </a:p>
      </dgm:t>
    </dgm:pt>
    <dgm:pt modelId="{A4B41307-C0E7-4043-B1A4-82E8B85155F2}" type="pres">
      <dgm:prSet presAssocID="{A51AC146-1062-4C68-B1BF-D87A59F7226E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8930D00-5DF1-4A60-8303-7E324A11047A}" type="presOf" srcId="{A9DE4F22-6B80-40F4-B61C-B63B1857A13B}" destId="{45521A06-42CA-4115-9AB5-27DA257B3F6D}" srcOrd="0" destOrd="0" presId="urn:microsoft.com/office/officeart/2005/8/layout/process5"/>
    <dgm:cxn modelId="{72EFC68F-8696-456A-97DE-91F9C083CFF5}" type="presOf" srcId="{953DF452-62F7-4A89-BCEA-31B0E2282BEF}" destId="{A003E0EE-C3CD-4FEC-A8F6-F4CE2B647379}" srcOrd="0" destOrd="0" presId="urn:microsoft.com/office/officeart/2005/8/layout/process5"/>
    <dgm:cxn modelId="{259610F6-0626-42C0-9DA7-CE763A99623C}" srcId="{CFA3246F-253F-4D6B-90AE-D704E598970B}" destId="{A9DE4F22-6B80-40F4-B61C-B63B1857A13B}" srcOrd="1" destOrd="0" parTransId="{548CCB5D-3CA1-4971-B89A-1179E5F1C574}" sibTransId="{44100FD0-0234-4D20-BBA0-9587008575F6}"/>
    <dgm:cxn modelId="{0578A894-BEA8-4494-A62B-3D0427BBF51C}" srcId="{CFA3246F-253F-4D6B-90AE-D704E598970B}" destId="{AD7513F7-5EA0-43B7-B571-4803ABB9CFE5}" srcOrd="2" destOrd="0" parTransId="{9607E65A-7151-4459-808F-83F555F9D4C3}" sibTransId="{7949A62B-1DC3-4C9D-A8D8-6DCB1C63A719}"/>
    <dgm:cxn modelId="{889315E2-C5AE-4D0D-8FBD-829C35C86E2A}" type="presOf" srcId="{025E762E-0E11-404D-BC12-8F21D45B7DA6}" destId="{2AB47C50-7C3B-4693-98D4-CC83E50FD709}" srcOrd="0" destOrd="0" presId="urn:microsoft.com/office/officeart/2005/8/layout/process5"/>
    <dgm:cxn modelId="{EB1FA0A6-313A-43A8-B8DB-7A5F002A92C5}" type="presOf" srcId="{A2BFCB77-7917-4ABC-8915-B48965FB693D}" destId="{DADC4C20-3B08-4E43-A1DD-1A3B3350E394}" srcOrd="1" destOrd="0" presId="urn:microsoft.com/office/officeart/2005/8/layout/process5"/>
    <dgm:cxn modelId="{43097EE4-F5E6-4F60-A92E-0F6708C26E36}" srcId="{CFA3246F-253F-4D6B-90AE-D704E598970B}" destId="{025E762E-0E11-404D-BC12-8F21D45B7DA6}" srcOrd="3" destOrd="0" parTransId="{F4269A47-4B7C-4D47-8E9A-F30994CAFB26}" sibTransId="{953DF452-62F7-4A89-BCEA-31B0E2282BEF}"/>
    <dgm:cxn modelId="{FB91B51A-537F-4B6D-9495-469C3F576F5D}" type="presOf" srcId="{CFA3246F-253F-4D6B-90AE-D704E598970B}" destId="{B8EB02AC-347C-470E-8934-FD096643987F}" srcOrd="0" destOrd="0" presId="urn:microsoft.com/office/officeart/2005/8/layout/process5"/>
    <dgm:cxn modelId="{77B13DE0-1304-49ED-8872-EDED984EB31E}" type="presOf" srcId="{44100FD0-0234-4D20-BBA0-9587008575F6}" destId="{C471F40F-C8F0-4951-8502-491E97224AE8}" srcOrd="1" destOrd="0" presId="urn:microsoft.com/office/officeart/2005/8/layout/process5"/>
    <dgm:cxn modelId="{2E231D2F-75FC-45B9-8C0A-98CBD1CA5D3C}" type="presOf" srcId="{0FA46905-D7B5-4352-9712-03F0A98419D9}" destId="{C6C6F0EB-5A37-40A1-BA80-B9986B681CE9}" srcOrd="0" destOrd="0" presId="urn:microsoft.com/office/officeart/2005/8/layout/process5"/>
    <dgm:cxn modelId="{76EBA92E-2B98-4EDB-8D78-5156BA7B45E5}" type="presOf" srcId="{953DF452-62F7-4A89-BCEA-31B0E2282BEF}" destId="{77C7A510-A05E-4005-88FE-E2C2782AD581}" srcOrd="1" destOrd="0" presId="urn:microsoft.com/office/officeart/2005/8/layout/process5"/>
    <dgm:cxn modelId="{2BF41731-BFE9-4C06-8048-E199092050A6}" type="presOf" srcId="{A2BFCB77-7917-4ABC-8915-B48965FB693D}" destId="{618D7B33-2932-4770-B9A4-F7887680CE39}" srcOrd="0" destOrd="0" presId="urn:microsoft.com/office/officeart/2005/8/layout/process5"/>
    <dgm:cxn modelId="{65F6BB1D-A4C3-48A5-833E-2C5FAE5C9B69}" srcId="{CFA3246F-253F-4D6B-90AE-D704E598970B}" destId="{A51AC146-1062-4C68-B1BF-D87A59F7226E}" srcOrd="4" destOrd="0" parTransId="{C2EE3C60-51BF-4082-A3B7-A9683DA49311}" sibTransId="{0168A250-1368-428A-8A4B-D52A4A4342B6}"/>
    <dgm:cxn modelId="{C5F7E37D-2086-44D2-8829-798B87EC71A0}" type="presOf" srcId="{7949A62B-1DC3-4C9D-A8D8-6DCB1C63A719}" destId="{B4A543A0-D1ED-42F8-A04C-F93886091838}" srcOrd="0" destOrd="0" presId="urn:microsoft.com/office/officeart/2005/8/layout/process5"/>
    <dgm:cxn modelId="{C7746E0F-20DF-4D9A-8277-8B7A0CDF9C23}" type="presOf" srcId="{7949A62B-1DC3-4C9D-A8D8-6DCB1C63A719}" destId="{59962CC8-774A-419B-BEEE-E9DD47470937}" srcOrd="1" destOrd="0" presId="urn:microsoft.com/office/officeart/2005/8/layout/process5"/>
    <dgm:cxn modelId="{ADF7EA4C-54E0-436C-97BC-96BFEB868863}" type="presOf" srcId="{AD7513F7-5EA0-43B7-B571-4803ABB9CFE5}" destId="{8557BC6A-809F-431F-B45D-95CE3024799F}" srcOrd="0" destOrd="0" presId="urn:microsoft.com/office/officeart/2005/8/layout/process5"/>
    <dgm:cxn modelId="{7E96BE90-B5D8-4170-86A8-FDD229CA471F}" srcId="{CFA3246F-253F-4D6B-90AE-D704E598970B}" destId="{0FA46905-D7B5-4352-9712-03F0A98419D9}" srcOrd="0" destOrd="0" parTransId="{F287D427-73C7-4031-9C1C-F46226F71806}" sibTransId="{A2BFCB77-7917-4ABC-8915-B48965FB693D}"/>
    <dgm:cxn modelId="{4103D891-73CC-49A0-BFDE-7017A526C490}" type="presOf" srcId="{44100FD0-0234-4D20-BBA0-9587008575F6}" destId="{79A4706D-88A7-4909-932A-21E99F482BA1}" srcOrd="0" destOrd="0" presId="urn:microsoft.com/office/officeart/2005/8/layout/process5"/>
    <dgm:cxn modelId="{983EFDC1-6226-4935-BEA5-5DC0BA5C8BF9}" type="presOf" srcId="{A51AC146-1062-4C68-B1BF-D87A59F7226E}" destId="{A4B41307-C0E7-4043-B1A4-82E8B85155F2}" srcOrd="0" destOrd="0" presId="urn:microsoft.com/office/officeart/2005/8/layout/process5"/>
    <dgm:cxn modelId="{CA3179EE-5F83-4F64-9457-3A01D00D7B3D}" type="presParOf" srcId="{B8EB02AC-347C-470E-8934-FD096643987F}" destId="{C6C6F0EB-5A37-40A1-BA80-B9986B681CE9}" srcOrd="0" destOrd="0" presId="urn:microsoft.com/office/officeart/2005/8/layout/process5"/>
    <dgm:cxn modelId="{D2973CD3-D73A-48C3-A364-FD5C2351A0CE}" type="presParOf" srcId="{B8EB02AC-347C-470E-8934-FD096643987F}" destId="{618D7B33-2932-4770-B9A4-F7887680CE39}" srcOrd="1" destOrd="0" presId="urn:microsoft.com/office/officeart/2005/8/layout/process5"/>
    <dgm:cxn modelId="{1EF1D9ED-14E4-441B-A5F6-AE7C75671D23}" type="presParOf" srcId="{618D7B33-2932-4770-B9A4-F7887680CE39}" destId="{DADC4C20-3B08-4E43-A1DD-1A3B3350E394}" srcOrd="0" destOrd="0" presId="urn:microsoft.com/office/officeart/2005/8/layout/process5"/>
    <dgm:cxn modelId="{3BBD47A2-BD37-40DC-8E52-8DD3527EDF6C}" type="presParOf" srcId="{B8EB02AC-347C-470E-8934-FD096643987F}" destId="{45521A06-42CA-4115-9AB5-27DA257B3F6D}" srcOrd="2" destOrd="0" presId="urn:microsoft.com/office/officeart/2005/8/layout/process5"/>
    <dgm:cxn modelId="{C04FFF8C-5FE4-4599-AC79-980E4B25E008}" type="presParOf" srcId="{B8EB02AC-347C-470E-8934-FD096643987F}" destId="{79A4706D-88A7-4909-932A-21E99F482BA1}" srcOrd="3" destOrd="0" presId="urn:microsoft.com/office/officeart/2005/8/layout/process5"/>
    <dgm:cxn modelId="{C8800587-89C2-4111-A712-2351DFBA6DDF}" type="presParOf" srcId="{79A4706D-88A7-4909-932A-21E99F482BA1}" destId="{C471F40F-C8F0-4951-8502-491E97224AE8}" srcOrd="0" destOrd="0" presId="urn:microsoft.com/office/officeart/2005/8/layout/process5"/>
    <dgm:cxn modelId="{7BEB518B-86A7-4A6A-B3C9-F4F1EA527A67}" type="presParOf" srcId="{B8EB02AC-347C-470E-8934-FD096643987F}" destId="{8557BC6A-809F-431F-B45D-95CE3024799F}" srcOrd="4" destOrd="0" presId="urn:microsoft.com/office/officeart/2005/8/layout/process5"/>
    <dgm:cxn modelId="{66C74AC6-0B18-47E7-A10F-9558444A219E}" type="presParOf" srcId="{B8EB02AC-347C-470E-8934-FD096643987F}" destId="{B4A543A0-D1ED-42F8-A04C-F93886091838}" srcOrd="5" destOrd="0" presId="urn:microsoft.com/office/officeart/2005/8/layout/process5"/>
    <dgm:cxn modelId="{5F99C62F-69CC-4F3D-92E0-BCDA61135904}" type="presParOf" srcId="{B4A543A0-D1ED-42F8-A04C-F93886091838}" destId="{59962CC8-774A-419B-BEEE-E9DD47470937}" srcOrd="0" destOrd="0" presId="urn:microsoft.com/office/officeart/2005/8/layout/process5"/>
    <dgm:cxn modelId="{FA953A33-162C-4053-91D9-D34159B01F8A}" type="presParOf" srcId="{B8EB02AC-347C-470E-8934-FD096643987F}" destId="{2AB47C50-7C3B-4693-98D4-CC83E50FD709}" srcOrd="6" destOrd="0" presId="urn:microsoft.com/office/officeart/2005/8/layout/process5"/>
    <dgm:cxn modelId="{ABE63F20-6AD1-4758-9B44-DF809761FAEA}" type="presParOf" srcId="{B8EB02AC-347C-470E-8934-FD096643987F}" destId="{A003E0EE-C3CD-4FEC-A8F6-F4CE2B647379}" srcOrd="7" destOrd="0" presId="urn:microsoft.com/office/officeart/2005/8/layout/process5"/>
    <dgm:cxn modelId="{7EEEBBC1-0BE6-4E0C-B56B-CDBF7D4D722D}" type="presParOf" srcId="{A003E0EE-C3CD-4FEC-A8F6-F4CE2B647379}" destId="{77C7A510-A05E-4005-88FE-E2C2782AD581}" srcOrd="0" destOrd="0" presId="urn:microsoft.com/office/officeart/2005/8/layout/process5"/>
    <dgm:cxn modelId="{34D1BD46-E396-429C-A35B-248BB31CC5FD}" type="presParOf" srcId="{B8EB02AC-347C-470E-8934-FD096643987F}" destId="{A4B41307-C0E7-4043-B1A4-82E8B85155F2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2C9813E-CC36-4475-B036-9CCAB9E89D38}">
      <dsp:nvSpPr>
        <dsp:cNvPr id="0" name=""/>
        <dsp:cNvSpPr/>
      </dsp:nvSpPr>
      <dsp:spPr>
        <a:xfrm>
          <a:off x="0" y="0"/>
          <a:ext cx="12242800" cy="227260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lvl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3700" kern="1200" dirty="0" smtClean="0"/>
            <a:t>Antes/Depois</a:t>
          </a:r>
          <a:endParaRPr lang="en-US" sz="37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900" kern="1200" dirty="0" smtClean="0"/>
            <a:t>Mais simples de realizar.</a:t>
          </a:r>
          <a:endParaRPr lang="en-US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900" kern="1200" dirty="0" smtClean="0"/>
            <a:t>Muitos fatores podem influenciar o resultado.</a:t>
          </a:r>
          <a:endParaRPr lang="en-US" sz="2900" kern="1200" dirty="0"/>
        </a:p>
      </dsp:txBody>
      <dsp:txXfrm>
        <a:off x="2675820" y="0"/>
        <a:ext cx="9566979" cy="2272605"/>
      </dsp:txXfrm>
    </dsp:sp>
    <dsp:sp modelId="{BAF18BF1-6CFC-4A6B-911D-D178837167FD}">
      <dsp:nvSpPr>
        <dsp:cNvPr id="0" name=""/>
        <dsp:cNvSpPr/>
      </dsp:nvSpPr>
      <dsp:spPr>
        <a:xfrm>
          <a:off x="720804" y="359889"/>
          <a:ext cx="1461472" cy="1552825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2376AA-6748-487F-B7FB-A2B5E917EB75}">
      <dsp:nvSpPr>
        <dsp:cNvPr id="0" name=""/>
        <dsp:cNvSpPr/>
      </dsp:nvSpPr>
      <dsp:spPr>
        <a:xfrm>
          <a:off x="0" y="2499865"/>
          <a:ext cx="12242800" cy="227260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lvl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3700" kern="1200" dirty="0" smtClean="0"/>
            <a:t>Teste A/B</a:t>
          </a:r>
          <a:endParaRPr lang="en-US" sz="37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900" kern="1200" dirty="0" smtClean="0"/>
            <a:t>Fácil de configurar e controlar.</a:t>
          </a:r>
          <a:endParaRPr lang="en-US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900" kern="1200" dirty="0" smtClean="0"/>
            <a:t>Ótimo para testar grandes modificações de layout e estruturais.</a:t>
          </a:r>
          <a:endParaRPr lang="en-US" sz="2900" kern="1200" dirty="0"/>
        </a:p>
      </dsp:txBody>
      <dsp:txXfrm>
        <a:off x="2675820" y="2499865"/>
        <a:ext cx="9566979" cy="2272605"/>
      </dsp:txXfrm>
    </dsp:sp>
    <dsp:sp modelId="{860DBD3F-B594-4C36-B4E1-C97D209F4288}">
      <dsp:nvSpPr>
        <dsp:cNvPr id="0" name=""/>
        <dsp:cNvSpPr/>
      </dsp:nvSpPr>
      <dsp:spPr>
        <a:xfrm>
          <a:off x="742119" y="2952177"/>
          <a:ext cx="1418842" cy="1367981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95F2F2-E2A3-47E5-9AB1-A6176463A41D}">
      <dsp:nvSpPr>
        <dsp:cNvPr id="0" name=""/>
        <dsp:cNvSpPr/>
      </dsp:nvSpPr>
      <dsp:spPr>
        <a:xfrm>
          <a:off x="0" y="4999731"/>
          <a:ext cx="12242800" cy="227260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lvl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3700" kern="1200" dirty="0" smtClean="0"/>
            <a:t>Teste </a:t>
          </a:r>
          <a:r>
            <a:rPr lang="pt-BR" sz="3700" kern="1200" dirty="0" err="1" smtClean="0"/>
            <a:t>Multivariável</a:t>
          </a:r>
          <a:endParaRPr lang="en-US" sz="37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900" kern="1200" dirty="0" smtClean="0"/>
            <a:t>Requer mais recursos para implementar</a:t>
          </a:r>
          <a:endParaRPr lang="en-US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900" kern="1200" dirty="0" smtClean="0"/>
            <a:t>Otimizações mais finas, para otimizar ainda mais suas páginas</a:t>
          </a:r>
          <a:endParaRPr lang="en-US" sz="2900" kern="1200" dirty="0"/>
        </a:p>
      </dsp:txBody>
      <dsp:txXfrm>
        <a:off x="2675820" y="4999731"/>
        <a:ext cx="9566979" cy="2272605"/>
      </dsp:txXfrm>
    </dsp:sp>
    <dsp:sp modelId="{BCF77AB3-E304-4693-8B45-6F0F6D823620}">
      <dsp:nvSpPr>
        <dsp:cNvPr id="0" name=""/>
        <dsp:cNvSpPr/>
      </dsp:nvSpPr>
      <dsp:spPr>
        <a:xfrm>
          <a:off x="742119" y="5472460"/>
          <a:ext cx="1418842" cy="1327146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6C6F0EB-5A37-40A1-BA80-B9986B681CE9}">
      <dsp:nvSpPr>
        <dsp:cNvPr id="0" name=""/>
        <dsp:cNvSpPr/>
      </dsp:nvSpPr>
      <dsp:spPr>
        <a:xfrm>
          <a:off x="1237" y="205127"/>
          <a:ext cx="2639261" cy="15835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900" kern="1200" dirty="0" smtClean="0"/>
            <a:t>Crie as duas versões da página a ser otimizada</a:t>
          </a:r>
          <a:endParaRPr lang="en-US" sz="1900" kern="1200" dirty="0"/>
        </a:p>
      </dsp:txBody>
      <dsp:txXfrm>
        <a:off x="1237" y="205127"/>
        <a:ext cx="2639261" cy="1583557"/>
      </dsp:txXfrm>
    </dsp:sp>
    <dsp:sp modelId="{618D7B33-2932-4770-B9A4-F7887680CE39}">
      <dsp:nvSpPr>
        <dsp:cNvPr id="0" name=""/>
        <dsp:cNvSpPr/>
      </dsp:nvSpPr>
      <dsp:spPr>
        <a:xfrm>
          <a:off x="2872754" y="669638"/>
          <a:ext cx="559523" cy="6545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kern="1200"/>
        </a:p>
      </dsp:txBody>
      <dsp:txXfrm>
        <a:off x="2872754" y="669638"/>
        <a:ext cx="559523" cy="654536"/>
      </dsp:txXfrm>
    </dsp:sp>
    <dsp:sp modelId="{45521A06-42CA-4115-9AB5-27DA257B3F6D}">
      <dsp:nvSpPr>
        <dsp:cNvPr id="0" name=""/>
        <dsp:cNvSpPr/>
      </dsp:nvSpPr>
      <dsp:spPr>
        <a:xfrm>
          <a:off x="3696204" y="205127"/>
          <a:ext cx="2639261" cy="15835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900" kern="1200" dirty="0" smtClean="0"/>
            <a:t>Especifique uma página para ser a página de conversão</a:t>
          </a:r>
          <a:endParaRPr lang="en-US" sz="1900" kern="1200" dirty="0"/>
        </a:p>
      </dsp:txBody>
      <dsp:txXfrm>
        <a:off x="3696204" y="205127"/>
        <a:ext cx="2639261" cy="1583557"/>
      </dsp:txXfrm>
    </dsp:sp>
    <dsp:sp modelId="{79A4706D-88A7-4909-932A-21E99F482BA1}">
      <dsp:nvSpPr>
        <dsp:cNvPr id="0" name=""/>
        <dsp:cNvSpPr/>
      </dsp:nvSpPr>
      <dsp:spPr>
        <a:xfrm rot="5400000">
          <a:off x="4736073" y="1973433"/>
          <a:ext cx="559523" cy="6545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kern="1200"/>
        </a:p>
      </dsp:txBody>
      <dsp:txXfrm rot="5400000">
        <a:off x="4736073" y="1973433"/>
        <a:ext cx="559523" cy="654536"/>
      </dsp:txXfrm>
    </dsp:sp>
    <dsp:sp modelId="{8557BC6A-809F-431F-B45D-95CE3024799F}">
      <dsp:nvSpPr>
        <dsp:cNvPr id="0" name=""/>
        <dsp:cNvSpPr/>
      </dsp:nvSpPr>
      <dsp:spPr>
        <a:xfrm>
          <a:off x="3696204" y="2844389"/>
          <a:ext cx="2639261" cy="15835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900" kern="1200" dirty="0" smtClean="0"/>
            <a:t>Instale o código do GWO nas páginas seguindo as instruções</a:t>
          </a:r>
          <a:endParaRPr lang="en-US" sz="1900" kern="1200" dirty="0"/>
        </a:p>
      </dsp:txBody>
      <dsp:txXfrm>
        <a:off x="3696204" y="2844389"/>
        <a:ext cx="2639261" cy="1583557"/>
      </dsp:txXfrm>
    </dsp:sp>
    <dsp:sp modelId="{B4A543A0-D1ED-42F8-A04C-F93886091838}">
      <dsp:nvSpPr>
        <dsp:cNvPr id="0" name=""/>
        <dsp:cNvSpPr/>
      </dsp:nvSpPr>
      <dsp:spPr>
        <a:xfrm rot="10800000">
          <a:off x="2904425" y="3308900"/>
          <a:ext cx="559523" cy="6545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kern="1200"/>
        </a:p>
      </dsp:txBody>
      <dsp:txXfrm rot="10800000">
        <a:off x="2904425" y="3308900"/>
        <a:ext cx="559523" cy="654536"/>
      </dsp:txXfrm>
    </dsp:sp>
    <dsp:sp modelId="{2AB47C50-7C3B-4693-98D4-CC83E50FD709}">
      <dsp:nvSpPr>
        <dsp:cNvPr id="0" name=""/>
        <dsp:cNvSpPr/>
      </dsp:nvSpPr>
      <dsp:spPr>
        <a:xfrm>
          <a:off x="1237" y="2844389"/>
          <a:ext cx="2639261" cy="15835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900" kern="1200" dirty="0" smtClean="0"/>
            <a:t>O GWO testa para ver se suas páginas estão corretamente configuradas</a:t>
          </a:r>
          <a:endParaRPr lang="en-US" sz="1900" kern="1200" dirty="0"/>
        </a:p>
      </dsp:txBody>
      <dsp:txXfrm>
        <a:off x="1237" y="2844389"/>
        <a:ext cx="2639261" cy="1583557"/>
      </dsp:txXfrm>
    </dsp:sp>
    <dsp:sp modelId="{A003E0EE-C3CD-4FEC-A8F6-F4CE2B647379}">
      <dsp:nvSpPr>
        <dsp:cNvPr id="0" name=""/>
        <dsp:cNvSpPr/>
      </dsp:nvSpPr>
      <dsp:spPr>
        <a:xfrm rot="5400000">
          <a:off x="1041106" y="4612695"/>
          <a:ext cx="559523" cy="6545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kern="1200"/>
        </a:p>
      </dsp:txBody>
      <dsp:txXfrm rot="5400000">
        <a:off x="1041106" y="4612695"/>
        <a:ext cx="559523" cy="654536"/>
      </dsp:txXfrm>
    </dsp:sp>
    <dsp:sp modelId="{A4B41307-C0E7-4043-B1A4-82E8B85155F2}">
      <dsp:nvSpPr>
        <dsp:cNvPr id="0" name=""/>
        <dsp:cNvSpPr/>
      </dsp:nvSpPr>
      <dsp:spPr>
        <a:xfrm>
          <a:off x="1237" y="5483651"/>
          <a:ext cx="2639261" cy="15835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900" kern="1200" dirty="0" smtClean="0"/>
            <a:t>Pronto. Você começou a medir a eficiência das versões</a:t>
          </a:r>
          <a:endParaRPr lang="en-US" sz="1900" kern="1200" dirty="0"/>
        </a:p>
      </dsp:txBody>
      <dsp:txXfrm>
        <a:off x="1237" y="5483651"/>
        <a:ext cx="2639261" cy="1583557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6C6F0EB-5A37-40A1-BA80-B9986B681CE9}">
      <dsp:nvSpPr>
        <dsp:cNvPr id="0" name=""/>
        <dsp:cNvSpPr/>
      </dsp:nvSpPr>
      <dsp:spPr>
        <a:xfrm>
          <a:off x="1237" y="205127"/>
          <a:ext cx="2639261" cy="15835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900" kern="1200" dirty="0" smtClean="0"/>
            <a:t>Decida quais elementos da página você irá otimizar</a:t>
          </a:r>
          <a:endParaRPr lang="en-US" sz="1900" kern="1200" dirty="0"/>
        </a:p>
      </dsp:txBody>
      <dsp:txXfrm>
        <a:off x="1237" y="205127"/>
        <a:ext cx="2639261" cy="1583557"/>
      </dsp:txXfrm>
    </dsp:sp>
    <dsp:sp modelId="{618D7B33-2932-4770-B9A4-F7887680CE39}">
      <dsp:nvSpPr>
        <dsp:cNvPr id="0" name=""/>
        <dsp:cNvSpPr/>
      </dsp:nvSpPr>
      <dsp:spPr>
        <a:xfrm>
          <a:off x="2872754" y="669638"/>
          <a:ext cx="559523" cy="6545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kern="1200"/>
        </a:p>
      </dsp:txBody>
      <dsp:txXfrm>
        <a:off x="2872754" y="669638"/>
        <a:ext cx="559523" cy="654536"/>
      </dsp:txXfrm>
    </dsp:sp>
    <dsp:sp modelId="{45521A06-42CA-4115-9AB5-27DA257B3F6D}">
      <dsp:nvSpPr>
        <dsp:cNvPr id="0" name=""/>
        <dsp:cNvSpPr/>
      </dsp:nvSpPr>
      <dsp:spPr>
        <a:xfrm>
          <a:off x="3696204" y="205127"/>
          <a:ext cx="2639261" cy="15835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900" kern="1200" dirty="0" smtClean="0"/>
            <a:t>Especifique uma página para ser a página de conversão</a:t>
          </a:r>
          <a:endParaRPr lang="en-US" sz="1900" kern="1200" dirty="0"/>
        </a:p>
      </dsp:txBody>
      <dsp:txXfrm>
        <a:off x="3696204" y="205127"/>
        <a:ext cx="2639261" cy="1583557"/>
      </dsp:txXfrm>
    </dsp:sp>
    <dsp:sp modelId="{79A4706D-88A7-4909-932A-21E99F482BA1}">
      <dsp:nvSpPr>
        <dsp:cNvPr id="0" name=""/>
        <dsp:cNvSpPr/>
      </dsp:nvSpPr>
      <dsp:spPr>
        <a:xfrm rot="5400000">
          <a:off x="4736073" y="1973433"/>
          <a:ext cx="559523" cy="6545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kern="1200"/>
        </a:p>
      </dsp:txBody>
      <dsp:txXfrm rot="5400000">
        <a:off x="4736073" y="1973433"/>
        <a:ext cx="559523" cy="654536"/>
      </dsp:txXfrm>
    </dsp:sp>
    <dsp:sp modelId="{8557BC6A-809F-431F-B45D-95CE3024799F}">
      <dsp:nvSpPr>
        <dsp:cNvPr id="0" name=""/>
        <dsp:cNvSpPr/>
      </dsp:nvSpPr>
      <dsp:spPr>
        <a:xfrm>
          <a:off x="3696204" y="2844389"/>
          <a:ext cx="2639261" cy="15835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900" kern="1200" dirty="0" smtClean="0"/>
            <a:t>Instale o código do GWO nas páginas seguindo as instruções</a:t>
          </a:r>
          <a:endParaRPr lang="en-US" sz="1900" kern="1200" dirty="0"/>
        </a:p>
      </dsp:txBody>
      <dsp:txXfrm>
        <a:off x="3696204" y="2844389"/>
        <a:ext cx="2639261" cy="1583557"/>
      </dsp:txXfrm>
    </dsp:sp>
    <dsp:sp modelId="{B4A543A0-D1ED-42F8-A04C-F93886091838}">
      <dsp:nvSpPr>
        <dsp:cNvPr id="0" name=""/>
        <dsp:cNvSpPr/>
      </dsp:nvSpPr>
      <dsp:spPr>
        <a:xfrm rot="10800000">
          <a:off x="2904425" y="3308900"/>
          <a:ext cx="559523" cy="6545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kern="1200"/>
        </a:p>
      </dsp:txBody>
      <dsp:txXfrm rot="10800000">
        <a:off x="2904425" y="3308900"/>
        <a:ext cx="559523" cy="654536"/>
      </dsp:txXfrm>
    </dsp:sp>
    <dsp:sp modelId="{2AB47C50-7C3B-4693-98D4-CC83E50FD709}">
      <dsp:nvSpPr>
        <dsp:cNvPr id="0" name=""/>
        <dsp:cNvSpPr/>
      </dsp:nvSpPr>
      <dsp:spPr>
        <a:xfrm>
          <a:off x="1237" y="2844389"/>
          <a:ext cx="2639261" cy="15835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900" kern="1200" dirty="0" smtClean="0"/>
            <a:t>O GWO testa para ver se suas páginas estão corretamente configuradas</a:t>
          </a:r>
          <a:endParaRPr lang="en-US" sz="1900" kern="1200" dirty="0"/>
        </a:p>
      </dsp:txBody>
      <dsp:txXfrm>
        <a:off x="1237" y="2844389"/>
        <a:ext cx="2639261" cy="1583557"/>
      </dsp:txXfrm>
    </dsp:sp>
    <dsp:sp modelId="{A003E0EE-C3CD-4FEC-A8F6-F4CE2B647379}">
      <dsp:nvSpPr>
        <dsp:cNvPr id="0" name=""/>
        <dsp:cNvSpPr/>
      </dsp:nvSpPr>
      <dsp:spPr>
        <a:xfrm rot="5400000">
          <a:off x="1041106" y="4612695"/>
          <a:ext cx="559523" cy="6545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kern="1200"/>
        </a:p>
      </dsp:txBody>
      <dsp:txXfrm rot="5400000">
        <a:off x="1041106" y="4612695"/>
        <a:ext cx="559523" cy="654536"/>
      </dsp:txXfrm>
    </dsp:sp>
    <dsp:sp modelId="{A4B41307-C0E7-4043-B1A4-82E8B85155F2}">
      <dsp:nvSpPr>
        <dsp:cNvPr id="0" name=""/>
        <dsp:cNvSpPr/>
      </dsp:nvSpPr>
      <dsp:spPr>
        <a:xfrm>
          <a:off x="1237" y="5483651"/>
          <a:ext cx="2639261" cy="15835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900" kern="1200" dirty="0" smtClean="0"/>
            <a:t>Pronto. Você começou a medir a eficiência das versões</a:t>
          </a:r>
          <a:endParaRPr lang="en-US" sz="1900" kern="1200" dirty="0"/>
        </a:p>
      </dsp:txBody>
      <dsp:txXfrm>
        <a:off x="1237" y="5483651"/>
        <a:ext cx="2639261" cy="15835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cs typeface="Arial" pitchFamily="34" charset="0"/>
              </a:defRPr>
            </a:lvl1pPr>
          </a:lstStyle>
          <a:p>
            <a:pPr>
              <a:defRPr/>
            </a:pPr>
            <a:fld id="{19F44631-BF05-4A7F-B3D6-D352EDD1EF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F7DA9AD-1B7F-43E1-A90C-6C9AEFC96E8E}" type="slidenum">
              <a:rPr lang="en-US">
                <a:cs typeface="Arial" charset="0"/>
              </a:rPr>
              <a:pPr/>
              <a:t>1</a:t>
            </a:fld>
            <a:endParaRPr lang="en-US">
              <a:cs typeface="Arial" charset="0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cs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326183-5509-482D-879B-846050658B58}" type="slidenum">
              <a:rPr lang="en-US">
                <a:cs typeface="Arial" charset="0"/>
              </a:rPr>
              <a:pPr/>
              <a:t>2</a:t>
            </a:fld>
            <a:endParaRPr lang="en-US">
              <a:cs typeface="Arial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cs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326183-5509-482D-879B-846050658B58}" type="slidenum">
              <a:rPr lang="en-US">
                <a:cs typeface="Arial" charset="0"/>
              </a:rPr>
              <a:pPr/>
              <a:t>4</a:t>
            </a:fld>
            <a:endParaRPr lang="en-US">
              <a:cs typeface="Arial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cs typeface="Arial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326183-5509-482D-879B-846050658B58}" type="slidenum">
              <a:rPr lang="en-US">
                <a:cs typeface="Arial" charset="0"/>
              </a:rPr>
              <a:pPr/>
              <a:t>7</a:t>
            </a:fld>
            <a:endParaRPr lang="en-US">
              <a:cs typeface="Arial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cs typeface="Arial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326183-5509-482D-879B-846050658B58}" type="slidenum">
              <a:rPr lang="en-US">
                <a:cs typeface="Arial" charset="0"/>
              </a:rPr>
              <a:pPr/>
              <a:t>9</a:t>
            </a:fld>
            <a:endParaRPr lang="en-US">
              <a:cs typeface="Arial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cs typeface="Arial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326183-5509-482D-879B-846050658B58}" type="slidenum">
              <a:rPr lang="en-US">
                <a:cs typeface="Arial" charset="0"/>
              </a:rPr>
              <a:pPr/>
              <a:t>10</a:t>
            </a:fld>
            <a:endParaRPr lang="en-US">
              <a:cs typeface="Arial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cs typeface="Arial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326183-5509-482D-879B-846050658B58}" type="slidenum">
              <a:rPr lang="en-US">
                <a:cs typeface="Arial" charset="0"/>
              </a:rPr>
              <a:pPr/>
              <a:t>11</a:t>
            </a:fld>
            <a:endParaRPr lang="en-US">
              <a:cs typeface="Arial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cs typeface="Arial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326183-5509-482D-879B-846050658B58}" type="slidenum">
              <a:rPr lang="en-US">
                <a:cs typeface="Arial" charset="0"/>
              </a:rPr>
              <a:pPr/>
              <a:t>13</a:t>
            </a:fld>
            <a:endParaRPr lang="en-US">
              <a:cs typeface="Arial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cs typeface="Arial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326183-5509-482D-879B-846050658B58}" type="slidenum">
              <a:rPr lang="en-US">
                <a:cs typeface="Arial" charset="0"/>
              </a:rPr>
              <a:pPr/>
              <a:t>15</a:t>
            </a:fld>
            <a:endParaRPr lang="en-US">
              <a:cs typeface="Arial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cs typeface="Arial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326183-5509-482D-879B-846050658B58}" type="slidenum">
              <a:rPr lang="en-US">
                <a:cs typeface="Arial" charset="0"/>
              </a:rPr>
              <a:pPr/>
              <a:t>17</a:t>
            </a:fld>
            <a:endParaRPr lang="en-US">
              <a:cs typeface="Arial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cs typeface="Arial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326183-5509-482D-879B-846050658B58}" type="slidenum">
              <a:rPr lang="en-US">
                <a:cs typeface="Arial" charset="0"/>
              </a:rPr>
              <a:pPr/>
              <a:t>18</a:t>
            </a:fld>
            <a:endParaRPr lang="en-US">
              <a:cs typeface="Arial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cs typeface="Arial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326183-5509-482D-879B-846050658B58}" type="slidenum">
              <a:rPr lang="en-US">
                <a:cs typeface="Arial" charset="0"/>
              </a:rPr>
              <a:pPr/>
              <a:t>19</a:t>
            </a:fld>
            <a:endParaRPr lang="en-US">
              <a:cs typeface="Arial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cs typeface="Arial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326183-5509-482D-879B-846050658B58}" type="slidenum">
              <a:rPr lang="en-US">
                <a:cs typeface="Arial" charset="0"/>
              </a:rPr>
              <a:pPr/>
              <a:t>23</a:t>
            </a:fld>
            <a:endParaRPr lang="en-US">
              <a:cs typeface="Arial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cs typeface="Arial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326183-5509-482D-879B-846050658B58}" type="slidenum">
              <a:rPr lang="en-US">
                <a:cs typeface="Arial" charset="0"/>
              </a:rPr>
              <a:pPr/>
              <a:t>28</a:t>
            </a:fld>
            <a:endParaRPr lang="en-US">
              <a:cs typeface="Arial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cs typeface="Arial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326183-5509-482D-879B-846050658B58}" type="slidenum">
              <a:rPr lang="en-US">
                <a:cs typeface="Arial" charset="0"/>
              </a:rPr>
              <a:pPr/>
              <a:t>30</a:t>
            </a:fld>
            <a:endParaRPr lang="en-US">
              <a:cs typeface="Arial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cs typeface="Arial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326183-5509-482D-879B-846050658B58}" type="slidenum">
              <a:rPr lang="en-US">
                <a:cs typeface="Arial" charset="0"/>
              </a:rPr>
              <a:pPr/>
              <a:t>34</a:t>
            </a:fld>
            <a:endParaRPr lang="en-US">
              <a:cs typeface="Arial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cs typeface="Arial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326183-5509-482D-879B-846050658B58}" type="slidenum">
              <a:rPr lang="en-US">
                <a:cs typeface="Arial" charset="0"/>
              </a:rPr>
              <a:pPr/>
              <a:t>38</a:t>
            </a:fld>
            <a:endParaRPr lang="en-US">
              <a:cs typeface="Arial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cs typeface="Arial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05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pt-BR" smtClean="0">
              <a:cs typeface="Arial" pitchFamily="34" charset="0"/>
            </a:endParaRPr>
          </a:p>
        </p:txBody>
      </p:sp>
      <p:sp>
        <p:nvSpPr>
          <p:cNvPr id="1105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6054C4C-5994-4AEA-9A85-6B55A530785C}" type="slidenum">
              <a:rPr lang="en-US" smtClean="0">
                <a:solidFill>
                  <a:srgbClr val="000000"/>
                </a:solidFill>
                <a:cs typeface="Arial" pitchFamily="34" charset="0"/>
              </a:rPr>
              <a:pPr/>
              <a:t>39</a:t>
            </a:fld>
            <a:endParaRPr lang="en-US" smtClean="0">
              <a:solidFill>
                <a:srgbClr val="000000"/>
              </a:solidFill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pt-BR" smtClean="0"/>
          </a:p>
        </p:txBody>
      </p:sp>
      <p:sp>
        <p:nvSpPr>
          <p:cNvPr id="2048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1029CB4-6537-47B2-8CB2-4B382552D7E5}" type="slidenum">
              <a:rPr lang="en-US" smtClean="0"/>
              <a:pPr/>
              <a:t>40</a:t>
            </a:fld>
            <a:endParaRPr 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326183-5509-482D-879B-846050658B58}" type="slidenum">
              <a:rPr lang="en-US">
                <a:cs typeface="Arial" charset="0"/>
              </a:rPr>
              <a:pPr/>
              <a:t>42</a:t>
            </a:fld>
            <a:endParaRPr lang="en-US">
              <a:cs typeface="Arial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cs typeface="Arial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326183-5509-482D-879B-846050658B58}" type="slidenum">
              <a:rPr lang="en-US">
                <a:cs typeface="Arial" charset="0"/>
              </a:rPr>
              <a:pPr/>
              <a:t>44</a:t>
            </a:fld>
            <a:endParaRPr lang="en-US">
              <a:cs typeface="Arial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cs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irectperformance.com.br/?p" TargetMode="External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irectperformance.com.br/?p" TargetMode="External"/><Relationship Id="rId2" Type="http://schemas.openxmlformats.org/officeDocument/2006/relationships/slideMaster" Target="../slideMasters/slideMaster4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4.png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3004800" cy="9753600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chemeClr val="accent2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1300163">
              <a:defRPr/>
            </a:pPr>
            <a:endParaRPr lang="pt-BR">
              <a:cs typeface="Arial" pitchFamily="34" charset="0"/>
            </a:endParaRPr>
          </a:p>
        </p:txBody>
      </p:sp>
      <p:sp>
        <p:nvSpPr>
          <p:cNvPr id="5" name="Text Box 4">
            <a:hlinkClick r:id="rId3"/>
          </p:cNvPr>
          <p:cNvSpPr txBox="1">
            <a:spLocks noChangeArrowheads="1"/>
          </p:cNvSpPr>
          <p:nvPr/>
        </p:nvSpPr>
        <p:spPr bwMode="auto">
          <a:xfrm>
            <a:off x="817563" y="9053513"/>
            <a:ext cx="3452812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046" tIns="65023" rIns="130046" bIns="65023">
            <a:spAutoFit/>
          </a:bodyPr>
          <a:lstStyle/>
          <a:p>
            <a:pPr defTabSz="1300163">
              <a:defRPr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www.directperformance.com.br</a:t>
            </a:r>
          </a:p>
        </p:txBody>
      </p:sp>
      <p:pic>
        <p:nvPicPr>
          <p:cNvPr id="6" name="Picture 6" descr="logo_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878888" y="339725"/>
            <a:ext cx="3671887" cy="1579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0339" name="Rectangle 3"/>
          <p:cNvSpPr>
            <a:spLocks noGrp="1" noChangeArrowheads="1"/>
          </p:cNvSpPr>
          <p:nvPr>
            <p:ph type="ctrTitle" sz="quarter"/>
          </p:nvPr>
        </p:nvSpPr>
        <p:spPr>
          <a:xfrm>
            <a:off x="974725" y="3803650"/>
            <a:ext cx="11055350" cy="785813"/>
          </a:xfrm>
        </p:spPr>
        <p:txBody>
          <a:bodyPr anchor="t">
            <a:spAutoFit/>
          </a:bodyPr>
          <a:lstStyle>
            <a:lvl1pPr algn="ctr">
              <a:spcBef>
                <a:spcPct val="50000"/>
              </a:spcBef>
              <a:defRPr sz="43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70341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951038" y="5021263"/>
            <a:ext cx="9102725" cy="541337"/>
          </a:xfrm>
          <a:ln algn="ctr"/>
        </p:spPr>
        <p:txBody>
          <a:bodyPr lIns="130046" tIns="65023" rIns="130046" bIns="65023">
            <a:spAutoFit/>
          </a:bodyPr>
          <a:lstStyle>
            <a:lvl1pPr marL="0" indent="0" algn="ctr">
              <a:spcBef>
                <a:spcPct val="50000"/>
              </a:spcBef>
              <a:buFont typeface="Wingdings" pitchFamily="2" charset="2"/>
              <a:buNone/>
              <a:defRPr sz="27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58E0E8-EF2A-47E5-858D-DF8D682E2C5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FE1C4B-92E6-4038-BF30-DCABC5AEF22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852613"/>
            <a:ext cx="6045200" cy="7272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1852613"/>
            <a:ext cx="6045200" cy="7272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A351E6-B9B3-44FF-9103-C16846EC5A4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18C7F6-57B5-4678-8BD6-CD3CDD3E787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F42733-BF1F-4066-98F0-5AAA5B382B3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3C460D-AEA9-4F53-AD8E-79F138D8007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06EAC7-0B15-4411-91BE-2F7805931D5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079DE9-C67C-499C-A97A-8ED9169ACE8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AE048B-6641-40ED-9601-BC54A54F68C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45638" y="484188"/>
            <a:ext cx="3078162" cy="86407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9563" y="484188"/>
            <a:ext cx="9083675" cy="86407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66CC31-2C6A-4867-860F-DFB2C895FC0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09563" y="482600"/>
            <a:ext cx="12314237" cy="86439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DD3894-43A7-4415-B88E-696BF4A255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9461500"/>
            <a:ext cx="13004800" cy="292100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9455150"/>
            <a:ext cx="4333875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046" tIns="65023" rIns="130046" bIns="65023" anchor="ctr">
            <a:spAutoFit/>
          </a:bodyPr>
          <a:lstStyle/>
          <a:p>
            <a:pPr defTabSz="1300163">
              <a:defRPr/>
            </a:pPr>
            <a:r>
              <a:rPr lang="pt-BR" sz="1100" dirty="0">
                <a:solidFill>
                  <a:schemeClr val="bg1"/>
                </a:solidFill>
                <a:cs typeface="Arial" pitchFamily="34" charset="0"/>
              </a:rPr>
              <a:t>© 2010 </a:t>
            </a:r>
            <a:r>
              <a:rPr lang="pt-BR" sz="1100" dirty="0" err="1">
                <a:solidFill>
                  <a:schemeClr val="bg1"/>
                </a:solidFill>
                <a:cs typeface="Arial" pitchFamily="34" charset="0"/>
              </a:rPr>
              <a:t>Direct</a:t>
            </a:r>
            <a:r>
              <a:rPr lang="pt-BR" sz="1100" dirty="0">
                <a:solidFill>
                  <a:schemeClr val="bg1"/>
                </a:solidFill>
                <a:cs typeface="Arial" pitchFamily="34" charset="0"/>
              </a:rPr>
              <a:t> Performance, todos os direitos reservados </a:t>
            </a: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0" y="0"/>
            <a:ext cx="13004800" cy="366713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 defTabSz="1300163">
              <a:defRPr/>
            </a:pPr>
            <a:endParaRPr lang="pt-BR" sz="140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7" name="Picture 8" descr="simbolo_directperformance_quadrad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334875" y="-46038"/>
            <a:ext cx="449263" cy="449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309563" y="52388"/>
            <a:ext cx="119538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defTabSz="1300163">
              <a:defRPr/>
            </a:pPr>
            <a:r>
              <a:rPr lang="pt-BR" sz="1400" b="1">
                <a:solidFill>
                  <a:schemeClr val="bg1"/>
                </a:solidFill>
                <a:cs typeface="Arial" pitchFamily="34" charset="0"/>
              </a:rPr>
              <a:t>Direct Performance – Inteligência Otimizando Resultados</a:t>
            </a:r>
            <a:endParaRPr lang="pt-BR" b="1">
              <a:cs typeface="Arial" pitchFamily="34" charset="0"/>
            </a:endParaRPr>
          </a:p>
        </p:txBody>
      </p:sp>
      <p:pic>
        <p:nvPicPr>
          <p:cNvPr id="9" name="Picture 10" descr="Original-grand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7550" y="676275"/>
            <a:ext cx="768350" cy="76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1172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Click to edit Master title style</a:t>
            </a:r>
          </a:p>
        </p:txBody>
      </p:sp>
      <p:sp>
        <p:nvSpPr>
          <p:cNvPr id="39117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20850" y="1852613"/>
            <a:ext cx="10902950" cy="7272337"/>
          </a:xfrm>
        </p:spPr>
        <p:txBody>
          <a:bodyPr/>
          <a:lstStyle>
            <a:lvl1pPr marL="0" indent="0">
              <a:defRPr/>
            </a:lvl1pPr>
          </a:lstStyle>
          <a:p>
            <a:r>
              <a:rPr lang="pt-BR"/>
              <a:t>Click to edit Master subtitle style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2263438" y="9445625"/>
            <a:ext cx="608012" cy="342900"/>
          </a:xfrm>
        </p:spPr>
        <p:txBody>
          <a:bodyPr/>
          <a:lstStyle>
            <a:lvl1pPr>
              <a:defRPr/>
            </a:lvl1pPr>
          </a:lstStyle>
          <a:p>
            <a:fld id="{A646B376-875E-4CB5-8F91-32BA4217E8B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502532-F930-4210-BD06-417503863B3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8A28F1-C01E-43DF-AD79-69D5506746C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41488" y="1852613"/>
            <a:ext cx="5364162" cy="7272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58050" y="1852613"/>
            <a:ext cx="5365750" cy="7272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0F73B6-4A2A-45D2-A46A-C6D2B4524AC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D5C42D-C14D-4553-B4A2-3181D88E7C9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B1E1BD-D7A7-420D-B54A-3DEEC365C11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601134-1865-4619-8447-28C96DD6E77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2B0698-DA12-4E3B-A5A3-C8A6F1BEE10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ED234C-4B2C-4C4A-8A1B-28DCC453CC9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006090-0D66-46D4-AEAA-B4254DD803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88538" y="484188"/>
            <a:ext cx="2735262" cy="86407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7988" y="484188"/>
            <a:ext cx="8058150" cy="86407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EA4168-91AF-4235-A4B7-DF2FF4D8996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09563" y="482600"/>
            <a:ext cx="12314237" cy="86439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DD3894-43A7-4415-B88E-696BF4A255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AEDD31-04CD-4CDC-AF46-381256BBFD0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FD1745-1DEC-42FE-950D-518A2664950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CB3712-EDAF-4411-9FAF-8B3F3FA38A1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852613"/>
            <a:ext cx="6045200" cy="7272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1852613"/>
            <a:ext cx="6045200" cy="7272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A25097-0B4D-40A1-9FEC-BE840FFFF10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23893B-F97E-4DC6-9BBA-16DA30E6359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78DD5B-CE22-44C0-A24D-934A36707CB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5BDD2F-9C58-47DF-88BD-267F6D9F50D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FDA703-8BFA-4E83-B811-89572E234D4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3654B9-43CA-4F80-AD1E-4430EBEF25C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00B10D-6D4B-4C79-ACE0-CAEDD524BE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45638" y="484188"/>
            <a:ext cx="3078162" cy="86407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9563" y="484188"/>
            <a:ext cx="9083675" cy="86407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0145C3-1256-4608-A648-BFF844308D1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3004800" cy="9753600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chemeClr val="accent2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1300163">
              <a:defRPr/>
            </a:pPr>
            <a:endParaRPr lang="pt-BR">
              <a:cs typeface="Arial" pitchFamily="34" charset="0"/>
            </a:endParaRPr>
          </a:p>
        </p:txBody>
      </p:sp>
      <p:grpSp>
        <p:nvGrpSpPr>
          <p:cNvPr id="5" name="Group 10"/>
          <p:cNvGrpSpPr>
            <a:grpSpLocks/>
          </p:cNvGrpSpPr>
          <p:nvPr/>
        </p:nvGrpSpPr>
        <p:grpSpPr bwMode="auto">
          <a:xfrm>
            <a:off x="4546600" y="2871788"/>
            <a:ext cx="3911600" cy="4030663"/>
            <a:chOff x="2915" y="2488"/>
            <a:chExt cx="2464" cy="2539"/>
          </a:xfrm>
        </p:grpSpPr>
        <p:sp>
          <p:nvSpPr>
            <p:cNvPr id="6" name="Text Box 7">
              <a:hlinkClick r:id="rId3"/>
            </p:cNvPr>
            <p:cNvSpPr txBox="1">
              <a:spLocks noChangeArrowheads="1"/>
            </p:cNvSpPr>
            <p:nvPr/>
          </p:nvSpPr>
          <p:spPr bwMode="auto">
            <a:xfrm>
              <a:off x="3008" y="3616"/>
              <a:ext cx="2175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130046" tIns="65023" rIns="130046" bIns="65023">
              <a:spAutoFit/>
            </a:bodyPr>
            <a:lstStyle/>
            <a:p>
              <a:pPr defTabSz="1300163">
                <a:defRPr/>
              </a:pPr>
              <a:r>
                <a:rPr lang="en-US" sz="1400" b="1">
                  <a:solidFill>
                    <a:schemeClr val="bg1"/>
                  </a:solidFill>
                  <a:cs typeface="Arial" pitchFamily="34" charset="0"/>
                </a:rPr>
                <a:t>www.directperformance.com.br</a:t>
              </a:r>
            </a:p>
          </p:txBody>
        </p:sp>
        <p:pic>
          <p:nvPicPr>
            <p:cNvPr id="7" name="Picture 8" descr="logo_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939" y="2488"/>
              <a:ext cx="2313" cy="9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Text Box 9"/>
            <p:cNvSpPr txBox="1">
              <a:spLocks noChangeArrowheads="1"/>
            </p:cNvSpPr>
            <p:nvPr/>
          </p:nvSpPr>
          <p:spPr bwMode="auto">
            <a:xfrm>
              <a:off x="2915" y="3994"/>
              <a:ext cx="2464" cy="10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130046" tIns="65023" rIns="130046" bIns="65023">
              <a:spAutoFit/>
            </a:bodyPr>
            <a:lstStyle/>
            <a:p>
              <a:pPr algn="ctr" defTabSz="1300163">
                <a:defRPr/>
              </a:pPr>
              <a:r>
                <a:rPr lang="pt-BR" sz="1400" b="1" dirty="0">
                  <a:solidFill>
                    <a:schemeClr val="bg1"/>
                  </a:solidFill>
                  <a:cs typeface="Arial" pitchFamily="34" charset="0"/>
                </a:rPr>
                <a:t>contato@directperformance.com.br</a:t>
              </a:r>
            </a:p>
            <a:p>
              <a:pPr algn="ctr" defTabSz="1300163">
                <a:defRPr/>
              </a:pPr>
              <a:r>
                <a:rPr lang="pt-BR" sz="1400" b="1" dirty="0">
                  <a:solidFill>
                    <a:schemeClr val="bg1"/>
                  </a:solidFill>
                  <a:cs typeface="Arial" pitchFamily="34" charset="0"/>
                </a:rPr>
                <a:t>+55 11 4082-0084</a:t>
              </a:r>
            </a:p>
            <a:p>
              <a:pPr algn="ctr" defTabSz="1300163">
                <a:defRPr/>
              </a:pPr>
              <a:endParaRPr lang="pt-BR" sz="1400" b="1" dirty="0">
                <a:solidFill>
                  <a:schemeClr val="bg1"/>
                </a:solidFill>
                <a:cs typeface="Arial" pitchFamily="34" charset="0"/>
              </a:endParaRPr>
            </a:p>
            <a:p>
              <a:pPr algn="ctr" defTabSz="1300163">
                <a:defRPr/>
              </a:pPr>
              <a:endParaRPr lang="pt-BR" sz="1400" b="1" dirty="0">
                <a:solidFill>
                  <a:schemeClr val="bg1"/>
                </a:solidFill>
                <a:cs typeface="Arial" pitchFamily="34" charset="0"/>
              </a:endParaRPr>
            </a:p>
            <a:p>
              <a:pPr algn="ctr" defTabSz="1300163">
                <a:defRPr/>
              </a:pPr>
              <a:r>
                <a:rPr lang="pt-BR" sz="1400" b="1" dirty="0" smtClean="0">
                  <a:solidFill>
                    <a:schemeClr val="bg1"/>
                  </a:solidFill>
                  <a:cs typeface="Arial" pitchFamily="34" charset="0"/>
                </a:rPr>
                <a:t>Av. Nações Unidas, 12495- 3º </a:t>
              </a:r>
              <a:r>
                <a:rPr lang="pt-BR" sz="1400" b="1" dirty="0">
                  <a:solidFill>
                    <a:schemeClr val="bg1"/>
                  </a:solidFill>
                  <a:cs typeface="Arial" pitchFamily="34" charset="0"/>
                </a:rPr>
                <a:t>andar</a:t>
              </a:r>
            </a:p>
            <a:p>
              <a:pPr algn="ctr" defTabSz="1300163">
                <a:defRPr/>
              </a:pPr>
              <a:r>
                <a:rPr lang="pt-BR" sz="1400" b="1" dirty="0">
                  <a:solidFill>
                    <a:schemeClr val="bg1"/>
                  </a:solidFill>
                  <a:cs typeface="Arial" pitchFamily="34" charset="0"/>
                </a:rPr>
                <a:t>CEP: </a:t>
              </a:r>
              <a:r>
                <a:rPr lang="pt-BR" sz="1400" b="1" dirty="0" smtClean="0">
                  <a:solidFill>
                    <a:schemeClr val="bg1"/>
                  </a:solidFill>
                  <a:cs typeface="Arial" pitchFamily="34" charset="0"/>
                </a:rPr>
                <a:t>04795-100 </a:t>
              </a:r>
              <a:r>
                <a:rPr lang="pt-BR" sz="1400" b="1" dirty="0">
                  <a:solidFill>
                    <a:schemeClr val="bg1"/>
                  </a:solidFill>
                  <a:cs typeface="Arial" pitchFamily="34" charset="0"/>
                </a:rPr>
                <a:t>- </a:t>
              </a:r>
              <a:r>
                <a:rPr lang="pt-BR" sz="1400" b="1" dirty="0" smtClean="0">
                  <a:solidFill>
                    <a:schemeClr val="bg1"/>
                  </a:solidFill>
                  <a:cs typeface="Arial" pitchFamily="34" charset="0"/>
                </a:rPr>
                <a:t>Brooklin</a:t>
              </a:r>
              <a:endParaRPr lang="pt-BR" sz="1400" b="1" dirty="0">
                <a:solidFill>
                  <a:schemeClr val="bg1"/>
                </a:solidFill>
                <a:cs typeface="Arial" pitchFamily="34" charset="0"/>
              </a:endParaRPr>
            </a:p>
            <a:p>
              <a:pPr algn="ctr" defTabSz="1300163">
                <a:defRPr/>
              </a:pPr>
              <a:r>
                <a:rPr lang="pt-BR" sz="1400" b="1" dirty="0">
                  <a:solidFill>
                    <a:schemeClr val="bg1"/>
                  </a:solidFill>
                  <a:cs typeface="Arial" pitchFamily="34" charset="0"/>
                </a:rPr>
                <a:t>São Paulo - SP</a:t>
              </a:r>
              <a:endParaRPr 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409603" name="Rectangle 3"/>
          <p:cNvSpPr>
            <a:spLocks noGrp="1" noChangeArrowheads="1"/>
          </p:cNvSpPr>
          <p:nvPr>
            <p:ph type="ctrTitle" sz="quarter"/>
          </p:nvPr>
        </p:nvSpPr>
        <p:spPr>
          <a:xfrm>
            <a:off x="974725" y="484188"/>
            <a:ext cx="11055350" cy="785812"/>
          </a:xfrm>
        </p:spPr>
        <p:txBody>
          <a:bodyPr anchor="t">
            <a:spAutoFit/>
          </a:bodyPr>
          <a:lstStyle>
            <a:lvl1pPr algn="ctr">
              <a:spcBef>
                <a:spcPct val="50000"/>
              </a:spcBef>
              <a:defRPr sz="43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605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951038" y="8837613"/>
            <a:ext cx="9102725" cy="541337"/>
          </a:xfrm>
          <a:ln algn="ctr"/>
        </p:spPr>
        <p:txBody>
          <a:bodyPr lIns="130046" tIns="65023" rIns="130046" bIns="65023">
            <a:spAutoFit/>
          </a:bodyPr>
          <a:lstStyle>
            <a:lvl1pPr marL="0" indent="0" algn="ctr">
              <a:spcBef>
                <a:spcPct val="50000"/>
              </a:spcBef>
              <a:buFont typeface="Wingdings" pitchFamily="2" charset="2"/>
              <a:buNone/>
              <a:defRPr sz="27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2BD843-082B-4202-A1CD-143BA43A235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DD4D34-5C2A-452F-BB76-FDAADEFC0BA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852613"/>
            <a:ext cx="6045200" cy="7272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1852613"/>
            <a:ext cx="6045200" cy="7272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22AF0E-285C-4545-B6CD-7B89B035968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46ABCC-2C93-4826-9561-66ED1F4CD18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799B01-72A9-4F68-A48E-D3779A6E69F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2E0CEB-A46F-47A6-93AB-5714119CDDC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C0A7D1-990C-4A44-9558-1C12A33DCEE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00D046-F7AE-4F68-977D-73846A7DA90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5D3B18-1972-4611-A453-00B80596359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45638" y="484188"/>
            <a:ext cx="3078162" cy="86407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9563" y="484188"/>
            <a:ext cx="9083675" cy="86407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7CA85F-0236-4C53-90BB-2AE2556002A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/>
          <p:cNvSpPr>
            <a:spLocks noChangeArrowheads="1"/>
          </p:cNvSpPr>
          <p:nvPr/>
        </p:nvSpPr>
        <p:spPr bwMode="auto">
          <a:xfrm>
            <a:off x="0" y="9461500"/>
            <a:ext cx="13004800" cy="292100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269315" name="Rectangle 3"/>
          <p:cNvSpPr>
            <a:spLocks noChangeArrowheads="1"/>
          </p:cNvSpPr>
          <p:nvPr/>
        </p:nvSpPr>
        <p:spPr bwMode="auto">
          <a:xfrm>
            <a:off x="0" y="9455150"/>
            <a:ext cx="4333875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046" tIns="65023" rIns="130046" bIns="65023" anchor="ctr">
            <a:spAutoFit/>
          </a:bodyPr>
          <a:lstStyle/>
          <a:p>
            <a:pPr defTabSz="1300163">
              <a:defRPr/>
            </a:pPr>
            <a:r>
              <a:rPr lang="pt-BR" sz="1100" dirty="0">
                <a:solidFill>
                  <a:schemeClr val="bg1"/>
                </a:solidFill>
                <a:cs typeface="Arial" pitchFamily="34" charset="0"/>
              </a:rPr>
              <a:t>© 2010 </a:t>
            </a:r>
            <a:r>
              <a:rPr lang="pt-BR" sz="1100" dirty="0" err="1">
                <a:solidFill>
                  <a:schemeClr val="bg1"/>
                </a:solidFill>
                <a:cs typeface="Arial" pitchFamily="34" charset="0"/>
              </a:rPr>
              <a:t>Direct</a:t>
            </a:r>
            <a:r>
              <a:rPr lang="pt-BR" sz="1100" dirty="0">
                <a:solidFill>
                  <a:schemeClr val="bg1"/>
                </a:solidFill>
                <a:cs typeface="Arial" pitchFamily="34" charset="0"/>
              </a:rPr>
              <a:t> Performance, todos os direitos reservados 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309563" y="484188"/>
            <a:ext cx="12314237" cy="11525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130046" tIns="65023" rIns="130046" bIns="6502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852613"/>
            <a:ext cx="12242800" cy="7272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6931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2266613" y="9447213"/>
            <a:ext cx="608012" cy="3429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none" lIns="130046" tIns="65023" rIns="130046" bIns="65023" numCol="1" anchor="t" anchorCtr="0" compatLnSpc="1">
            <a:prstTxWarp prst="textNoShape">
              <a:avLst/>
            </a:prstTxWarp>
            <a:sp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fld id="{03692514-71FA-40AD-81B2-AFFC7B793A3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69319" name="Rectangle 7"/>
          <p:cNvSpPr>
            <a:spLocks noChangeArrowheads="1"/>
          </p:cNvSpPr>
          <p:nvPr/>
        </p:nvSpPr>
        <p:spPr bwMode="auto">
          <a:xfrm>
            <a:off x="0" y="0"/>
            <a:ext cx="13004800" cy="366713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 defTabSz="1300163">
              <a:defRPr/>
            </a:pPr>
            <a:endParaRPr lang="pt-BR" sz="140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1032" name="Picture 8" descr="simbolo_directperformance_quadrado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2334875" y="-46038"/>
            <a:ext cx="449263" cy="449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9321" name="Text Box 9"/>
          <p:cNvSpPr txBox="1">
            <a:spLocks noChangeArrowheads="1"/>
          </p:cNvSpPr>
          <p:nvPr/>
        </p:nvSpPr>
        <p:spPr bwMode="auto">
          <a:xfrm>
            <a:off x="309563" y="52388"/>
            <a:ext cx="119538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defTabSz="1300163">
              <a:defRPr/>
            </a:pPr>
            <a:r>
              <a:rPr lang="pt-BR" sz="1400" b="1">
                <a:solidFill>
                  <a:schemeClr val="bg1"/>
                </a:solidFill>
                <a:cs typeface="Arial" pitchFamily="34" charset="0"/>
              </a:rPr>
              <a:t>Direct Performance – Inteligência Otimizando Resultados</a:t>
            </a:r>
            <a:endParaRPr lang="pt-BR" b="1"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64" r:id="rId12"/>
  </p:sldLayoutIdLst>
  <p:hf hdr="0" ftr="0" dt="0"/>
  <p:txStyles>
    <p:titleStyle>
      <a:lvl1pPr algn="l" defTabSz="1300163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+mj-lt"/>
          <a:ea typeface="+mj-ea"/>
          <a:cs typeface="+mj-cs"/>
        </a:defRPr>
      </a:lvl1pPr>
      <a:lvl2pPr algn="l" defTabSz="1300163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Verdana" pitchFamily="34" charset="0"/>
          <a:cs typeface="Arial" pitchFamily="34" charset="0"/>
        </a:defRPr>
      </a:lvl2pPr>
      <a:lvl3pPr algn="l" defTabSz="1300163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Verdana" pitchFamily="34" charset="0"/>
          <a:cs typeface="Arial" pitchFamily="34" charset="0"/>
        </a:defRPr>
      </a:lvl3pPr>
      <a:lvl4pPr algn="l" defTabSz="1300163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Verdana" pitchFamily="34" charset="0"/>
          <a:cs typeface="Arial" pitchFamily="34" charset="0"/>
        </a:defRPr>
      </a:lvl4pPr>
      <a:lvl5pPr algn="l" defTabSz="1300163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Verdana" pitchFamily="34" charset="0"/>
          <a:cs typeface="Arial" pitchFamily="34" charset="0"/>
        </a:defRPr>
      </a:lvl5pPr>
      <a:lvl6pPr marL="457200" algn="l" defTabSz="1300163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Verdana" pitchFamily="34" charset="0"/>
          <a:cs typeface="Arial" pitchFamily="34" charset="0"/>
        </a:defRPr>
      </a:lvl6pPr>
      <a:lvl7pPr marL="914400" algn="l" defTabSz="1300163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Verdana" pitchFamily="34" charset="0"/>
          <a:cs typeface="Arial" pitchFamily="34" charset="0"/>
        </a:defRPr>
      </a:lvl7pPr>
      <a:lvl8pPr marL="1371600" algn="l" defTabSz="1300163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Verdana" pitchFamily="34" charset="0"/>
          <a:cs typeface="Arial" pitchFamily="34" charset="0"/>
        </a:defRPr>
      </a:lvl8pPr>
      <a:lvl9pPr marL="1828800" algn="l" defTabSz="1300163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Verdana" pitchFamily="34" charset="0"/>
          <a:cs typeface="Arial" pitchFamily="34" charset="0"/>
        </a:defRPr>
      </a:lvl9pPr>
    </p:titleStyle>
    <p:bodyStyle>
      <a:lvl1pPr marL="361950" indent="-361950" algn="l" defTabSz="1300163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Blip>
          <a:blip r:embed="rId15"/>
        </a:buBlip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895350" indent="-354013" algn="l" defTabSz="1300163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Blip>
          <a:blip r:embed="rId16"/>
        </a:buBlip>
        <a:defRPr b="1">
          <a:solidFill>
            <a:schemeClr val="tx1"/>
          </a:solidFill>
          <a:latin typeface="+mn-lt"/>
          <a:cs typeface="+mn-cs"/>
        </a:defRPr>
      </a:lvl2pPr>
      <a:lvl3pPr marL="1344613" indent="-266700" algn="l" defTabSz="1300163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Blip>
          <a:blip r:embed="rId16"/>
        </a:buBlip>
        <a:defRPr sz="1600">
          <a:solidFill>
            <a:schemeClr val="tx1"/>
          </a:solidFill>
          <a:latin typeface="+mn-lt"/>
          <a:cs typeface="+mn-cs"/>
        </a:defRPr>
      </a:lvl3pPr>
      <a:lvl4pPr marL="1973263" indent="-285750" algn="l" defTabSz="1300163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Blip>
          <a:blip r:embed="rId16"/>
        </a:buBlip>
        <a:defRPr sz="1400">
          <a:solidFill>
            <a:schemeClr val="tx1"/>
          </a:solidFill>
          <a:latin typeface="+mn-lt"/>
          <a:cs typeface="+mn-cs"/>
        </a:defRPr>
      </a:lvl4pPr>
      <a:lvl5pPr marL="2419350" indent="-266700" algn="l" defTabSz="1300163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Blip>
          <a:blip r:embed="rId16"/>
        </a:buBlip>
        <a:defRPr sz="1200">
          <a:solidFill>
            <a:schemeClr val="tx1"/>
          </a:solidFill>
          <a:latin typeface="+mn-lt"/>
          <a:cs typeface="+mn-cs"/>
        </a:defRPr>
      </a:lvl5pPr>
      <a:lvl6pPr marL="2876550" indent="-266700" algn="l" defTabSz="1300163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Blip>
          <a:blip r:embed="rId16"/>
        </a:buBlip>
        <a:defRPr sz="1200">
          <a:solidFill>
            <a:schemeClr val="tx1"/>
          </a:solidFill>
          <a:latin typeface="+mn-lt"/>
          <a:cs typeface="+mn-cs"/>
        </a:defRPr>
      </a:lvl6pPr>
      <a:lvl7pPr marL="3333750" indent="-266700" algn="l" defTabSz="1300163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Blip>
          <a:blip r:embed="rId16"/>
        </a:buBlip>
        <a:defRPr sz="1200">
          <a:solidFill>
            <a:schemeClr val="tx1"/>
          </a:solidFill>
          <a:latin typeface="+mn-lt"/>
          <a:cs typeface="+mn-cs"/>
        </a:defRPr>
      </a:lvl7pPr>
      <a:lvl8pPr marL="3790950" indent="-266700" algn="l" defTabSz="1300163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Blip>
          <a:blip r:embed="rId16"/>
        </a:buBlip>
        <a:defRPr sz="1200">
          <a:solidFill>
            <a:schemeClr val="tx1"/>
          </a:solidFill>
          <a:latin typeface="+mn-lt"/>
          <a:cs typeface="+mn-cs"/>
        </a:defRPr>
      </a:lvl8pPr>
      <a:lvl9pPr marL="4248150" indent="-266700" algn="l" defTabSz="1300163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Blip>
          <a:blip r:embed="rId16"/>
        </a:buBlip>
        <a:defRPr sz="12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ChangeArrowheads="1"/>
          </p:cNvSpPr>
          <p:nvPr/>
        </p:nvSpPr>
        <p:spPr bwMode="auto">
          <a:xfrm>
            <a:off x="0" y="9461500"/>
            <a:ext cx="13004800" cy="292100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325635" name="Rectangle 3"/>
          <p:cNvSpPr>
            <a:spLocks noChangeArrowheads="1"/>
          </p:cNvSpPr>
          <p:nvPr/>
        </p:nvSpPr>
        <p:spPr bwMode="auto">
          <a:xfrm>
            <a:off x="0" y="9455150"/>
            <a:ext cx="4333875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046" tIns="65023" rIns="130046" bIns="65023" anchor="ctr">
            <a:spAutoFit/>
          </a:bodyPr>
          <a:lstStyle/>
          <a:p>
            <a:pPr defTabSz="1300163">
              <a:defRPr/>
            </a:pPr>
            <a:r>
              <a:rPr lang="pt-BR" sz="1100" dirty="0">
                <a:solidFill>
                  <a:schemeClr val="bg1"/>
                </a:solidFill>
                <a:cs typeface="Arial" pitchFamily="34" charset="0"/>
              </a:rPr>
              <a:t>© 2010 </a:t>
            </a:r>
            <a:r>
              <a:rPr lang="pt-BR" sz="1100" dirty="0" err="1">
                <a:solidFill>
                  <a:schemeClr val="bg1"/>
                </a:solidFill>
                <a:cs typeface="Arial" pitchFamily="34" charset="0"/>
              </a:rPr>
              <a:t>Direct</a:t>
            </a:r>
            <a:r>
              <a:rPr lang="pt-BR" sz="1100" dirty="0">
                <a:solidFill>
                  <a:schemeClr val="bg1"/>
                </a:solidFill>
                <a:cs typeface="Arial" pitchFamily="34" charset="0"/>
              </a:rPr>
              <a:t> Performance, todos os direitos reservados 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677988" y="484188"/>
            <a:ext cx="10945812" cy="11525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130046" tIns="65023" rIns="130046" bIns="6502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41488" y="1852613"/>
            <a:ext cx="10882312" cy="7272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2563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2266613" y="9431338"/>
            <a:ext cx="608012" cy="3429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none" lIns="130046" tIns="65023" rIns="130046" bIns="65023" numCol="1" anchor="t" anchorCtr="0" compatLnSpc="1">
            <a:prstTxWarp prst="textNoShape">
              <a:avLst/>
            </a:prstTxWarp>
            <a:sp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fld id="{6BC962B9-CA0A-4E3F-9017-958D75A4830A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25639" name="Rectangle 7"/>
          <p:cNvSpPr>
            <a:spLocks noChangeArrowheads="1"/>
          </p:cNvSpPr>
          <p:nvPr/>
        </p:nvSpPr>
        <p:spPr bwMode="auto">
          <a:xfrm>
            <a:off x="0" y="0"/>
            <a:ext cx="13004800" cy="366713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 defTabSz="1300163">
              <a:defRPr/>
            </a:pPr>
            <a:endParaRPr lang="pt-BR" sz="140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2056" name="Picture 8" descr="simbolo_directperformance_quadrado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2334875" y="-46038"/>
            <a:ext cx="449263" cy="449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5641" name="Text Box 9"/>
          <p:cNvSpPr txBox="1">
            <a:spLocks noChangeArrowheads="1"/>
          </p:cNvSpPr>
          <p:nvPr/>
        </p:nvSpPr>
        <p:spPr bwMode="auto">
          <a:xfrm>
            <a:off x="309563" y="52388"/>
            <a:ext cx="119538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defTabSz="1300163">
              <a:defRPr/>
            </a:pPr>
            <a:r>
              <a:rPr lang="pt-BR" sz="1400" b="1">
                <a:solidFill>
                  <a:schemeClr val="bg1"/>
                </a:solidFill>
                <a:cs typeface="Arial" pitchFamily="34" charset="0"/>
              </a:rPr>
              <a:t>Direct Performance – Inteligência Otimizando Resultados</a:t>
            </a:r>
            <a:endParaRPr lang="pt-BR" b="1">
              <a:cs typeface="Arial" pitchFamily="34" charset="0"/>
            </a:endParaRPr>
          </a:p>
        </p:txBody>
      </p:sp>
      <p:pic>
        <p:nvPicPr>
          <p:cNvPr id="2058" name="Picture 11" descr="Original-grand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717550" y="676275"/>
            <a:ext cx="768350" cy="76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63" r:id="rId12"/>
  </p:sldLayoutIdLst>
  <p:hf hdr="0" ftr="0" dt="0"/>
  <p:txStyles>
    <p:titleStyle>
      <a:lvl1pPr algn="l" defTabSz="1300163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+mj-lt"/>
          <a:ea typeface="+mj-ea"/>
          <a:cs typeface="+mj-cs"/>
        </a:defRPr>
      </a:lvl1pPr>
      <a:lvl2pPr algn="l" defTabSz="1300163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Verdana" pitchFamily="34" charset="0"/>
          <a:cs typeface="Arial" pitchFamily="34" charset="0"/>
        </a:defRPr>
      </a:lvl2pPr>
      <a:lvl3pPr algn="l" defTabSz="1300163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Verdana" pitchFamily="34" charset="0"/>
          <a:cs typeface="Arial" pitchFamily="34" charset="0"/>
        </a:defRPr>
      </a:lvl3pPr>
      <a:lvl4pPr algn="l" defTabSz="1300163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Verdana" pitchFamily="34" charset="0"/>
          <a:cs typeface="Arial" pitchFamily="34" charset="0"/>
        </a:defRPr>
      </a:lvl4pPr>
      <a:lvl5pPr algn="l" defTabSz="1300163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Verdana" pitchFamily="34" charset="0"/>
          <a:cs typeface="Arial" pitchFamily="34" charset="0"/>
        </a:defRPr>
      </a:lvl5pPr>
      <a:lvl6pPr marL="457200" algn="l" defTabSz="1300163" rtl="0" fontAlgn="base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Verdana" pitchFamily="34" charset="0"/>
          <a:cs typeface="Arial" pitchFamily="34" charset="0"/>
        </a:defRPr>
      </a:lvl6pPr>
      <a:lvl7pPr marL="914400" algn="l" defTabSz="1300163" rtl="0" fontAlgn="base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Verdana" pitchFamily="34" charset="0"/>
          <a:cs typeface="Arial" pitchFamily="34" charset="0"/>
        </a:defRPr>
      </a:lvl7pPr>
      <a:lvl8pPr marL="1371600" algn="l" defTabSz="1300163" rtl="0" fontAlgn="base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Verdana" pitchFamily="34" charset="0"/>
          <a:cs typeface="Arial" pitchFamily="34" charset="0"/>
        </a:defRPr>
      </a:lvl8pPr>
      <a:lvl9pPr marL="1828800" algn="l" defTabSz="1300163" rtl="0" fontAlgn="base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Verdana" pitchFamily="34" charset="0"/>
          <a:cs typeface="Arial" pitchFamily="34" charset="0"/>
        </a:defRPr>
      </a:lvl9pPr>
    </p:titleStyle>
    <p:bodyStyle>
      <a:lvl1pPr marL="361950" indent="-361950" algn="l" defTabSz="1300163" rtl="0" eaLnBrk="0" fontAlgn="base" hangingPunct="0">
        <a:spcBef>
          <a:spcPct val="20000"/>
        </a:spcBef>
        <a:spcAft>
          <a:spcPct val="0"/>
        </a:spcAft>
        <a:buFont typeface="Wingdings" pitchFamily="2" charset="2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895350" indent="-354013" algn="l" defTabSz="1300163" rtl="0" eaLnBrk="0" fontAlgn="base" hangingPunct="0">
        <a:spcBef>
          <a:spcPct val="20000"/>
        </a:spcBef>
        <a:spcAft>
          <a:spcPct val="0"/>
        </a:spcAft>
        <a:buFont typeface="Wingdings" pitchFamily="2" charset="2"/>
        <a:defRPr sz="2400" b="1">
          <a:solidFill>
            <a:schemeClr val="tx1"/>
          </a:solidFill>
          <a:latin typeface="+mn-lt"/>
          <a:cs typeface="+mn-cs"/>
        </a:defRPr>
      </a:lvl2pPr>
      <a:lvl3pPr marL="1344613" indent="-266700" algn="l" defTabSz="1300163" rtl="0" eaLnBrk="0" fontAlgn="base" hangingPunct="0">
        <a:spcBef>
          <a:spcPct val="20000"/>
        </a:spcBef>
        <a:spcAft>
          <a:spcPct val="0"/>
        </a:spcAft>
        <a:buFont typeface="Wingdings" pitchFamily="2" charset="2"/>
        <a:defRPr sz="2000">
          <a:solidFill>
            <a:schemeClr val="tx1"/>
          </a:solidFill>
          <a:latin typeface="+mn-lt"/>
          <a:cs typeface="+mn-cs"/>
        </a:defRPr>
      </a:lvl3pPr>
      <a:lvl4pPr marL="1973263" indent="-285750" algn="l" defTabSz="1300163" rtl="0" eaLnBrk="0" fontAlgn="base" hangingPunct="0">
        <a:spcBef>
          <a:spcPct val="20000"/>
        </a:spcBef>
        <a:spcAft>
          <a:spcPct val="0"/>
        </a:spcAft>
        <a:buFont typeface="Wingdings" pitchFamily="2" charset="2"/>
        <a:defRPr>
          <a:solidFill>
            <a:schemeClr val="tx1"/>
          </a:solidFill>
          <a:latin typeface="+mn-lt"/>
          <a:cs typeface="+mn-cs"/>
        </a:defRPr>
      </a:lvl4pPr>
      <a:lvl5pPr marL="2419350" indent="-266700" algn="l" defTabSz="1300163" rtl="0" eaLnBrk="0" fontAlgn="base" hangingPunct="0">
        <a:spcBef>
          <a:spcPct val="20000"/>
        </a:spcBef>
        <a:spcAft>
          <a:spcPct val="0"/>
        </a:spcAft>
        <a:buFont typeface="Wingdings" pitchFamily="2" charset="2"/>
        <a:defRPr sz="1600">
          <a:solidFill>
            <a:schemeClr val="tx1"/>
          </a:solidFill>
          <a:latin typeface="+mn-lt"/>
          <a:cs typeface="+mn-cs"/>
        </a:defRPr>
      </a:lvl5pPr>
      <a:lvl6pPr marL="2876550" indent="-266700" algn="l" defTabSz="1300163" rtl="0" fontAlgn="base">
        <a:spcBef>
          <a:spcPct val="20000"/>
        </a:spcBef>
        <a:spcAft>
          <a:spcPct val="0"/>
        </a:spcAft>
        <a:buFont typeface="Wingdings" pitchFamily="2" charset="2"/>
        <a:defRPr sz="1600">
          <a:solidFill>
            <a:schemeClr val="tx1"/>
          </a:solidFill>
          <a:latin typeface="+mn-lt"/>
          <a:cs typeface="+mn-cs"/>
        </a:defRPr>
      </a:lvl6pPr>
      <a:lvl7pPr marL="3333750" indent="-266700" algn="l" defTabSz="1300163" rtl="0" fontAlgn="base">
        <a:spcBef>
          <a:spcPct val="20000"/>
        </a:spcBef>
        <a:spcAft>
          <a:spcPct val="0"/>
        </a:spcAft>
        <a:buFont typeface="Wingdings" pitchFamily="2" charset="2"/>
        <a:defRPr sz="1600">
          <a:solidFill>
            <a:schemeClr val="tx1"/>
          </a:solidFill>
          <a:latin typeface="+mn-lt"/>
          <a:cs typeface="+mn-cs"/>
        </a:defRPr>
      </a:lvl7pPr>
      <a:lvl8pPr marL="3790950" indent="-266700" algn="l" defTabSz="1300163" rtl="0" fontAlgn="base">
        <a:spcBef>
          <a:spcPct val="20000"/>
        </a:spcBef>
        <a:spcAft>
          <a:spcPct val="0"/>
        </a:spcAft>
        <a:buFont typeface="Wingdings" pitchFamily="2" charset="2"/>
        <a:defRPr sz="1600">
          <a:solidFill>
            <a:schemeClr val="tx1"/>
          </a:solidFill>
          <a:latin typeface="+mn-lt"/>
          <a:cs typeface="+mn-cs"/>
        </a:defRPr>
      </a:lvl8pPr>
      <a:lvl9pPr marL="4248150" indent="-266700" algn="l" defTabSz="1300163" rtl="0" fontAlgn="base">
        <a:spcBef>
          <a:spcPct val="20000"/>
        </a:spcBef>
        <a:spcAft>
          <a:spcPct val="0"/>
        </a:spcAft>
        <a:buFont typeface="Wingdings" pitchFamily="2" charset="2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ChangeArrowheads="1"/>
          </p:cNvSpPr>
          <p:nvPr/>
        </p:nvSpPr>
        <p:spPr bwMode="auto">
          <a:xfrm>
            <a:off x="0" y="9461500"/>
            <a:ext cx="13004800" cy="292100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402435" name="Rectangle 3"/>
          <p:cNvSpPr>
            <a:spLocks noChangeArrowheads="1"/>
          </p:cNvSpPr>
          <p:nvPr/>
        </p:nvSpPr>
        <p:spPr bwMode="auto">
          <a:xfrm>
            <a:off x="0" y="9455150"/>
            <a:ext cx="4333875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046" tIns="65023" rIns="130046" bIns="65023" anchor="ctr">
            <a:spAutoFit/>
          </a:bodyPr>
          <a:lstStyle/>
          <a:p>
            <a:pPr defTabSz="1300163">
              <a:defRPr/>
            </a:pPr>
            <a:r>
              <a:rPr lang="pt-BR" sz="1100" dirty="0">
                <a:solidFill>
                  <a:schemeClr val="bg1"/>
                </a:solidFill>
                <a:cs typeface="Arial" pitchFamily="34" charset="0"/>
              </a:rPr>
              <a:t>© 2010 </a:t>
            </a:r>
            <a:r>
              <a:rPr lang="pt-BR" sz="1100" dirty="0" err="1">
                <a:solidFill>
                  <a:schemeClr val="bg1"/>
                </a:solidFill>
                <a:cs typeface="Arial" pitchFamily="34" charset="0"/>
              </a:rPr>
              <a:t>Direct</a:t>
            </a:r>
            <a:r>
              <a:rPr lang="pt-BR" sz="1100" dirty="0">
                <a:solidFill>
                  <a:schemeClr val="bg1"/>
                </a:solidFill>
                <a:cs typeface="Arial" pitchFamily="34" charset="0"/>
              </a:rPr>
              <a:t> Performance, todos os direitos reservados 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309563" y="484188"/>
            <a:ext cx="12314237" cy="11525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130046" tIns="65023" rIns="130046" bIns="6502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852613"/>
            <a:ext cx="12242800" cy="7272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0243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2266613" y="9447213"/>
            <a:ext cx="608012" cy="3429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none" lIns="130046" tIns="65023" rIns="130046" bIns="65023" numCol="1" anchor="t" anchorCtr="0" compatLnSpc="1">
            <a:prstTxWarp prst="textNoShape">
              <a:avLst/>
            </a:prstTxWarp>
            <a:sp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fld id="{29AD4AF5-B344-4C61-91B4-9EA96AFCD573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402439" name="Rectangle 7"/>
          <p:cNvSpPr>
            <a:spLocks noChangeArrowheads="1"/>
          </p:cNvSpPr>
          <p:nvPr/>
        </p:nvSpPr>
        <p:spPr bwMode="auto">
          <a:xfrm>
            <a:off x="0" y="0"/>
            <a:ext cx="13004800" cy="366713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 defTabSz="1300163">
              <a:defRPr/>
            </a:pPr>
            <a:endParaRPr lang="pt-BR" sz="140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3080" name="Picture 8" descr="simbolo_directperformance_quadrado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2334875" y="-46038"/>
            <a:ext cx="449263" cy="449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2441" name="Text Box 9"/>
          <p:cNvSpPr txBox="1">
            <a:spLocks noChangeArrowheads="1"/>
          </p:cNvSpPr>
          <p:nvPr/>
        </p:nvSpPr>
        <p:spPr bwMode="auto">
          <a:xfrm>
            <a:off x="309563" y="52388"/>
            <a:ext cx="119538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defTabSz="1300163">
              <a:defRPr/>
            </a:pPr>
            <a:r>
              <a:rPr lang="pt-BR" sz="1400" b="1">
                <a:solidFill>
                  <a:schemeClr val="bg1"/>
                </a:solidFill>
                <a:cs typeface="Arial" pitchFamily="34" charset="0"/>
              </a:rPr>
              <a:t>Direct Performance – Inteligência Otimizando Resultados</a:t>
            </a:r>
            <a:endParaRPr lang="pt-BR" b="1"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hf hdr="0" ftr="0" dt="0"/>
  <p:txStyles>
    <p:titleStyle>
      <a:lvl1pPr algn="l" defTabSz="1300163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+mj-lt"/>
          <a:ea typeface="+mj-ea"/>
          <a:cs typeface="+mj-cs"/>
        </a:defRPr>
      </a:lvl1pPr>
      <a:lvl2pPr algn="l" defTabSz="1300163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Verdana" pitchFamily="34" charset="0"/>
          <a:cs typeface="Arial" pitchFamily="34" charset="0"/>
        </a:defRPr>
      </a:lvl2pPr>
      <a:lvl3pPr algn="l" defTabSz="1300163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Verdana" pitchFamily="34" charset="0"/>
          <a:cs typeface="Arial" pitchFamily="34" charset="0"/>
        </a:defRPr>
      </a:lvl3pPr>
      <a:lvl4pPr algn="l" defTabSz="1300163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Verdana" pitchFamily="34" charset="0"/>
          <a:cs typeface="Arial" pitchFamily="34" charset="0"/>
        </a:defRPr>
      </a:lvl4pPr>
      <a:lvl5pPr algn="l" defTabSz="1300163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Verdana" pitchFamily="34" charset="0"/>
          <a:cs typeface="Arial" pitchFamily="34" charset="0"/>
        </a:defRPr>
      </a:lvl5pPr>
      <a:lvl6pPr marL="457200" algn="l" defTabSz="1300163" rtl="0" fontAlgn="base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Verdana" pitchFamily="34" charset="0"/>
          <a:cs typeface="Arial" pitchFamily="34" charset="0"/>
        </a:defRPr>
      </a:lvl6pPr>
      <a:lvl7pPr marL="914400" algn="l" defTabSz="1300163" rtl="0" fontAlgn="base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Verdana" pitchFamily="34" charset="0"/>
          <a:cs typeface="Arial" pitchFamily="34" charset="0"/>
        </a:defRPr>
      </a:lvl7pPr>
      <a:lvl8pPr marL="1371600" algn="l" defTabSz="1300163" rtl="0" fontAlgn="base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Verdana" pitchFamily="34" charset="0"/>
          <a:cs typeface="Arial" pitchFamily="34" charset="0"/>
        </a:defRPr>
      </a:lvl8pPr>
      <a:lvl9pPr marL="1828800" algn="l" defTabSz="1300163" rtl="0" fontAlgn="base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Verdana" pitchFamily="34" charset="0"/>
          <a:cs typeface="Arial" pitchFamily="34" charset="0"/>
        </a:defRPr>
      </a:lvl9pPr>
    </p:titleStyle>
    <p:bodyStyle>
      <a:lvl1pPr marL="361950" indent="-361950" algn="l" defTabSz="1300163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Blip>
          <a:blip r:embed="rId14"/>
        </a:buBlip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895350" indent="-354013" algn="l" defTabSz="1300163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Blip>
          <a:blip r:embed="rId15"/>
        </a:buBlip>
        <a:defRPr b="1">
          <a:solidFill>
            <a:schemeClr val="tx1"/>
          </a:solidFill>
          <a:latin typeface="+mn-lt"/>
          <a:cs typeface="+mn-cs"/>
        </a:defRPr>
      </a:lvl2pPr>
      <a:lvl3pPr marL="1344613" indent="-266700" algn="l" defTabSz="1300163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Blip>
          <a:blip r:embed="rId15"/>
        </a:buBlip>
        <a:defRPr sz="1600">
          <a:solidFill>
            <a:schemeClr val="tx1"/>
          </a:solidFill>
          <a:latin typeface="+mn-lt"/>
          <a:cs typeface="+mn-cs"/>
        </a:defRPr>
      </a:lvl3pPr>
      <a:lvl4pPr marL="1973263" indent="-285750" algn="l" defTabSz="1300163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Blip>
          <a:blip r:embed="rId15"/>
        </a:buBlip>
        <a:defRPr sz="1400">
          <a:solidFill>
            <a:schemeClr val="tx1"/>
          </a:solidFill>
          <a:latin typeface="+mn-lt"/>
          <a:cs typeface="+mn-cs"/>
        </a:defRPr>
      </a:lvl4pPr>
      <a:lvl5pPr marL="2419350" indent="-266700" algn="l" defTabSz="1300163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Blip>
          <a:blip r:embed="rId15"/>
        </a:buBlip>
        <a:defRPr sz="1200">
          <a:solidFill>
            <a:schemeClr val="tx1"/>
          </a:solidFill>
          <a:latin typeface="+mn-lt"/>
          <a:cs typeface="+mn-cs"/>
        </a:defRPr>
      </a:lvl5pPr>
      <a:lvl6pPr marL="2876550" indent="-266700" algn="l" defTabSz="1300163" rtl="0" fontAlgn="base">
        <a:spcBef>
          <a:spcPct val="20000"/>
        </a:spcBef>
        <a:spcAft>
          <a:spcPct val="0"/>
        </a:spcAft>
        <a:buFont typeface="Wingdings" pitchFamily="2" charset="2"/>
        <a:buBlip>
          <a:blip r:embed="rId15"/>
        </a:buBlip>
        <a:defRPr sz="1200">
          <a:solidFill>
            <a:schemeClr val="tx1"/>
          </a:solidFill>
          <a:latin typeface="+mn-lt"/>
          <a:cs typeface="+mn-cs"/>
        </a:defRPr>
      </a:lvl6pPr>
      <a:lvl7pPr marL="3333750" indent="-266700" algn="l" defTabSz="1300163" rtl="0" fontAlgn="base">
        <a:spcBef>
          <a:spcPct val="20000"/>
        </a:spcBef>
        <a:spcAft>
          <a:spcPct val="0"/>
        </a:spcAft>
        <a:buFont typeface="Wingdings" pitchFamily="2" charset="2"/>
        <a:buBlip>
          <a:blip r:embed="rId15"/>
        </a:buBlip>
        <a:defRPr sz="1200">
          <a:solidFill>
            <a:schemeClr val="tx1"/>
          </a:solidFill>
          <a:latin typeface="+mn-lt"/>
          <a:cs typeface="+mn-cs"/>
        </a:defRPr>
      </a:lvl7pPr>
      <a:lvl8pPr marL="3790950" indent="-266700" algn="l" defTabSz="1300163" rtl="0" fontAlgn="base">
        <a:spcBef>
          <a:spcPct val="20000"/>
        </a:spcBef>
        <a:spcAft>
          <a:spcPct val="0"/>
        </a:spcAft>
        <a:buFont typeface="Wingdings" pitchFamily="2" charset="2"/>
        <a:buBlip>
          <a:blip r:embed="rId15"/>
        </a:buBlip>
        <a:defRPr sz="1200">
          <a:solidFill>
            <a:schemeClr val="tx1"/>
          </a:solidFill>
          <a:latin typeface="+mn-lt"/>
          <a:cs typeface="+mn-cs"/>
        </a:defRPr>
      </a:lvl8pPr>
      <a:lvl9pPr marL="4248150" indent="-266700" algn="l" defTabSz="1300163" rtl="0" fontAlgn="base">
        <a:spcBef>
          <a:spcPct val="20000"/>
        </a:spcBef>
        <a:spcAft>
          <a:spcPct val="0"/>
        </a:spcAft>
        <a:buFont typeface="Wingdings" pitchFamily="2" charset="2"/>
        <a:buBlip>
          <a:blip r:embed="rId15"/>
        </a:buBlip>
        <a:defRPr sz="12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ChangeArrowheads="1"/>
          </p:cNvSpPr>
          <p:nvPr/>
        </p:nvSpPr>
        <p:spPr bwMode="auto">
          <a:xfrm>
            <a:off x="0" y="9461500"/>
            <a:ext cx="13004800" cy="292100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408579" name="Rectangle 3"/>
          <p:cNvSpPr>
            <a:spLocks noChangeArrowheads="1"/>
          </p:cNvSpPr>
          <p:nvPr/>
        </p:nvSpPr>
        <p:spPr bwMode="auto">
          <a:xfrm>
            <a:off x="0" y="9455150"/>
            <a:ext cx="4333875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046" tIns="65023" rIns="130046" bIns="65023" anchor="ctr">
            <a:spAutoFit/>
          </a:bodyPr>
          <a:lstStyle/>
          <a:p>
            <a:pPr defTabSz="1300163">
              <a:defRPr/>
            </a:pPr>
            <a:r>
              <a:rPr lang="pt-BR" sz="1100" dirty="0">
                <a:solidFill>
                  <a:schemeClr val="bg1"/>
                </a:solidFill>
                <a:cs typeface="Arial" pitchFamily="34" charset="0"/>
              </a:rPr>
              <a:t>© 2010 </a:t>
            </a:r>
            <a:r>
              <a:rPr lang="pt-BR" sz="1100" dirty="0" err="1">
                <a:solidFill>
                  <a:schemeClr val="bg1"/>
                </a:solidFill>
                <a:cs typeface="Arial" pitchFamily="34" charset="0"/>
              </a:rPr>
              <a:t>Direct</a:t>
            </a:r>
            <a:r>
              <a:rPr lang="pt-BR" sz="1100" dirty="0">
                <a:solidFill>
                  <a:schemeClr val="bg1"/>
                </a:solidFill>
                <a:cs typeface="Arial" pitchFamily="34" charset="0"/>
              </a:rPr>
              <a:t> Performance, todos os direitos reservados 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309563" y="484188"/>
            <a:ext cx="12314237" cy="11525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130046" tIns="65023" rIns="130046" bIns="6502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852613"/>
            <a:ext cx="12242800" cy="7272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0858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2266613" y="9447213"/>
            <a:ext cx="608012" cy="3429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none" lIns="130046" tIns="65023" rIns="130046" bIns="65023" numCol="1" anchor="t" anchorCtr="0" compatLnSpc="1">
            <a:prstTxWarp prst="textNoShape">
              <a:avLst/>
            </a:prstTxWarp>
            <a:sp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fld id="{46465756-74EC-46A8-8DED-7020E00138D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408583" name="Rectangle 7"/>
          <p:cNvSpPr>
            <a:spLocks noChangeArrowheads="1"/>
          </p:cNvSpPr>
          <p:nvPr/>
        </p:nvSpPr>
        <p:spPr bwMode="auto">
          <a:xfrm>
            <a:off x="0" y="0"/>
            <a:ext cx="13004800" cy="366713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 defTabSz="1300163">
              <a:defRPr/>
            </a:pPr>
            <a:endParaRPr lang="pt-BR" sz="140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4104" name="Picture 8" descr="simbolo_directperformance_quadrado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2334875" y="-46038"/>
            <a:ext cx="449263" cy="449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8585" name="Text Box 9"/>
          <p:cNvSpPr txBox="1">
            <a:spLocks noChangeArrowheads="1"/>
          </p:cNvSpPr>
          <p:nvPr/>
        </p:nvSpPr>
        <p:spPr bwMode="auto">
          <a:xfrm>
            <a:off x="309563" y="52388"/>
            <a:ext cx="119538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defTabSz="1300163">
              <a:defRPr/>
            </a:pPr>
            <a:r>
              <a:rPr lang="pt-BR" sz="1400" b="1">
                <a:solidFill>
                  <a:schemeClr val="bg1"/>
                </a:solidFill>
                <a:cs typeface="Arial" pitchFamily="34" charset="0"/>
              </a:rPr>
              <a:t>Direct Performance – Inteligência Otimizando Resultados</a:t>
            </a:r>
            <a:endParaRPr lang="pt-BR" b="1"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hf hdr="0" ftr="0" dt="0"/>
  <p:txStyles>
    <p:titleStyle>
      <a:lvl1pPr algn="l" defTabSz="1300163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+mj-lt"/>
          <a:ea typeface="+mj-ea"/>
          <a:cs typeface="+mj-cs"/>
        </a:defRPr>
      </a:lvl1pPr>
      <a:lvl2pPr algn="l" defTabSz="1300163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Verdana" pitchFamily="34" charset="0"/>
          <a:cs typeface="Arial" pitchFamily="34" charset="0"/>
        </a:defRPr>
      </a:lvl2pPr>
      <a:lvl3pPr algn="l" defTabSz="1300163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Verdana" pitchFamily="34" charset="0"/>
          <a:cs typeface="Arial" pitchFamily="34" charset="0"/>
        </a:defRPr>
      </a:lvl3pPr>
      <a:lvl4pPr algn="l" defTabSz="1300163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Verdana" pitchFamily="34" charset="0"/>
          <a:cs typeface="Arial" pitchFamily="34" charset="0"/>
        </a:defRPr>
      </a:lvl4pPr>
      <a:lvl5pPr algn="l" defTabSz="1300163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Verdana" pitchFamily="34" charset="0"/>
          <a:cs typeface="Arial" pitchFamily="34" charset="0"/>
        </a:defRPr>
      </a:lvl5pPr>
      <a:lvl6pPr marL="457200" algn="l" defTabSz="1300163" rtl="0" fontAlgn="base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Verdana" pitchFamily="34" charset="0"/>
          <a:cs typeface="Arial" pitchFamily="34" charset="0"/>
        </a:defRPr>
      </a:lvl6pPr>
      <a:lvl7pPr marL="914400" algn="l" defTabSz="1300163" rtl="0" fontAlgn="base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Verdana" pitchFamily="34" charset="0"/>
          <a:cs typeface="Arial" pitchFamily="34" charset="0"/>
        </a:defRPr>
      </a:lvl7pPr>
      <a:lvl8pPr marL="1371600" algn="l" defTabSz="1300163" rtl="0" fontAlgn="base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Verdana" pitchFamily="34" charset="0"/>
          <a:cs typeface="Arial" pitchFamily="34" charset="0"/>
        </a:defRPr>
      </a:lvl8pPr>
      <a:lvl9pPr marL="1828800" algn="l" defTabSz="1300163" rtl="0" fontAlgn="base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Verdana" pitchFamily="34" charset="0"/>
          <a:cs typeface="Arial" pitchFamily="34" charset="0"/>
        </a:defRPr>
      </a:lvl9pPr>
    </p:titleStyle>
    <p:bodyStyle>
      <a:lvl1pPr marL="361950" indent="-361950" algn="l" defTabSz="1300163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Blip>
          <a:blip r:embed="rId14"/>
        </a:buBlip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895350" indent="-354013" algn="l" defTabSz="1300163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Blip>
          <a:blip r:embed="rId15"/>
        </a:buBlip>
        <a:defRPr b="1">
          <a:solidFill>
            <a:schemeClr val="tx1"/>
          </a:solidFill>
          <a:latin typeface="+mn-lt"/>
          <a:cs typeface="+mn-cs"/>
        </a:defRPr>
      </a:lvl2pPr>
      <a:lvl3pPr marL="1344613" indent="-266700" algn="l" defTabSz="1300163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Blip>
          <a:blip r:embed="rId15"/>
        </a:buBlip>
        <a:defRPr sz="1600">
          <a:solidFill>
            <a:schemeClr val="tx1"/>
          </a:solidFill>
          <a:latin typeface="+mn-lt"/>
          <a:cs typeface="+mn-cs"/>
        </a:defRPr>
      </a:lvl3pPr>
      <a:lvl4pPr marL="1973263" indent="-285750" algn="l" defTabSz="1300163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Blip>
          <a:blip r:embed="rId15"/>
        </a:buBlip>
        <a:defRPr sz="1400">
          <a:solidFill>
            <a:schemeClr val="tx1"/>
          </a:solidFill>
          <a:latin typeface="+mn-lt"/>
          <a:cs typeface="+mn-cs"/>
        </a:defRPr>
      </a:lvl4pPr>
      <a:lvl5pPr marL="2419350" indent="-266700" algn="l" defTabSz="1300163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Blip>
          <a:blip r:embed="rId15"/>
        </a:buBlip>
        <a:defRPr sz="1200">
          <a:solidFill>
            <a:schemeClr val="tx1"/>
          </a:solidFill>
          <a:latin typeface="+mn-lt"/>
          <a:cs typeface="+mn-cs"/>
        </a:defRPr>
      </a:lvl5pPr>
      <a:lvl6pPr marL="2876550" indent="-266700" algn="l" defTabSz="1300163" rtl="0" fontAlgn="base">
        <a:spcBef>
          <a:spcPct val="20000"/>
        </a:spcBef>
        <a:spcAft>
          <a:spcPct val="0"/>
        </a:spcAft>
        <a:buFont typeface="Wingdings" pitchFamily="2" charset="2"/>
        <a:buBlip>
          <a:blip r:embed="rId15"/>
        </a:buBlip>
        <a:defRPr sz="1200">
          <a:solidFill>
            <a:schemeClr val="tx1"/>
          </a:solidFill>
          <a:latin typeface="+mn-lt"/>
          <a:cs typeface="+mn-cs"/>
        </a:defRPr>
      </a:lvl6pPr>
      <a:lvl7pPr marL="3333750" indent="-266700" algn="l" defTabSz="1300163" rtl="0" fontAlgn="base">
        <a:spcBef>
          <a:spcPct val="20000"/>
        </a:spcBef>
        <a:spcAft>
          <a:spcPct val="0"/>
        </a:spcAft>
        <a:buFont typeface="Wingdings" pitchFamily="2" charset="2"/>
        <a:buBlip>
          <a:blip r:embed="rId15"/>
        </a:buBlip>
        <a:defRPr sz="1200">
          <a:solidFill>
            <a:schemeClr val="tx1"/>
          </a:solidFill>
          <a:latin typeface="+mn-lt"/>
          <a:cs typeface="+mn-cs"/>
        </a:defRPr>
      </a:lvl7pPr>
      <a:lvl8pPr marL="3790950" indent="-266700" algn="l" defTabSz="1300163" rtl="0" fontAlgn="base">
        <a:spcBef>
          <a:spcPct val="20000"/>
        </a:spcBef>
        <a:spcAft>
          <a:spcPct val="0"/>
        </a:spcAft>
        <a:buFont typeface="Wingdings" pitchFamily="2" charset="2"/>
        <a:buBlip>
          <a:blip r:embed="rId15"/>
        </a:buBlip>
        <a:defRPr sz="1200">
          <a:solidFill>
            <a:schemeClr val="tx1"/>
          </a:solidFill>
          <a:latin typeface="+mn-lt"/>
          <a:cs typeface="+mn-cs"/>
        </a:defRPr>
      </a:lvl8pPr>
      <a:lvl9pPr marL="4248150" indent="-266700" algn="l" defTabSz="1300163" rtl="0" fontAlgn="base">
        <a:spcBef>
          <a:spcPct val="20000"/>
        </a:spcBef>
        <a:spcAft>
          <a:spcPct val="0"/>
        </a:spcAft>
        <a:buFont typeface="Wingdings" pitchFamily="2" charset="2"/>
        <a:buBlip>
          <a:blip r:embed="rId15"/>
        </a:buBlip>
        <a:defRPr sz="12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gif"/><Relationship Id="rId7" Type="http://schemas.openxmlformats.org/officeDocument/2006/relationships/image" Target="../media/image17.gif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11" Type="http://schemas.openxmlformats.org/officeDocument/2006/relationships/image" Target="../media/image21.png"/><Relationship Id="rId5" Type="http://schemas.openxmlformats.org/officeDocument/2006/relationships/image" Target="../media/image15.gif"/><Relationship Id="rId10" Type="http://schemas.openxmlformats.org/officeDocument/2006/relationships/image" Target="../media/image20.png"/><Relationship Id="rId4" Type="http://schemas.openxmlformats.org/officeDocument/2006/relationships/image" Target="../media/image14.gif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eg"/><Relationship Id="rId3" Type="http://schemas.openxmlformats.org/officeDocument/2006/relationships/image" Target="../media/image28.jpeg"/><Relationship Id="rId7" Type="http://schemas.openxmlformats.org/officeDocument/2006/relationships/image" Target="../media/image32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gif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hyperlink" Target="http://www.viajesfalabella.cl/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50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hyperlink" Target="http://www.taylorwoodrow.e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taylorwoodrow.es/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58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gi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gif"/><Relationship Id="rId3" Type="http://schemas.openxmlformats.org/officeDocument/2006/relationships/image" Target="../media/image63.png"/><Relationship Id="rId7" Type="http://schemas.openxmlformats.org/officeDocument/2006/relationships/image" Target="../media/image65.gif"/><Relationship Id="rId12" Type="http://schemas.openxmlformats.org/officeDocument/2006/relationships/image" Target="../media/image70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37.gif"/><Relationship Id="rId10" Type="http://schemas.openxmlformats.org/officeDocument/2006/relationships/image" Target="../media/image68.png"/><Relationship Id="rId4" Type="http://schemas.openxmlformats.org/officeDocument/2006/relationships/image" Target="../media/image38.png"/><Relationship Id="rId9" Type="http://schemas.openxmlformats.org/officeDocument/2006/relationships/image" Target="../media/image67.gi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gi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mailto:gerson.ribeiro@directperformance.com.br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jpeg"/><Relationship Id="rId5" Type="http://schemas.openxmlformats.org/officeDocument/2006/relationships/hyperlink" Target="mailto:eduardo@directperformance.com.br" TargetMode="External"/><Relationship Id="rId4" Type="http://schemas.openxmlformats.org/officeDocument/2006/relationships/image" Target="../media/image79.gi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74725" y="3803650"/>
            <a:ext cx="11055350" cy="869980"/>
          </a:xfrm>
        </p:spPr>
        <p:txBody>
          <a:bodyPr/>
          <a:lstStyle/>
          <a:p>
            <a:r>
              <a:rPr lang="pt-BR" sz="4800" dirty="0" smtClean="0"/>
              <a:t>Otimização de </a:t>
            </a:r>
            <a:r>
              <a:rPr lang="pt-BR" sz="4800" dirty="0" err="1" smtClean="0"/>
              <a:t>Landing</a:t>
            </a:r>
            <a:r>
              <a:rPr lang="pt-BR" sz="4800" dirty="0" smtClean="0"/>
              <a:t> </a:t>
            </a:r>
            <a:r>
              <a:rPr lang="pt-BR" sz="4800" dirty="0" err="1" smtClean="0"/>
              <a:t>Pages</a:t>
            </a:r>
            <a:endParaRPr lang="pt-BR" sz="4800" dirty="0" smtClean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957784" y="5302964"/>
            <a:ext cx="11055350" cy="50064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130046" tIns="65023" rIns="130046" bIns="65023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1300163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Eduardo Cereto / Gerson</a:t>
            </a:r>
            <a:r>
              <a:rPr kumimoji="0" lang="pt-BR" sz="2400" b="1" i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Ribeiro</a:t>
            </a:r>
            <a:endParaRPr kumimoji="0" lang="pt-BR" sz="2400" b="1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6" name="Picture 4" descr="\\192.168.0.151\Direct Performance\Apresentações\Eventos\SearchLabs\SearchLabs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9752" y="268288"/>
            <a:ext cx="2520280" cy="138159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0" y="1708448"/>
            <a:ext cx="13004800" cy="792088"/>
          </a:xfrm>
          <a:prstGeom prst="rect">
            <a:avLst/>
          </a:prstGeom>
          <a:solidFill>
            <a:srgbClr val="FF99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pPr defTabSz="1300163"/>
            <a:fld id="{5D6F9AF1-7AA7-4A51-83D8-F302FFBFA799}" type="slidenum">
              <a:rPr lang="en-US"/>
              <a:pPr defTabSz="1300163"/>
              <a:t>2</a:t>
            </a:fld>
            <a:endParaRPr 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Agenda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dirty="0" smtClean="0">
                <a:solidFill>
                  <a:schemeClr val="bg1"/>
                </a:solidFill>
              </a:rPr>
              <a:t>O que é Landing Page?</a:t>
            </a:r>
          </a:p>
          <a:p>
            <a:pPr eaLnBrk="1" hangingPunct="1"/>
            <a:endParaRPr lang="pt-BR" dirty="0" smtClean="0">
              <a:solidFill>
                <a:srgbClr val="C00000"/>
              </a:solidFill>
            </a:endParaRPr>
          </a:p>
          <a:p>
            <a:pPr eaLnBrk="1" hangingPunct="1"/>
            <a:r>
              <a:rPr lang="pt-BR" dirty="0" smtClean="0">
                <a:solidFill>
                  <a:srgbClr val="C00000"/>
                </a:solidFill>
              </a:rPr>
              <a:t>Por quê Otimizar?</a:t>
            </a:r>
          </a:p>
          <a:p>
            <a:pPr eaLnBrk="1" hangingPunct="1"/>
            <a:endParaRPr lang="pt-BR" dirty="0" smtClean="0">
              <a:solidFill>
                <a:srgbClr val="C00000"/>
              </a:solidFill>
            </a:endParaRPr>
          </a:p>
          <a:p>
            <a:pPr eaLnBrk="1" hangingPunct="1"/>
            <a:r>
              <a:rPr lang="pt-BR" dirty="0" smtClean="0">
                <a:solidFill>
                  <a:srgbClr val="C00000"/>
                </a:solidFill>
              </a:rPr>
              <a:t>Criação da Landing Page</a:t>
            </a:r>
          </a:p>
          <a:p>
            <a:pPr eaLnBrk="1" hangingPunct="1"/>
            <a:endParaRPr lang="pt-BR" dirty="0" smtClean="0">
              <a:solidFill>
                <a:srgbClr val="C00000"/>
              </a:solidFill>
            </a:endParaRPr>
          </a:p>
          <a:p>
            <a:pPr eaLnBrk="1" hangingPunct="1"/>
            <a:r>
              <a:rPr lang="pt-BR" dirty="0" smtClean="0">
                <a:solidFill>
                  <a:srgbClr val="C00000"/>
                </a:solidFill>
              </a:rPr>
              <a:t>Teste ... Teste ... Teste ...</a:t>
            </a:r>
          </a:p>
          <a:p>
            <a:pPr eaLnBrk="1" hangingPunct="1"/>
            <a:endParaRPr lang="pt-BR" dirty="0" smtClean="0">
              <a:solidFill>
                <a:srgbClr val="C00000"/>
              </a:solidFill>
            </a:endParaRPr>
          </a:p>
          <a:p>
            <a:pPr eaLnBrk="1" hangingPunct="1"/>
            <a:r>
              <a:rPr lang="pt-BR" dirty="0" smtClean="0">
                <a:solidFill>
                  <a:srgbClr val="C00000"/>
                </a:solidFill>
              </a:rPr>
              <a:t>Customização por Segmento</a:t>
            </a:r>
          </a:p>
        </p:txBody>
      </p:sp>
      <p:pic>
        <p:nvPicPr>
          <p:cNvPr id="7" name="Picture 4" descr="\\192.168.0.151\Direct Performance\Apresentações\Eventos\SearchLabs\SearchLabs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886776" y="7685112"/>
            <a:ext cx="2758460" cy="151216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é uma Landing Page?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pt-BR" dirty="0" smtClean="0"/>
              <a:t>É a página que o usuário </a:t>
            </a:r>
            <a:r>
              <a:rPr lang="pt-BR" sz="2800" dirty="0" smtClean="0">
                <a:solidFill>
                  <a:srgbClr val="FFC000"/>
                </a:solidFill>
              </a:rPr>
              <a:t>entra no site ...</a:t>
            </a:r>
          </a:p>
          <a:p>
            <a:pPr>
              <a:buNone/>
            </a:pPr>
            <a:endParaRPr lang="pt-BR" dirty="0" smtClean="0">
              <a:solidFill>
                <a:srgbClr val="FFC000"/>
              </a:solidFill>
            </a:endParaRPr>
          </a:p>
          <a:p>
            <a:r>
              <a:rPr lang="pt-BR" dirty="0" smtClean="0"/>
              <a:t>... Ao clicar em uma </a:t>
            </a:r>
            <a:r>
              <a:rPr lang="pt-BR" sz="2800" dirty="0" smtClean="0">
                <a:solidFill>
                  <a:srgbClr val="FFC000"/>
                </a:solidFill>
              </a:rPr>
              <a:t>campanha</a:t>
            </a:r>
            <a:endParaRPr lang="pt-BR" dirty="0" smtClean="0">
              <a:solidFill>
                <a:srgbClr val="FFC000"/>
              </a:solidFill>
            </a:endParaRPr>
          </a:p>
          <a:p>
            <a:r>
              <a:rPr lang="pt-BR" dirty="0" smtClean="0"/>
              <a:t>... Ao clicar em um </a:t>
            </a:r>
            <a:r>
              <a:rPr lang="pt-BR" sz="2800" dirty="0" smtClean="0">
                <a:solidFill>
                  <a:srgbClr val="FFC000"/>
                </a:solidFill>
              </a:rPr>
              <a:t>resultado no Site de Busca </a:t>
            </a:r>
            <a:r>
              <a:rPr lang="pt-BR" dirty="0" smtClean="0"/>
              <a:t>(ex. Google, Bing, etc)</a:t>
            </a:r>
          </a:p>
          <a:p>
            <a:r>
              <a:rPr lang="pt-BR" dirty="0" smtClean="0"/>
              <a:t>... Ao </a:t>
            </a:r>
            <a:r>
              <a:rPr lang="pt-BR" sz="2800" dirty="0" smtClean="0">
                <a:solidFill>
                  <a:srgbClr val="FFC000"/>
                </a:solidFill>
              </a:rPr>
              <a:t>digitar seu endereço </a:t>
            </a:r>
            <a:r>
              <a:rPr lang="pt-BR" dirty="0" smtClean="0"/>
              <a:t>na barra de navegação do navegador</a:t>
            </a:r>
          </a:p>
          <a:p>
            <a:r>
              <a:rPr lang="pt-BR" dirty="0" smtClean="0"/>
              <a:t>... Ao clicar em um </a:t>
            </a:r>
            <a:r>
              <a:rPr lang="pt-BR" sz="2800" dirty="0" smtClean="0">
                <a:solidFill>
                  <a:srgbClr val="FFC000"/>
                </a:solidFill>
              </a:rPr>
              <a:t>Link na rede social </a:t>
            </a:r>
            <a:r>
              <a:rPr lang="pt-BR" dirty="0" smtClean="0"/>
              <a:t>(ex. Twitter, Orkut, etc)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/>
              <a:t>Enfim, </a:t>
            </a:r>
            <a:r>
              <a:rPr lang="pt-BR" sz="2800" dirty="0" smtClean="0">
                <a:solidFill>
                  <a:srgbClr val="FFC000"/>
                </a:solidFill>
              </a:rPr>
              <a:t>toda página pode ser uma landing page!!!!</a:t>
            </a:r>
            <a:endParaRPr lang="pt-BR" dirty="0" smtClean="0"/>
          </a:p>
          <a:p>
            <a:endParaRPr lang="pt-BR" dirty="0" smtClean="0"/>
          </a:p>
          <a:p>
            <a:pPr lvl="1">
              <a:buNone/>
            </a:pPr>
            <a:endParaRPr lang="pt-BR" dirty="0" smtClean="0"/>
          </a:p>
          <a:p>
            <a:pPr lvl="1">
              <a:buNone/>
            </a:pPr>
            <a:endParaRPr lang="pt-BR" dirty="0" smtClean="0"/>
          </a:p>
          <a:p>
            <a:pPr lvl="1">
              <a:buNone/>
            </a:pPr>
            <a:r>
              <a:rPr lang="pt-BR" i="1" dirty="0" smtClean="0"/>
              <a:t>“Você precisa otimizar cada página do seu site como se fosse a primeira que o usuário vai ver ...</a:t>
            </a:r>
          </a:p>
          <a:p>
            <a:endParaRPr lang="pt-BR" i="1" dirty="0" smtClean="0"/>
          </a:p>
          <a:p>
            <a:pPr lvl="2">
              <a:buNone/>
            </a:pPr>
            <a:r>
              <a:rPr lang="pt-BR" sz="2000" b="1" i="1" dirty="0" smtClean="0"/>
              <a:t>Você precisa otimizar cada página do seu site como se fosse a última que o usuário vai ver”</a:t>
            </a:r>
          </a:p>
          <a:p>
            <a:endParaRPr lang="pt-BR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E0E8-EF2A-47E5-858D-DF8D682E2C50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Oval Callout 4"/>
          <p:cNvSpPr/>
          <p:nvPr/>
        </p:nvSpPr>
        <p:spPr bwMode="auto">
          <a:xfrm>
            <a:off x="8590632" y="1204392"/>
            <a:ext cx="2664296" cy="1584176"/>
          </a:xfrm>
          <a:prstGeom prst="wedgeEllipseCallout">
            <a:avLst>
              <a:gd name="adj1" fmla="val -145697"/>
              <a:gd name="adj2" fmla="val 65137"/>
            </a:avLst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A única que você possui 100% de domínio!!!!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pPr defTabSz="1300163"/>
            <a:fld id="{5D6F9AF1-7AA7-4A51-83D8-F302FFBFA799}" type="slidenum">
              <a:rPr lang="en-US"/>
              <a:pPr defTabSz="1300163"/>
              <a:t>4</a:t>
            </a:fld>
            <a:endParaRPr 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525736" y="3508251"/>
            <a:ext cx="12098213" cy="1800597"/>
          </a:xfrm>
        </p:spPr>
        <p:txBody>
          <a:bodyPr/>
          <a:lstStyle/>
          <a:p>
            <a:pPr algn="ctr" eaLnBrk="1" hangingPunct="1"/>
            <a:r>
              <a:rPr lang="pt-BR" sz="4800" dirty="0" smtClean="0"/>
              <a:t>Qual deve ser minha Landing Page de Campanha????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Sempre usar uma Página com Call to Action!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E0E8-EF2A-47E5-858D-DF8D682E2C50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2052" name="Picture 4" descr="C:\Documents and Settings\ecarvalho\My Documents\Downloads\download (5)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3768" y="2068488"/>
            <a:ext cx="7128792" cy="40337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050" name="Picture 2" descr="C:\Documents and Settings\ecarvalho\My Documents\Downloads\download (3)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94088" y="6028928"/>
            <a:ext cx="8877300" cy="28860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Multiply 7"/>
          <p:cNvSpPr/>
          <p:nvPr/>
        </p:nvSpPr>
        <p:spPr bwMode="auto">
          <a:xfrm>
            <a:off x="9166696" y="3580656"/>
            <a:ext cx="1944216" cy="1944216"/>
          </a:xfrm>
          <a:prstGeom prst="mathMultiply">
            <a:avLst/>
          </a:prstGeom>
          <a:solidFill>
            <a:srgbClr val="C00000"/>
          </a:solidFill>
          <a:ln w="9525" cap="flat" cmpd="sng" algn="ctr">
            <a:solidFill>
              <a:srgbClr val="99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pic>
        <p:nvPicPr>
          <p:cNvPr id="2053" name="Picture 5" descr="C:\Documents and Settings\ecarvalho\My Documents\Downloads\1280179919_camera_test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85776" y="7397080"/>
            <a:ext cx="1636539" cy="1636539"/>
          </a:xfrm>
          <a:prstGeom prst="rect">
            <a:avLst/>
          </a:prstGeom>
          <a:noFill/>
        </p:spPr>
      </p:pic>
      <p:sp>
        <p:nvSpPr>
          <p:cNvPr id="9" name="Title 1"/>
          <p:cNvSpPr txBox="1">
            <a:spLocks/>
          </p:cNvSpPr>
          <p:nvPr/>
        </p:nvSpPr>
        <p:spPr bwMode="auto">
          <a:xfrm>
            <a:off x="9022680" y="2428528"/>
            <a:ext cx="2232248" cy="11525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130046" tIns="65023" rIns="130046" bIns="65023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Home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525736" y="6460976"/>
            <a:ext cx="2448272" cy="11525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130046" tIns="65023" rIns="130046" bIns="65023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Produto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  <p:bldP spid="9" grpId="1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Ainda podemos customizar a Landing Page conforme o Target de sua Campanha ...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E0E8-EF2A-47E5-858D-DF8D682E2C50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5" name="Picture 3" descr="C:\Documents and Settings\ecarvalho\My Documents\Downloads\download (4)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34248" y="2212504"/>
            <a:ext cx="7019925" cy="65913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Rectangle 6"/>
          <p:cNvSpPr/>
          <p:nvPr/>
        </p:nvSpPr>
        <p:spPr bwMode="auto">
          <a:xfrm>
            <a:off x="957784" y="2644552"/>
            <a:ext cx="2808312" cy="223224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pitchFamily="34" charset="0"/>
              </a:rPr>
              <a:t>Usuário procura por carros de luxo no Site de Busca</a:t>
            </a:r>
            <a:endParaRPr kumimoji="0" lang="en-US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sp>
        <p:nvSpPr>
          <p:cNvPr id="8" name="Right Arrow 7"/>
          <p:cNvSpPr/>
          <p:nvPr/>
        </p:nvSpPr>
        <p:spPr bwMode="auto">
          <a:xfrm rot="2106780">
            <a:off x="3206946" y="4746118"/>
            <a:ext cx="2664296" cy="1152128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sp>
        <p:nvSpPr>
          <p:cNvPr id="10" name="Oval Callout 9"/>
          <p:cNvSpPr/>
          <p:nvPr/>
        </p:nvSpPr>
        <p:spPr bwMode="auto">
          <a:xfrm>
            <a:off x="5278264" y="2212504"/>
            <a:ext cx="2613968" cy="1728192"/>
          </a:xfrm>
          <a:prstGeom prst="wedgeEllipseCallout">
            <a:avLst>
              <a:gd name="adj1" fmla="val 57793"/>
              <a:gd name="adj2" fmla="val 29180"/>
            </a:avLst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Mensagem customizada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sp>
        <p:nvSpPr>
          <p:cNvPr id="11" name="Oval Callout 10"/>
          <p:cNvSpPr/>
          <p:nvPr/>
        </p:nvSpPr>
        <p:spPr bwMode="auto">
          <a:xfrm>
            <a:off x="2109912" y="6749008"/>
            <a:ext cx="2613968" cy="1728192"/>
          </a:xfrm>
          <a:prstGeom prst="wedgeEllipseCallout">
            <a:avLst>
              <a:gd name="adj1" fmla="val 230891"/>
              <a:gd name="adj2" fmla="val -101273"/>
            </a:avLst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Linha Criativa customizada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pPr defTabSz="1300163"/>
            <a:fld id="{5D6F9AF1-7AA7-4A51-83D8-F302FFBFA799}" type="slidenum">
              <a:rPr lang="en-US"/>
              <a:pPr defTabSz="1300163"/>
              <a:t>7</a:t>
            </a:fld>
            <a:endParaRPr 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525736" y="3508251"/>
            <a:ext cx="12098213" cy="1800597"/>
          </a:xfrm>
        </p:spPr>
        <p:txBody>
          <a:bodyPr/>
          <a:lstStyle/>
          <a:p>
            <a:pPr algn="ctr" eaLnBrk="1" hangingPunct="1"/>
            <a:r>
              <a:rPr lang="pt-BR" sz="4800" dirty="0" smtClean="0"/>
              <a:t>Você sabe quais são as </a:t>
            </a:r>
            <a:r>
              <a:rPr lang="pt-BR" sz="4800" dirty="0" smtClean="0">
                <a:solidFill>
                  <a:srgbClr val="FF9900"/>
                </a:solidFill>
              </a:rPr>
              <a:t>principais</a:t>
            </a:r>
            <a:r>
              <a:rPr lang="pt-BR" sz="4800" dirty="0" smtClean="0"/>
              <a:t> Landing Pages de seu Site????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Cuidado!!! Elas podem te surpreender ....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E0E8-EF2A-47E5-858D-DF8D682E2C50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1028" name="Picture 4" descr="C:\Documents and Settings\ecarvalho\My Documents\Downloads\download (2)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09912" y="3868688"/>
            <a:ext cx="10345978" cy="2459732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 bwMode="auto">
          <a:xfrm>
            <a:off x="957784" y="1852464"/>
            <a:ext cx="4464496" cy="14401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No site da Direct Performance</a:t>
            </a:r>
            <a:r>
              <a:rPr kumimoji="0" lang="pt-BR" sz="20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 uma das principais </a:t>
            </a:r>
            <a:r>
              <a:rPr lang="pt-BR" sz="2000" dirty="0" smtClean="0">
                <a:solidFill>
                  <a:schemeClr val="bg1"/>
                </a:solidFill>
                <a:latin typeface="Verdana" pitchFamily="34" charset="0"/>
                <a:cs typeface="Arial" pitchFamily="34" charset="0"/>
              </a:rPr>
              <a:t>L</a:t>
            </a:r>
            <a:r>
              <a:rPr kumimoji="0" lang="pt-BR" sz="20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anding </a:t>
            </a:r>
            <a:r>
              <a:rPr lang="pt-BR" sz="2000" dirty="0" smtClean="0">
                <a:solidFill>
                  <a:schemeClr val="bg1"/>
                </a:solidFill>
                <a:latin typeface="Verdana" pitchFamily="34" charset="0"/>
                <a:cs typeface="Arial" pitchFamily="34" charset="0"/>
              </a:rPr>
              <a:t>P</a:t>
            </a:r>
            <a:r>
              <a:rPr kumimoji="0" lang="pt-BR" sz="20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ages é a página de Trabalhe conosco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sp>
        <p:nvSpPr>
          <p:cNvPr id="9" name="Curved Down Arrow 8"/>
          <p:cNvSpPr/>
          <p:nvPr/>
        </p:nvSpPr>
        <p:spPr bwMode="auto">
          <a:xfrm rot="15730800" flipH="1">
            <a:off x="199128" y="3286196"/>
            <a:ext cx="2016224" cy="2160240"/>
          </a:xfrm>
          <a:prstGeom prst="curvedDownArrow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7222480" y="1852464"/>
            <a:ext cx="4464496" cy="14401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Porém é uma das que tem o Bounce</a:t>
            </a:r>
            <a:r>
              <a:rPr kumimoji="0" lang="pt-BR" sz="20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 Rate mais elevado.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sp>
        <p:nvSpPr>
          <p:cNvPr id="13" name="Right Arrow 12"/>
          <p:cNvSpPr/>
          <p:nvPr/>
        </p:nvSpPr>
        <p:spPr bwMode="auto">
          <a:xfrm rot="2681148">
            <a:off x="9865249" y="3468998"/>
            <a:ext cx="2138497" cy="1152128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sp>
        <p:nvSpPr>
          <p:cNvPr id="11" name="Oval Callout 10"/>
          <p:cNvSpPr/>
          <p:nvPr/>
        </p:nvSpPr>
        <p:spPr bwMode="auto">
          <a:xfrm>
            <a:off x="1605856" y="7181056"/>
            <a:ext cx="10297144" cy="1728192"/>
          </a:xfrm>
          <a:prstGeom prst="wedgeEllipseCallout">
            <a:avLst>
              <a:gd name="adj1" fmla="val 7013"/>
              <a:gd name="adj2" fmla="val -174546"/>
            </a:avLst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 smtClean="0">
                <a:solidFill>
                  <a:schemeClr val="bg1"/>
                </a:solidFill>
                <a:latin typeface="Verdana" pitchFamily="34" charset="0"/>
                <a:cs typeface="Arial" pitchFamily="34" charset="0"/>
              </a:rPr>
              <a:t>Conhecer, testar e melhorar suas Landing Pages pode melhorar muito o </a:t>
            </a:r>
            <a:r>
              <a:rPr lang="pt-BR" sz="2400" b="1" dirty="0" smtClean="0">
                <a:solidFill>
                  <a:schemeClr val="bg1"/>
                </a:solidFill>
                <a:latin typeface="Verdana" pitchFamily="34" charset="0"/>
                <a:cs typeface="Arial" pitchFamily="34" charset="0"/>
              </a:rPr>
              <a:t>Engajamento</a:t>
            </a:r>
            <a:r>
              <a:rPr lang="pt-BR" sz="2000" dirty="0" smtClean="0">
                <a:solidFill>
                  <a:schemeClr val="bg1"/>
                </a:solidFill>
                <a:latin typeface="Verdana" pitchFamily="34" charset="0"/>
                <a:cs typeface="Arial" pitchFamily="34" charset="0"/>
              </a:rPr>
              <a:t> e o </a:t>
            </a:r>
            <a:r>
              <a:rPr lang="pt-BR" sz="2400" b="1" dirty="0" smtClean="0">
                <a:solidFill>
                  <a:schemeClr val="bg1"/>
                </a:solidFill>
                <a:latin typeface="Verdana" pitchFamily="34" charset="0"/>
                <a:cs typeface="Arial" pitchFamily="34" charset="0"/>
              </a:rPr>
              <a:t>Fluxo de Navegação</a:t>
            </a:r>
            <a:r>
              <a:rPr lang="pt-BR" sz="2000" dirty="0" smtClean="0">
                <a:solidFill>
                  <a:schemeClr val="bg1"/>
                </a:solidFill>
                <a:latin typeface="Verdana" pitchFamily="34" charset="0"/>
                <a:cs typeface="Arial" pitchFamily="34" charset="0"/>
              </a:rPr>
              <a:t> de seu Site!!!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3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pPr defTabSz="1300163"/>
            <a:fld id="{5D6F9AF1-7AA7-4A51-83D8-F302FFBFA799}" type="slidenum">
              <a:rPr lang="en-US"/>
              <a:pPr defTabSz="1300163"/>
              <a:t>9</a:t>
            </a:fld>
            <a:endParaRPr 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525736" y="2860576"/>
            <a:ext cx="12098213" cy="1800597"/>
          </a:xfrm>
        </p:spPr>
        <p:txBody>
          <a:bodyPr/>
          <a:lstStyle/>
          <a:p>
            <a:pPr algn="ctr" eaLnBrk="1" hangingPunct="1"/>
            <a:r>
              <a:rPr lang="pt-BR" sz="4800" dirty="0" smtClean="0"/>
              <a:t>Ok! E como eu sei quais são minhas principais Landing Pages???</a:t>
            </a:r>
            <a:br>
              <a:rPr lang="pt-BR" sz="4800" dirty="0" smtClean="0"/>
            </a:br>
            <a:endParaRPr lang="pt-BR" sz="4800" dirty="0" smtClean="0"/>
          </a:p>
        </p:txBody>
      </p:sp>
      <p:pic>
        <p:nvPicPr>
          <p:cNvPr id="4098" name="Picture 2" descr="http://adebiologo.wikispaces.com/file/view/lupa.jpg/34805201/lup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14908" y="5680619"/>
            <a:ext cx="5636164" cy="337264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pPr defTabSz="1300163"/>
            <a:fld id="{5D6F9AF1-7AA7-4A51-83D8-F302FFBFA799}" type="slidenum">
              <a:rPr lang="en-US"/>
              <a:pPr defTabSz="1300163"/>
              <a:t>10</a:t>
            </a:fld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309563" y="484188"/>
            <a:ext cx="12314237" cy="11525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130046" tIns="65023" rIns="130046" bIns="65023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O primeiro passo é ter uma ferramenta de </a:t>
            </a:r>
            <a:r>
              <a:rPr kumimoji="0" lang="pt-BR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Web Analytics </a:t>
            </a:r>
            <a:r>
              <a:rPr kumimoji="0" lang="pt-BR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... 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" name="Picture 2" descr="Webtrend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06054" y="4804792"/>
            <a:ext cx="2168154" cy="367283"/>
          </a:xfrm>
          <a:prstGeom prst="rect">
            <a:avLst/>
          </a:prstGeom>
          <a:noFill/>
        </p:spPr>
      </p:pic>
      <p:pic>
        <p:nvPicPr>
          <p:cNvPr id="8" name="Picture 4" descr="Coremetrics | Relentless Made Easy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73808" y="3004592"/>
            <a:ext cx="1666875" cy="695325"/>
          </a:xfrm>
          <a:prstGeom prst="rect">
            <a:avLst/>
          </a:prstGeom>
          <a:noFill/>
        </p:spPr>
      </p:pic>
      <p:pic>
        <p:nvPicPr>
          <p:cNvPr id="9" name="Picture 6" descr="Google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21549" y="3220616"/>
            <a:ext cx="2716955" cy="525017"/>
          </a:xfrm>
          <a:prstGeom prst="rect">
            <a:avLst/>
          </a:prstGeom>
          <a:noFill/>
        </p:spPr>
      </p:pic>
      <p:pic>
        <p:nvPicPr>
          <p:cNvPr id="10" name="Picture 8" descr="http://brontoversity.com/wp-content/uploads/2010/01/omniture-logo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952282" y="4300736"/>
            <a:ext cx="2646462" cy="1443525"/>
          </a:xfrm>
          <a:prstGeom prst="rect">
            <a:avLst/>
          </a:prstGeom>
          <a:noFill/>
        </p:spPr>
      </p:pic>
      <p:pic>
        <p:nvPicPr>
          <p:cNvPr id="11" name="Picture 10" descr="Urchin from Google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9020657" y="3076600"/>
            <a:ext cx="2234271" cy="678558"/>
          </a:xfrm>
          <a:prstGeom prst="rect">
            <a:avLst/>
          </a:prstGeom>
          <a:noFill/>
        </p:spPr>
      </p:pic>
      <p:pic>
        <p:nvPicPr>
          <p:cNvPr id="12" name="Picture 13" descr="C:\Documents and Settings\ecarvalho\My Documents\Downloads\download (12)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150472" y="8045152"/>
            <a:ext cx="2143125" cy="466725"/>
          </a:xfrm>
          <a:prstGeom prst="rect">
            <a:avLst/>
          </a:prstGeom>
          <a:noFill/>
        </p:spPr>
      </p:pic>
      <p:pic>
        <p:nvPicPr>
          <p:cNvPr id="13" name="Picture 16" descr="C:\Documents and Settings\ecarvalho\My Documents\Downloads\download (13)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541960" y="7973144"/>
            <a:ext cx="2486025" cy="514350"/>
          </a:xfrm>
          <a:prstGeom prst="rect">
            <a:avLst/>
          </a:prstGeom>
          <a:noFill/>
        </p:spPr>
      </p:pic>
      <p:pic>
        <p:nvPicPr>
          <p:cNvPr id="14" name="Picture 17" descr="C:\Documents and Settings\ecarvalho\My Documents\Downloads\download (14).pn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9166696" y="6290703"/>
            <a:ext cx="2016224" cy="746337"/>
          </a:xfrm>
          <a:prstGeom prst="rect">
            <a:avLst/>
          </a:prstGeom>
          <a:noFill/>
        </p:spPr>
      </p:pic>
      <p:pic>
        <p:nvPicPr>
          <p:cNvPr id="15" name="Picture 2" descr="Logo Certifica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4702200" y="6244952"/>
            <a:ext cx="2232248" cy="759914"/>
          </a:xfrm>
          <a:prstGeom prst="rect">
            <a:avLst/>
          </a:prstGeom>
          <a:noFill/>
        </p:spPr>
      </p:pic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813768" y="6244952"/>
            <a:ext cx="248602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pPr defTabSz="1300163"/>
            <a:fld id="{5D6F9AF1-7AA7-4A51-83D8-F302FFBFA799}" type="slidenum">
              <a:rPr lang="en-US"/>
              <a:pPr defTabSz="1300163"/>
              <a:t>11</a:t>
            </a:fld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309563" y="484188"/>
            <a:ext cx="12314237" cy="11525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130046" tIns="65023" rIns="130046" bIns="65023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 se divertir</a:t>
            </a:r>
            <a:r>
              <a:rPr kumimoji="0" lang="pt-BR" sz="3600" b="1" i="0" u="none" strike="noStrike" kern="0" cap="none" spc="0" normalizeH="0" noProof="0" dirty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com todas as informações extraídas dela ...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14" y="2481735"/>
            <a:ext cx="13004800" cy="664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0" y="7743825"/>
            <a:ext cx="13004800" cy="1395413"/>
          </a:xfrm>
          <a:prstGeom prst="rect">
            <a:avLst/>
          </a:prstGeom>
          <a:solidFill>
            <a:srgbClr val="000000">
              <a:alpha val="8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lIns="130046" tIns="65023" rIns="130046" bIns="65023" anchor="ctr" anchorCtr="1"/>
          <a:lstStyle/>
          <a:p>
            <a:pPr algn="ctr" defTabSz="1300163"/>
            <a:r>
              <a:rPr lang="pt-BR" sz="3400" b="1" dirty="0" smtClean="0">
                <a:solidFill>
                  <a:schemeClr val="bg1"/>
                </a:solidFill>
                <a:latin typeface="Arial" charset="0"/>
              </a:rPr>
              <a:t>Ok! Mas, e qual métrica eu olho para analisar uma landing page?</a:t>
            </a:r>
            <a:endParaRPr lang="pt-BR" sz="3400" b="1" dirty="0">
              <a:solidFill>
                <a:schemeClr val="bg1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96" y="484188"/>
            <a:ext cx="12695237" cy="1152525"/>
          </a:xfrm>
        </p:spPr>
        <p:txBody>
          <a:bodyPr/>
          <a:lstStyle/>
          <a:p>
            <a:r>
              <a:rPr lang="pt-BR" dirty="0" smtClean="0"/>
              <a:t>Humm ... Temos algumas métricas importantes para Landing Pages 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pt-BR" sz="2800" dirty="0" smtClean="0"/>
          </a:p>
          <a:p>
            <a:pPr lvl="1"/>
            <a:r>
              <a:rPr lang="pt-BR" sz="2400" dirty="0" smtClean="0"/>
              <a:t>Visitas</a:t>
            </a:r>
          </a:p>
          <a:p>
            <a:pPr lvl="1"/>
            <a:r>
              <a:rPr lang="pt-BR" sz="2400" dirty="0" err="1" smtClean="0"/>
              <a:t>Bounce</a:t>
            </a:r>
            <a:r>
              <a:rPr lang="pt-BR" sz="2400" dirty="0" smtClean="0"/>
              <a:t> Rate</a:t>
            </a:r>
          </a:p>
          <a:p>
            <a:pPr lvl="2"/>
            <a:r>
              <a:rPr lang="pt-BR" sz="2000" dirty="0" smtClean="0"/>
              <a:t>... por tempo</a:t>
            </a:r>
          </a:p>
          <a:p>
            <a:pPr lvl="2"/>
            <a:r>
              <a:rPr lang="pt-BR" sz="2000" dirty="0" smtClean="0"/>
              <a:t>... por página</a:t>
            </a:r>
          </a:p>
          <a:p>
            <a:pPr lvl="2"/>
            <a:r>
              <a:rPr lang="pt-BR" sz="2000" dirty="0" smtClean="0"/>
              <a:t>... Por engajamento</a:t>
            </a:r>
          </a:p>
          <a:p>
            <a:pPr lvl="2"/>
            <a:r>
              <a:rPr lang="pt-BR" sz="2000" dirty="0" smtClean="0"/>
              <a:t>... por scroll</a:t>
            </a:r>
          </a:p>
          <a:p>
            <a:pPr lvl="1"/>
            <a:r>
              <a:rPr lang="pt-BR" sz="2400" dirty="0" smtClean="0"/>
              <a:t>Conversão</a:t>
            </a:r>
          </a:p>
          <a:p>
            <a:pPr lvl="1"/>
            <a:r>
              <a:rPr lang="pt-BR" sz="2400" dirty="0" smtClean="0"/>
              <a:t>Visitas para conversão / Recencia</a:t>
            </a:r>
          </a:p>
          <a:p>
            <a:pPr lvl="1"/>
            <a:r>
              <a:rPr lang="pt-BR" sz="2400" dirty="0" smtClean="0"/>
              <a:t>Taxa de Conversão</a:t>
            </a:r>
          </a:p>
          <a:p>
            <a:pPr lvl="1"/>
            <a:r>
              <a:rPr lang="pt-BR" sz="2400" dirty="0" smtClean="0"/>
              <a:t>Orígem das Visitas</a:t>
            </a:r>
          </a:p>
          <a:p>
            <a:pPr lvl="1"/>
            <a:r>
              <a:rPr lang="pt-BR" sz="2400" dirty="0" smtClean="0"/>
              <a:t>Taxa de Conversão por Origem</a:t>
            </a:r>
          </a:p>
          <a:p>
            <a:pPr lvl="1"/>
            <a:r>
              <a:rPr lang="pt-BR" sz="2400" dirty="0" smtClean="0"/>
              <a:t>Tempo de Permanência</a:t>
            </a:r>
          </a:p>
          <a:p>
            <a:pPr lvl="1"/>
            <a:endParaRPr lang="pt-BR" sz="2400" dirty="0" smtClean="0"/>
          </a:p>
          <a:p>
            <a:pPr lvl="1"/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E0E8-EF2A-47E5-858D-DF8D682E2C50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4" name="Oval Callout 13"/>
          <p:cNvSpPr/>
          <p:nvPr/>
        </p:nvSpPr>
        <p:spPr bwMode="auto">
          <a:xfrm>
            <a:off x="5710312" y="7469088"/>
            <a:ext cx="6840760" cy="1728192"/>
          </a:xfrm>
          <a:prstGeom prst="wedgeEllipseCallout">
            <a:avLst>
              <a:gd name="adj1" fmla="val -31417"/>
              <a:gd name="adj2" fmla="val -71559"/>
            </a:avLst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 smtClean="0">
                <a:solidFill>
                  <a:schemeClr val="bg1"/>
                </a:solidFill>
                <a:latin typeface="Verdana" pitchFamily="34" charset="0"/>
                <a:cs typeface="Arial" pitchFamily="34" charset="0"/>
              </a:rPr>
              <a:t>Mas, lembre-se ... Cada Landing Page tem o seu </a:t>
            </a:r>
            <a:r>
              <a:rPr lang="pt-BR" sz="2400" b="1" dirty="0" smtClean="0">
                <a:solidFill>
                  <a:schemeClr val="bg1"/>
                </a:solidFill>
                <a:latin typeface="Verdana" pitchFamily="34" charset="0"/>
                <a:cs typeface="Arial" pitchFamily="34" charset="0"/>
              </a:rPr>
              <a:t>objetivo</a:t>
            </a:r>
            <a:r>
              <a:rPr lang="pt-BR" sz="2000" dirty="0" smtClean="0">
                <a:solidFill>
                  <a:schemeClr val="bg1"/>
                </a:solidFill>
                <a:latin typeface="Verdana" pitchFamily="34" charset="0"/>
                <a:cs typeface="Arial" pitchFamily="34" charset="0"/>
              </a:rPr>
              <a:t> e </a:t>
            </a:r>
            <a:r>
              <a:rPr lang="pt-BR" sz="2400" b="1" dirty="0" smtClean="0">
                <a:solidFill>
                  <a:schemeClr val="bg1"/>
                </a:solidFill>
                <a:latin typeface="Verdana" pitchFamily="34" charset="0"/>
                <a:cs typeface="Arial" pitchFamily="34" charset="0"/>
              </a:rPr>
              <a:t>KPI específico!!!!</a:t>
            </a: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0" y="2716560"/>
            <a:ext cx="13004800" cy="792088"/>
          </a:xfrm>
          <a:prstGeom prst="rect">
            <a:avLst/>
          </a:prstGeom>
          <a:solidFill>
            <a:srgbClr val="FF99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pPr defTabSz="1300163"/>
            <a:fld id="{5D6F9AF1-7AA7-4A51-83D8-F302FFBFA799}" type="slidenum">
              <a:rPr lang="en-US"/>
              <a:pPr defTabSz="1300163"/>
              <a:t>13</a:t>
            </a:fld>
            <a:endParaRPr 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Agenda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dirty="0" smtClean="0">
                <a:solidFill>
                  <a:srgbClr val="C00000"/>
                </a:solidFill>
              </a:rPr>
              <a:t>O que é Landing Page?</a:t>
            </a:r>
          </a:p>
          <a:p>
            <a:pPr eaLnBrk="1" hangingPunct="1"/>
            <a:endParaRPr lang="pt-BR" dirty="0" smtClean="0">
              <a:solidFill>
                <a:srgbClr val="C00000"/>
              </a:solidFill>
            </a:endParaRPr>
          </a:p>
          <a:p>
            <a:pPr eaLnBrk="1" hangingPunct="1"/>
            <a:r>
              <a:rPr lang="pt-BR" dirty="0" smtClean="0">
                <a:solidFill>
                  <a:schemeClr val="bg1"/>
                </a:solidFill>
              </a:rPr>
              <a:t>Por quê Otimizar?</a:t>
            </a:r>
          </a:p>
          <a:p>
            <a:pPr eaLnBrk="1" hangingPunct="1"/>
            <a:endParaRPr lang="pt-BR" dirty="0" smtClean="0">
              <a:solidFill>
                <a:srgbClr val="C00000"/>
              </a:solidFill>
            </a:endParaRPr>
          </a:p>
          <a:p>
            <a:pPr eaLnBrk="1" hangingPunct="1"/>
            <a:r>
              <a:rPr lang="pt-BR" dirty="0" smtClean="0">
                <a:solidFill>
                  <a:srgbClr val="C00000"/>
                </a:solidFill>
              </a:rPr>
              <a:t>Criação da Landing Page</a:t>
            </a:r>
          </a:p>
          <a:p>
            <a:pPr eaLnBrk="1" hangingPunct="1"/>
            <a:endParaRPr lang="pt-BR" dirty="0" smtClean="0">
              <a:solidFill>
                <a:srgbClr val="C00000"/>
              </a:solidFill>
            </a:endParaRPr>
          </a:p>
          <a:p>
            <a:pPr eaLnBrk="1" hangingPunct="1"/>
            <a:r>
              <a:rPr lang="pt-BR" dirty="0" smtClean="0">
                <a:solidFill>
                  <a:srgbClr val="C00000"/>
                </a:solidFill>
              </a:rPr>
              <a:t>Teste ... Teste ... Teste ...</a:t>
            </a:r>
          </a:p>
          <a:p>
            <a:pPr eaLnBrk="1" hangingPunct="1"/>
            <a:endParaRPr lang="pt-BR" dirty="0" smtClean="0">
              <a:solidFill>
                <a:srgbClr val="C00000"/>
              </a:solidFill>
            </a:endParaRPr>
          </a:p>
          <a:p>
            <a:pPr eaLnBrk="1" hangingPunct="1"/>
            <a:r>
              <a:rPr lang="pt-BR" dirty="0" smtClean="0">
                <a:solidFill>
                  <a:srgbClr val="C00000"/>
                </a:solidFill>
              </a:rPr>
              <a:t>Customização por Segmento</a:t>
            </a:r>
          </a:p>
        </p:txBody>
      </p:sp>
      <p:pic>
        <p:nvPicPr>
          <p:cNvPr id="7" name="Picture 4" descr="\\192.168.0.151\Direct Performance\Apresentações\Eventos\SearchLabs\SearchLabs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886776" y="7685112"/>
            <a:ext cx="2758460" cy="151216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 resposta é muito simples ....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E0E8-EF2A-47E5-858D-DF8D682E2C50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365954" y="6244952"/>
            <a:ext cx="12257126" cy="108012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Uma </a:t>
            </a:r>
            <a:r>
              <a:rPr lang="pt-BR" sz="3200" b="1" dirty="0" smtClean="0">
                <a:solidFill>
                  <a:schemeClr val="bg1"/>
                </a:solidFill>
                <a:latin typeface="Verdana" pitchFamily="34" charset="0"/>
                <a:cs typeface="Arial" pitchFamily="34" charset="0"/>
              </a:rPr>
              <a:t>melhora</a:t>
            </a:r>
            <a:r>
              <a:rPr kumimoji="0" lang="pt-BR" sz="3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 de 1pp</a:t>
            </a:r>
            <a:r>
              <a:rPr kumimoji="0" lang="pt-BR" sz="3200" b="1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 </a:t>
            </a:r>
            <a:r>
              <a:rPr kumimoji="0" lang="pt-BR" sz="2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na conversão de sua Landing Page = Crescimento de </a:t>
            </a:r>
            <a:r>
              <a:rPr kumimoji="0" lang="pt-BR" sz="3200" b="1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20% em seu Faturamento</a:t>
            </a:r>
            <a:r>
              <a:rPr kumimoji="0" lang="pt-BR" sz="2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!</a:t>
            </a:r>
            <a:endParaRPr kumimoji="0" lang="en-US" sz="2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graphicFrame>
        <p:nvGraphicFramePr>
          <p:cNvPr id="7" name="Content Placeholder 4"/>
          <p:cNvGraphicFramePr>
            <a:graphicFrameLocks/>
          </p:cNvGraphicFramePr>
          <p:nvPr/>
        </p:nvGraphicFramePr>
        <p:xfrm>
          <a:off x="381720" y="2131204"/>
          <a:ext cx="12242799" cy="244610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41280"/>
                <a:gridCol w="3528392"/>
                <a:gridCol w="3673127"/>
              </a:tblGrid>
              <a:tr h="400138">
                <a:tc>
                  <a:txBody>
                    <a:bodyPr/>
                    <a:lstStyle/>
                    <a:p>
                      <a:pPr algn="l"/>
                      <a:r>
                        <a:rPr lang="en-US" dirty="0" err="1" smtClean="0"/>
                        <a:t>Otimizando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apenas</a:t>
                      </a:r>
                      <a:r>
                        <a:rPr lang="en-US" dirty="0" smtClean="0"/>
                        <a:t>  landing page</a:t>
                      </a:r>
                      <a:endParaRPr lang="en-US" dirty="0"/>
                    </a:p>
                  </a:txBody>
                  <a:tcPr marR="285750" marT="47625" marB="19050" anchor="b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Antes</a:t>
                      </a:r>
                      <a:endParaRPr lang="en-US" dirty="0"/>
                    </a:p>
                  </a:txBody>
                  <a:tcPr marR="285750" marT="47625" marB="19050" anchor="ctr"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Depois</a:t>
                      </a:r>
                      <a:endParaRPr lang="en-US" dirty="0"/>
                    </a:p>
                  </a:txBody>
                  <a:tcPr anchor="ctr"/>
                </a:tc>
              </a:tr>
              <a:tr h="241156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Visitantes</a:t>
                      </a:r>
                      <a:endParaRPr lang="en-US" dirty="0"/>
                    </a:p>
                  </a:txBody>
                  <a:tcPr marR="285750" marT="47625" marB="1905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1,000,000</a:t>
                      </a:r>
                    </a:p>
                  </a:txBody>
                  <a:tcPr marR="285750" marT="47625" marB="19050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1,000,000</a:t>
                      </a:r>
                    </a:p>
                  </a:txBody>
                  <a:tcPr marR="285750" marT="47625" marB="19050" anchor="ctr"/>
                </a:tc>
              </a:tr>
              <a:tr h="241156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Taxa</a:t>
                      </a:r>
                      <a:r>
                        <a:rPr lang="en-US" dirty="0" smtClean="0"/>
                        <a:t> de </a:t>
                      </a:r>
                      <a:r>
                        <a:rPr lang="en-US" dirty="0" err="1" smtClean="0"/>
                        <a:t>avanço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da</a:t>
                      </a:r>
                      <a:r>
                        <a:rPr lang="en-US" dirty="0" smtClean="0"/>
                        <a:t> Landing</a:t>
                      </a:r>
                      <a:r>
                        <a:rPr lang="en-US" baseline="0" dirty="0" smtClean="0"/>
                        <a:t> Page</a:t>
                      </a:r>
                      <a:endParaRPr lang="en-US" dirty="0"/>
                    </a:p>
                  </a:txBody>
                  <a:tcPr marR="285750" marT="47625" marB="1905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5%</a:t>
                      </a:r>
                    </a:p>
                  </a:txBody>
                  <a:tcPr marR="285750" marT="47625" marB="19050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6%</a:t>
                      </a:r>
                    </a:p>
                  </a:txBody>
                  <a:tcPr marR="285750" marT="47625" marB="19050" anchor="ctr"/>
                </a:tc>
              </a:tr>
              <a:tr h="241156">
                <a:tc>
                  <a:txBody>
                    <a:bodyPr/>
                    <a:lstStyle/>
                    <a:p>
                      <a:r>
                        <a:rPr lang="pt-BR" dirty="0" smtClean="0"/>
                        <a:t>Taxa</a:t>
                      </a:r>
                      <a:r>
                        <a:rPr lang="pt-BR" baseline="0" dirty="0" smtClean="0"/>
                        <a:t> de avanço do funil de compra</a:t>
                      </a:r>
                      <a:endParaRPr lang="en-US" dirty="0"/>
                    </a:p>
                  </a:txBody>
                  <a:tcPr marR="285750" marT="47625" marB="1905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20%</a:t>
                      </a:r>
                    </a:p>
                  </a:txBody>
                  <a:tcPr marR="285750" marT="47625" marB="19050"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20%</a:t>
                      </a:r>
                      <a:endParaRPr lang="en-US" dirty="0"/>
                    </a:p>
                  </a:txBody>
                  <a:tcPr marR="285750" marT="47625" marB="19050" anchor="ctr"/>
                </a:tc>
              </a:tr>
              <a:tr h="241156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Conversões</a:t>
                      </a:r>
                      <a:endParaRPr lang="en-US" dirty="0"/>
                    </a:p>
                  </a:txBody>
                  <a:tcPr marR="285750" marT="47625" marB="1905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1,000</a:t>
                      </a:r>
                    </a:p>
                  </a:txBody>
                  <a:tcPr marR="285750" marT="47625" marB="19050"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1,200</a:t>
                      </a:r>
                      <a:endParaRPr lang="en-US" dirty="0"/>
                    </a:p>
                  </a:txBody>
                  <a:tcPr marR="285750" marT="47625" marB="19050" anchor="ctr"/>
                </a:tc>
              </a:tr>
              <a:tr h="241156">
                <a:tc>
                  <a:txBody>
                    <a:bodyPr/>
                    <a:lstStyle/>
                    <a:p>
                      <a:r>
                        <a:rPr lang="en-US" dirty="0" smtClean="0"/>
                        <a:t>Ticket </a:t>
                      </a:r>
                      <a:r>
                        <a:rPr lang="en-US" dirty="0" err="1" smtClean="0"/>
                        <a:t>Médio</a:t>
                      </a:r>
                      <a:endParaRPr lang="en-US" dirty="0"/>
                    </a:p>
                  </a:txBody>
                  <a:tcPr marR="285750" marT="47625" marB="1905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$250</a:t>
                      </a:r>
                    </a:p>
                  </a:txBody>
                  <a:tcPr marR="285750" marT="47625" marB="19050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$250</a:t>
                      </a:r>
                    </a:p>
                  </a:txBody>
                  <a:tcPr marR="285750" marT="47625" marB="19050" anchor="ctr"/>
                </a:tc>
              </a:tr>
              <a:tr h="241156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Faturamento</a:t>
                      </a:r>
                      <a:r>
                        <a:rPr lang="en-US" dirty="0" smtClean="0"/>
                        <a:t> Total</a:t>
                      </a:r>
                      <a:endParaRPr lang="en-US" dirty="0"/>
                    </a:p>
                  </a:txBody>
                  <a:tcPr marR="285750" marT="47625" marB="1905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$250,000</a:t>
                      </a:r>
                    </a:p>
                  </a:txBody>
                  <a:tcPr marR="285750" marT="47625" marB="19050"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$300,000</a:t>
                      </a:r>
                      <a:endParaRPr lang="en-US" dirty="0"/>
                    </a:p>
                  </a:txBody>
                  <a:tcPr marR="285750" marT="47625" marB="19050" anchor="ctr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719995" y="4795500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 smtClean="0"/>
              <a:t>Dados Ficticios</a:t>
            </a:r>
            <a:endParaRPr lang="pt-BR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pPr defTabSz="1300163"/>
            <a:fld id="{5D6F9AF1-7AA7-4A51-83D8-F302FFBFA799}" type="slidenum">
              <a:rPr lang="en-US"/>
              <a:pPr defTabSz="1300163"/>
              <a:t>15</a:t>
            </a:fld>
            <a:endParaRPr 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525736" y="1420416"/>
            <a:ext cx="12098213" cy="1800597"/>
          </a:xfrm>
        </p:spPr>
        <p:txBody>
          <a:bodyPr/>
          <a:lstStyle/>
          <a:p>
            <a:pPr algn="ctr" eaLnBrk="1" hangingPunct="1"/>
            <a:r>
              <a:rPr lang="pt-BR" sz="4800" dirty="0" smtClean="0"/>
              <a:t>E se você pegar o Gosto pela </a:t>
            </a:r>
            <a:r>
              <a:rPr lang="pt-BR" sz="4800" dirty="0" smtClean="0">
                <a:solidFill>
                  <a:srgbClr val="FF9900"/>
                </a:solidFill>
              </a:rPr>
              <a:t>Otimização</a:t>
            </a:r>
            <a:r>
              <a:rPr lang="pt-BR" sz="4800" dirty="0" smtClean="0"/>
              <a:t> ....</a:t>
            </a:r>
          </a:p>
        </p:txBody>
      </p:sp>
      <p:pic>
        <p:nvPicPr>
          <p:cNvPr id="105474" name="Picture 2" descr="http://1.bp.blogspot.com/_7s9pPnIX0i0/SnQ6IGyu5aI/AAAAAAAAAAM/2z78BCaWLDI/S1600-R/dinheiro-em-arvor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90432" y="3941322"/>
            <a:ext cx="5893668" cy="532992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Também é possível otimizar o Formulário de Conversão de seu Site ....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3728" y="2140496"/>
          <a:ext cx="12242799" cy="250961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41280"/>
                <a:gridCol w="3528392"/>
                <a:gridCol w="3673127"/>
              </a:tblGrid>
              <a:tr h="463643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Otimizando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páginas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chave</a:t>
                      </a:r>
                      <a:endParaRPr lang="en-US" dirty="0"/>
                    </a:p>
                  </a:txBody>
                  <a:tcPr marR="285750" marT="47625" marB="19050"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Antes</a:t>
                      </a:r>
                      <a:endParaRPr lang="en-US" dirty="0"/>
                    </a:p>
                  </a:txBody>
                  <a:tcPr marR="285750" marT="47625" marB="19050" anchor="ctr"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Depois</a:t>
                      </a:r>
                      <a:endParaRPr lang="en-US" dirty="0"/>
                    </a:p>
                  </a:txBody>
                  <a:tcPr anchor="ctr"/>
                </a:tc>
              </a:tr>
              <a:tr h="274688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Visitantes</a:t>
                      </a:r>
                      <a:endParaRPr lang="en-US" dirty="0"/>
                    </a:p>
                  </a:txBody>
                  <a:tcPr marR="285750" marT="47625" marB="19050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1,000,000</a:t>
                      </a:r>
                    </a:p>
                  </a:txBody>
                  <a:tcPr marR="285750" marT="47625" marB="19050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1,000,000</a:t>
                      </a:r>
                    </a:p>
                  </a:txBody>
                  <a:tcPr marR="285750" marT="47625" marB="19050" anchor="ctr"/>
                </a:tc>
              </a:tr>
              <a:tr h="274688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Taxa</a:t>
                      </a:r>
                      <a:r>
                        <a:rPr lang="en-US" dirty="0" smtClean="0"/>
                        <a:t> de </a:t>
                      </a:r>
                      <a:r>
                        <a:rPr lang="en-US" dirty="0" err="1" smtClean="0"/>
                        <a:t>avanço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da</a:t>
                      </a:r>
                      <a:r>
                        <a:rPr lang="en-US" dirty="0" smtClean="0"/>
                        <a:t> Home</a:t>
                      </a:r>
                      <a:endParaRPr lang="en-US" dirty="0"/>
                    </a:p>
                  </a:txBody>
                  <a:tcPr marR="285750" marT="47625" marB="19050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5%</a:t>
                      </a:r>
                    </a:p>
                  </a:txBody>
                  <a:tcPr marR="285750" marT="47625" marB="19050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6%</a:t>
                      </a:r>
                    </a:p>
                  </a:txBody>
                  <a:tcPr marR="285750" marT="47625" marB="19050" anchor="ctr"/>
                </a:tc>
              </a:tr>
              <a:tr h="274688">
                <a:tc>
                  <a:txBody>
                    <a:bodyPr/>
                    <a:lstStyle/>
                    <a:p>
                      <a:r>
                        <a:rPr lang="pt-BR" dirty="0" smtClean="0"/>
                        <a:t>Taxa</a:t>
                      </a:r>
                      <a:r>
                        <a:rPr lang="pt-BR" baseline="0" dirty="0" smtClean="0"/>
                        <a:t> de avanço do funil de compra</a:t>
                      </a:r>
                      <a:endParaRPr lang="en-US" dirty="0"/>
                    </a:p>
                  </a:txBody>
                  <a:tcPr marR="285750" marT="47625" marB="1905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20%</a:t>
                      </a:r>
                    </a:p>
                  </a:txBody>
                  <a:tcPr marR="285750" marT="47625" marB="19050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24%</a:t>
                      </a:r>
                    </a:p>
                  </a:txBody>
                  <a:tcPr marR="285750" marT="47625" marB="19050" anchor="ctr"/>
                </a:tc>
              </a:tr>
              <a:tr h="274688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Conversões</a:t>
                      </a:r>
                      <a:endParaRPr lang="en-US" dirty="0"/>
                    </a:p>
                  </a:txBody>
                  <a:tcPr marR="285750" marT="47625" marB="1905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1,000</a:t>
                      </a:r>
                    </a:p>
                  </a:txBody>
                  <a:tcPr marR="285750" marT="47625" marB="19050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1,728</a:t>
                      </a:r>
                    </a:p>
                  </a:txBody>
                  <a:tcPr marR="285750" marT="47625" marB="19050" anchor="ctr"/>
                </a:tc>
              </a:tr>
              <a:tr h="274688">
                <a:tc>
                  <a:txBody>
                    <a:bodyPr/>
                    <a:lstStyle/>
                    <a:p>
                      <a:r>
                        <a:rPr lang="en-US" dirty="0" smtClean="0"/>
                        <a:t>Ticket </a:t>
                      </a:r>
                      <a:r>
                        <a:rPr lang="en-US" dirty="0" err="1" smtClean="0"/>
                        <a:t>médio</a:t>
                      </a:r>
                      <a:endParaRPr lang="en-US" dirty="0"/>
                    </a:p>
                  </a:txBody>
                  <a:tcPr marR="285750" marT="47625" marB="19050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$250</a:t>
                      </a:r>
                    </a:p>
                  </a:txBody>
                  <a:tcPr marR="285750" marT="47625" marB="19050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$250</a:t>
                      </a:r>
                    </a:p>
                  </a:txBody>
                  <a:tcPr marR="285750" marT="47625" marB="19050" anchor="ctr"/>
                </a:tc>
              </a:tr>
              <a:tr h="274688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Faturamento</a:t>
                      </a:r>
                      <a:r>
                        <a:rPr lang="en-US" dirty="0" smtClean="0"/>
                        <a:t> Total</a:t>
                      </a:r>
                      <a:endParaRPr lang="en-US" dirty="0"/>
                    </a:p>
                  </a:txBody>
                  <a:tcPr marR="285750" marT="47625" marB="1905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$250,000</a:t>
                      </a:r>
                    </a:p>
                  </a:txBody>
                  <a:tcPr marR="285750" marT="47625" marB="1905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$432,000</a:t>
                      </a:r>
                    </a:p>
                  </a:txBody>
                  <a:tcPr marR="285750" marT="47625" marB="19050" anchor="ctr"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E0E8-EF2A-47E5-858D-DF8D682E2C50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65954" y="5668888"/>
            <a:ext cx="12257126" cy="108012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dirty="0" smtClean="0">
                <a:solidFill>
                  <a:schemeClr val="bg1"/>
                </a:solidFill>
                <a:latin typeface="Verdana" pitchFamily="34" charset="0"/>
                <a:cs typeface="Arial" pitchFamily="34" charset="0"/>
              </a:rPr>
              <a:t>U</a:t>
            </a:r>
            <a:r>
              <a:rPr kumimoji="0" lang="pt-BR" sz="2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ma pequena otimização</a:t>
            </a:r>
            <a:r>
              <a:rPr kumimoji="0" lang="pt-BR" sz="2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 = Crescimento de </a:t>
            </a:r>
            <a:r>
              <a:rPr lang="pt-BR" sz="3200" b="1" dirty="0" smtClean="0">
                <a:solidFill>
                  <a:schemeClr val="bg1"/>
                </a:solidFill>
                <a:latin typeface="Verdana" pitchFamily="34" charset="0"/>
                <a:cs typeface="Arial" pitchFamily="34" charset="0"/>
              </a:rPr>
              <a:t>73</a:t>
            </a:r>
            <a:r>
              <a:rPr kumimoji="0" lang="pt-BR" sz="3200" b="1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% em seu Faturamento</a:t>
            </a:r>
            <a:r>
              <a:rPr kumimoji="0" lang="pt-BR" sz="2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!</a:t>
            </a:r>
            <a:endParaRPr kumimoji="0" lang="en-US" sz="2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sp>
        <p:nvSpPr>
          <p:cNvPr id="10" name="Oval Callout 9"/>
          <p:cNvSpPr/>
          <p:nvPr/>
        </p:nvSpPr>
        <p:spPr bwMode="auto">
          <a:xfrm>
            <a:off x="309712" y="7901136"/>
            <a:ext cx="6408712" cy="864096"/>
          </a:xfrm>
          <a:prstGeom prst="wedgeEllipseCallout">
            <a:avLst>
              <a:gd name="adj1" fmla="val -2610"/>
              <a:gd name="adj2" fmla="val -148190"/>
            </a:avLst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 smtClean="0">
                <a:solidFill>
                  <a:schemeClr val="bg1"/>
                </a:solidFill>
                <a:latin typeface="Verdana" pitchFamily="34" charset="0"/>
                <a:cs typeface="Arial" pitchFamily="34" charset="0"/>
              </a:rPr>
              <a:t>Em nem estamos entrando em </a:t>
            </a:r>
            <a:r>
              <a:rPr lang="pt-BR" sz="2000" b="1" dirty="0" smtClean="0">
                <a:solidFill>
                  <a:schemeClr val="bg1"/>
                </a:solidFill>
                <a:latin typeface="Verdana" pitchFamily="34" charset="0"/>
                <a:cs typeface="Arial" pitchFamily="34" charset="0"/>
              </a:rPr>
              <a:t>otimização de mídia </a:t>
            </a:r>
            <a:r>
              <a:rPr lang="pt-BR" sz="2000" dirty="0" smtClean="0">
                <a:solidFill>
                  <a:schemeClr val="bg1"/>
                </a:solidFill>
                <a:latin typeface="Verdana" pitchFamily="34" charset="0"/>
                <a:cs typeface="Arial" pitchFamily="34" charset="0"/>
              </a:rPr>
              <a:t>... </a:t>
            </a: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sp>
        <p:nvSpPr>
          <p:cNvPr id="11" name="Oval Callout 10"/>
          <p:cNvSpPr/>
          <p:nvPr/>
        </p:nvSpPr>
        <p:spPr bwMode="auto">
          <a:xfrm>
            <a:off x="6430392" y="7901136"/>
            <a:ext cx="6408712" cy="864096"/>
          </a:xfrm>
          <a:prstGeom prst="wedgeEllipseCallout">
            <a:avLst>
              <a:gd name="adj1" fmla="val -2610"/>
              <a:gd name="adj2" fmla="val -148190"/>
            </a:avLst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 smtClean="0">
                <a:solidFill>
                  <a:schemeClr val="bg1"/>
                </a:solidFill>
                <a:latin typeface="Verdana" pitchFamily="34" charset="0"/>
                <a:cs typeface="Arial" pitchFamily="34" charset="0"/>
              </a:rPr>
              <a:t>Mas, tudo bem! Deixamos isso para um </a:t>
            </a:r>
            <a:r>
              <a:rPr lang="pt-BR" sz="2000" b="1" dirty="0" smtClean="0">
                <a:solidFill>
                  <a:schemeClr val="bg1"/>
                </a:solidFill>
                <a:latin typeface="Verdana" pitchFamily="34" charset="0"/>
                <a:cs typeface="Arial" pitchFamily="34" charset="0"/>
              </a:rPr>
              <a:t>próximo capítulo </a:t>
            </a:r>
            <a:r>
              <a:rPr lang="pt-BR" sz="2000" dirty="0" smtClean="0">
                <a:solidFill>
                  <a:schemeClr val="bg1"/>
                </a:solidFill>
                <a:latin typeface="Verdana" pitchFamily="34" charset="0"/>
                <a:cs typeface="Arial" pitchFamily="34" charset="0"/>
              </a:rPr>
              <a:t>...</a:t>
            </a: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719995" y="4795500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 smtClean="0"/>
              <a:t>Dados Ficticios</a:t>
            </a:r>
            <a:endParaRPr lang="pt-BR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pPr defTabSz="1300163"/>
            <a:fld id="{5D6F9AF1-7AA7-4A51-83D8-F302FFBFA799}" type="slidenum">
              <a:rPr lang="en-US"/>
              <a:pPr defTabSz="1300163"/>
              <a:t>17</a:t>
            </a:fld>
            <a:endParaRPr 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525736" y="2284512"/>
            <a:ext cx="12098213" cy="1800597"/>
          </a:xfrm>
        </p:spPr>
        <p:txBody>
          <a:bodyPr/>
          <a:lstStyle/>
          <a:p>
            <a:pPr algn="ctr" eaLnBrk="1" hangingPunct="1"/>
            <a:r>
              <a:rPr lang="pt-BR" sz="4800" dirty="0" smtClean="0"/>
              <a:t>Bom, já falamos muito!!! Vamos colocar a </a:t>
            </a:r>
            <a:r>
              <a:rPr lang="pt-BR" sz="4800" dirty="0" smtClean="0">
                <a:solidFill>
                  <a:srgbClr val="FF9900"/>
                </a:solidFill>
              </a:rPr>
              <a:t>mão na massa</a:t>
            </a:r>
            <a:r>
              <a:rPr lang="pt-BR" sz="4800" dirty="0" smtClean="0"/>
              <a:t> ...</a:t>
            </a:r>
            <a:br>
              <a:rPr lang="pt-BR" sz="4800" dirty="0" smtClean="0"/>
            </a:br>
            <a:endParaRPr lang="pt-BR" sz="4800" dirty="0" smtClean="0"/>
          </a:p>
        </p:txBody>
      </p:sp>
      <p:pic>
        <p:nvPicPr>
          <p:cNvPr id="118790" name="Picture 6" descr="http://3.bp.blogspot.com/_zNsIq6u-sUM/SO-rnBdZk3I/AAAAAAAAAA0/C4O3lvyW5dE/S700/matematic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734648" y="4625280"/>
            <a:ext cx="3986014" cy="4572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0" y="3765148"/>
            <a:ext cx="13004800" cy="792088"/>
          </a:xfrm>
          <a:prstGeom prst="rect">
            <a:avLst/>
          </a:prstGeom>
          <a:solidFill>
            <a:srgbClr val="FF99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pPr defTabSz="1300163"/>
            <a:fld id="{5D6F9AF1-7AA7-4A51-83D8-F302FFBFA799}" type="slidenum">
              <a:rPr lang="en-US"/>
              <a:pPr defTabSz="1300163"/>
              <a:t>18</a:t>
            </a:fld>
            <a:endParaRPr 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Agenda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dirty="0" smtClean="0">
                <a:solidFill>
                  <a:srgbClr val="C00000"/>
                </a:solidFill>
              </a:rPr>
              <a:t>O que é Landing Page?</a:t>
            </a:r>
          </a:p>
          <a:p>
            <a:pPr eaLnBrk="1" hangingPunct="1"/>
            <a:endParaRPr lang="pt-BR" dirty="0" smtClean="0">
              <a:solidFill>
                <a:srgbClr val="C00000"/>
              </a:solidFill>
            </a:endParaRPr>
          </a:p>
          <a:p>
            <a:pPr eaLnBrk="1" hangingPunct="1"/>
            <a:r>
              <a:rPr lang="pt-BR" dirty="0" smtClean="0">
                <a:solidFill>
                  <a:srgbClr val="C00000"/>
                </a:solidFill>
              </a:rPr>
              <a:t>Por quê Otimizar?</a:t>
            </a:r>
          </a:p>
          <a:p>
            <a:pPr eaLnBrk="1" hangingPunct="1"/>
            <a:endParaRPr lang="pt-BR" dirty="0" smtClean="0">
              <a:solidFill>
                <a:srgbClr val="C00000"/>
              </a:solidFill>
            </a:endParaRPr>
          </a:p>
          <a:p>
            <a:pPr eaLnBrk="1" hangingPunct="1"/>
            <a:r>
              <a:rPr lang="pt-BR" dirty="0" smtClean="0">
                <a:solidFill>
                  <a:schemeClr val="bg1"/>
                </a:solidFill>
              </a:rPr>
              <a:t>Criação da Landing Page</a:t>
            </a:r>
          </a:p>
          <a:p>
            <a:pPr eaLnBrk="1" hangingPunct="1"/>
            <a:endParaRPr lang="pt-BR" dirty="0" smtClean="0">
              <a:solidFill>
                <a:srgbClr val="C00000"/>
              </a:solidFill>
            </a:endParaRPr>
          </a:p>
          <a:p>
            <a:pPr eaLnBrk="1" hangingPunct="1"/>
            <a:r>
              <a:rPr lang="pt-BR" dirty="0" smtClean="0">
                <a:solidFill>
                  <a:srgbClr val="C00000"/>
                </a:solidFill>
              </a:rPr>
              <a:t>Teste ... Teste ... Teste ...</a:t>
            </a:r>
          </a:p>
          <a:p>
            <a:pPr eaLnBrk="1" hangingPunct="1"/>
            <a:endParaRPr lang="pt-BR" dirty="0" smtClean="0">
              <a:solidFill>
                <a:srgbClr val="C00000"/>
              </a:solidFill>
            </a:endParaRPr>
          </a:p>
          <a:p>
            <a:pPr eaLnBrk="1" hangingPunct="1"/>
            <a:r>
              <a:rPr lang="pt-BR" dirty="0" smtClean="0">
                <a:solidFill>
                  <a:srgbClr val="C00000"/>
                </a:solidFill>
              </a:rPr>
              <a:t>Customização por Segmento</a:t>
            </a:r>
          </a:p>
        </p:txBody>
      </p:sp>
      <p:pic>
        <p:nvPicPr>
          <p:cNvPr id="7" name="Picture 4" descr="\\192.168.0.151\Direct Performance\Apresentações\Eventos\SearchLabs\SearchLabs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886776" y="7685112"/>
            <a:ext cx="2758460" cy="151216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pPr defTabSz="1300163"/>
            <a:fld id="{5D6F9AF1-7AA7-4A51-83D8-F302FFBFA799}" type="slidenum">
              <a:rPr lang="en-US"/>
              <a:pPr defTabSz="1300163"/>
              <a:t>19</a:t>
            </a:fld>
            <a:endParaRPr 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525736" y="2284512"/>
            <a:ext cx="12098213" cy="1800597"/>
          </a:xfrm>
        </p:spPr>
        <p:txBody>
          <a:bodyPr/>
          <a:lstStyle/>
          <a:p>
            <a:pPr algn="ctr" eaLnBrk="1" hangingPunct="1"/>
            <a:r>
              <a:rPr lang="pt-BR" sz="4800" dirty="0" smtClean="0"/>
              <a:t>Já podemos criar uma Landing Page utilizando algumas </a:t>
            </a:r>
            <a:r>
              <a:rPr lang="pt-BR" sz="4800" dirty="0" smtClean="0">
                <a:solidFill>
                  <a:srgbClr val="FF9900"/>
                </a:solidFill>
              </a:rPr>
              <a:t>“Boas Práticas” </a:t>
            </a:r>
            <a:r>
              <a:rPr lang="pt-BR" sz="4800" dirty="0" smtClean="0"/>
              <a:t>...</a:t>
            </a:r>
            <a:br>
              <a:rPr lang="pt-BR" sz="4800" dirty="0" smtClean="0"/>
            </a:br>
            <a:endParaRPr lang="pt-BR" sz="4800" dirty="0" smtClean="0"/>
          </a:p>
        </p:txBody>
      </p:sp>
      <p:pic>
        <p:nvPicPr>
          <p:cNvPr id="120834" name="Picture 2" descr="http://www.sbv.org.br/caxambu/images/constru%C3%A7%C3%A3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94488" y="4713347"/>
            <a:ext cx="5001369" cy="424280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8"/>
          <p:cNvGrpSpPr/>
          <p:nvPr/>
        </p:nvGrpSpPr>
        <p:grpSpPr>
          <a:xfrm>
            <a:off x="381720" y="1780456"/>
            <a:ext cx="12313368" cy="7344816"/>
            <a:chOff x="381720" y="1780456"/>
            <a:chExt cx="12313368" cy="7344816"/>
          </a:xfrm>
        </p:grpSpPr>
        <p:grpSp>
          <p:nvGrpSpPr>
            <p:cNvPr id="5" name="Group 24"/>
            <p:cNvGrpSpPr/>
            <p:nvPr/>
          </p:nvGrpSpPr>
          <p:grpSpPr>
            <a:xfrm>
              <a:off x="381720" y="1780456"/>
              <a:ext cx="12313368" cy="7344816"/>
              <a:chOff x="381720" y="1780456"/>
              <a:chExt cx="12313368" cy="7344816"/>
            </a:xfrm>
          </p:grpSpPr>
          <p:grpSp>
            <p:nvGrpSpPr>
              <p:cNvPr id="6" name="Group 11"/>
              <p:cNvGrpSpPr/>
              <p:nvPr/>
            </p:nvGrpSpPr>
            <p:grpSpPr>
              <a:xfrm>
                <a:off x="381720" y="1780456"/>
                <a:ext cx="12313368" cy="7344816"/>
                <a:chOff x="309712" y="1924472"/>
                <a:chExt cx="12313368" cy="7344816"/>
              </a:xfrm>
            </p:grpSpPr>
            <p:pic>
              <p:nvPicPr>
                <p:cNvPr id="1028" name="Picture 4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309712" y="1924472"/>
                  <a:ext cx="12313368" cy="734481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9" name="TextBox 8"/>
                <p:cNvSpPr txBox="1"/>
                <p:nvPr/>
              </p:nvSpPr>
              <p:spPr>
                <a:xfrm>
                  <a:off x="525736" y="2044443"/>
                  <a:ext cx="237626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buFont typeface="Arial" pitchFamily="34" charset="0"/>
                    <a:buChar char="•"/>
                  </a:pPr>
                  <a:r>
                    <a:rPr lang="pt-BR" sz="1000" dirty="0" smtClean="0"/>
                    <a:t>Bananadas de Minas Gerais as melhores</a:t>
                  </a:r>
                  <a:endParaRPr lang="en-US" sz="1000" dirty="0"/>
                </a:p>
              </p:txBody>
            </p:sp>
            <p:sp>
              <p:nvSpPr>
                <p:cNvPr id="10" name="TextBox 9"/>
                <p:cNvSpPr txBox="1"/>
                <p:nvPr/>
              </p:nvSpPr>
              <p:spPr>
                <a:xfrm>
                  <a:off x="2109912" y="2428528"/>
                  <a:ext cx="488101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BR" sz="1200" dirty="0" smtClean="0"/>
                    <a:t>http://www.bananadasmg.com.br/promocao-de-bananadas</a:t>
                  </a:r>
                  <a:endParaRPr lang="en-US" sz="1200" dirty="0"/>
                </a:p>
              </p:txBody>
            </p:sp>
          </p:grpSp>
          <p:pic>
            <p:nvPicPr>
              <p:cNvPr id="1032" name="Picture 8" descr="http://adobeperson.com/wp-content/uploads/2008/12/photoshop-banana-logo-stock-photo13.jp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669752" y="2788568"/>
                <a:ext cx="1227360" cy="843187"/>
              </a:xfrm>
              <a:prstGeom prst="rect">
                <a:avLst/>
              </a:prstGeom>
              <a:noFill/>
            </p:spPr>
          </p:pic>
          <p:pic>
            <p:nvPicPr>
              <p:cNvPr id="1030" name="Picture 6" descr="http://www.hotelmazzaropi.com.br/Fotos/%7B753A99FB-0ED9-4EF0-9B63-812126166C2F%7D_bananada.jpg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1317824" y="4156720"/>
                <a:ext cx="2583594" cy="2140077"/>
              </a:xfrm>
              <a:prstGeom prst="roundRect">
                <a:avLst/>
              </a:prstGeom>
              <a:ln w="190500" cap="rnd">
                <a:solidFill>
                  <a:srgbClr val="C8C6BD"/>
                </a:solidFill>
                <a:prstDash val="solid"/>
              </a:ln>
              <a:effectLst>
                <a:outerShdw blurRad="127000" algn="bl" rotWithShape="0">
                  <a:srgbClr val="000000"/>
                </a:outerShdw>
              </a:effectLst>
              <a:scene3d>
                <a:camera prst="perspectiveFront" fov="5400000"/>
                <a:lightRig rig="threePt" dir="t">
                  <a:rot lat="0" lon="0" rev="19200000"/>
                </a:lightRig>
              </a:scene3d>
              <a:sp3d extrusionH="25400">
                <a:bevelT w="304800" h="152400" prst="hardEdge"/>
                <a:extrusionClr>
                  <a:srgbClr val="000000"/>
                </a:extrusionClr>
              </a:sp3d>
            </p:spPr>
          </p:pic>
          <p:sp>
            <p:nvSpPr>
              <p:cNvPr id="14" name="Rectangle 13"/>
              <p:cNvSpPr/>
              <p:nvPr/>
            </p:nvSpPr>
            <p:spPr>
              <a:xfrm>
                <a:off x="1602269" y="3004592"/>
                <a:ext cx="3203121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1" cap="none" spc="0" dirty="0" err="1" smtClean="0">
                    <a:ln w="1905"/>
                    <a:gradFill>
                      <a:gsLst>
                        <a:gs pos="0">
                          <a:schemeClr val="accent6">
                            <a:shade val="20000"/>
                            <a:satMod val="200000"/>
                          </a:schemeClr>
                        </a:gs>
                        <a:gs pos="78000">
                          <a:schemeClr val="accent6">
                            <a:tint val="90000"/>
                            <a:shade val="89000"/>
                            <a:satMod val="220000"/>
                          </a:schemeClr>
                        </a:gs>
                        <a:gs pos="100000">
                          <a:schemeClr val="accent6">
                            <a:tint val="12000"/>
                            <a:satMod val="255000"/>
                          </a:schemeClr>
                        </a:gs>
                      </a:gsLst>
                      <a:lin ang="5400000"/>
                    </a:gradFill>
                    <a:effectLst>
                      <a:innerShdw blurRad="69850" dist="43180" dir="5400000">
                        <a:srgbClr val="000000">
                          <a:alpha val="65000"/>
                        </a:srgbClr>
                      </a:innerShdw>
                    </a:effectLst>
                  </a:rPr>
                  <a:t>Bananadas</a:t>
                </a:r>
                <a:r>
                  <a:rPr lang="en-US" sz="2800" b="1" cap="none" spc="0" dirty="0" smtClean="0">
                    <a:ln w="1905"/>
                    <a:gradFill>
                      <a:gsLst>
                        <a:gs pos="0">
                          <a:schemeClr val="accent6">
                            <a:shade val="20000"/>
                            <a:satMod val="200000"/>
                          </a:schemeClr>
                        </a:gs>
                        <a:gs pos="78000">
                          <a:schemeClr val="accent6">
                            <a:tint val="90000"/>
                            <a:shade val="89000"/>
                            <a:satMod val="220000"/>
                          </a:schemeClr>
                        </a:gs>
                        <a:gs pos="100000">
                          <a:schemeClr val="accent6">
                            <a:tint val="12000"/>
                            <a:satMod val="255000"/>
                          </a:schemeClr>
                        </a:gs>
                      </a:gsLst>
                      <a:lin ang="5400000"/>
                    </a:gradFill>
                    <a:effectLst>
                      <a:innerShdw blurRad="69850" dist="43180" dir="5400000">
                        <a:srgbClr val="000000">
                          <a:alpha val="65000"/>
                        </a:srgbClr>
                      </a:innerShdw>
                    </a:effectLst>
                  </a:rPr>
                  <a:t>-mg</a:t>
                </a:r>
                <a:endParaRPr lang="en-US" sz="2800" b="1" cap="none" spc="0" dirty="0">
                  <a:ln w="1905"/>
                  <a:gradFill>
                    <a:gsLst>
                      <a:gs pos="0">
                        <a:schemeClr val="accent6">
                          <a:shade val="20000"/>
                          <a:satMod val="200000"/>
                        </a:schemeClr>
                      </a:gs>
                      <a:gs pos="78000">
                        <a:schemeClr val="accent6">
                          <a:tint val="90000"/>
                          <a:shade val="89000"/>
                          <a:satMod val="220000"/>
                        </a:schemeClr>
                      </a:gs>
                      <a:gs pos="100000">
                        <a:schemeClr val="accent6">
                          <a:tint val="12000"/>
                          <a:satMod val="255000"/>
                        </a:schemeClr>
                      </a:gs>
                    </a:gsLst>
                    <a:lin ang="5400000"/>
                  </a:gradFill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</a:endParaRPr>
              </a:p>
            </p:txBody>
          </p:sp>
          <p:sp>
            <p:nvSpPr>
              <p:cNvPr id="21" name="Rectangle 20"/>
              <p:cNvSpPr/>
              <p:nvPr/>
            </p:nvSpPr>
            <p:spPr bwMode="auto">
              <a:xfrm>
                <a:off x="9166696" y="3004592"/>
                <a:ext cx="2376264" cy="280831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13001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  <a:cs typeface="Arial" pitchFamily="34" charset="0"/>
                </a:endParaRPr>
              </a:p>
            </p:txBody>
          </p:sp>
          <p:sp>
            <p:nvSpPr>
              <p:cNvPr id="15" name="Rounded Rectangle 14"/>
              <p:cNvSpPr/>
              <p:nvPr/>
            </p:nvSpPr>
            <p:spPr bwMode="auto">
              <a:xfrm>
                <a:off x="9382720" y="4649524"/>
                <a:ext cx="1872208" cy="526560"/>
              </a:xfrm>
              <a:prstGeom prst="roundRect">
                <a:avLst>
                  <a:gd name="adj" fmla="val 50000"/>
                </a:avLst>
              </a:prstGeom>
              <a:solidFill>
                <a:srgbClr val="92D050"/>
              </a:solidFill>
              <a:ln w="9525" cap="flat" cmpd="sng" algn="ctr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0">
                <a:scrgbClr r="0" g="0" b="0"/>
              </a:lnRef>
              <a:fillRef idx="1001">
                <a:schemeClr val="lt2"/>
              </a:fillRef>
              <a:effectRef idx="0">
                <a:scrgbClr r="0" g="0" b="0"/>
              </a:effectRef>
              <a:fontRef idx="major"/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13001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pt-BR" sz="1800" b="1" i="0" u="none" strike="noStrike" cap="none" normalizeH="0" baseline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  <a:cs typeface="Arial" pitchFamily="34" charset="0"/>
                  </a:rPr>
                  <a:t>Compre já</a:t>
                </a:r>
                <a:endParaRPr kumimoji="0" lang="en-US" sz="1800" b="1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  <a:cs typeface="Arial" pitchFamily="34" charset="0"/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9454728" y="5236840"/>
                <a:ext cx="18213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800" b="1" dirty="0" smtClean="0">
                    <a:solidFill>
                      <a:srgbClr val="FF0000"/>
                    </a:solidFill>
                  </a:rPr>
                  <a:t>R$ 32,00/kg</a:t>
                </a:r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7" name="Left Arrow 16"/>
              <p:cNvSpPr/>
              <p:nvPr/>
            </p:nvSpPr>
            <p:spPr bwMode="auto">
              <a:xfrm rot="16200000">
                <a:off x="9864620" y="3414484"/>
                <a:ext cx="792088" cy="548368"/>
              </a:xfrm>
              <a:prstGeom prst="leftArrow">
                <a:avLst/>
              </a:prstGeom>
              <a:solidFill>
                <a:srgbClr val="92D050"/>
              </a:solidFill>
              <a:ln w="9525" cap="flat" cmpd="sng" algn="ctr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0">
                <a:scrgbClr r="0" g="0" b="0"/>
              </a:lnRef>
              <a:fillRef idx="1001">
                <a:schemeClr val="lt2"/>
              </a:fillRef>
              <a:effectRef idx="0">
                <a:scrgbClr r="0" g="0" b="0"/>
              </a:effectRef>
              <a:fontRef idx="major"/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1300163"/>
                <a:endParaRPr lang="en-US" sz="1800" b="1" smtClean="0">
                  <a:solidFill>
                    <a:schemeClr val="bg1"/>
                  </a:solidFill>
                  <a:ea typeface="+mj-ea"/>
                  <a:cs typeface="Arial" pitchFamily="34" charset="0"/>
                </a:endParaRPr>
              </a:p>
            </p:txBody>
          </p:sp>
          <p:pic>
            <p:nvPicPr>
              <p:cNvPr id="1034" name="Picture 10" descr="http://cdn.iconfinder.net/data/icons/IMPRESSIONS/business/png/72/shopping_cart.png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9993064" y="4046984"/>
                <a:ext cx="541784" cy="541784"/>
              </a:xfrm>
              <a:prstGeom prst="rect">
                <a:avLst/>
              </a:prstGeom>
              <a:noFill/>
            </p:spPr>
          </p:pic>
          <p:sp>
            <p:nvSpPr>
              <p:cNvPr id="19" name="TextBox 18"/>
              <p:cNvSpPr txBox="1"/>
              <p:nvPr/>
            </p:nvSpPr>
            <p:spPr>
              <a:xfrm>
                <a:off x="4414168" y="4588768"/>
                <a:ext cx="2952328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pt-BR" sz="1600" dirty="0" smtClean="0"/>
                  <a:t>A bananada original de Minas Gerais direto na sua casa e sem frete em qualquer lugar do Brasil.</a:t>
                </a:r>
                <a:endParaRPr lang="en-US" sz="1600" dirty="0"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1317824" y="7397080"/>
                <a:ext cx="10009112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600" dirty="0" smtClean="0"/>
                  <a:t>- Não Contém conservantes</a:t>
                </a:r>
              </a:p>
              <a:p>
                <a:r>
                  <a:rPr lang="pt-BR" sz="1600" dirty="0" smtClean="0"/>
                  <a:t>- Importada diretamente de Belo Horizonte – MG</a:t>
                </a:r>
              </a:p>
              <a:p>
                <a:pPr>
                  <a:buFontTx/>
                  <a:buChar char="-"/>
                </a:pPr>
                <a:r>
                  <a:rPr lang="pt-BR" sz="1600" dirty="0" smtClean="0"/>
                  <a:t> 0% colesterol</a:t>
                </a:r>
              </a:p>
              <a:p>
                <a:pPr>
                  <a:buFontTx/>
                  <a:buChar char="-"/>
                </a:pPr>
                <a:r>
                  <a:rPr lang="pt-BR" sz="1600" dirty="0" smtClean="0"/>
                  <a:t> 0% de gordura trans</a:t>
                </a:r>
              </a:p>
              <a:p>
                <a:pPr>
                  <a:buFontTx/>
                  <a:buChar char="-"/>
                </a:pPr>
                <a:r>
                  <a:rPr lang="pt-BR" sz="1600" dirty="0" smtClean="0"/>
                  <a:t> </a:t>
                </a:r>
                <a:r>
                  <a:rPr lang="pt-BR" sz="1600" u="sng" dirty="0" smtClean="0"/>
                  <a:t>Contém</a:t>
                </a:r>
                <a:r>
                  <a:rPr lang="pt-BR" sz="1600" dirty="0" smtClean="0"/>
                  <a:t>: Banana, </a:t>
                </a:r>
                <a:r>
                  <a:rPr lang="pt-BR" sz="1600" dirty="0" err="1" smtClean="0"/>
                  <a:t>açucar</a:t>
                </a:r>
                <a:r>
                  <a:rPr lang="pt-BR" sz="1600" dirty="0" smtClean="0"/>
                  <a:t> e água.</a:t>
                </a:r>
                <a:endParaRPr lang="en-US" sz="1600" dirty="0"/>
              </a:p>
            </p:txBody>
          </p:sp>
          <p:cxnSp>
            <p:nvCxnSpPr>
              <p:cNvPr id="23" name="Straight Connector 22"/>
              <p:cNvCxnSpPr/>
              <p:nvPr/>
            </p:nvCxnSpPr>
            <p:spPr bwMode="auto">
              <a:xfrm>
                <a:off x="1101800" y="6893024"/>
                <a:ext cx="10873208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pic>
            <p:nvPicPr>
              <p:cNvPr id="1039" name="Picture 15" descr="C:\Documents and Settings\ecarvalho\My Documents\Downloads\download.png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8940303" y="6028928"/>
                <a:ext cx="2890689" cy="371178"/>
              </a:xfrm>
              <a:prstGeom prst="rect">
                <a:avLst/>
              </a:prstGeom>
              <a:noFill/>
            </p:spPr>
          </p:pic>
          <p:sp>
            <p:nvSpPr>
              <p:cNvPr id="22" name="TextBox 21"/>
              <p:cNvSpPr txBox="1"/>
              <p:nvPr/>
            </p:nvSpPr>
            <p:spPr>
              <a:xfrm>
                <a:off x="4126136" y="3796680"/>
                <a:ext cx="4725974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 smtClean="0">
                    <a:ln>
                      <a:solidFill>
                        <a:schemeClr val="accent2">
                          <a:lumMod val="50000"/>
                        </a:schemeClr>
                      </a:solidFill>
                    </a:ln>
                    <a:solidFill>
                      <a:schemeClr val="tx2">
                        <a:lumMod val="50000"/>
                      </a:schemeClr>
                    </a:solidFill>
                  </a:rPr>
                  <a:t>PROMOÇÃO FRETE GRÁTIS</a:t>
                </a:r>
                <a:endParaRPr lang="en-US" dirty="0">
                  <a:ln>
                    <a:solidFill>
                      <a:schemeClr val="accent2">
                        <a:lumMod val="50000"/>
                      </a:schemeClr>
                    </a:solidFill>
                  </a:ln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28" name="Action Button: Forward or Next 27">
              <a:hlinkClick r:id="" action="ppaction://hlinkshowjump?jump=nextslide" highlightClick="1"/>
            </p:cNvPr>
            <p:cNvSpPr/>
            <p:nvPr/>
          </p:nvSpPr>
          <p:spPr bwMode="auto">
            <a:xfrm>
              <a:off x="2325936" y="4876800"/>
              <a:ext cx="792088" cy="720080"/>
            </a:xfrm>
            <a:prstGeom prst="actionButtonForwardNext">
              <a:avLst/>
            </a:prstGeom>
            <a:solidFill>
              <a:schemeClr val="accent1">
                <a:alpha val="43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3001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pitchFamily="34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Bananadas: Um Case de Sucesso!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E0E8-EF2A-47E5-858D-DF8D682E2C50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036" name="AutoShape 12" descr="data:image/png;base64,iVBORw0KGgoAAAANSUhEUgAAAQEAAAAhCAYAAADZNx5/AAAgAElEQVR4nO29eZRlR3ng+Yvl3vuW3LMya98XlUSpCm0IiRJCgARaEEICBHgZ+tjjZZj22j3TbmMP3V7auI/H9NjT7nbbfWh3YxsQktAGAm0ICZCEFqpUUpVqUy1ZVVlL7u+9u0XE/BH3vnyZtUhIzDDnWN85Wa/ezXvjfhHfEl98WwrnnOMteAvegn+yIH/aCLwFb8Fb8NOFt5TAW/AW/BOHt5TAW/AW/BOHt5TAW/AW/BMH/eYetwA4LALAFcMJi/c2eh0jOh9x8y90XG/fPPv8mW59szCLgi3e6/F0ws9IzkOx03Nqi08JiOIXTtgCdTk7fsc8TfGMmvvyNzcBzjBOMfaZf207bpvV/WLOeJ2z67hejjtvnvPHnfNsx/OuA5HTp36O5+fB2aZ9zgfavHim58p3vR4c7Fmu/7hgmeXv+eJn58mKbCN9pjnMXrPgLAg95zpneOZMIAGstaRpOju4c+f88W+xZHmCI8PiP8kzcBZHjsWSOT/lPPfC5hwYCy4v1gKLc8aP5zqukRHbmMwa/6ri9w7/fHsxHXN/5i9pB22TJGkvkAGMs+AysAYyfzEDEqxHoxjTGH9/VvykQEKGKd9voZW1MBgspj2N3MyimBc/1tr2RWtt8X12vW0Hwnmet7/PoU/nfC04Y9v0KMcy5Rxz2u/CGchScIbUpmTlE66YlKVYjxTj7OyQaYG8A4vFFAycJp10MLg0LmhnZ/G05XMeH1syv4Ms9nMs6e35yLTnUSLQXhtXig/k1mNv82LggvbGFvxR8pgD63Ishsyl/mZnsG0GtFjjeTbPYiDDkc8ZywHOGRwG1/Gus9Kng55n/MHgiMlpYYHMzfJWM295OcJg06SNY5y22nO3xbrkeT67WlkLXIazeXvZ4xxS26neCuVjc+aDMMY4KWc1XLPZZGRk5LQb2w84UCiarRl6+/uZbk2ia5IsyalQxxiDrjqm4xlU2EuWxPTUQ+K4iVJ1lIoQuUUKR5w2qFWrJNMWKRXgsDKlaRr09vcRz1hCVaE1M00QBGw4fwNZnhHqoKD0PM1cqLw4TqlUQgBarRYjIyPUajVOnTpFEIU0jaGqNTWREzhF3lIkEmxPgBUW17JoJ5BCoIOA2LSwCISTBGGIlSmt6RmqLkJKie4JaSVNlAVJgKCCkgFZGmOEoekSlBbUnUM5yBEgFOvXrydJEqSUBEGAtZ7phRCUNLHWMpc+McdHRjHGICXkziIUNOMG9XqdPM9xzhE4QZQ5AudwzlINJMLk5AgSpbFByFQjJggCqoHEZjMEooUlw+gQnCB0ikCFGAKm0oSGy9FRF8pUicKQVjxBoB0yM0gpWbXxPOI0Iwqr3hIygAQjwWBRWCQaZ0AW5tZMa4LDhw96QTeCSlglS3K/JqECIMstCAUyIk1jKpEjTzMCWScIIpqtaZywKK3ROqI5ndHT08PU9EmiakDLxVSqITYxhCokyzK/zsYRhiHYlCDUNOIGlahGkjoQAevXryZJDErmBIHCGY1zfk4lSU6nz7nlx4kcJ2KM0ORZF7WuIU5OT6MC0IEjz1pUZUgUhMzMzJAkCV39vSAEWQrVIEDYjDRNyXQdkbXoEzNE0jBjNFaFxK2M3v4+Wq2EQEnixgRhoDhv40by1KDDYK7YpGnqgsBfnJqaIkkShoaGzjqJ9tam/MavwkIZCy+DGQ5FjCXF4grNlgKOGEudLhwShSbJUrqCHoTVflzpxzHk5C6nIkJajZhqrQbAjp0vccH5GzvMm7ObZ8Y4lBKMjIywdMlSkqRJVKngkGTFk8LGKKHABV6DSshMQqSigomboAw2d8igCqnycw8EaAEiL5CWpDkEQYbA4poWEVWxziG0wJt5WbE9ASICNNu2bWPz5s1+WYt0DSEExhiUKgQgy+ikT5wmDA4OIoX01rtxmECQYsmxBFgqxsB0C6SGvNjSstxr8LDqcTYGuuugDdhToGNwLSAGkfi55YBVEPaA7AeGcERgQQhPq8bMFF31LgBe2buXtevWzx6njP+Pkf7IqLAIPK3T1KF0zsGRV1m1YhVxGlMJu8kzQ6CVf1YV+5+1oPQcejvnMEag9OzRziJwCJyb3TWF9KwVZ4Yw8GtajqRKPK3D2AylJXmWoYMIkPxo20ts3nwBonifKJjc2LPT57XkxxW4NnKB1IKZHKxuG6PkBX4OCAscC3EjNlBXfm66uB4CvYByGVkOusAlzy1SS+JmTL1aAWF5ecdOzn/bBafhJPI8d0opkiRhdHSUwcFB6vX6WSdRziRu5lSqGmM8fWJnSaXBkdLiBMeOvMru3buZnJngxNRxunt76OsZYOHAItasWs2i2mIEERAQJHWUkxCBEf4wEaJQhelsclCBxGG542tf4WO3fbxA5MxKwBiHlLBz507Wrl3ttX0bJDme+Kow/VxxNhNtk0kjJOASEJm/2yowldkzvYJW1qQSVRCu9ClkXtiNAhROFhxqLIIcXOx3NBVRngfvvPNObr75ZrTWbStg7lw8w5X0GVgwSFAN0UL5NbNeeeXCkhDTjYXRKV79h6+y54c/5Miu3TSnJknjDKE09d5eVBSy6V3v5Pyrt1J79yZI93BsxxOcOriLWmjJskm/8yHJdUS1dyE9iy6gd+EVMHge5IJchQitkEJiUn+UEVHAvfc9wIc/dMOs/4NOXwJt680J2LtvN6tWLye3lkhVyBIIgw6a2hxrUmQYeKthuslMo8XUxCRRtUZqIKqEnDx+mBdf3Mb+/YeYmE4ZHF7PxHRKd3c/MzNTdPfUmGpMMbhoMd31Oh+45mqWL1LEMVQDwFqiUOKMt6o6eeVrd97Nhz90CzooFIFwc/huPn1eS35KAykF/var32XSBEw6SSw1TmlyIwh1SJLECFIC7TeQPbv2oHLN5MkxBvqqnDg5yrHjY2STx3n5kf9BHdv29VhjUEq08TR5itJe9d1xx5189KO3zsFJd5oyeZ6/tgLAYoUhqitwfkcAi5Ytxhjnoe3fYNsLjyMSy1CwiMGBxazYsIHJeIbpPGXXs9/l4e9/iw1rN3D11mtZpFegI7+rGQEOh0KR5Q4l/aqpQPrzj0np6e6a43RsM1cHKOmvREFIoL2wJXGTKAhBarSTmNR6NSoslhwpNC5LEYECmWOQKCLII9D+rCsEXv2W20hYIwOEgUB7TLIcAlkIp/C+gchJIAQRgrAkrZSoqtvrrbX/vxCivcOUcBp9alWy4uxtrUGKAJHnqLRFdyThRzv4wR9/gcOPfgfRnKJHO/q6q5jMIqdyotFRGjTYd+B5Rh6/g5t/6cO4YA9yaidrewTJ9AxY53cSodFhQDrhaBz8PtGyfVQ2XQeLNqNVL4gKibGEWqOFwggQQrZdFqVSFSW9SqUAWGcRwiGEIih2+VL/mcRbmKBwzoLNaTSmOHrsJK1WSk/3AENDQ8iKRkrJ8OJeVq9by/PPvsSf/tl/4uB3dtNIAurVBTRmUiphQJxnTOdPMzDYzRe/eDe/9zu/xrXXrCO3EKkSZ4nLDVneIqpE5HlOV72O0oUhJS269AYX/Pfjyo8FYgexgOrKjbz06ihp1M10ZnFpTk9PH9OtDFftJdOOzLYIAzggjrH18svY/vV7MK5GKxyka9kA01KQA1NxSr1SwZqcQElsmiCDCAQo5XHMcktXd/dpOGlrLUopoiiacyY9N3h9lgmL1I6caUZaB/nbb/wde4/sZu3KRbzr0iu4aPElSGokULoKOWWO8fwzz7Bt27OMTB7h9ht+jhX6PCqiSm5jlNRYJIEW3pS1FislmTFoVS7ja6HnvKdbeCbM0pSoEmGzDCkNuAQlUnAKCHAuxCqN0hUcUPq8cuEdrg7pz/7Sb+TOQVaYwy0LNQ15cQAWukaOV2gGvBHhQAoK56YkqlbIsgwpZfsYoLXGWkscx1QqlVmmmU+ftr4v6WQRUvpjzYkJHv3z/0jjO0/SP36S7kCSJQlTSZPQQo+FughpiYxTJzPSpMH2O/6aoTWWRef3ko6fpLcuQWpymSMdSKvBWmayccwIJLZF1NsHXWvJshytuxEOWi1LGEkqlVqb2ZUo4yKli7uIFkkvQlmWYZxBibBYA++nVeWRVQpUVKExPc7IsVF0UGHTure1h4ptRiudoR52UalX2Hr1lSxdtZm/+q93cP83n2SymVOpDCJUiJIWrVImGzEmzfj13/59Pvuv/1du+/CVOLxFYA0EgSLSEXmeIEXgHdeAVt6F2UpiqlHt7PR5HfITCGgBLx84RDPsZzyXhN19hMDJ6RnCSp08UEynKbpWI7ExcVjnyedfYNHK1eRpQtQX8corr9AbVGk56K9U/DFBaXA5MtDeGWwsSEmeZwgZnhEf3Vk6kOf5nPPomaG4XwhyDJaElyZ/wN/8/V8xPt3gXe+8mlvffSsawQvpNp7/0bNMHppkuH+I+mCFKzdfybvfeRXT8QyPv/AdBl9YwKcvWweAsgaBILe6sAIEKIUQoLVC44jj9GwYzVoEwh9arfUCooVnvsnJSZKJvXRlu+iKHFSWwuB56HAVCTCZwg+efZUjx0+w5ZKLkYHiyNER4ulx3nnJJobqkFl4fvsJXn55lNzU6e6SXH5xH6tW9LY9uDv250xMxzSmTnHZ21eyqMvvitZKZAd/KKVwzpGmKWEYIqVsK4CSmebTx+YOpENL4aUpT0EJSFNO/d1X2fO1+1mexlSFxZChAuhzoCXYBBppipAw2A0XfWAjcWWKVmsc1EJCYTH5DE4aRGBInUPkOZGM6AoFabKXE/sbBNEgw1f9HEG4sE2AauTDWa1Gs8C2XA0ogqOz9DKAkiilCIQiNzlOKLRQ3hx3YHOQIeS54eT4DELVGBhaipXw4Lee5eSpY3zko9dSDevc9+DDTE4nfPKjN7F0RRe/9dufJheCe+7/Hg0zhcxqGAe6K8JYw6mpKVYuXsYf/8lfcsHGjVyyaWBOJAknwEmklgV9IAwBIalE56bPa8mPRKAshArWr13H0X3HCbp6mUiaVJRFVWE6mwZVQdcrpGnCqy+/xJaNGzm47QXy5gwzM02yzBDVqri4CQJyB5GARtyiqgVKK7/7FLhopUEK4jg+DSettZ5/4awTKAkqnCIvwikH0j38x6/+JdP5BO+/+mY+fPlHmWGCL93/JZ5+5RkWDPXxMzfezuiRo3ztnr/n2Wee5td/4Xd457uu5OmRJ3jge1/nw5fcjrKCSHthDSUkmaOmJWQ5TnpTMTc5oQ4pNtWzQ6GJ09RPWASKLI7p7e1mdBJ27n4FlZ0kbiRsuuwmujcsxokqD/3gFL/xr/6EPJviC1/4Pzl2app/90d/SOhaPPLQVziewx/84X/hG996EmwN26og8wk+fusW/s2/+XWkhN1HLDd94tdopYKazvnr//BZrr1yOSGG3HlrAgNBELS91GEYth1MJRMZY9Ban0aP8nuWJQSB9EQ2CYwe486/+SJ9YQUjLKmWNJJpKgLCtHC4KrzfxUFQg5f27SUOMsJuSLcfZummIVoE4HLv21Atb/7mASbPMDqjUksZOfgiQ6N7EcsGgByXCYRWmBxCPZsr4cHiULO5BaWzzjmyNAWEn4JxhdMNlAQZAALGp6ZppoY1a9fhJHz70Rf515/7M1auWMztH78RgEcee46HHv0ejiE+8pHL6arDrbd8gCee+hEnJxyYiN6efo5PHGPBUD8VHXDsxAkqsspXv3Y/w4MfZ9XiCB2AyXOUcGgdkmcpzhmiENLcWyiZM4RCviZ9zgVaeo/QgVde5MArR1j59kvpEaBNQqAE9SgkyaaxpkVvoDjeGOfojnGqeQNETmJjojBg6uQkM8dHCJk9HFcrVRQ5WZoShCEuyxFKgZDkuW07Mefg02m+nM05NR+sBasUU4xy7+NfZjybZN2a8/jQ5bfToMWfffnzHDoxwi3v+xkuufAyAmFZ138+b3vbBXzpv/0DDz7wKLfecAtBL7ROneLYxCEWDwz7gYWXYR2IclURReRByEox3deXtNGesHMElQpgWbzmYgYGVvMX//43ef/lVaYmX6R75hJk93q+/vAOTuaDDNRSNm1ZxMP/fhcVu5RlCwVRBP/lq4f40kP7EKLOzTe8D91KObTrBbZsuhBp/dHgz//q67QYItMRsU14ZV+L917hhVAWyrlwUrfDgp24lrtI+TmfPhaHQCDLMGmegXHseOwxRmcmWHvhRianT6KUI2i1mDoySiXPqIUh00mLTFiyimHrNVvJogynU6xIiaOUY7aXqG8xCxYs4dDul6hXGqSFkzARCVNBxLRV1OrQOHWQriVbQBYREOeFt+1xx0cE2v6AEvwJBiEFWs0qdK2KAFHhGs+MD72dGJ+gZ2AYJ+Hl3dP83h/8B5pZDyfGnFeoDgYHN5CbV/iTP/2vQI1PfPRCLtm8iOuvez9f/tqjTLcM8fFJokrE9NgUTkDv4BJca5qv3vEAH7z2HSxbdJ539QSyfWzRAUVOAQQBWCRKBIAsHG+n0+e15ccfUwWaX/vElax99gSXXzLE4y82WLOizv5Xx1i6bIA0hZNHpwiU5DO/cSvVGowczTlx6hSXb1nIUy+Mc+Xb+/nIrZ9BAKHoVLySIPQWi9AB5W+0koWfZi68sYxBAZaMPae2s23305gs55p3X4sm4N5vfYl9J7ax5aIt3LD5vYynLe775l3sPvAi9V6BNY6pqSkkAqkM3YNVpprjuIEiI8tShIa8s+b0rLgfJ2ur3H0KLYIENK5rKU9sn+DVgzu4/bYVLH3HYk5MwlfuegxR7eU3/vktLOqGp59+kWZDEyhNEMC99z9GqxmArvO/f/ZW6hZ6+AQ9eAGPM/jhj/aTC0GStAgrfXzt6w/zyz+zAeskSlCkE73xlEHhvLNRawnY4ijg2Pbc81x2w/t476/+Mge/8ygrzt/I1LadHN+9j2R8iiMHD3DRpguIekMWvPtSnrznK/T0D7D34F7SxiRrLlyOrg6ydOtV5HuPsvzdb4fp45w6spcTEydZuGoRQU2zqH8BZFVOTZ6ky6aQJ15aSkeZNRSYzaPb6Z9lVEW016SguwCpJa00phmnrBnsYXwG7rrnQRqxoJlLbrz5NtIYTAZx7MhtBWMMP/j+03z85guphHDlFRfxxS/dSxj2sHB4OUdHdtPX18VEs0mWWprTKYsGF/HUU09xzZXnIbCkSUIYVIvFnpv5+ZPJsZftf3fum2L3yy+xe0+VNevX8s27vsulF1/E048+wdVbt/LynpdZs2wZJ3bNsHvfblafv4G9L23jzr97jvXrz+OFpxQXblhFFXA2QcioWNpOTF2xvmfPePyxlYADMulIabDr0As0mydZOXAeb+/exEFe4oUjj7BkmebU8R1sG3uIiwe28ksf+hR7RnZy94/+noNHD7Fl2aUIcmphxEyR0ebajCCR7dwxnzYs59j+p0/kNJFysiMFdu4NVgABfOjnf4s/+8O/pLpyBauv7eKuR3cjqNAjNddd+naUARlF2ErIBVs24AxsXDbA/lcCjOrhox/+G/7od3+R91xaHF9yuOve4xw4cpLVq/v4n/7ZL/DZ3/sLJhsQN6BWlYV3GcSbVAKBBBPnqArgLOSWXbt2cfF7roBF3USXboG1Gzh4aJTK1q2cd/4G3rZ0MXu+8W2mm9MQwxU//2tMuYhVgeTE/u2sOX8h9BlOvLKT7z76DKs2bKZ7yXoG1l3FwloNyLGtCRqtk9S7Y0Z372ZQCR8fdg5cik8jm+s9LyM5bT0Mnh/nLcHsV0uaZygdUAlDpFbEudfjo8fHaaYZVjuefuEJnL2SrrpAByADh1SCHS89z8nRYyxbvoihgSpa5xgXc+DgbroCR7USMjY9ja5Wqdd7CAPD+Ph4+91hFLwu3/MbBQfEuSTTIHt7uPjqq5lqwQUbwAaXcP6FQyRKsf/YcbZcfjnpZIvx46NctfUq/vHue7jsHW+ndeI4P3Pbzew5MMLv/+MXAdDCi3rW9kKX6yp8WLN05Z3hHP0GLAGLJMfRZHTsMN29XawaXk6I4sDRvbjAYJqWnkoXd3/tTp6rv8Tt13yKLcs28Z2D/RwdG+HarVfxw4PfZXxkjIqpsWHFBgQKl2aIIqZ/NqPfvV75caVZV9iMuHaMv5G0WLLifJpqM1+8d4SP/Rb83//9K4RVxeLhiHWrAnbvnWTf4VdBRWy+cC3dIfzp527kpe0v8OroNMdGWvzyr/wuH7/xMj7/O7dQqcN//uI/ImSdC8/bwKVbBqnoKuMTDUaONFmwvoYU59bIrxsK05typYyhr6+P9RvPw840qHd3cWzvXobXr+HI8ROcEIZ9TzxBb18fazZu4MnH7ueSBQM0dZ0Dew9wydrzefjb9/Pu916Ctf1suvDdDK5Yz5jsRfevYvuL2+mpVDC2ijYhddfwKb9CgwiK5RXgCu+4K+l0hnmKjp8S/3kenlAHuCL5SQpHoGHsaMyRI0eQUhKFEYsWLcIYgxCaWled3BhslrFweCXTkxMkw33U61UcGVrB4OJhpseOcuTwIaKuPlqNJhEwOTHGwMB5AGR5hkKg5Dyx8O6K1897rwGhhhh44KGneWbPCLE1YGKuumg9x4/s5/jx4/T1DDGy/yhZK2XZgiEeePA7LFu+mLvu/ArXXrWV/+sLf86Cxcu56l1XeiEWgpnGDLUicevHgR9bCQgsASmajEYS44IAFWgEku6wB9Gos/Wdt7J181ak68LMOPq6B3nwuYcZG2nyiz/7GSY4wo+2f4962sX6ZVvoZwAIcEGAkKq9UfjkkiIZQbRFuY3HWYWpjEjNIZr3Xkvn6I8qvGPzSiZaAlPp59/95VPsOjxKvSr4F7/7i8QCDk9MYCOJMAkrlvQTZDAYwf1f+12+/MCLfO6P/hrEAA986wd85pc+SH5KsmvfYWrdy7jt+lvo1yBsnZMT44ycOMGFG1YiochIe5N1W/48QJI1ibSAMGLt+g1UxmOOP/4MNjdE3XUG162lZ7CP7NQYw9MtlMqpbe7jko1LGD+8nahnGWb0AMGg4LmHHmJhbw+brvsg3eowyIiKa5JM7qRi95NOwLJlF1Pt30hy4gkWLl0FNsAqjRAW4c86c+of5hSQdZ6CznTEE2I2kcjlCOEIhCQUAuFgyXCFd15yIS/u2IOhyoFXj9Nd10W5SoBzglBrhHX09y2gElUYPTFKoKskcZPxsaM4m7F46VJOnprCpTm9C3ppTR0nDCSZTdBOoIJwniXQmY/SGfF4YxpBdGROygocHRtleOESLt+8hY0LQiouZv1QH6gaO3YfY/XatTzzgydZs3Ihy1cuwLotdPf18o4r383CZas4uGs7BtAIuutdxElGFHU6/+Yq2DMpsjfIjYIcy0B9IaNqlDifxNBgw+AGVgys4KXnd1HJa9x08UcZi8b5/nNPIiuWf/axTzHOEb75nfuZmplgdf9qrrv4RixFvF7NZvNJisoo5yjTuCxgRSchXg/IYozZxXCZoRJobrrlBu58+AXuvush6t39LB9s8J7LF5BbODQyRivOkblly6Y1pC2L6pFUK/DhD21C6c/yuc/9NWMty84j09z/4DcJ6nVyk/CZX/oXSCex4RIq1S4efOx7vOvylfRpidbVN7bknRAoEBatQjApBII1G9bxzb/9O/TEJCuGF3B49DD9KxcRZzmhC1i2ZCVHj5/i65//HKtW9OO04byLL6WezLDzsedYUZ1hcuRZnrlzNyITtGyMWqDJsnEuWDLEc09vY3TgGQyCtRsXsnjTZaAi/N4pCIV36kopO9hufhynKHISwofX5lQtlpobhPBJsSbPCKQlbcYIWWH54iFCZchtyqoVSyhKMDg8so8wgADLls0X0NO3AAPs23eE6amYatTFwuGFvHrwAKfGx+ntHaAxOcH01BgmabDpwo0EMiAo8jZm/XpuzsdsLvSbtOQyH8ePqhWMkOw/dIS3rVtNoHtYtmCYoydOkOSCzAlWrh+g1nUd69dE7Ny1n2Ur13LJ5jV884FtLF81xP137wLe2/Z7RVFweqWhK9b4LHrrDSgBjUMjbR8XLbmYyZNHSPQY26ef4sLuK/nAldfwve33cfjYc+w8sZDucAGrVi/hxNRBnt71dXYcfAoVCCq1Oucv2MiW4UuR9GCRxHjvsoYipFSUgjnVsYt0KID555vTJjmbojpb5utwwpECWy5byVe+/TBdYR9y8iS/9qufpLvps3p/8N3t9EbDiMARBvA7v/+feebASVadfzGXXnAZd3zlXhpxwsDCxfQsH+IfvvEUYWUB6cxxBuoZyxev5KXDLVQU8Mj3tvNv9SdpZlApjtFvFFwRPYnTDB0GZA4CaTn/wk1sd4J8ZJSpva+wujvi1ME99HdFkMGRJ75Hvd7DhiRHH5ogGtBY+ySLV1TYved5bv/IFUzXDmC0IZ9M6OnpomkaJGaKBadqvG+VxXTvZFJ2cfTkNIv1e4CIFAiQxCajIgKcPFeOSVFWKMChcO0y33lmngWTJahIM9DTxeH9r3DeBZv58I1X8cKOHdz97e/yzA8fYmzqFvp66tS7Ha34GIsWL+STn7iFeh32vtrk3vseoV4fRJmQIyPHqXYNUqlWmZqaoRoosjjh0ks3c966dfjKPAh0kdkoikpDJzv4zHb8nGue5yKgBFFBA/t2HyTNYGBoCT/c9gpLal089uhT9A0NMxWnLF61gd/8V3/BbR/6IHfd8yz1Lk01CnjmuQO0ZmJ2HxkjToWvGLXeOZ1nGUEwi5toL2zJ/6crsDfkGHQWqrKXDUsu4IXtTzCTH2XnjudYuGkJW5asY2DJNWzb+SwHDuwgjxWB6EbXc05MHmD5goWMjSesW3UpN114O9JVcE7hivBS22fUKeA/obNYCUpLQuDSLUvpEqPoPCESTT7wrkvo1j7b78ArL0MjY9XKVYQSKvUae/fuZ/+hMZ6871u43DHcU+Pzf/ybPPXEHqrCQnqMB+/8TyrxUqsAAA8jSURBVJy/BFoNuP+RY3zuj/6A40fG/Htl51n+jYNzjigMSJ1B6xAwyA1reO8tH+KhV1+lx0WEzZhFKQRpgrSeuWemxukKuhHWMDU6iRs2nEinedu6bg7t+j5LL6rSjFv0dVXIZ2LqAvrqETQn0E6Q5lM03QKyYDkz9FCzsh2skUIXcf6OOgHOHJKaTSk++3FO6QhwVCoVBJYTo6MMLFjIP/+Vn0eElq6qpK83AlJ6uh0fv/X9fPpTP8vy5SGpgX+44wGef34X6H6sc/QPLuDU9BRmZhqZNtGBxBLzc5+6jf6+Pp/EU0rD/L4Kc+D1h6jPNreyfuD8teu457s/ZGjBQsbGpvjyXQ/QmBynlecsXLqUQ9/6DlJK/ua/fwlJzvT0BMZmSKNQKAQO1TxJxq8QFSFlH2ouy7GLpJTOHI3XChHGcfw6UoZ9AZqQmoHaEq55xw08+/LDnDx8iGeTbzO2ejnDK/q5YuPl5ECSWmzuODiyn+pED2qixpWLtnLJ+e8nZAhjfRGKAoyxREoWriLvyBPKB5DbJZuG2UmdBdXyXttRO10m4wghSDNHEAg2LRH86f92G4GssmR4kMVLAOVPDv/Hv/wUh0en2bRpE5UQ/pdfuJnzzhvipZ17uOiCTVQqFa6+5kqCCJ42GV/4lx9naGiILUtAWwgDuP2Di+hxt6OlIci9Aii95GV6sDE+LbWML+d5ftaEkziOfWQhzUArQqVIimQc3dvN8CduY/2RQ2z/8lfpG2uxut6NnGmQYImIMMrQyBtIbWkJILHUw14GVy9G9J+Eyhh6HFCxZwwJYLGhYDKvkEZrqS16Bxe/7XYa0WqCIiQlwZeCO39cE6I08OflB5Tfi0xOZ/w9DkeWW7+DtYMLnhC1rn6Ghg3j4xNYCysWL+Tzn/1VTp04islmkCrgVz59O1G1lzDw7PGVu57n6/d9l0DXQAVUa11MNaZwLqe/t0o60cQmTf7nT3+Mq7euo1YBax1KCtI0JgxDklZOVKn4JKbyRAnkxhXp62ehz2vIjwFi6W3co/tepp5Okp44QogmVZKuxUuoWksji1m2YqkvNQfGxsYYXj5EvV7n5LGj5K0ZiKdRWtDIoaILYTYOJT3CzoEo6OKbjliEyef6ZwBdMh7QrrY7dxdyQWnxhXSzauEmlJXsG3mRU5Mj7HhxDztesgwMDCClotVKyBNvjiwd2sLGVZeyoudSKmLQMz6z9dgaN2tkCUHZKSXN0lnczGv7A6SU7Tn5oUQ7RTfLMnQQYoGBKnz8xnehtSaOY0rZ0xKuvPwCv+NG/uLihV387G3XUqncQNrKmJmZYajP33/1RWuQch3WWqraZ7/pSCAEfOzGKxBCUCnGdg7SNKFSqbTzzssswTJ9eM5qn4E+SAVOFuWi2jctyWMqSxZx2W//JsLkvHTv/WwfOcJwVCHSAaeylKaBrqEBGmmDhnbUqsO8/X3vI184Ri73MzY2wfDgEFPTBhWEKClJU8uMteT15fSufA+9a6/B9KylVl2CtT5c6Zwjz3Of/DRr4JfU6KTMOegj2vQJw7DI+hQIKenq6iHLDI3GJPv2jLN29QoWDg0CPvlqqMfnzR8YmeLuex7hjrsfYnyySRj10EqnadomJs8JAmhMjxG6GT75sQ/x0Vuvo1bxVarOpgRhQBAq0iQhqlRxFpQKMNaXpSdZThiU+XnurPQ5l/w4IVBFOkyUNxiOBD0qYybPiQGsDzlrZRHxFI1TJxgcHGJRfxeNVsL253cxPDTIyuVLGDu8G2kkUVGJPzPVpLe7Vi5q27eRZdZnl2LPKD8aZotXqtUqjUbjNSuhlCiLYqp06xVsXL6YJcNbGD11gPHpYzSTCdKsSZLELKjXWbhyOQN9i+npHqZb9KPx2UydedbW2rPW0ZfXWq3Wa9Q1dOCoFD09PSRJQhRFxboIwjD0JyTntX9XNUIIqIZ1H+52YHJDJfA1C9Z6olYCjZTelqtWA6KoH/B121rLtkc2y/wchPDNTapVzxhloxPnaONTdptRStFqtahWZ52Gp2UKFvRpNhrUwiooUGK2N0KaByAtLFzIpb//WYY2bWT3U08xdewYR0+OMTk5RZwbuvsX0DOwgLdfcRUXvvd9cPE6GH+BxrHnmDq0nCYJ4XCXD/tnGUGlSs/QMN3LL4BFF0N9OYousnxWeQshCIKAJEl+IvQp+aEUpkqlwuDgIEEQMD09zf5XjxX8k1Gt12g0Y17evZcnnnyWbzz4GI4ai4eXkmU51cgXuelIsHjZQob6e/nA1Vdx9ZWb6e0rjSrbblQjEIRR5F1RztNBSUGrlVCpziros9HnteRH4cetAt0yZ+LQXk4cPcLQkhX09PQxfmycJJ5h2ZLFTE+cYm1fHztffIplK5aTnDzFmr46gUw4degVepQjIyUEXO7o7alhTYaUAXlm0IVvQCrvFExbSZFpOhfa/QQAZmZmmJiYYOnSpeckoBCu3dRBSF8S5o3aDEeCI2G2Z5VGEOEIgSoagcutd8B0QOeiljtimqYEQdBmhgcffJDrr7/+nLjBrHJpNpscPHiQjRs3zlEqedFwxN/rd7FSiK0vusIY196py2rRPPctwYIixJfnptjFZstgbdFwo10Wazzu5fvA13tnWcbjjz/Odddd18atVAqi9J67WRw66bNs6TK/ZvgkJR2AcsVRNvc1m2Qt2lrMWG9VWYEvaQ78ZyB8yl29AYyBmvLfiXyTApMXC6JA94IcAmpkxu/6ee47AJX43nPPPdx8881vmj6dMD8Nt8gsb0+trP8vXI7kFuIYKlVfVCMLv14r8w7ZUHhBlPiNzBmH1gZdONAEEmscWep4/PEnuPba95LljiAUvkmO80Xm56LPa8oPAidgInboiija2vnGIgKoAImFSPpocEX53+tinj4ty3+JBNQERIBwOThHlhuCsEKaWHQo2462b33zQT54/QdOT9TK89yVhAR/rnnkkUfOMQWLEFkxGYV1EuMgtxalHVJLrEtJUl9NplWAlhFSBOBC8iRHK4Fzpt1FxwtW0DaJ/U4q2t+dc0gpuemmm855Zj4TGGO47777qFarOOdotVptxtVaI4pqwzRN59Tzl+/0vgVbtPOShGHYZv4kSdpFJFmWzXlvlmXtd4Lf5VqtFmEYtoXm+uuvP4355/cVKN/bSZ+HHn6U1FhCGeGcwBm/fr47jsWaBDBEGmySQeaIlI9/uxykDkidJAuqPvCiYjAzBCImEI48tVRURCgFzlmSPCcxmlQP4HQELsXh59dsNnHOUavVeP/73/8To085587ei0IIpAhJMwiCiChStOIGxuSEYYhxIESANQIdRDQaDYJQYW1GUPV8aa1vGoPx7bx8xW0K1q8zVoALEELxwes/QJ6CDmk79HKTeyfiOehzLvkRWGySEUQhiVVkQpE7hZWKsOrPJlncIAwE2oGQjiw1OCmwToIOyPA1CgE5oTCIpEGovBvWGIOQAVYGKBmQZBnOWZSEm268wRdIzctTEc45V5penQJwdrCFxjE4obwlUKgWhyTHotvnQP9pjReQWVPxtb2rpeCVAlKW3Jam47kgyzKMMe2y3JKJOhtAlDtM6UTsZN7OvnGdO5G1lizLUErNYXRjDM6505jfWjvn2c71TdMUrXX72nx/wPz3dtLH70gOVTTqMEWFm3EFD4v2XUUUX7Z3jmJ0KJpR5EUKhZagsL6xig699ZBnvsi/8M+0uzHPc26eCec3S5/50FYExdYeZ1CZVx4fxylRFHp0O1g4N7nvVUBShMh8+zCH8b6ANq3L9meaNLVopbz/S0Ca5QRh2YHq3PQ5l/yI0mZxEoRPp87crMPYFT4BgQWbFaZMmXOtiXOD0wqBtwx0qdnnpGv7zTk33gHucYI8SfxRZ74lUP4twlLjdja5PDtFik+X+648qlwa5fOhMu+UKEve/ZtyvMHjyI0Ep9s7PtB2rpSC1CmU5bGgU2hfCzp3YKBIMRVzGnmcabz5O1nZFXiOgLeLYJw3bTt+5+Yw6zxmEAJrDFLP+kFglvnL9S8tJJhbTeh/75BlMUUOTihfIhrqObuVVhJXMqcI2t5tn4mVk9kMKb0PQgJ56tBKeHrNYRIfyjMWSldeOC/vpLRwlFKv2xI4F33ab+6wAMr7HEUVq/B1GNb5jtVKluXKs+Ewayh404ItjqdKFcfBEO8D8KnczlmsESgd0s5cLHqiiEIRmKIbkkSdgz6vIT+uwMc4UD47tjOLr50WV7aKbm+yDkTQLgVyNkPhEFIU9+KVtQGCkDz3oXAL5Kl3DErw2ZjyLJZAKRyvR5O7vEO4pfVWgbM+HFE0kmyn67vS0WvwDSwFEAD6zAJGZ4jPt1bu9Lq+HvzKe8ua705BP9suPx86BbL83u4ELMqGlHPPsNYYZLlbd/y/jVMRGisbVZ7LGjnTerR73NkUhCBPM3RUlld7p6TWxd9qEIX3tkzHLZP3JPjmrznGCbTQGKN8S7YidJRbB0r4xCoccp7lJr0hcdoOON8yeKP0mSP0Z1AWUgnAN0CX7RBjRqQj7ydwEiElNi1M/KLZa7s/uShoUIS5TFGwBNI3baGwAMrC1kIWM5OilZ4b+jyNPq+DP0v5EGUWbEEe4xUxJi9IWtwovPmPUFhnkZS9DgszsNxwcgdBgLM+IcVaSE1OJdBF7o0p5G8u/m1L4MeCziiDmPfZOdHO/7fvs3T+UYWfDvy/WCb2uuDNZAzZYouylNv27FL7MNDcZKtyrWX7j6BIckTHN1wwS6N2Mkvx9xc6cC33pNOMhf9PoczYK/fEEjqxm7UG5sB8PmxfPwM95tzr31v+TYU5FscbhI7kyDbMrqudd69szxiKI0A7IajzzgIvMffy6WPOxf0N9xM4DeYkIFjmZl3JMzDlW/DGwR+9ZkEyu9odiVQdNGmfYPB1oKr8ViaSdNBIiLzdHMQVo5aHvfIt//+ATjzmKYAzQSffnasvxRkUwKzi+cky7/wZdApru3swsypPFtdF50OdcxGn677ZMc9MvzdUSuwLP7zZdPrLHN7lVKIsi5CUnGMG/XThTTLxj287zYU3MX+HxIq5+M9n/TZ6895T3uMNSolwZZEWXmmXDO9cIfRidozOjfenagrI0wV4Hi5nm3/78pnod/rWeboD7XXh93rAnmF3LuHsvDmXxvOzMU+H14vv/wOBSwvOaU3veQ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8" name="AutoShape 14" descr="data:image/png;base64,iVBORw0KGgoAAAANSUhEUgAAAQEAAAAhCAYAAADZNx5/AAAgAElEQVR4nO29eZRlR3ng+Yvl3vuW3LMya98XlUSpCm0IiRJCgARaEEICBHgZ+tjjZZj22j3TbmMP3V7auI/H9NjT7nbbfWh3YxsQktAGAm0ICZCEFqpUUpVqUy1ZVVlL7u+9u0XE/BH3vnyZtUhIzDDnWN85Wa/ezXvjfhHfEl98WwrnnOMteAvegn+yIH/aCLwFb8Fb8NOFt5TAW/AW/BOHt5TAW/AW/BOHt5TAW/AW/BMH/eYetwA4LALAFcMJi/c2eh0jOh9x8y90XG/fPPv8mW59szCLgi3e6/F0ws9IzkOx03Nqi08JiOIXTtgCdTk7fsc8TfGMmvvyNzcBzjBOMfaZf207bpvV/WLOeJ2z67hejjtvnvPHnfNsx/OuA5HTp36O5+fB2aZ9zgfavHim58p3vR4c7Fmu/7hgmeXv+eJn58mKbCN9pjnMXrPgLAg95zpneOZMIAGstaRpOju4c+f88W+xZHmCI8PiP8kzcBZHjsWSOT/lPPfC5hwYCy4v1gKLc8aP5zqukRHbmMwa/6ri9w7/fHsxHXN/5i9pB22TJGkvkAGMs+AysAYyfzEDEqxHoxjTGH9/VvykQEKGKd9voZW1MBgspj2N3MyimBc/1tr2RWtt8X12vW0Hwnmet7/PoU/nfC04Y9v0KMcy5Rxz2u/CGchScIbUpmTlE66YlKVYjxTj7OyQaYG8A4vFFAycJp10MLg0LmhnZ/G05XMeH1syv4Ms9nMs6e35yLTnUSLQXhtXig/k1mNv82LggvbGFvxR8pgD63Ishsyl/mZnsG0GtFjjeTbPYiDDkc8ZywHOGRwG1/Gus9Kng55n/MHgiMlpYYHMzfJWM295OcJg06SNY5y22nO3xbrkeT67WlkLXIazeXvZ4xxS26neCuVjc+aDMMY4KWc1XLPZZGRk5LQb2w84UCiarRl6+/uZbk2ia5IsyalQxxiDrjqm4xlU2EuWxPTUQ+K4iVJ1lIoQuUUKR5w2qFWrJNMWKRXgsDKlaRr09vcRz1hCVaE1M00QBGw4fwNZnhHqoKD0PM1cqLw4TqlUQgBarRYjIyPUajVOnTpFEIU0jaGqNTWREzhF3lIkEmxPgBUW17JoJ5BCoIOA2LSwCISTBGGIlSmt6RmqLkJKie4JaSVNlAVJgKCCkgFZGmOEoekSlBbUnUM5yBEgFOvXrydJEqSUBEGAtZ7phRCUNLHWMpc+McdHRjHGICXkziIUNOMG9XqdPM9xzhE4QZQ5AudwzlINJMLk5AgSpbFByFQjJggCqoHEZjMEooUlw+gQnCB0ikCFGAKm0oSGy9FRF8pUicKQVjxBoB0yM0gpWbXxPOI0Iwqr3hIygAQjwWBRWCQaZ0AW5tZMa4LDhw96QTeCSlglS3K/JqECIMstCAUyIk1jKpEjTzMCWScIIpqtaZywKK3ROqI5ndHT08PU9EmiakDLxVSqITYxhCokyzK/zsYRhiHYlCDUNOIGlahGkjoQAevXryZJDErmBIHCGY1zfk4lSU6nz7nlx4kcJ2KM0ORZF7WuIU5OT6MC0IEjz1pUZUgUhMzMzJAkCV39vSAEWQrVIEDYjDRNyXQdkbXoEzNE0jBjNFaFxK2M3v4+Wq2EQEnixgRhoDhv40by1KDDYK7YpGnqgsBfnJqaIkkShoaGzjqJ9tam/MavwkIZCy+DGQ5FjCXF4grNlgKOGEudLhwShSbJUrqCHoTVflzpxzHk5C6nIkJajZhqrQbAjp0vccH5GzvMm7ObZ8Y4lBKMjIywdMlSkqRJVKngkGTFk8LGKKHABV6DSshMQqSigomboAw2d8igCqnycw8EaAEiL5CWpDkEQYbA4poWEVWxziG0wJt5WbE9ASICNNu2bWPz5s1+WYt0DSEExhiUKgQgy+ikT5wmDA4OIoX01rtxmECQYsmxBFgqxsB0C6SGvNjSstxr8LDqcTYGuuugDdhToGNwLSAGkfi55YBVEPaA7AeGcERgQQhPq8bMFF31LgBe2buXtevWzx6njP+Pkf7IqLAIPK3T1KF0zsGRV1m1YhVxGlMJu8kzQ6CVf1YV+5+1oPQcejvnMEag9OzRziJwCJyb3TWF9KwVZ4Yw8GtajqRKPK3D2AylJXmWoYMIkPxo20ts3nwBonifKJjc2LPT57XkxxW4NnKB1IKZHKxuG6PkBX4OCAscC3EjNlBXfm66uB4CvYByGVkOusAlzy1SS+JmTL1aAWF5ecdOzn/bBafhJPI8d0opkiRhdHSUwcFB6vX6WSdRziRu5lSqGmM8fWJnSaXBkdLiBMeOvMru3buZnJngxNRxunt76OsZYOHAItasWs2i2mIEERAQJHWUkxCBEf4wEaJQhelsclCBxGG542tf4WO3fbxA5MxKwBiHlLBz507Wrl3ttX0bJDme+Kow/VxxNhNtk0kjJOASEJm/2yowldkzvYJW1qQSVRCu9ClkXtiNAhROFhxqLIIcXOx3NBVRngfvvPNObr75ZrTWbStg7lw8w5X0GVgwSFAN0UL5NbNeeeXCkhDTjYXRKV79h6+y54c/5Miu3TSnJknjDKE09d5eVBSy6V3v5Pyrt1J79yZI93BsxxOcOriLWmjJskm/8yHJdUS1dyE9iy6gd+EVMHge5IJchQitkEJiUn+UEVHAvfc9wIc/dMOs/4NOXwJt680J2LtvN6tWLye3lkhVyBIIgw6a2hxrUmQYeKthuslMo8XUxCRRtUZqIKqEnDx+mBdf3Mb+/YeYmE4ZHF7PxHRKd3c/MzNTdPfUmGpMMbhoMd31Oh+45mqWL1LEMVQDwFqiUOKMt6o6eeVrd97Nhz90CzooFIFwc/huPn1eS35KAykF/var32XSBEw6SSw1TmlyIwh1SJLECFIC7TeQPbv2oHLN5MkxBvqqnDg5yrHjY2STx3n5kf9BHdv29VhjUEq08TR5itJe9d1xx5189KO3zsFJd5oyeZ6/tgLAYoUhqitwfkcAi5Ytxhjnoe3fYNsLjyMSy1CwiMGBxazYsIHJeIbpPGXXs9/l4e9/iw1rN3D11mtZpFegI7+rGQEOh0KR5Q4l/aqpQPrzj0np6e6a43RsM1cHKOmvREFIoL2wJXGTKAhBarSTmNR6NSoslhwpNC5LEYECmWOQKCLII9D+rCsEXv2W20hYIwOEgUB7TLIcAlkIp/C+gchJIAQRgrAkrZSoqtvrrbX/vxCivcOUcBp9alWy4uxtrUGKAJHnqLRFdyThRzv4wR9/gcOPfgfRnKJHO/q6q5jMIqdyotFRGjTYd+B5Rh6/g5t/6cO4YA9yaidrewTJ9AxY53cSodFhQDrhaBz8PtGyfVQ2XQeLNqNVL4gKibGEWqOFwggQQrZdFqVSFSW9SqUAWGcRwiGEIih2+VL/mcRbmKBwzoLNaTSmOHrsJK1WSk/3AENDQ8iKRkrJ8OJeVq9by/PPvsSf/tl/4uB3dtNIAurVBTRmUiphQJxnTOdPMzDYzRe/eDe/9zu/xrXXrCO3EKkSZ4nLDVneIqpE5HlOV72O0oUhJS269AYX/Pfjyo8FYgexgOrKjbz06ihp1M10ZnFpTk9PH9OtDFftJdOOzLYIAzggjrH18svY/vV7MK5GKxyka9kA01KQA1NxSr1SwZqcQElsmiCDCAQo5XHMcktXd/dpOGlrLUopoiiacyY9N3h9lgmL1I6caUZaB/nbb/wde4/sZu3KRbzr0iu4aPElSGokULoKOWWO8fwzz7Bt27OMTB7h9ht+jhX6PCqiSm5jlNRYJIEW3pS1FislmTFoVS7ja6HnvKdbeCbM0pSoEmGzDCkNuAQlUnAKCHAuxCqN0hUcUPq8cuEdrg7pz/7Sb+TOQVaYwy0LNQ15cQAWukaOV2gGvBHhQAoK56YkqlbIsgwpZfsYoLXGWkscx1QqlVmmmU+ftr4v6WQRUvpjzYkJHv3z/0jjO0/SP36S7kCSJQlTSZPQQo+FughpiYxTJzPSpMH2O/6aoTWWRef3ko6fpLcuQWpymSMdSKvBWmayccwIJLZF1NsHXWvJshytuxEOWi1LGEkqlVqb2ZUo4yKli7uIFkkvQlmWYZxBibBYA++nVeWRVQpUVKExPc7IsVF0UGHTure1h4ptRiudoR52UalX2Hr1lSxdtZm/+q93cP83n2SymVOpDCJUiJIWrVImGzEmzfj13/59Pvuv/1du+/CVOLxFYA0EgSLSEXmeIEXgHdeAVt6F2UpiqlHt7PR5HfITCGgBLx84RDPsZzyXhN19hMDJ6RnCSp08UEynKbpWI7ExcVjnyedfYNHK1eRpQtQX8corr9AbVGk56K9U/DFBaXA5MtDeGWwsSEmeZwgZnhEf3Vk6kOf5nPPomaG4XwhyDJaElyZ/wN/8/V8xPt3gXe+8mlvffSsawQvpNp7/0bNMHppkuH+I+mCFKzdfybvfeRXT8QyPv/AdBl9YwKcvWweAsgaBILe6sAIEKIUQoLVC44jj9GwYzVoEwh9arfUCooVnvsnJSZKJvXRlu+iKHFSWwuB56HAVCTCZwg+efZUjx0+w5ZKLkYHiyNER4ulx3nnJJobqkFl4fvsJXn55lNzU6e6SXH5xH6tW9LY9uDv250xMxzSmTnHZ21eyqMvvitZKZAd/KKVwzpGmKWEYIqVsK4CSmebTx+YOpENL4aUpT0EJSFNO/d1X2fO1+1mexlSFxZChAuhzoCXYBBppipAw2A0XfWAjcWWKVmsc1EJCYTH5DE4aRGBInUPkOZGM6AoFabKXE/sbBNEgw1f9HEG4sE2AauTDWa1Gs8C2XA0ogqOz9DKAkiilCIQiNzlOKLRQ3hx3YHOQIeS54eT4DELVGBhaipXw4Lee5eSpY3zko9dSDevc9+DDTE4nfPKjN7F0RRe/9dufJheCe+7/Hg0zhcxqGAe6K8JYw6mpKVYuXsYf/8lfcsHGjVyyaWBOJAknwEmklgV9IAwBIalE56bPa8mPRKAshArWr13H0X3HCbp6mUiaVJRFVWE6mwZVQdcrpGnCqy+/xJaNGzm47QXy5gwzM02yzBDVqri4CQJyB5GARtyiqgVKK7/7FLhopUEK4jg+DSettZ5/4awTKAkqnCIvwikH0j38x6/+JdP5BO+/+mY+fPlHmWGCL93/JZ5+5RkWDPXxMzfezuiRo3ztnr/n2Wee5td/4Xd457uu5OmRJ3jge1/nw5fcjrKCSHthDSUkmaOmJWQ5TnpTMTc5oQ4pNtWzQ6GJ09RPWASKLI7p7e1mdBJ27n4FlZ0kbiRsuuwmujcsxokqD/3gFL/xr/6EPJviC1/4Pzl2app/90d/SOhaPPLQVziewx/84X/hG996EmwN26og8wk+fusW/s2/+XWkhN1HLDd94tdopYKazvnr//BZrr1yOSGG3HlrAgNBELS91GEYth1MJRMZY9Ban0aP8nuWJQSB9EQ2CYwe486/+SJ9YQUjLKmWNJJpKgLCtHC4KrzfxUFQg5f27SUOMsJuSLcfZummIVoE4HLv21Atb/7mASbPMDqjUksZOfgiQ6N7EcsGgByXCYRWmBxCPZsr4cHiULO5BaWzzjmyNAWEn4JxhdMNlAQZAALGp6ZppoY1a9fhJHz70Rf515/7M1auWMztH78RgEcee46HHv0ejiE+8pHL6arDrbd8gCee+hEnJxyYiN6efo5PHGPBUD8VHXDsxAkqsspXv3Y/w4MfZ9XiCB2AyXOUcGgdkmcpzhmiENLcWyiZM4RCviZ9zgVaeo/QgVde5MArR1j59kvpEaBNQqAE9SgkyaaxpkVvoDjeGOfojnGqeQNETmJjojBg6uQkM8dHCJk9HFcrVRQ5WZoShCEuyxFKgZDkuW07Mefg02m+nM05NR+sBasUU4xy7+NfZjybZN2a8/jQ5bfToMWfffnzHDoxwi3v+xkuufAyAmFZ138+b3vbBXzpv/0DDz7wKLfecAtBL7ROneLYxCEWDwz7gYWXYR2IclURReRByEox3deXtNGesHMElQpgWbzmYgYGVvMX//43ef/lVaYmX6R75hJk93q+/vAOTuaDDNRSNm1ZxMP/fhcVu5RlCwVRBP/lq4f40kP7EKLOzTe8D91KObTrBbZsuhBp/dHgz//q67QYItMRsU14ZV+L917hhVAWyrlwUrfDgp24lrtI+TmfPhaHQCDLMGmegXHseOwxRmcmWHvhRianT6KUI2i1mDoySiXPqIUh00mLTFiyimHrNVvJogynU6xIiaOUY7aXqG8xCxYs4dDul6hXGqSFkzARCVNBxLRV1OrQOHWQriVbQBYREOeFt+1xx0cE2v6AEvwJBiEFWs0qdK2KAFHhGs+MD72dGJ+gZ2AYJ+Hl3dP83h/8B5pZDyfGnFeoDgYHN5CbV/iTP/2vQI1PfPRCLtm8iOuvez9f/tqjTLcM8fFJokrE9NgUTkDv4BJca5qv3vEAH7z2HSxbdJ539QSyfWzRAUVOAQQBWCRKBIAsHG+n0+e15ccfUwWaX/vElax99gSXXzLE4y82WLOizv5Xx1i6bIA0hZNHpwiU5DO/cSvVGowczTlx6hSXb1nIUy+Mc+Xb+/nIrZ9BAKHoVLySIPQWi9AB5W+0koWfZi68sYxBAZaMPae2s23305gs55p3X4sm4N5vfYl9J7ax5aIt3LD5vYynLe775l3sPvAi9V6BNY6pqSkkAqkM3YNVpprjuIEiI8tShIa8s+b0rLgfJ2ur3H0KLYIENK5rKU9sn+DVgzu4/bYVLH3HYk5MwlfuegxR7eU3/vktLOqGp59+kWZDEyhNEMC99z9GqxmArvO/f/ZW6hZ6+AQ9eAGPM/jhj/aTC0GStAgrfXzt6w/zyz+zAeskSlCkE73xlEHhvLNRawnY4ijg2Pbc81x2w/t476/+Mge/8ygrzt/I1LadHN+9j2R8iiMHD3DRpguIekMWvPtSnrznK/T0D7D34F7SxiRrLlyOrg6ydOtV5HuPsvzdb4fp45w6spcTEydZuGoRQU2zqH8BZFVOTZ6ky6aQJ15aSkeZNRSYzaPb6Z9lVEW016SguwCpJa00phmnrBnsYXwG7rrnQRqxoJlLbrz5NtIYTAZx7MhtBWMMP/j+03z85guphHDlFRfxxS/dSxj2sHB4OUdHdtPX18VEs0mWWprTKYsGF/HUU09xzZXnIbCkSUIYVIvFnpv5+ZPJsZftf3fum2L3yy+xe0+VNevX8s27vsulF1/E048+wdVbt/LynpdZs2wZJ3bNsHvfblafv4G9L23jzr97jvXrz+OFpxQXblhFFXA2QcioWNpOTF2xvmfPePyxlYADMulIabDr0As0mydZOXAeb+/exEFe4oUjj7BkmebU8R1sG3uIiwe28ksf+hR7RnZy94/+noNHD7Fl2aUIcmphxEyR0ebajCCR7dwxnzYs59j+p0/kNJFysiMFdu4NVgABfOjnf4s/+8O/pLpyBauv7eKuR3cjqNAjNddd+naUARlF2ErIBVs24AxsXDbA/lcCjOrhox/+G/7od3+R91xaHF9yuOve4xw4cpLVq/v4n/7ZL/DZ3/sLJhsQN6BWlYV3GcSbVAKBBBPnqArgLOSWXbt2cfF7roBF3USXboG1Gzh4aJTK1q2cd/4G3rZ0MXu+8W2mm9MQwxU//2tMuYhVgeTE/u2sOX8h9BlOvLKT7z76DKs2bKZ7yXoG1l3FwloNyLGtCRqtk9S7Y0Z372ZQCR8fdg5cik8jm+s9LyM5bT0Mnh/nLcHsV0uaZygdUAlDpFbEudfjo8fHaaYZVjuefuEJnL2SrrpAByADh1SCHS89z8nRYyxbvoihgSpa5xgXc+DgbroCR7USMjY9ja5Wqdd7CAPD+Ph4+91hFLwu3/MbBQfEuSTTIHt7uPjqq5lqwQUbwAaXcP6FQyRKsf/YcbZcfjnpZIvx46NctfUq/vHue7jsHW+ndeI4P3Pbzew5MMLv/+MXAdDCi3rW9kKX6yp8WLN05Z3hHP0GLAGLJMfRZHTsMN29XawaXk6I4sDRvbjAYJqWnkoXd3/tTp6rv8Tt13yKLcs28Z2D/RwdG+HarVfxw4PfZXxkjIqpsWHFBgQKl2aIIqZ/NqPfvV75caVZV9iMuHaMv5G0WLLifJpqM1+8d4SP/Rb83//9K4RVxeLhiHWrAnbvnWTf4VdBRWy+cC3dIfzp527kpe0v8OroNMdGWvzyr/wuH7/xMj7/O7dQqcN//uI/ImSdC8/bwKVbBqnoKuMTDUaONFmwvoYU59bIrxsK05typYyhr6+P9RvPw840qHd3cWzvXobXr+HI8ROcEIZ9TzxBb18fazZu4MnH7ueSBQM0dZ0Dew9wydrzefjb9/Pu916Ctf1suvDdDK5Yz5jsRfevYvuL2+mpVDC2ijYhddfwKb9CgwiK5RXgCu+4K+l0hnmKjp8S/3kenlAHuCL5SQpHoGHsaMyRI0eQUhKFEYsWLcIYgxCaWled3BhslrFweCXTkxMkw33U61UcGVrB4OJhpseOcuTwIaKuPlqNJhEwOTHGwMB5AGR5hkKg5Dyx8O6K1897rwGhhhh44KGneWbPCLE1YGKuumg9x4/s5/jx4/T1DDGy/yhZK2XZgiEeePA7LFu+mLvu/ArXXrWV/+sLf86Cxcu56l1XeiEWgpnGDLUicevHgR9bCQgsASmajEYS44IAFWgEku6wB9Gos/Wdt7J181ak68LMOPq6B3nwuYcZG2nyiz/7GSY4wo+2f4962sX6ZVvoZwAIcEGAkKq9UfjkkiIZQbRFuY3HWYWpjEjNIZr3Xkvn6I8qvGPzSiZaAlPp59/95VPsOjxKvSr4F7/7i8QCDk9MYCOJMAkrlvQTZDAYwf1f+12+/MCLfO6P/hrEAA986wd85pc+SH5KsmvfYWrdy7jt+lvo1yBsnZMT44ycOMGFG1YiochIe5N1W/48QJI1ibSAMGLt+g1UxmOOP/4MNjdE3XUG162lZ7CP7NQYw9MtlMqpbe7jko1LGD+8nahnGWb0AMGg4LmHHmJhbw+brvsg3eowyIiKa5JM7qRi95NOwLJlF1Pt30hy4gkWLl0FNsAqjRAW4c86c+of5hSQdZ6CznTEE2I2kcjlCOEIhCQUAuFgyXCFd15yIS/u2IOhyoFXj9Nd10W5SoBzglBrhHX09y2gElUYPTFKoKskcZPxsaM4m7F46VJOnprCpTm9C3ppTR0nDCSZTdBOoIJwniXQmY/SGfF4YxpBdGROygocHRtleOESLt+8hY0LQiouZv1QH6gaO3YfY/XatTzzgydZs3Ihy1cuwLotdPf18o4r383CZas4uGs7BtAIuutdxElGFHU6/+Yq2DMpsjfIjYIcy0B9IaNqlDifxNBgw+AGVgys4KXnd1HJa9x08UcZi8b5/nNPIiuWf/axTzHOEb75nfuZmplgdf9qrrv4RixFvF7NZvNJisoo5yjTuCxgRSchXg/IYozZxXCZoRJobrrlBu58+AXuvush6t39LB9s8J7LF5BbODQyRivOkblly6Y1pC2L6pFUK/DhD21C6c/yuc/9NWMty84j09z/4DcJ6nVyk/CZX/oXSCex4RIq1S4efOx7vOvylfRpidbVN7bknRAoEBatQjApBII1G9bxzb/9O/TEJCuGF3B49DD9KxcRZzmhC1i2ZCVHj5/i65//HKtW9OO04byLL6WezLDzsedYUZ1hcuRZnrlzNyITtGyMWqDJsnEuWDLEc09vY3TgGQyCtRsXsnjTZaAi/N4pCIV36kopO9hufhynKHISwofX5lQtlpobhPBJsSbPCKQlbcYIWWH54iFCZchtyqoVSyhKMDg8so8wgADLls0X0NO3AAPs23eE6amYatTFwuGFvHrwAKfGx+ntHaAxOcH01BgmabDpwo0EMiAo8jZm/XpuzsdsLvSbtOQyH8ePqhWMkOw/dIS3rVtNoHtYtmCYoydOkOSCzAlWrh+g1nUd69dE7Ny1n2Ur13LJ5jV884FtLF81xP137wLe2/Z7RVFweqWhK9b4LHrrDSgBjUMjbR8XLbmYyZNHSPQY26ef4sLuK/nAldfwve33cfjYc+w8sZDucAGrVi/hxNRBnt71dXYcfAoVCCq1Oucv2MiW4UuR9GCRxHjvsoYipFSUgjnVsYt0KID555vTJjmbojpb5utwwpECWy5byVe+/TBdYR9y8iS/9qufpLvps3p/8N3t9EbDiMARBvA7v/+feebASVadfzGXXnAZd3zlXhpxwsDCxfQsH+IfvvEUYWUB6cxxBuoZyxev5KXDLVQU8Mj3tvNv9SdpZlApjtFvFFwRPYnTDB0GZA4CaTn/wk1sd4J8ZJSpva+wujvi1ME99HdFkMGRJ75Hvd7DhiRHH5ogGtBY+ySLV1TYved5bv/IFUzXDmC0IZ9M6OnpomkaJGaKBadqvG+VxXTvZFJ2cfTkNIv1e4CIFAiQxCajIgKcPFeOSVFWKMChcO0y33lmngWTJahIM9DTxeH9r3DeBZv58I1X8cKOHdz97e/yzA8fYmzqFvp66tS7Ha34GIsWL+STn7iFeh32vtrk3vseoV4fRJmQIyPHqXYNUqlWmZqaoRoosjjh0ks3c966dfjKPAh0kdkoikpDJzv4zHb8nGue5yKgBFFBA/t2HyTNYGBoCT/c9gpLal089uhT9A0NMxWnLF61gd/8V3/BbR/6IHfd8yz1Lk01CnjmuQO0ZmJ2HxkjToWvGLXeOZ1nGUEwi5toL2zJ/6crsDfkGHQWqrKXDUsu4IXtTzCTH2XnjudYuGkJW5asY2DJNWzb+SwHDuwgjxWB6EbXc05MHmD5goWMjSesW3UpN114O9JVcE7hivBS22fUKeA/obNYCUpLQuDSLUvpEqPoPCESTT7wrkvo1j7b78ArL0MjY9XKVYQSKvUae/fuZ/+hMZ6871u43DHcU+Pzf/ybPPXEHqrCQnqMB+/8TyrxUqsAAA8jSURBVJy/BFoNuP+RY3zuj/6A40fG/Htl51n+jYNzjigMSJ1B6xAwyA1reO8tH+KhV1+lx0WEzZhFKQRpgrSeuWemxukKuhHWMDU6iRs2nEinedu6bg7t+j5LL6rSjFv0dVXIZ2LqAvrqETQn0E6Q5lM03QKyYDkz9FCzsh2skUIXcf6OOgHOHJKaTSk++3FO6QhwVCoVBJYTo6MMLFjIP/+Vn0eElq6qpK83AlJ6uh0fv/X9fPpTP8vy5SGpgX+44wGef34X6H6sc/QPLuDU9BRmZhqZNtGBxBLzc5+6jf6+Pp/EU0rD/L4Kc+D1h6jPNreyfuD8teu457s/ZGjBQsbGpvjyXQ/QmBynlecsXLqUQ9/6DlJK/ua/fwlJzvT0BMZmSKNQKAQO1TxJxq8QFSFlH2ouy7GLpJTOHI3XChHGcfw6UoZ9AZqQmoHaEq55xw08+/LDnDx8iGeTbzO2ejnDK/q5YuPl5ECSWmzuODiyn+pED2qixpWLtnLJ+e8nZAhjfRGKAoyxREoWriLvyBPKB5DbJZuG2UmdBdXyXttRO10m4wghSDNHEAg2LRH86f92G4GssmR4kMVLAOVPDv/Hv/wUh0en2bRpE5UQ/pdfuJnzzhvipZ17uOiCTVQqFa6+5kqCCJ42GV/4lx9naGiILUtAWwgDuP2Di+hxt6OlIci9Aii95GV6sDE+LbWML+d5ftaEkziOfWQhzUArQqVIimQc3dvN8CduY/2RQ2z/8lfpG2uxut6NnGmQYImIMMrQyBtIbWkJILHUw14GVy9G9J+Eyhh6HFCxZwwJYLGhYDKvkEZrqS16Bxe/7XYa0WqCIiQlwZeCO39cE6I08OflB5Tfi0xOZ/w9DkeWW7+DtYMLnhC1rn6Ghg3j4xNYCysWL+Tzn/1VTp04islmkCrgVz59O1G1lzDw7PGVu57n6/d9l0DXQAVUa11MNaZwLqe/t0o60cQmTf7nT3+Mq7euo1YBax1KCtI0JgxDklZOVKn4JKbyRAnkxhXp62ehz2vIjwFi6W3co/tepp5Okp44QogmVZKuxUuoWksji1m2YqkvNQfGxsYYXj5EvV7n5LGj5K0ZiKdRWtDIoaILYTYOJT3CzoEo6OKbjliEyef6ZwBdMh7QrrY7dxdyQWnxhXSzauEmlJXsG3mRU5Mj7HhxDztesgwMDCClotVKyBNvjiwd2sLGVZeyoudSKmLQMz6z9dgaN2tkCUHZKSXN0lnczGv7A6SU7Tn5oUQ7RTfLMnQQYoGBKnz8xnehtSaOY0rZ0xKuvPwCv+NG/uLihV387G3XUqncQNrKmJmZYajP33/1RWuQch3WWqraZ7/pSCAEfOzGKxBCUCnGdg7SNKFSqbTzzssswTJ9eM5qn4E+SAVOFuWi2jctyWMqSxZx2W//JsLkvHTv/WwfOcJwVCHSAaeylKaBrqEBGmmDhnbUqsO8/X3vI184Ri73MzY2wfDgEFPTBhWEKClJU8uMteT15fSufA+9a6/B9KylVl2CtT5c6Zwjz3Of/DRr4JfU6KTMOegj2vQJw7DI+hQIKenq6iHLDI3GJPv2jLN29QoWDg0CPvlqqMfnzR8YmeLuex7hjrsfYnyySRj10EqnadomJs8JAmhMjxG6GT75sQ/x0Vuvo1bxVarOpgRhQBAq0iQhqlRxFpQKMNaXpSdZThiU+XnurPQ5l/w4IVBFOkyUNxiOBD0qYybPiQGsDzlrZRHxFI1TJxgcHGJRfxeNVsL253cxPDTIyuVLGDu8G2kkUVGJPzPVpLe7Vi5q27eRZdZnl2LPKD8aZotXqtUqjUbjNSuhlCiLYqp06xVsXL6YJcNbGD11gPHpYzSTCdKsSZLELKjXWbhyOQN9i+npHqZb9KPx2UydedbW2rPW0ZfXWq3Wa9Q1dOCoFD09PSRJQhRFxboIwjD0JyTntX9XNUIIqIZ1H+52YHJDJfA1C9Z6olYCjZTelqtWA6KoH/B121rLtkc2y/wchPDNTapVzxhloxPnaONTdptRStFqtahWZ52Gp2UKFvRpNhrUwiooUGK2N0KaByAtLFzIpb//WYY2bWT3U08xdewYR0+OMTk5RZwbuvsX0DOwgLdfcRUXvvd9cPE6GH+BxrHnmDq0nCYJ4XCXD/tnGUGlSs/QMN3LL4BFF0N9OYousnxWeQshCIKAJEl+IvQp+aEUpkqlwuDgIEEQMD09zf5XjxX8k1Gt12g0Y17evZcnnnyWbzz4GI4ai4eXkmU51cgXuelIsHjZQob6e/nA1Vdx9ZWb6e0rjSrbblQjEIRR5F1RztNBSUGrlVCpziros9HnteRH4cetAt0yZ+LQXk4cPcLQkhX09PQxfmycJJ5h2ZLFTE+cYm1fHztffIplK5aTnDzFmr46gUw4degVepQjIyUEXO7o7alhTYaUAXlm0IVvQCrvFExbSZFpOhfa/QQAZmZmmJiYYOnSpeckoBCu3dRBSF8S5o3aDEeCI2G2Z5VGEOEIgSoagcutd8B0QOeiljtimqYEQdBmhgcffJDrr7/+nLjBrHJpNpscPHiQjRs3zlEqedFwxN/rd7FSiK0vusIY196py2rRPPctwYIixJfnptjFZstgbdFwo10Wazzu5fvA13tnWcbjjz/Odddd18atVAqi9J67WRw66bNs6TK/ZvgkJR2AcsVRNvc1m2Qt2lrMWG9VWYEvaQ78ZyB8yl29AYyBmvLfiXyTApMXC6JA94IcAmpkxu/6ee47AJX43nPPPdx8881vmj6dMD8Nt8gsb0+trP8vXI7kFuIYKlVfVCMLv14r8w7ZUHhBlPiNzBmH1gZdONAEEmscWep4/PEnuPba95LljiAUvkmO80Xm56LPa8oPAidgInboiija2vnGIgKoAImFSPpocEX53+tinj4ty3+JBNQERIBwOThHlhuCsEKaWHQo2462b33zQT54/QdOT9TK89yVhAR/rnnkkUfOMQWLEFkxGYV1EuMgtxalHVJLrEtJUl9NplWAlhFSBOBC8iRHK4Fzpt1FxwtW0DaJ/U4q2t+dc0gpuemmm855Zj4TGGO47777qFarOOdotVptxtVaI4pqwzRN59Tzl+/0vgVbtPOShGHYZv4kSdpFJFmWzXlvlmXtd4Lf5VqtFmEYtoXm+uuvP4355/cVKN/bSZ+HHn6U1FhCGeGcwBm/fr47jsWaBDBEGmySQeaIlI9/uxykDkidJAuqPvCiYjAzBCImEI48tVRURCgFzlmSPCcxmlQP4HQELsXh59dsNnHOUavVeP/73/8To085587ei0IIpAhJMwiCiChStOIGxuSEYYhxIESANQIdRDQaDYJQYW1GUPV8aa1vGoPx7bx8xW0K1q8zVoALEELxwes/QJ6CDmk79HKTeyfiOehzLvkRWGySEUQhiVVkQpE7hZWKsOrPJlncIAwE2oGQjiw1OCmwToIOyPA1CgE5oTCIpEGovBvWGIOQAVYGKBmQZBnOWZSEm268wRdIzctTEc45V5penQJwdrCFxjE4obwlUKgWhyTHotvnQP9pjReQWVPxtb2rpeCVAlKW3Jam47kgyzKMMe2y3JKJOhtAlDtM6UTsZN7OvnGdO5G1lizLUErNYXRjDM6505jfWjvn2c71TdMUrXX72nx/wPz3dtLH70gOVTTqMEWFm3EFD4v2XUUUX7Z3jmJ0KJpR5EUKhZagsL6xig699ZBnvsi/8M+0uzHPc26eCec3S5/50FYExdYeZ1CZVx4fxylRFHp0O1g4N7nvVUBShMh8+zCH8b6ANq3L9meaNLVopbz/S0Ca5QRh2YHq3PQ5l/yI0mZxEoRPp87crMPYFT4BgQWbFaZMmXOtiXOD0wqBtwx0qdnnpGv7zTk33gHucYI8SfxRZ74lUP4twlLjdja5PDtFik+X+648qlwa5fOhMu+UKEve/ZtyvMHjyI0Ep9s7PtB2rpSC1CmU5bGgU2hfCzp3YKBIMRVzGnmcabz5O1nZFXiOgLeLYJw3bTt+5+Yw6zxmEAJrDFLP+kFglvnL9S8tJJhbTeh/75BlMUUOTihfIhrqObuVVhJXMqcI2t5tn4mVk9kMKb0PQgJ56tBKeHrNYRIfyjMWSldeOC/vpLRwlFKv2xI4F33ab+6wAMr7HEUVq/B1GNb5jtVKluXKs+Ewayh404ItjqdKFcfBEO8D8KnczlmsESgd0s5cLHqiiEIRmKIbkkSdgz6vIT+uwMc4UD47tjOLr50WV7aKbm+yDkTQLgVyNkPhEFIU9+KVtQGCkDz3oXAL5Kl3DErw2ZjyLJZAKRyvR5O7vEO4pfVWgbM+HFE0kmyn67vS0WvwDSwFEAD6zAJGZ4jPt1bu9Lq+HvzKe8ua705BP9suPx86BbL83u4ELMqGlHPPsNYYZLlbd/y/jVMRGisbVZ7LGjnTerR73NkUhCBPM3RUlld7p6TWxd9qEIX3tkzHLZP3JPjmrznGCbTQGKN8S7YidJRbB0r4xCoccp7lJr0hcdoOON8yeKP0mSP0Z1AWUgnAN0CX7RBjRqQj7ydwEiElNi1M/KLZa7s/uShoUIS5TFGwBNI3baGwAMrC1kIWM5OilZ4b+jyNPq+DP0v5EGUWbEEe4xUxJi9IWtwovPmPUFhnkZS9DgszsNxwcgdBgLM+IcVaSE1OJdBF7o0p5G8u/m1L4MeCziiDmPfZOdHO/7fvs3T+UYWfDvy/WCb2uuDNZAzZYouylNv27FL7MNDcZKtyrWX7j6BIckTHN1wwS6N2Mkvx9xc6cC33pNOMhf9PoczYK/fEEjqxm7UG5sB8PmxfPwM95tzr31v+TYU5FscbhI7kyDbMrqudd69szxiKI0A7IajzzgIvMffy6WPOxf0N9xM4DeYkIFjmZl3JMzDlW/DGwR+9ZkEyu9odiVQdNGmfYPB1oKr8ViaSdNBIiLzdHMQVo5aHvfIt//+ATjzmKYAzQSffnasvxRkUwKzi+cky7/wZdApru3swsypPFtdF50OdcxGn677ZMc9MvzdUSuwLP7zZdPrLHN7lVKIsi5CUnGMG/XThTTLxj287zYU3MX+HxIq5+M9n/TZ6895T3uMNSolwZZEWXmmXDO9cIfRidozOjfenagrI0wV4Hi5nm3/78pnod/rWeboD7XXh93rAnmF3LuHsvDmXxvOzMU+H14vv/wOBSwvOaU3veQ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Oval Callout 25"/>
          <p:cNvSpPr/>
          <p:nvPr/>
        </p:nvSpPr>
        <p:spPr bwMode="auto">
          <a:xfrm>
            <a:off x="9742760" y="988368"/>
            <a:ext cx="2325936" cy="2016224"/>
          </a:xfrm>
          <a:prstGeom prst="wedgeEllipseCallout">
            <a:avLst>
              <a:gd name="adj1" fmla="val -20833"/>
              <a:gd name="adj2" fmla="val 68053"/>
            </a:avLst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Setas e cores que destaquem seu </a:t>
            </a:r>
            <a:r>
              <a:rPr kumimoji="0" lang="pt-BR" sz="20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Call</a:t>
            </a: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 to </a:t>
            </a:r>
            <a:r>
              <a:rPr kumimoji="0" lang="pt-BR" sz="20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Action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sp>
        <p:nvSpPr>
          <p:cNvPr id="27" name="Oval Callout 26"/>
          <p:cNvSpPr/>
          <p:nvPr/>
        </p:nvSpPr>
        <p:spPr bwMode="auto">
          <a:xfrm>
            <a:off x="0" y="3364632"/>
            <a:ext cx="2829992" cy="1728192"/>
          </a:xfrm>
          <a:prstGeom prst="wedgeEllipseCallout">
            <a:avLst>
              <a:gd name="adj1" fmla="val 25482"/>
              <a:gd name="adj2" fmla="val 68407"/>
            </a:avLst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Foto ou vídeo do produto – +80%</a:t>
            </a:r>
            <a:r>
              <a:rPr kumimoji="0" lang="pt-BR" sz="20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 de conversão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sp>
        <p:nvSpPr>
          <p:cNvPr id="30" name="Oval Callout 29"/>
          <p:cNvSpPr/>
          <p:nvPr/>
        </p:nvSpPr>
        <p:spPr bwMode="auto">
          <a:xfrm>
            <a:off x="4774208" y="6388968"/>
            <a:ext cx="2664296" cy="1512168"/>
          </a:xfrm>
          <a:prstGeom prst="wedgeEllipseCallout">
            <a:avLst>
              <a:gd name="adj1" fmla="val -56937"/>
              <a:gd name="adj2" fmla="val 67127"/>
            </a:avLst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Informações detalhadas</a:t>
            </a:r>
            <a:r>
              <a:rPr kumimoji="0" lang="pt-BR" sz="20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 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sp>
        <p:nvSpPr>
          <p:cNvPr id="31" name="Rounded Rectangle 30"/>
          <p:cNvSpPr/>
          <p:nvPr/>
        </p:nvSpPr>
        <p:spPr bwMode="auto">
          <a:xfrm>
            <a:off x="5926336" y="8166664"/>
            <a:ext cx="1872208" cy="52656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Compre já</a:t>
            </a: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sp>
        <p:nvSpPr>
          <p:cNvPr id="32" name="Oval Callout 31"/>
          <p:cNvSpPr/>
          <p:nvPr/>
        </p:nvSpPr>
        <p:spPr bwMode="auto">
          <a:xfrm>
            <a:off x="6286376" y="2068488"/>
            <a:ext cx="2664296" cy="1584176"/>
          </a:xfrm>
          <a:prstGeom prst="wedgeEllipseCallout">
            <a:avLst>
              <a:gd name="adj1" fmla="val -56937"/>
              <a:gd name="adj2" fmla="val 67127"/>
            </a:avLst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Chamada coerente com a campanha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sp>
        <p:nvSpPr>
          <p:cNvPr id="33" name="Oval Callout 32"/>
          <p:cNvSpPr/>
          <p:nvPr/>
        </p:nvSpPr>
        <p:spPr bwMode="auto">
          <a:xfrm>
            <a:off x="2325936" y="5308848"/>
            <a:ext cx="2016224" cy="1440160"/>
          </a:xfrm>
          <a:prstGeom prst="wedgeEllipseCallout">
            <a:avLst>
              <a:gd name="adj1" fmla="val 57932"/>
              <a:gd name="adj2" fmla="val -30056"/>
            </a:avLst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Texto breve e direto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sp>
        <p:nvSpPr>
          <p:cNvPr id="34" name="Oval Callout 33"/>
          <p:cNvSpPr/>
          <p:nvPr/>
        </p:nvSpPr>
        <p:spPr bwMode="auto">
          <a:xfrm>
            <a:off x="7582520" y="6749008"/>
            <a:ext cx="1893888" cy="1368152"/>
          </a:xfrm>
          <a:prstGeom prst="wedgeEllipseCallout">
            <a:avLst>
              <a:gd name="adj1" fmla="val -53535"/>
              <a:gd name="adj2" fmla="val 62938"/>
            </a:avLst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Múltiplos </a:t>
            </a:r>
            <a:r>
              <a:rPr kumimoji="0" lang="pt-BR" sz="20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CTAs</a:t>
            </a: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 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sp>
        <p:nvSpPr>
          <p:cNvPr id="35" name="Oval Callout 34"/>
          <p:cNvSpPr/>
          <p:nvPr/>
        </p:nvSpPr>
        <p:spPr bwMode="auto">
          <a:xfrm>
            <a:off x="3478064" y="1492424"/>
            <a:ext cx="2664296" cy="1584176"/>
          </a:xfrm>
          <a:prstGeom prst="wedgeEllipseCallout">
            <a:avLst>
              <a:gd name="adj1" fmla="val -56937"/>
              <a:gd name="adj2" fmla="val 67127"/>
            </a:avLst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Logo não deve chamar mais atenção que o CTA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pic>
        <p:nvPicPr>
          <p:cNvPr id="31746" name="Picture 2" descr="http://t0.gstatic.com/images?q=tbn:ANd9GcTOQjN0sYGL--y7w4WXAV70p7rzT4CavsHeWvm_pHn30WvMrKQ&amp;t=1&amp;usg=__7gew9vGP93Sb2TsGD3pZLoPKsA8=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9674878" y="7508676"/>
            <a:ext cx="931978" cy="1328564"/>
          </a:xfrm>
          <a:prstGeom prst="roundRect">
            <a:avLst>
              <a:gd name="adj" fmla="val 36690"/>
            </a:avLst>
          </a:prstGeom>
          <a:ln w="12700" cap="rnd">
            <a:solidFill>
              <a:schemeClr val="accent4">
                <a:lumMod val="90000"/>
                <a:lumOff val="10000"/>
              </a:schemeClr>
            </a:solidFill>
            <a:prstDash val="solid"/>
          </a:ln>
          <a:effectLst/>
        </p:spPr>
      </p:pic>
      <p:sp>
        <p:nvSpPr>
          <p:cNvPr id="37" name="TextBox 36"/>
          <p:cNvSpPr txBox="1"/>
          <p:nvPr/>
        </p:nvSpPr>
        <p:spPr>
          <a:xfrm>
            <a:off x="10678864" y="7760022"/>
            <a:ext cx="16561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>
                <a:latin typeface="Times New Roman" pitchFamily="18" charset="0"/>
                <a:cs typeface="Times New Roman" pitchFamily="18" charset="0"/>
              </a:rPr>
              <a:t>“A melhor bananada que eu já comi”</a:t>
            </a:r>
          </a:p>
          <a:p>
            <a:r>
              <a:rPr lang="pt-BR" sz="16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pt-BR" sz="1600" dirty="0" err="1" smtClean="0">
                <a:latin typeface="Times New Roman" pitchFamily="18" charset="0"/>
                <a:cs typeface="Times New Roman" pitchFamily="18" charset="0"/>
              </a:rPr>
              <a:t>Nikki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1750" name="Picture 6" descr="http://images.careersandcolleges.com/images/articles/icon-twitter.jp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1470952" y="8549208"/>
            <a:ext cx="313184" cy="313184"/>
          </a:xfrm>
          <a:prstGeom prst="rect">
            <a:avLst/>
          </a:prstGeom>
          <a:noFill/>
        </p:spPr>
      </p:pic>
      <p:sp>
        <p:nvSpPr>
          <p:cNvPr id="39" name="Oval Callout 38"/>
          <p:cNvSpPr/>
          <p:nvPr/>
        </p:nvSpPr>
        <p:spPr bwMode="auto">
          <a:xfrm>
            <a:off x="9958784" y="5668888"/>
            <a:ext cx="2736304" cy="1872208"/>
          </a:xfrm>
          <a:prstGeom prst="wedgeEllipseCallout">
            <a:avLst>
              <a:gd name="adj1" fmla="val -43740"/>
              <a:gd name="adj2" fmla="val 91569"/>
            </a:avLst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Testemunhos </a:t>
            </a: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e integração com redes sociais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30" grpId="0" animBg="1"/>
      <p:bldP spid="32" grpId="0" animBg="1"/>
      <p:bldP spid="33" grpId="0" animBg="1"/>
      <p:bldP spid="34" grpId="0" animBg="1"/>
      <p:bldP spid="35" grpId="0" animBg="1"/>
      <p:bldP spid="3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Tenha certeza que seu CTA está visível para a maioria dos usuários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E0E8-EF2A-47E5-858D-DF8D682E2C50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11161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7744" y="1780456"/>
            <a:ext cx="7991475" cy="625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162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13968" y="2428528"/>
            <a:ext cx="9715500" cy="676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Estudos de Eye Tracking podem antecipar tendências ....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E0E8-EF2A-47E5-858D-DF8D682E2C50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112642" name="Picture 2" descr="C:\Documents and Settings\ecarvalho\My Documents\Downloads\Teste_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7784" y="2284512"/>
            <a:ext cx="10848975" cy="5114925"/>
          </a:xfrm>
          <a:prstGeom prst="rect">
            <a:avLst/>
          </a:prstGeom>
          <a:noFill/>
        </p:spPr>
      </p:pic>
      <p:pic>
        <p:nvPicPr>
          <p:cNvPr id="7" name="Picture 18" descr="http://attentionwizard.com/images/stories/logo_attentionWizard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720" y="8621216"/>
            <a:ext cx="3848100" cy="552451"/>
          </a:xfrm>
          <a:prstGeom prst="rect">
            <a:avLst/>
          </a:prstGeom>
          <a:noFill/>
        </p:spPr>
      </p:pic>
      <p:pic>
        <p:nvPicPr>
          <p:cNvPr id="10" name="Picture 12" descr="http://www.crazyegg.com/images/new/logo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446616" y="8261176"/>
            <a:ext cx="3208918" cy="859533"/>
          </a:xfrm>
          <a:prstGeom prst="rect">
            <a:avLst/>
          </a:prstGeom>
          <a:noFill/>
        </p:spPr>
      </p:pic>
      <p:sp>
        <p:nvSpPr>
          <p:cNvPr id="11" name="Oval Callout 10"/>
          <p:cNvSpPr/>
          <p:nvPr/>
        </p:nvSpPr>
        <p:spPr bwMode="auto">
          <a:xfrm>
            <a:off x="9238704" y="3724672"/>
            <a:ext cx="2664296" cy="1584176"/>
          </a:xfrm>
          <a:prstGeom prst="wedgeEllipseCallout">
            <a:avLst>
              <a:gd name="adj1" fmla="val -60487"/>
              <a:gd name="adj2" fmla="val 63146"/>
            </a:avLst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CTA –</a:t>
            </a:r>
            <a:r>
              <a:rPr kumimoji="0" lang="pt-BR" sz="20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 Pouca visualização para o Usuário (8ª)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pic>
        <p:nvPicPr>
          <p:cNvPr id="13" name="Picture 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118024" y="2428528"/>
            <a:ext cx="9582150" cy="535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Oval Callout 13"/>
          <p:cNvSpPr/>
          <p:nvPr/>
        </p:nvSpPr>
        <p:spPr bwMode="auto">
          <a:xfrm>
            <a:off x="9958784" y="4228728"/>
            <a:ext cx="2664296" cy="1584176"/>
          </a:xfrm>
          <a:prstGeom prst="wedgeEllipseCallout">
            <a:avLst>
              <a:gd name="adj1" fmla="val -39776"/>
              <a:gd name="adj2" fmla="val 63146"/>
            </a:avLst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Poucos cliques no CTA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0" y="4795848"/>
            <a:ext cx="13004800" cy="792088"/>
          </a:xfrm>
          <a:prstGeom prst="rect">
            <a:avLst/>
          </a:prstGeom>
          <a:solidFill>
            <a:srgbClr val="FF99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pPr defTabSz="1300163"/>
            <a:fld id="{5D6F9AF1-7AA7-4A51-83D8-F302FFBFA799}" type="slidenum">
              <a:rPr lang="en-US"/>
              <a:pPr defTabSz="1300163"/>
              <a:t>23</a:t>
            </a:fld>
            <a:endParaRPr 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Agenda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dirty="0" smtClean="0">
                <a:solidFill>
                  <a:srgbClr val="C00000"/>
                </a:solidFill>
              </a:rPr>
              <a:t>O que é Landing Page?</a:t>
            </a:r>
          </a:p>
          <a:p>
            <a:pPr eaLnBrk="1" hangingPunct="1"/>
            <a:endParaRPr lang="pt-BR" dirty="0" smtClean="0">
              <a:solidFill>
                <a:srgbClr val="C00000"/>
              </a:solidFill>
            </a:endParaRPr>
          </a:p>
          <a:p>
            <a:pPr eaLnBrk="1" hangingPunct="1"/>
            <a:r>
              <a:rPr lang="pt-BR" dirty="0" smtClean="0">
                <a:solidFill>
                  <a:srgbClr val="C00000"/>
                </a:solidFill>
              </a:rPr>
              <a:t>Por quê Otimizar?</a:t>
            </a:r>
          </a:p>
          <a:p>
            <a:pPr eaLnBrk="1" hangingPunct="1"/>
            <a:endParaRPr lang="pt-BR" dirty="0" smtClean="0">
              <a:solidFill>
                <a:srgbClr val="C00000"/>
              </a:solidFill>
            </a:endParaRPr>
          </a:p>
          <a:p>
            <a:pPr eaLnBrk="1" hangingPunct="1"/>
            <a:r>
              <a:rPr lang="pt-BR" dirty="0" smtClean="0">
                <a:solidFill>
                  <a:srgbClr val="C00000"/>
                </a:solidFill>
              </a:rPr>
              <a:t>Criação da Landing Page</a:t>
            </a:r>
          </a:p>
          <a:p>
            <a:pPr eaLnBrk="1" hangingPunct="1"/>
            <a:endParaRPr lang="pt-BR" dirty="0" smtClean="0">
              <a:solidFill>
                <a:srgbClr val="C00000"/>
              </a:solidFill>
            </a:endParaRPr>
          </a:p>
          <a:p>
            <a:pPr eaLnBrk="1" hangingPunct="1"/>
            <a:r>
              <a:rPr lang="pt-BR" dirty="0" smtClean="0">
                <a:solidFill>
                  <a:schemeClr val="bg1"/>
                </a:solidFill>
              </a:rPr>
              <a:t>Teste ... Teste ... Teste ...</a:t>
            </a:r>
          </a:p>
          <a:p>
            <a:pPr eaLnBrk="1" hangingPunct="1"/>
            <a:endParaRPr lang="pt-BR" dirty="0" smtClean="0">
              <a:solidFill>
                <a:srgbClr val="C00000"/>
              </a:solidFill>
            </a:endParaRPr>
          </a:p>
          <a:p>
            <a:pPr eaLnBrk="1" hangingPunct="1"/>
            <a:r>
              <a:rPr lang="pt-BR" dirty="0" smtClean="0">
                <a:solidFill>
                  <a:srgbClr val="C00000"/>
                </a:solidFill>
              </a:rPr>
              <a:t>Customização por Segmento</a:t>
            </a:r>
          </a:p>
        </p:txBody>
      </p:sp>
      <p:pic>
        <p:nvPicPr>
          <p:cNvPr id="7" name="Picture 4" descr="\\192.168.0.151\Direct Performance\Apresentações\Eventos\SearchLabs\SearchLabs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886776" y="7685112"/>
            <a:ext cx="2758460" cy="151216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Tipos de teste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381000" y="1852613"/>
          <a:ext cx="12242800" cy="7272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E0E8-EF2A-47E5-858D-DF8D682E2C50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>
                <a:solidFill>
                  <a:srgbClr val="FF9900"/>
                </a:solidFill>
              </a:rPr>
              <a:t>Antes/Depois</a:t>
            </a:r>
            <a:r>
              <a:rPr lang="pt-BR" dirty="0" smtClean="0"/>
              <a:t> é fácil de testar porém muitos pontos podem influenciar o resultado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E0E8-EF2A-47E5-858D-DF8D682E2C50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9752" y="1996480"/>
            <a:ext cx="11151118" cy="28803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Rectangle 8"/>
          <p:cNvSpPr/>
          <p:nvPr/>
        </p:nvSpPr>
        <p:spPr bwMode="auto">
          <a:xfrm>
            <a:off x="1101800" y="6100936"/>
            <a:ext cx="1368152" cy="19442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1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pitchFamily="34" charset="0"/>
              </a:rPr>
              <a:t>Página A</a:t>
            </a:r>
            <a:endParaRPr kumimoji="0" lang="en-US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4198144" y="6100936"/>
            <a:ext cx="1368152" cy="19442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1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pitchFamily="34" charset="0"/>
              </a:rPr>
              <a:t>Página B</a:t>
            </a:r>
            <a:endParaRPr kumimoji="0" lang="en-US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sp>
        <p:nvSpPr>
          <p:cNvPr id="12" name="Right Arrow 11"/>
          <p:cNvSpPr/>
          <p:nvPr/>
        </p:nvSpPr>
        <p:spPr bwMode="auto">
          <a:xfrm>
            <a:off x="2181920" y="7469088"/>
            <a:ext cx="2230559" cy="72008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sng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01800" y="8117160"/>
            <a:ext cx="13003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 smtClean="0"/>
              <a:t>3 semanas</a:t>
            </a:r>
            <a:endParaRPr lang="en-US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4198144" y="8117160"/>
            <a:ext cx="13003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 smtClean="0"/>
              <a:t>3 semanas</a:t>
            </a:r>
            <a:endParaRPr lang="en-US" sz="1600" dirty="0"/>
          </a:p>
        </p:txBody>
      </p:sp>
      <p:sp>
        <p:nvSpPr>
          <p:cNvPr id="11" name="Rounded Rectangle 10"/>
          <p:cNvSpPr/>
          <p:nvPr/>
        </p:nvSpPr>
        <p:spPr>
          <a:xfrm>
            <a:off x="2592656" y="6492327"/>
            <a:ext cx="1461472" cy="1552825"/>
          </a:xfrm>
          <a:prstGeom prst="roundRect">
            <a:avLst>
              <a:gd name="adj" fmla="val 10000"/>
            </a:avLst>
          </a:prstGeom>
          <a:blipFill rotWithShape="0">
            <a:blip r:embed="rId3" cstate="print"/>
            <a:stretch>
              <a:fillRect/>
            </a:stretch>
          </a:blip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9" name="Oval Callout 18"/>
          <p:cNvSpPr/>
          <p:nvPr/>
        </p:nvSpPr>
        <p:spPr bwMode="auto">
          <a:xfrm>
            <a:off x="9670752" y="5452864"/>
            <a:ext cx="2829992" cy="1728192"/>
          </a:xfrm>
          <a:prstGeom prst="wedgeEllipseCallout">
            <a:avLst>
              <a:gd name="adj1" fmla="val -74237"/>
              <a:gd name="adj2" fmla="val -155096"/>
            </a:avLst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Orçamento da Campanha aumentou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sp>
        <p:nvSpPr>
          <p:cNvPr id="20" name="Oval Callout 19"/>
          <p:cNvSpPr/>
          <p:nvPr/>
        </p:nvSpPr>
        <p:spPr bwMode="auto">
          <a:xfrm>
            <a:off x="6430392" y="5884912"/>
            <a:ext cx="2829992" cy="1728192"/>
          </a:xfrm>
          <a:prstGeom prst="wedgeEllipseCallout">
            <a:avLst>
              <a:gd name="adj1" fmla="val -111562"/>
              <a:gd name="adj2" fmla="val -166955"/>
            </a:avLst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Feriado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>
                <a:solidFill>
                  <a:srgbClr val="FF9900"/>
                </a:solidFill>
              </a:rPr>
              <a:t>Teste A/B </a:t>
            </a:r>
            <a:r>
              <a:rPr lang="pt-BR" dirty="0" smtClean="0"/>
              <a:t>são ótimos para testar grandes alterações de layout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E0E8-EF2A-47E5-858D-DF8D682E2C50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10678864" y="3364632"/>
            <a:ext cx="1368152" cy="19442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1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pitchFamily="34" charset="0"/>
              </a:rPr>
              <a:t>Página A</a:t>
            </a:r>
            <a:endParaRPr kumimoji="0" lang="en-US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10678864" y="1276400"/>
            <a:ext cx="1368152" cy="19442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1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pitchFamily="34" charset="0"/>
              </a:rPr>
              <a:t>Página B</a:t>
            </a:r>
            <a:endParaRPr kumimoji="0" lang="en-US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pic>
        <p:nvPicPr>
          <p:cNvPr id="7" name="Content Placeholder 4" descr="rptsections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350272" y="5482648"/>
            <a:ext cx="7560840" cy="3868629"/>
          </a:xfrm>
        </p:spPr>
      </p:pic>
      <p:sp>
        <p:nvSpPr>
          <p:cNvPr id="9" name="Oval 8"/>
          <p:cNvSpPr/>
          <p:nvPr/>
        </p:nvSpPr>
        <p:spPr bwMode="auto">
          <a:xfrm>
            <a:off x="6370879" y="2716559"/>
            <a:ext cx="2376264" cy="144016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Divide as requisições</a:t>
            </a:r>
            <a:endParaRPr kumimoji="0" lang="en-US" sz="200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sp>
        <p:nvSpPr>
          <p:cNvPr id="10" name="Right Arrow 9"/>
          <p:cNvSpPr/>
          <p:nvPr/>
        </p:nvSpPr>
        <p:spPr bwMode="auto">
          <a:xfrm rot="1800000">
            <a:off x="8273688" y="3785034"/>
            <a:ext cx="2230559" cy="72008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1300163"/>
            <a:r>
              <a:rPr lang="pt-BR" sz="1800" b="1" dirty="0" smtClean="0">
                <a:solidFill>
                  <a:schemeClr val="bg1"/>
                </a:solidFill>
                <a:latin typeface="Verdana" pitchFamily="34" charset="0"/>
                <a:cs typeface="Arial" pitchFamily="34" charset="0"/>
              </a:rPr>
              <a:t>50%</a:t>
            </a:r>
            <a:endParaRPr lang="en-US" sz="1800" b="1" dirty="0" smtClean="0">
              <a:solidFill>
                <a:schemeClr val="bg1"/>
              </a:solidFill>
              <a:latin typeface="Verdana" pitchFamily="34" charset="0"/>
              <a:cs typeface="Arial" pitchFamily="34" charset="0"/>
            </a:endParaRPr>
          </a:p>
        </p:txBody>
      </p:sp>
      <p:sp>
        <p:nvSpPr>
          <p:cNvPr id="11" name="Right Arrow 10"/>
          <p:cNvSpPr/>
          <p:nvPr/>
        </p:nvSpPr>
        <p:spPr bwMode="auto">
          <a:xfrm rot="19800000">
            <a:off x="8273688" y="2217852"/>
            <a:ext cx="2230559" cy="72008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800" b="1" i="0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50%</a:t>
            </a:r>
            <a:endParaRPr kumimoji="0" lang="en-US" sz="1800" b="1" i="0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pic>
        <p:nvPicPr>
          <p:cNvPr id="6146" name="Picture 2" descr="C:\Documents and Settings\ecarvalho\My Documents\Downloads\1280187467_emblem-peopl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05856" y="2716560"/>
            <a:ext cx="1300163" cy="1300162"/>
          </a:xfrm>
          <a:prstGeom prst="rect">
            <a:avLst/>
          </a:prstGeom>
          <a:noFill/>
        </p:spPr>
      </p:pic>
      <p:sp>
        <p:nvSpPr>
          <p:cNvPr id="13" name="Right Arrow 12"/>
          <p:cNvSpPr/>
          <p:nvPr/>
        </p:nvSpPr>
        <p:spPr bwMode="auto">
          <a:xfrm>
            <a:off x="2757984" y="3142310"/>
            <a:ext cx="3353775" cy="72008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600" b="1" i="0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Usuário requisita página</a:t>
            </a:r>
            <a:endParaRPr kumimoji="0" lang="en-US" sz="1600" b="1" i="0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741759" y="5164832"/>
            <a:ext cx="3046016" cy="18002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O Google </a:t>
            </a:r>
            <a:r>
              <a:rPr kumimoji="0" lang="pt-BR" sz="20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Website</a:t>
            </a: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 </a:t>
            </a:r>
            <a:r>
              <a:rPr kumimoji="0" lang="pt-BR" sz="20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Optimizer</a:t>
            </a:r>
            <a:r>
              <a:rPr kumimoji="0" lang="pt-BR" sz="20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 faz análises estatísticas de qual das versões é a melhor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sp>
        <p:nvSpPr>
          <p:cNvPr id="15" name="Right Arrow 14"/>
          <p:cNvSpPr/>
          <p:nvPr/>
        </p:nvSpPr>
        <p:spPr bwMode="auto">
          <a:xfrm>
            <a:off x="3262040" y="6532984"/>
            <a:ext cx="1800200" cy="72008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720080" y="7397080"/>
            <a:ext cx="3046016" cy="194421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Outras ferramentas podem ser usadas</a:t>
            </a:r>
            <a:r>
              <a:rPr kumimoji="0" lang="pt-BR" sz="20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 para implementar testes A/B. Você pode até mesmo não usar ferramenta alguma.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E0E8-EF2A-47E5-858D-DF8D682E2C50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2" cstate="print"/>
          <a:srcRect t="7463"/>
          <a:stretch>
            <a:fillRect/>
          </a:stretch>
        </p:blipFill>
        <p:spPr bwMode="auto">
          <a:xfrm>
            <a:off x="6790432" y="2932584"/>
            <a:ext cx="5544616" cy="427216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0" y="0"/>
            <a:ext cx="130048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3" cstate="print"/>
          <a:srcRect l="1186" t="61417" r="22617" b="21675"/>
          <a:stretch>
            <a:fillRect/>
          </a:stretch>
        </p:blipFill>
        <p:spPr bwMode="auto">
          <a:xfrm>
            <a:off x="236038" y="7541096"/>
            <a:ext cx="12459050" cy="1728192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sp>
        <p:nvSpPr>
          <p:cNvPr id="12" name="Title 1"/>
          <p:cNvSpPr txBox="1">
            <a:spLocks/>
          </p:cNvSpPr>
          <p:nvPr/>
        </p:nvSpPr>
        <p:spPr bwMode="auto">
          <a:xfrm>
            <a:off x="461963" y="484312"/>
            <a:ext cx="12314237" cy="11525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130046" tIns="65023" rIns="130046" bIns="65023" numCol="1" anchor="ctr" anchorCtr="0" compatLnSpc="1">
            <a:prstTxWarp prst="textNoShape">
              <a:avLst/>
            </a:prstTxWarp>
          </a:bodyPr>
          <a:lstStyle/>
          <a:p>
            <a:pPr lvl="0" defTabSz="1300163"/>
            <a:r>
              <a:rPr kumimoji="0" lang="pt-BR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Veja na prática ... Case </a:t>
            </a:r>
            <a:r>
              <a:rPr lang="en-US" sz="3600" u="sng" dirty="0" smtClean="0">
                <a:hlinkClick r:id="rId4"/>
              </a:rPr>
              <a:t>www.viajesfalabella.cl</a:t>
            </a:r>
            <a:r>
              <a:rPr lang="en-US" sz="3600" dirty="0" smtClean="0"/>
              <a:t> 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6790432" y="1996480"/>
            <a:ext cx="5472608" cy="719931"/>
          </a:xfrm>
        </p:spPr>
        <p:txBody>
          <a:bodyPr/>
          <a:lstStyle/>
          <a:p>
            <a:pPr algn="ctr">
              <a:buNone/>
            </a:pPr>
            <a:r>
              <a:rPr lang="pt-BR" dirty="0" smtClean="0"/>
              <a:t>Página sem Telefone </a:t>
            </a:r>
          </a:p>
          <a:p>
            <a:pPr algn="ctr">
              <a:buNone/>
            </a:pPr>
            <a:r>
              <a:rPr lang="pt-BR" dirty="0" smtClean="0"/>
              <a:t>(Tx Conversão - 36,5%)</a:t>
            </a:r>
          </a:p>
        </p:txBody>
      </p:sp>
      <p:pic>
        <p:nvPicPr>
          <p:cNvPr id="17" name="Picture 1"/>
          <p:cNvPicPr>
            <a:picLocks noChangeAspect="1" noChangeArrowheads="1"/>
          </p:cNvPicPr>
          <p:nvPr/>
        </p:nvPicPr>
        <p:blipFill>
          <a:blip r:embed="rId5" cstate="print"/>
          <a:srcRect t="7463"/>
          <a:stretch>
            <a:fillRect/>
          </a:stretch>
        </p:blipFill>
        <p:spPr bwMode="auto">
          <a:xfrm>
            <a:off x="595900" y="2932584"/>
            <a:ext cx="5618468" cy="429577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sp>
        <p:nvSpPr>
          <p:cNvPr id="18" name="Content Placeholder 2"/>
          <p:cNvSpPr txBox="1">
            <a:spLocks/>
          </p:cNvSpPr>
          <p:nvPr/>
        </p:nvSpPr>
        <p:spPr bwMode="auto">
          <a:xfrm>
            <a:off x="595900" y="1996480"/>
            <a:ext cx="5472608" cy="719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61950" marR="0" lvl="0" indent="-361950" algn="ctr" defTabSz="1300163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pt-BR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Página com Telefone </a:t>
            </a:r>
          </a:p>
          <a:p>
            <a:pPr marL="361950" marR="0" lvl="0" indent="-361950" algn="ctr" defTabSz="1300163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pt-BR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(Tx Conversão - 29,5%)</a:t>
            </a:r>
          </a:p>
        </p:txBody>
      </p:sp>
      <p:sp>
        <p:nvSpPr>
          <p:cNvPr id="20" name="Down Arrow 19"/>
          <p:cNvSpPr/>
          <p:nvPr/>
        </p:nvSpPr>
        <p:spPr bwMode="auto">
          <a:xfrm rot="16200000" flipV="1">
            <a:off x="5242260" y="5560876"/>
            <a:ext cx="360040" cy="720080"/>
          </a:xfrm>
          <a:prstGeom prst="downArrow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pPr defTabSz="1300163"/>
            <a:fld id="{5D6F9AF1-7AA7-4A51-83D8-F302FFBFA799}" type="slidenum">
              <a:rPr lang="en-US"/>
              <a:pPr defTabSz="1300163"/>
              <a:t>28</a:t>
            </a:fld>
            <a:endParaRPr 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525736" y="2284512"/>
            <a:ext cx="12098213" cy="1800597"/>
          </a:xfrm>
        </p:spPr>
        <p:txBody>
          <a:bodyPr/>
          <a:lstStyle/>
          <a:p>
            <a:pPr algn="ctr" eaLnBrk="1" hangingPunct="1"/>
            <a:r>
              <a:rPr lang="pt-BR" sz="4800" dirty="0" smtClean="0"/>
              <a:t>Bacana! Mas, </a:t>
            </a:r>
            <a:r>
              <a:rPr lang="pt-BR" sz="4800" dirty="0" smtClean="0">
                <a:solidFill>
                  <a:srgbClr val="FF9900"/>
                </a:solidFill>
              </a:rPr>
              <a:t>como</a:t>
            </a:r>
            <a:r>
              <a:rPr lang="pt-BR" sz="4800" dirty="0" smtClean="0"/>
              <a:t> eu faço um teste A/B???</a:t>
            </a:r>
            <a:br>
              <a:rPr lang="pt-BR" sz="4800" dirty="0" smtClean="0"/>
            </a:br>
            <a:endParaRPr lang="pt-BR" sz="4800" dirty="0" smtClean="0"/>
          </a:p>
        </p:txBody>
      </p:sp>
      <p:pic>
        <p:nvPicPr>
          <p:cNvPr id="124930" name="Picture 2" descr="http://bomjesus.anglicanarj.org/site/wp-content/uploads/2009/04/fale-ilustr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47074" y="4011026"/>
            <a:ext cx="4948014" cy="518625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É muito simples!!! 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669752" y="1852613"/>
          <a:ext cx="6336704" cy="7272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E0E8-EF2A-47E5-858D-DF8D682E2C50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21506" name="Picture 2" descr="C:\Documents and Settings\ecarvalho\My Documents\Downloads\teste_ab_4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014568" y="2140496"/>
            <a:ext cx="3724275" cy="3028950"/>
          </a:xfrm>
          <a:prstGeom prst="rect">
            <a:avLst/>
          </a:prstGeom>
          <a:noFill/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245816" y="5668888"/>
            <a:ext cx="10924789" cy="2412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pPr defTabSz="1300163"/>
            <a:fld id="{5D6F9AF1-7AA7-4A51-83D8-F302FFBFA799}" type="slidenum">
              <a:rPr lang="en-US"/>
              <a:pPr defTabSz="1300163"/>
              <a:t>30</a:t>
            </a:fld>
            <a:endParaRPr 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525736" y="2284512"/>
            <a:ext cx="12098213" cy="1800597"/>
          </a:xfrm>
        </p:spPr>
        <p:txBody>
          <a:bodyPr/>
          <a:lstStyle/>
          <a:p>
            <a:pPr algn="ctr" eaLnBrk="1" hangingPunct="1"/>
            <a:r>
              <a:rPr lang="pt-BR" sz="4800" dirty="0" smtClean="0"/>
              <a:t>E se eu quiser testar um número maior de </a:t>
            </a:r>
            <a:r>
              <a:rPr lang="pt-BR" sz="4800" dirty="0" smtClean="0">
                <a:solidFill>
                  <a:srgbClr val="FF9900"/>
                </a:solidFill>
              </a:rPr>
              <a:t>variações</a:t>
            </a:r>
            <a:r>
              <a:rPr lang="pt-BR" sz="4800" dirty="0" smtClean="0"/>
              <a:t>???</a:t>
            </a:r>
            <a:br>
              <a:rPr lang="pt-BR" sz="4800" dirty="0" smtClean="0"/>
            </a:br>
            <a:endParaRPr lang="pt-BR" sz="4800" dirty="0" smtClean="0"/>
          </a:p>
        </p:txBody>
      </p:sp>
      <p:pic>
        <p:nvPicPr>
          <p:cNvPr id="124930" name="Picture 2" descr="http://bomjesus.anglicanarj.org/site/wp-content/uploads/2009/04/fale-ilustr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47074" y="4011026"/>
            <a:ext cx="4948014" cy="518625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" name="Table 71"/>
          <p:cNvGraphicFramePr>
            <a:graphicFrameLocks noGrp="1"/>
          </p:cNvGraphicFramePr>
          <p:nvPr/>
        </p:nvGraphicFramePr>
        <p:xfrm>
          <a:off x="7078464" y="1636441"/>
          <a:ext cx="5184575" cy="7560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183"/>
                <a:gridCol w="2248732"/>
                <a:gridCol w="2373660"/>
              </a:tblGrid>
              <a:tr h="394898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Imagem</a:t>
                      </a:r>
                      <a:r>
                        <a:rPr lang="pt-BR" baseline="0" dirty="0" smtClean="0"/>
                        <a:t> 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Imagem 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</a:tr>
              <a:tr h="2388647"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>
                          <a:solidFill>
                            <a:schemeClr val="bg1"/>
                          </a:solidFill>
                        </a:rPr>
                        <a:t>Título 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388647"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>
                          <a:solidFill>
                            <a:schemeClr val="bg1"/>
                          </a:solidFill>
                        </a:rPr>
                        <a:t>Título 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388647"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>
                          <a:solidFill>
                            <a:schemeClr val="bg1"/>
                          </a:solidFill>
                        </a:rPr>
                        <a:t>Título 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Bingo! Temos o </a:t>
            </a:r>
            <a:r>
              <a:rPr lang="pt-BR" dirty="0" smtClean="0">
                <a:solidFill>
                  <a:srgbClr val="FF9900"/>
                </a:solidFill>
              </a:rPr>
              <a:t>Teste Multivariável </a:t>
            </a:r>
            <a:r>
              <a:rPr lang="pt-BR" dirty="0" smtClean="0"/>
              <a:t>...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E0E8-EF2A-47E5-858D-DF8D682E2C50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5" name="Content Placeholder 6" descr="wo_chart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r="24649"/>
          <a:stretch>
            <a:fillRect/>
          </a:stretch>
        </p:blipFill>
        <p:spPr>
          <a:xfrm>
            <a:off x="453728" y="4012704"/>
            <a:ext cx="2783305" cy="2971072"/>
          </a:xfrm>
        </p:spPr>
      </p:pic>
      <p:sp>
        <p:nvSpPr>
          <p:cNvPr id="6" name="TextBox 5"/>
          <p:cNvSpPr txBox="1"/>
          <p:nvPr/>
        </p:nvSpPr>
        <p:spPr>
          <a:xfrm>
            <a:off x="3838104" y="2572544"/>
            <a:ext cx="1446230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Título 1</a:t>
            </a:r>
          </a:p>
          <a:p>
            <a:r>
              <a:rPr lang="pt-BR" dirty="0" smtClean="0"/>
              <a:t>Título 2</a:t>
            </a:r>
          </a:p>
          <a:p>
            <a:r>
              <a:rPr lang="pt-BR" dirty="0" smtClean="0"/>
              <a:t>Título 3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838104" y="5236840"/>
            <a:ext cx="1909497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Imagem 1</a:t>
            </a:r>
          </a:p>
          <a:p>
            <a:r>
              <a:rPr lang="pt-BR" dirty="0" smtClean="0"/>
              <a:t>Imagem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38104" y="7469088"/>
            <a:ext cx="2124299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Descrição 1</a:t>
            </a:r>
          </a:p>
          <a:p>
            <a:r>
              <a:rPr lang="pt-BR" dirty="0" smtClean="0"/>
              <a:t>Descrição 2</a:t>
            </a:r>
          </a:p>
          <a:p>
            <a:r>
              <a:rPr lang="pt-BR" dirty="0" smtClean="0"/>
              <a:t>Descrição 3</a:t>
            </a:r>
          </a:p>
        </p:txBody>
      </p:sp>
      <p:sp>
        <p:nvSpPr>
          <p:cNvPr id="10" name="Left Brace 9"/>
          <p:cNvSpPr/>
          <p:nvPr/>
        </p:nvSpPr>
        <p:spPr bwMode="auto">
          <a:xfrm>
            <a:off x="3694088" y="2572544"/>
            <a:ext cx="216024" cy="1224136"/>
          </a:xfrm>
          <a:prstGeom prst="leftBrace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sp>
        <p:nvSpPr>
          <p:cNvPr id="11" name="Left Brace 10"/>
          <p:cNvSpPr/>
          <p:nvPr/>
        </p:nvSpPr>
        <p:spPr bwMode="auto">
          <a:xfrm>
            <a:off x="3622080" y="5164832"/>
            <a:ext cx="288032" cy="936104"/>
          </a:xfrm>
          <a:prstGeom prst="leftBrace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sp>
        <p:nvSpPr>
          <p:cNvPr id="12" name="Left Brace 11"/>
          <p:cNvSpPr/>
          <p:nvPr/>
        </p:nvSpPr>
        <p:spPr bwMode="auto">
          <a:xfrm>
            <a:off x="3694088" y="7469088"/>
            <a:ext cx="216024" cy="1224136"/>
          </a:xfrm>
          <a:prstGeom prst="leftBrace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cxnSp>
        <p:nvCxnSpPr>
          <p:cNvPr id="19" name="Straight Connector 18"/>
          <p:cNvCxnSpPr>
            <a:endCxn id="10" idx="1"/>
          </p:cNvCxnSpPr>
          <p:nvPr/>
        </p:nvCxnSpPr>
        <p:spPr bwMode="auto">
          <a:xfrm rot="5400000" flipH="1" flipV="1">
            <a:off x="2608770" y="3799102"/>
            <a:ext cx="1699808" cy="47082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/>
          <p:cNvCxnSpPr>
            <a:stCxn id="11" idx="1"/>
          </p:cNvCxnSpPr>
          <p:nvPr/>
        </p:nvCxnSpPr>
        <p:spPr bwMode="auto">
          <a:xfrm rot="10800000">
            <a:off x="3225800" y="5568950"/>
            <a:ext cx="396280" cy="63934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>
            <a:stCxn id="12" idx="1"/>
          </p:cNvCxnSpPr>
          <p:nvPr/>
        </p:nvCxnSpPr>
        <p:spPr bwMode="auto">
          <a:xfrm rot="10800000">
            <a:off x="3244850" y="6381750"/>
            <a:ext cx="449238" cy="1699406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77" name="Group 76"/>
          <p:cNvGrpSpPr/>
          <p:nvPr/>
        </p:nvGrpSpPr>
        <p:grpSpPr>
          <a:xfrm>
            <a:off x="8086576" y="2212504"/>
            <a:ext cx="3545160" cy="6785520"/>
            <a:chOff x="7438504" y="1564432"/>
            <a:chExt cx="4193232" cy="7433592"/>
          </a:xfrm>
        </p:grpSpPr>
        <p:grpSp>
          <p:nvGrpSpPr>
            <p:cNvPr id="76" name="Group 75"/>
            <p:cNvGrpSpPr/>
            <p:nvPr/>
          </p:nvGrpSpPr>
          <p:grpSpPr>
            <a:xfrm>
              <a:off x="7438504" y="1564432"/>
              <a:ext cx="1672952" cy="7433592"/>
              <a:chOff x="7438504" y="1564432"/>
              <a:chExt cx="1672952" cy="7433592"/>
            </a:xfrm>
          </p:grpSpPr>
          <p:grpSp>
            <p:nvGrpSpPr>
              <p:cNvPr id="73" name="Group 72"/>
              <p:cNvGrpSpPr/>
              <p:nvPr/>
            </p:nvGrpSpPr>
            <p:grpSpPr>
              <a:xfrm>
                <a:off x="7438504" y="1564432"/>
                <a:ext cx="1672952" cy="2249016"/>
                <a:chOff x="7438504" y="1564432"/>
                <a:chExt cx="1672952" cy="2249016"/>
              </a:xfrm>
            </p:grpSpPr>
            <p:sp>
              <p:nvSpPr>
                <p:cNvPr id="32" name="Rectangle 31"/>
                <p:cNvSpPr/>
                <p:nvPr/>
              </p:nvSpPr>
              <p:spPr bwMode="auto">
                <a:xfrm>
                  <a:off x="7438504" y="1564432"/>
                  <a:ext cx="1368152" cy="194421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2">
                      <a:lumMod val="1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1300163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6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Verdana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35" name="Rectangle 34"/>
                <p:cNvSpPr/>
                <p:nvPr/>
              </p:nvSpPr>
              <p:spPr bwMode="auto">
                <a:xfrm>
                  <a:off x="7590904" y="1716832"/>
                  <a:ext cx="1368152" cy="194421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2">
                      <a:lumMod val="1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1300163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6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Verdana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36" name="Rectangle 35"/>
                <p:cNvSpPr/>
                <p:nvPr/>
              </p:nvSpPr>
              <p:spPr bwMode="auto">
                <a:xfrm>
                  <a:off x="7743304" y="1869232"/>
                  <a:ext cx="1368152" cy="194421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2">
                      <a:lumMod val="1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1300163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pt-BR" sz="2600" b="0" i="0" u="none" strike="noStrike" cap="none" normalizeH="0" baseline="0" dirty="0" err="1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Verdana" pitchFamily="34" charset="0"/>
                      <a:cs typeface="Arial" pitchFamily="34" charset="0"/>
                    </a:rPr>
                    <a:t>Descr</a:t>
                  </a:r>
                  <a:r>
                    <a:rPr kumimoji="0" lang="pt-BR" sz="26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Verdana" pitchFamily="34" charset="0"/>
                      <a:cs typeface="Arial" pitchFamily="34" charset="0"/>
                    </a:rPr>
                    <a:t> 1</a:t>
                  </a:r>
                  <a:endParaRPr kumimoji="0" lang="en-US" sz="26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Verdana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74" name="Group 73"/>
              <p:cNvGrpSpPr/>
              <p:nvPr/>
            </p:nvGrpSpPr>
            <p:grpSpPr>
              <a:xfrm>
                <a:off x="7438504" y="4156720"/>
                <a:ext cx="1672952" cy="4841304"/>
                <a:chOff x="7438504" y="4156720"/>
                <a:chExt cx="1672952" cy="4841304"/>
              </a:xfrm>
            </p:grpSpPr>
            <p:grpSp>
              <p:nvGrpSpPr>
                <p:cNvPr id="42" name="Group 41"/>
                <p:cNvGrpSpPr/>
                <p:nvPr/>
              </p:nvGrpSpPr>
              <p:grpSpPr>
                <a:xfrm>
                  <a:off x="7438504" y="4156720"/>
                  <a:ext cx="1672952" cy="2249016"/>
                  <a:chOff x="7078464" y="1348408"/>
                  <a:chExt cx="1672952" cy="2249016"/>
                </a:xfrm>
              </p:grpSpPr>
              <p:sp>
                <p:nvSpPr>
                  <p:cNvPr id="43" name="Rectangle 42"/>
                  <p:cNvSpPr/>
                  <p:nvPr/>
                </p:nvSpPr>
                <p:spPr bwMode="auto">
                  <a:xfrm>
                    <a:off x="7078464" y="1348408"/>
                    <a:ext cx="1368152" cy="1944216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tx2">
                        <a:lumMod val="1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1300163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6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Verdana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44" name="Rectangle 43"/>
                  <p:cNvSpPr/>
                  <p:nvPr/>
                </p:nvSpPr>
                <p:spPr bwMode="auto">
                  <a:xfrm>
                    <a:off x="7230864" y="1500808"/>
                    <a:ext cx="1368152" cy="1944216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tx2">
                        <a:lumMod val="1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1300163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6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Verdana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45" name="Rectangle 44"/>
                  <p:cNvSpPr/>
                  <p:nvPr/>
                </p:nvSpPr>
                <p:spPr bwMode="auto">
                  <a:xfrm>
                    <a:off x="7383264" y="1653208"/>
                    <a:ext cx="1368152" cy="1944216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tx2">
                        <a:lumMod val="1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1300163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pt-BR" sz="2600" b="0" i="0" u="none" strike="noStrike" cap="none" normalizeH="0" baseline="0" dirty="0" err="1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rPr>
                      <a:t>Descr</a:t>
                    </a:r>
                    <a:r>
                      <a:rPr kumimoji="0" lang="pt-BR" sz="2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rPr>
                      <a:t> 1</a:t>
                    </a:r>
                    <a:endParaRPr kumimoji="0" lang="en-US" sz="26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Verdana" pitchFamily="34" charset="0"/>
                      <a:cs typeface="Arial" pitchFamily="34" charset="0"/>
                    </a:endParaRPr>
                  </a:p>
                </p:txBody>
              </p:sp>
            </p:grpSp>
            <p:grpSp>
              <p:nvGrpSpPr>
                <p:cNvPr id="50" name="Group 49"/>
                <p:cNvGrpSpPr/>
                <p:nvPr/>
              </p:nvGrpSpPr>
              <p:grpSpPr>
                <a:xfrm>
                  <a:off x="7438504" y="6749008"/>
                  <a:ext cx="1672952" cy="2249016"/>
                  <a:chOff x="7078464" y="1348408"/>
                  <a:chExt cx="1672952" cy="2249016"/>
                </a:xfrm>
              </p:grpSpPr>
              <p:sp>
                <p:nvSpPr>
                  <p:cNvPr id="51" name="Rectangle 50"/>
                  <p:cNvSpPr/>
                  <p:nvPr/>
                </p:nvSpPr>
                <p:spPr bwMode="auto">
                  <a:xfrm>
                    <a:off x="7078464" y="1348408"/>
                    <a:ext cx="1368152" cy="1944216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tx2">
                        <a:lumMod val="1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1300163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6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Verdana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52" name="Rectangle 51"/>
                  <p:cNvSpPr/>
                  <p:nvPr/>
                </p:nvSpPr>
                <p:spPr bwMode="auto">
                  <a:xfrm>
                    <a:off x="7230864" y="1500808"/>
                    <a:ext cx="1368152" cy="1944216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tx2">
                        <a:lumMod val="1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1300163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6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Verdana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53" name="Rectangle 52"/>
                  <p:cNvSpPr/>
                  <p:nvPr/>
                </p:nvSpPr>
                <p:spPr bwMode="auto">
                  <a:xfrm>
                    <a:off x="7383264" y="1653208"/>
                    <a:ext cx="1368152" cy="1944216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tx2">
                        <a:lumMod val="1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1300163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pt-BR" sz="2600" b="0" i="0" u="none" strike="noStrike" cap="none" normalizeH="0" baseline="0" dirty="0" err="1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rPr>
                      <a:t>Descr</a:t>
                    </a:r>
                    <a:r>
                      <a:rPr kumimoji="0" lang="pt-BR" sz="2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rPr>
                      <a:t> 1</a:t>
                    </a:r>
                    <a:endParaRPr kumimoji="0" lang="en-US" sz="26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Verdana" pitchFamily="34" charset="0"/>
                      <a:cs typeface="Arial" pitchFamily="34" charset="0"/>
                    </a:endParaRPr>
                  </a:p>
                </p:txBody>
              </p:sp>
            </p:grpSp>
          </p:grpSp>
        </p:grpSp>
        <p:grpSp>
          <p:nvGrpSpPr>
            <p:cNvPr id="75" name="Group 74"/>
            <p:cNvGrpSpPr/>
            <p:nvPr/>
          </p:nvGrpSpPr>
          <p:grpSpPr>
            <a:xfrm>
              <a:off x="9958784" y="1564432"/>
              <a:ext cx="1672952" cy="7433592"/>
              <a:chOff x="9958784" y="1564432"/>
              <a:chExt cx="1672952" cy="7433592"/>
            </a:xfrm>
          </p:grpSpPr>
          <p:grpSp>
            <p:nvGrpSpPr>
              <p:cNvPr id="58" name="Group 57"/>
              <p:cNvGrpSpPr/>
              <p:nvPr/>
            </p:nvGrpSpPr>
            <p:grpSpPr>
              <a:xfrm>
                <a:off x="9958784" y="1564432"/>
                <a:ext cx="1672952" cy="2249016"/>
                <a:chOff x="7078464" y="1348408"/>
                <a:chExt cx="1672952" cy="2249016"/>
              </a:xfrm>
            </p:grpSpPr>
            <p:sp>
              <p:nvSpPr>
                <p:cNvPr id="59" name="Rectangle 58"/>
                <p:cNvSpPr/>
                <p:nvPr/>
              </p:nvSpPr>
              <p:spPr bwMode="auto">
                <a:xfrm>
                  <a:off x="7078464" y="1348408"/>
                  <a:ext cx="1368152" cy="194421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2">
                      <a:lumMod val="1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1300163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6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Verdana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60" name="Rectangle 59"/>
                <p:cNvSpPr/>
                <p:nvPr/>
              </p:nvSpPr>
              <p:spPr bwMode="auto">
                <a:xfrm>
                  <a:off x="7230864" y="1500808"/>
                  <a:ext cx="1368152" cy="194421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2">
                      <a:lumMod val="1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1300163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6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Verdana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61" name="Rectangle 60"/>
                <p:cNvSpPr/>
                <p:nvPr/>
              </p:nvSpPr>
              <p:spPr bwMode="auto">
                <a:xfrm>
                  <a:off x="7383264" y="1653208"/>
                  <a:ext cx="1368152" cy="194421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2">
                      <a:lumMod val="1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1300163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pt-BR" sz="2600" b="0" i="0" u="none" strike="noStrike" cap="none" normalizeH="0" baseline="0" dirty="0" err="1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Verdana" pitchFamily="34" charset="0"/>
                      <a:cs typeface="Arial" pitchFamily="34" charset="0"/>
                    </a:rPr>
                    <a:t>Descr</a:t>
                  </a:r>
                  <a:r>
                    <a:rPr kumimoji="0" lang="pt-BR" sz="26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Verdana" pitchFamily="34" charset="0"/>
                      <a:cs typeface="Arial" pitchFamily="34" charset="0"/>
                    </a:rPr>
                    <a:t> 1</a:t>
                  </a:r>
                  <a:endParaRPr kumimoji="0" lang="en-US" sz="26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Verdana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62" name="Group 61"/>
              <p:cNvGrpSpPr/>
              <p:nvPr/>
            </p:nvGrpSpPr>
            <p:grpSpPr>
              <a:xfrm>
                <a:off x="9958784" y="4156720"/>
                <a:ext cx="1672952" cy="2249016"/>
                <a:chOff x="7078464" y="1348408"/>
                <a:chExt cx="1672952" cy="2249016"/>
              </a:xfrm>
            </p:grpSpPr>
            <p:sp>
              <p:nvSpPr>
                <p:cNvPr id="63" name="Rectangle 62"/>
                <p:cNvSpPr/>
                <p:nvPr/>
              </p:nvSpPr>
              <p:spPr bwMode="auto">
                <a:xfrm>
                  <a:off x="7078464" y="1348408"/>
                  <a:ext cx="1368152" cy="194421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2">
                      <a:lumMod val="1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1300163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6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Verdana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64" name="Rectangle 63"/>
                <p:cNvSpPr/>
                <p:nvPr/>
              </p:nvSpPr>
              <p:spPr bwMode="auto">
                <a:xfrm>
                  <a:off x="7230864" y="1500808"/>
                  <a:ext cx="1368152" cy="194421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2">
                      <a:lumMod val="1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1300163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6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Verdana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65" name="Rectangle 64"/>
                <p:cNvSpPr/>
                <p:nvPr/>
              </p:nvSpPr>
              <p:spPr bwMode="auto">
                <a:xfrm>
                  <a:off x="7383264" y="1653208"/>
                  <a:ext cx="1368152" cy="194421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2">
                      <a:lumMod val="1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1300163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pt-BR" sz="2600" b="0" i="0" u="none" strike="noStrike" cap="none" normalizeH="0" baseline="0" dirty="0" err="1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Verdana" pitchFamily="34" charset="0"/>
                      <a:cs typeface="Arial" pitchFamily="34" charset="0"/>
                    </a:rPr>
                    <a:t>Descr</a:t>
                  </a:r>
                  <a:r>
                    <a:rPr kumimoji="0" lang="pt-BR" sz="26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Verdana" pitchFamily="34" charset="0"/>
                      <a:cs typeface="Arial" pitchFamily="34" charset="0"/>
                    </a:rPr>
                    <a:t> 1</a:t>
                  </a:r>
                  <a:endParaRPr kumimoji="0" lang="en-US" sz="26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Verdana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66" name="Group 65"/>
              <p:cNvGrpSpPr/>
              <p:nvPr/>
            </p:nvGrpSpPr>
            <p:grpSpPr>
              <a:xfrm>
                <a:off x="9958784" y="6749008"/>
                <a:ext cx="1672952" cy="2249016"/>
                <a:chOff x="7078464" y="1348408"/>
                <a:chExt cx="1672952" cy="2249016"/>
              </a:xfrm>
            </p:grpSpPr>
            <p:sp>
              <p:nvSpPr>
                <p:cNvPr id="67" name="Rectangle 66"/>
                <p:cNvSpPr/>
                <p:nvPr/>
              </p:nvSpPr>
              <p:spPr bwMode="auto">
                <a:xfrm>
                  <a:off x="7078464" y="1348408"/>
                  <a:ext cx="1368152" cy="194421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2">
                      <a:lumMod val="1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1300163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6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Verdana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68" name="Rectangle 67"/>
                <p:cNvSpPr/>
                <p:nvPr/>
              </p:nvSpPr>
              <p:spPr bwMode="auto">
                <a:xfrm>
                  <a:off x="7230864" y="1500808"/>
                  <a:ext cx="1368152" cy="194421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2">
                      <a:lumMod val="1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1300163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6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Verdana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69" name="Rectangle 68"/>
                <p:cNvSpPr/>
                <p:nvPr/>
              </p:nvSpPr>
              <p:spPr bwMode="auto">
                <a:xfrm>
                  <a:off x="7383264" y="1653208"/>
                  <a:ext cx="1368152" cy="194421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2">
                      <a:lumMod val="1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1300163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pt-BR" sz="2600" b="0" i="0" u="none" strike="noStrike" cap="none" normalizeH="0" baseline="0" dirty="0" err="1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Verdana" pitchFamily="34" charset="0"/>
                      <a:cs typeface="Arial" pitchFamily="34" charset="0"/>
                    </a:rPr>
                    <a:t>Descr</a:t>
                  </a:r>
                  <a:r>
                    <a:rPr kumimoji="0" lang="pt-BR" sz="26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Verdana" pitchFamily="34" charset="0"/>
                      <a:cs typeface="Arial" pitchFamily="34" charset="0"/>
                    </a:rPr>
                    <a:t> 1</a:t>
                  </a:r>
                  <a:endParaRPr kumimoji="0" lang="en-US" sz="26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Verdana" pitchFamily="34" charset="0"/>
                    <a:cs typeface="Arial" pitchFamily="34" charset="0"/>
                  </a:endParaRPr>
                </a:p>
              </p:txBody>
            </p:sp>
          </p:grpSp>
        </p:grpSp>
      </p:grpSp>
      <p:sp>
        <p:nvSpPr>
          <p:cNvPr id="79" name="16-Point Star 78"/>
          <p:cNvSpPr/>
          <p:nvPr/>
        </p:nvSpPr>
        <p:spPr bwMode="auto">
          <a:xfrm rot="21035322">
            <a:off x="7945386" y="4216897"/>
            <a:ext cx="3550072" cy="2088232"/>
          </a:xfrm>
          <a:prstGeom prst="star16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18 </a:t>
            </a:r>
          </a:p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Combinações</a:t>
            </a:r>
            <a:endParaRPr kumimoji="0" lang="en-US" sz="2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Veja na prática ... Case </a:t>
            </a:r>
            <a:r>
              <a:rPr lang="en-US" b="0" u="sng" dirty="0" smtClean="0">
                <a:hlinkClick r:id="rId2"/>
              </a:rPr>
              <a:t>Taylor Woodrow </a:t>
            </a:r>
            <a:r>
              <a:rPr lang="en-US" b="0" u="sng" dirty="0" err="1" smtClean="0">
                <a:hlinkClick r:id="rId2"/>
              </a:rPr>
              <a:t>España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E0E8-EF2A-47E5-858D-DF8D682E2C50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677144" y="3004592"/>
            <a:ext cx="3241080" cy="719931"/>
          </a:xfrm>
        </p:spPr>
        <p:txBody>
          <a:bodyPr/>
          <a:lstStyle/>
          <a:p>
            <a:pPr algn="ctr">
              <a:buNone/>
            </a:pPr>
            <a:r>
              <a:rPr lang="pt-BR" dirty="0" smtClean="0"/>
              <a:t>Página Analisada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7797824" y="3004592"/>
            <a:ext cx="3241080" cy="719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61950" marR="0" lvl="0" indent="-361950" algn="ctr" defTabSz="1300163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pt-BR" sz="2000" b="1" kern="0" dirty="0" smtClean="0">
                <a:latin typeface="+mn-lt"/>
                <a:cs typeface="+mn-cs"/>
              </a:rPr>
              <a:t>Variações Utilizadas</a:t>
            </a:r>
            <a:endParaRPr kumimoji="0" lang="pt-BR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130048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 bwMode="auto">
          <a:xfrm>
            <a:off x="164976" y="2140496"/>
            <a:ext cx="12674128" cy="719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61950" marR="0" lvl="0" indent="-361950" defTabSz="1300163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pt-BR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Objetivo: Aumentar o número de Leads </a:t>
            </a:r>
          </a:p>
        </p:txBody>
      </p:sp>
      <p:sp>
        <p:nvSpPr>
          <p:cNvPr id="13" name="Right Arrow 12"/>
          <p:cNvSpPr/>
          <p:nvPr/>
        </p:nvSpPr>
        <p:spPr bwMode="auto">
          <a:xfrm>
            <a:off x="5566296" y="2932584"/>
            <a:ext cx="1656184" cy="648072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9712" y="3940696"/>
            <a:ext cx="558165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70352" y="4009206"/>
            <a:ext cx="6761162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E0E8-EF2A-47E5-858D-DF8D682E2C50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130048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 bwMode="auto">
          <a:xfrm>
            <a:off x="164976" y="1780456"/>
            <a:ext cx="12674128" cy="719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61950" marR="0" lvl="0" indent="-361950" defTabSz="1300163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pt-BR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Resultado: A</a:t>
            </a:r>
            <a:r>
              <a:rPr kumimoji="0" lang="pt-BR" sz="2000" b="1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combinação 2 superou a performance original em 336%, aumentando a taxa de conversão do site de 0,88% para 3,84%.</a:t>
            </a:r>
            <a:r>
              <a:rPr kumimoji="0" lang="pt-BR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</p:txBody>
      </p:sp>
      <p:pic>
        <p:nvPicPr>
          <p:cNvPr id="8499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6283" y="2716560"/>
            <a:ext cx="12681732" cy="2519040"/>
          </a:xfrm>
          <a:prstGeom prst="rect">
            <a:avLst/>
          </a:prstGeom>
          <a:noFill/>
          <a:ln w="12700">
            <a:solidFill>
              <a:srgbClr val="969696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pic>
        <p:nvPicPr>
          <p:cNvPr id="84998" name="Picture 6"/>
          <p:cNvPicPr>
            <a:picLocks noChangeAspect="1" noChangeArrowheads="1"/>
          </p:cNvPicPr>
          <p:nvPr/>
        </p:nvPicPr>
        <p:blipFill>
          <a:blip r:embed="rId3" cstate="print"/>
          <a:srcRect l="71315"/>
          <a:stretch>
            <a:fillRect/>
          </a:stretch>
        </p:blipFill>
        <p:spPr bwMode="auto">
          <a:xfrm>
            <a:off x="919864" y="5418416"/>
            <a:ext cx="1529985" cy="3921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4999" name="Picture 7"/>
          <p:cNvPicPr>
            <a:picLocks noChangeAspect="1" noChangeArrowheads="1"/>
          </p:cNvPicPr>
          <p:nvPr/>
        </p:nvPicPr>
        <p:blipFill>
          <a:blip r:embed="rId3" cstate="print"/>
          <a:srcRect r="87211"/>
          <a:stretch>
            <a:fillRect/>
          </a:stretch>
        </p:blipFill>
        <p:spPr bwMode="auto">
          <a:xfrm>
            <a:off x="237704" y="5419874"/>
            <a:ext cx="682160" cy="3921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Right Arrow 17"/>
          <p:cNvSpPr/>
          <p:nvPr/>
        </p:nvSpPr>
        <p:spPr bwMode="auto">
          <a:xfrm>
            <a:off x="2685976" y="6100936"/>
            <a:ext cx="1656184" cy="648072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sp>
        <p:nvSpPr>
          <p:cNvPr id="19" name="Content Placeholder 2"/>
          <p:cNvSpPr txBox="1">
            <a:spLocks/>
          </p:cNvSpPr>
          <p:nvPr/>
        </p:nvSpPr>
        <p:spPr bwMode="auto">
          <a:xfrm>
            <a:off x="3550072" y="6213569"/>
            <a:ext cx="6696744" cy="719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61950" marR="0" lvl="0" indent="-361950" algn="ctr" defTabSz="1300163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pt-BR" sz="2000" b="1" kern="0" dirty="0" smtClean="0">
                <a:latin typeface="+mn-lt"/>
                <a:cs typeface="+mn-cs"/>
              </a:rPr>
              <a:t>Testemunho não foi diferencial</a:t>
            </a:r>
            <a:endParaRPr kumimoji="0" lang="pt-BR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Right Arrow 19"/>
          <p:cNvSpPr/>
          <p:nvPr/>
        </p:nvSpPr>
        <p:spPr bwMode="auto">
          <a:xfrm>
            <a:off x="2685976" y="8045152"/>
            <a:ext cx="1656184" cy="648072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sp>
        <p:nvSpPr>
          <p:cNvPr id="21" name="Content Placeholder 2"/>
          <p:cNvSpPr txBox="1">
            <a:spLocks/>
          </p:cNvSpPr>
          <p:nvPr/>
        </p:nvSpPr>
        <p:spPr bwMode="auto">
          <a:xfrm>
            <a:off x="3775948" y="8164458"/>
            <a:ext cx="9228852" cy="719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61950" marR="0" lvl="0" indent="-361950" algn="ctr" defTabSz="1300163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pt-BR" sz="2000" b="1" kern="0" dirty="0" smtClean="0">
                <a:latin typeface="+mn-lt"/>
                <a:cs typeface="+mn-cs"/>
              </a:rPr>
              <a:t>Formulário apenas com e-mail (sem nome e telefone)</a:t>
            </a:r>
            <a:endParaRPr kumimoji="0" lang="pt-BR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309563" y="484188"/>
            <a:ext cx="12314237" cy="1152525"/>
          </a:xfrm>
        </p:spPr>
        <p:txBody>
          <a:bodyPr/>
          <a:lstStyle/>
          <a:p>
            <a:r>
              <a:rPr lang="pt-BR" dirty="0" smtClean="0"/>
              <a:t>Veja na prática ... Case </a:t>
            </a:r>
            <a:r>
              <a:rPr lang="en-US" b="0" u="sng" dirty="0" smtClean="0">
                <a:hlinkClick r:id="rId4"/>
              </a:rPr>
              <a:t>Taylor Woodrow </a:t>
            </a:r>
            <a:r>
              <a:rPr lang="en-US" b="0" u="sng" dirty="0" err="1" smtClean="0">
                <a:hlinkClick r:id="rId4"/>
              </a:rPr>
              <a:t>España</a:t>
            </a:r>
            <a:endParaRPr lang="en-US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pPr defTabSz="1300163"/>
            <a:fld id="{5D6F9AF1-7AA7-4A51-83D8-F302FFBFA799}" type="slidenum">
              <a:rPr lang="en-US"/>
              <a:pPr defTabSz="1300163"/>
              <a:t>34</a:t>
            </a:fld>
            <a:endParaRPr 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525736" y="1852464"/>
            <a:ext cx="12098213" cy="1800597"/>
          </a:xfrm>
        </p:spPr>
        <p:txBody>
          <a:bodyPr/>
          <a:lstStyle/>
          <a:p>
            <a:pPr algn="ctr" eaLnBrk="1" hangingPunct="1"/>
            <a:r>
              <a:rPr lang="pt-BR" sz="4800" dirty="0" smtClean="0"/>
              <a:t>Xiii ... Agora cumplicou!!! </a:t>
            </a:r>
            <a:br>
              <a:rPr lang="pt-BR" sz="4800" dirty="0" smtClean="0"/>
            </a:br>
            <a:endParaRPr lang="pt-BR" sz="4800" dirty="0" smtClean="0"/>
          </a:p>
        </p:txBody>
      </p:sp>
      <p:pic>
        <p:nvPicPr>
          <p:cNvPr id="130050" name="Picture 2" descr="http://www.eadunicid.blogaulas.com.br/img_post/578126034698538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34448" y="3508648"/>
            <a:ext cx="5275684" cy="527568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563" y="412304"/>
            <a:ext cx="12314237" cy="1152525"/>
          </a:xfrm>
        </p:spPr>
        <p:txBody>
          <a:bodyPr/>
          <a:lstStyle/>
          <a:p>
            <a:r>
              <a:rPr lang="pt-BR" dirty="0" smtClean="0"/>
              <a:t>Nada! É tão simples quanto o teste A/B!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669752" y="1852613"/>
          <a:ext cx="6336704" cy="7272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E0E8-EF2A-47E5-858D-DF8D682E2C50}" type="slidenum">
              <a:rPr lang="en-US" smtClean="0"/>
              <a:pPr/>
              <a:t>35</a:t>
            </a:fld>
            <a:endParaRPr lang="en-US"/>
          </a:p>
        </p:txBody>
      </p:sp>
      <p:pic>
        <p:nvPicPr>
          <p:cNvPr id="100354" name="Picture 2" descr="C:\Documents and Settings\ecarvalho\My Documents\Downloads\teste_mv_3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158584" y="2356520"/>
            <a:ext cx="3857625" cy="3705225"/>
          </a:xfrm>
          <a:prstGeom prst="rect">
            <a:avLst/>
          </a:prstGeom>
          <a:noFill/>
        </p:spPr>
      </p:pic>
      <p:grpSp>
        <p:nvGrpSpPr>
          <p:cNvPr id="3" name="Group 9"/>
          <p:cNvGrpSpPr/>
          <p:nvPr/>
        </p:nvGrpSpPr>
        <p:grpSpPr>
          <a:xfrm>
            <a:off x="376980" y="1348408"/>
            <a:ext cx="12030076" cy="8064896"/>
            <a:chOff x="381720" y="1348408"/>
            <a:chExt cx="12030076" cy="8064896"/>
          </a:xfrm>
        </p:grpSpPr>
        <p:pic>
          <p:nvPicPr>
            <p:cNvPr id="100355" name="Picture 3" descr="C:\Documents and Settings\ecarvalho\My Documents\Downloads\teste_mv_4.png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381720" y="1421829"/>
              <a:ext cx="12030076" cy="7991475"/>
            </a:xfrm>
            <a:prstGeom prst="rect">
              <a:avLst/>
            </a:prstGeom>
            <a:noFill/>
          </p:spPr>
        </p:pic>
        <p:sp>
          <p:nvSpPr>
            <p:cNvPr id="9" name="Rectangle 8"/>
            <p:cNvSpPr/>
            <p:nvPr/>
          </p:nvSpPr>
          <p:spPr bwMode="auto">
            <a:xfrm>
              <a:off x="8590632" y="1348408"/>
              <a:ext cx="2736304" cy="28803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3001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0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4" descr="rptsections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525736" y="5184635"/>
            <a:ext cx="7560840" cy="38686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Após algum tempo você verá os relatórios com resultados ...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E0E8-EF2A-47E5-858D-DF8D682E2C50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9" name="Picture 4" descr="http://www.comptalks.com/wp-content/uploads/2010/03/Google-Website-Optimizer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3768" y="2140496"/>
            <a:ext cx="3810000" cy="2505075"/>
          </a:xfrm>
          <a:prstGeom prst="rect">
            <a:avLst/>
          </a:prstGeom>
          <a:noFill/>
        </p:spPr>
      </p:pic>
      <p:pic>
        <p:nvPicPr>
          <p:cNvPr id="10" name="Picture 9" descr="optimizer3.g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422280" y="1420416"/>
            <a:ext cx="7169174" cy="399819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 bwMode="auto">
          <a:xfrm>
            <a:off x="8734648" y="6677000"/>
            <a:ext cx="3046016" cy="18002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 smtClean="0">
                <a:solidFill>
                  <a:schemeClr val="bg1"/>
                </a:solidFill>
                <a:latin typeface="Verdana" pitchFamily="34" charset="0"/>
                <a:cs typeface="Arial" pitchFamily="34" charset="0"/>
              </a:rPr>
              <a:t>Com base em cálculos estatísticos a ferramenta estima o grau de confiança dos resultados.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sp>
        <p:nvSpPr>
          <p:cNvPr id="15" name="Oval Callout 14"/>
          <p:cNvSpPr/>
          <p:nvPr/>
        </p:nvSpPr>
        <p:spPr bwMode="auto">
          <a:xfrm>
            <a:off x="1101800" y="4732784"/>
            <a:ext cx="2664296" cy="1584176"/>
          </a:xfrm>
          <a:prstGeom prst="wedgeEllipseCallout">
            <a:avLst>
              <a:gd name="adj1" fmla="val -54135"/>
              <a:gd name="adj2" fmla="val 74195"/>
            </a:avLst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Quanto essa seção contribui no resultado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sp>
        <p:nvSpPr>
          <p:cNvPr id="16" name="Oval Callout 15"/>
          <p:cNvSpPr/>
          <p:nvPr/>
        </p:nvSpPr>
        <p:spPr bwMode="auto">
          <a:xfrm>
            <a:off x="9814768" y="4012704"/>
            <a:ext cx="2376264" cy="1224136"/>
          </a:xfrm>
          <a:prstGeom prst="wedgeEllipseCallout">
            <a:avLst>
              <a:gd name="adj1" fmla="val -4490"/>
              <a:gd name="adj2" fmla="val -116567"/>
            </a:avLst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Melhora observada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sp>
        <p:nvSpPr>
          <p:cNvPr id="17" name="Oval Callout 16"/>
          <p:cNvSpPr/>
          <p:nvPr/>
        </p:nvSpPr>
        <p:spPr bwMode="auto">
          <a:xfrm>
            <a:off x="5566296" y="4228728"/>
            <a:ext cx="2952328" cy="1728192"/>
          </a:xfrm>
          <a:prstGeom prst="wedgeEllipseCallout">
            <a:avLst>
              <a:gd name="adj1" fmla="val 65938"/>
              <a:gd name="adj2" fmla="val -116377"/>
            </a:avLst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Chance dessa combinação</a:t>
            </a:r>
            <a:r>
              <a:rPr kumimoji="0" lang="pt-BR" sz="20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pitchFamily="34" charset="0"/>
              </a:rPr>
              <a:t> dar resultados melhores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Temos várias </a:t>
            </a:r>
            <a:r>
              <a:rPr lang="pt-BR" dirty="0" smtClean="0">
                <a:solidFill>
                  <a:srgbClr val="FF9900"/>
                </a:solidFill>
              </a:rPr>
              <a:t>ferramentas</a:t>
            </a:r>
            <a:r>
              <a:rPr lang="pt-BR" dirty="0" smtClean="0"/>
              <a:t> disponíveis ... </a:t>
            </a:r>
            <a:endParaRPr lang="en-US" dirty="0"/>
          </a:p>
        </p:txBody>
      </p:sp>
      <p:sp>
        <p:nvSpPr>
          <p:cNvPr id="23" name="Content Placeholder 22"/>
          <p:cNvSpPr>
            <a:spLocks noGrp="1"/>
          </p:cNvSpPr>
          <p:nvPr>
            <p:ph idx="1"/>
          </p:nvPr>
        </p:nvSpPr>
        <p:spPr>
          <a:xfrm>
            <a:off x="381000" y="2068959"/>
            <a:ext cx="12242800" cy="7272337"/>
          </a:xfrm>
        </p:spPr>
        <p:txBody>
          <a:bodyPr/>
          <a:lstStyle/>
          <a:p>
            <a:r>
              <a:rPr lang="pt-BR" dirty="0" smtClean="0"/>
              <a:t>Existem várias outras ferramentas no mercado com funcionalidades semelhantes e complementares para fazer testes nas suas Landing Pages.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E0E8-EF2A-47E5-858D-DF8D682E2C50}" type="slidenum">
              <a:rPr lang="en-US" smtClean="0"/>
              <a:pPr/>
              <a:t>37</a:t>
            </a:fld>
            <a:endParaRPr lang="en-US"/>
          </a:p>
        </p:txBody>
      </p:sp>
      <p:grpSp>
        <p:nvGrpSpPr>
          <p:cNvPr id="3" name="Group 18"/>
          <p:cNvGrpSpPr/>
          <p:nvPr/>
        </p:nvGrpSpPr>
        <p:grpSpPr>
          <a:xfrm>
            <a:off x="7062626" y="3729235"/>
            <a:ext cx="3848100" cy="4963989"/>
            <a:chOff x="7222480" y="3652664"/>
            <a:chExt cx="3848100" cy="4963989"/>
          </a:xfrm>
        </p:grpSpPr>
        <p:pic>
          <p:nvPicPr>
            <p:cNvPr id="5" name="Picture 2" descr="http://unbounce.com/wp-content/themes/unbounce2/images/unbounce-logo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797693" y="4802399"/>
              <a:ext cx="2697675" cy="678558"/>
            </a:xfrm>
            <a:prstGeom prst="rect">
              <a:avLst/>
            </a:prstGeom>
            <a:noFill/>
          </p:spPr>
        </p:pic>
        <p:pic>
          <p:nvPicPr>
            <p:cNvPr id="6" name="Picture 4" descr="http://www.katemorris.com/wp-content/uploads/2010/02/Screen-shot-2010-02-28-at-5.06.17-PM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8017818" y="3652664"/>
              <a:ext cx="2257425" cy="733426"/>
            </a:xfrm>
            <a:prstGeom prst="rect">
              <a:avLst/>
            </a:prstGeom>
            <a:noFill/>
          </p:spPr>
        </p:pic>
        <p:pic>
          <p:nvPicPr>
            <p:cNvPr id="12" name="Picture 12" descr="http://www.crazyegg.com/images/new/logo.pn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7542071" y="7757120"/>
              <a:ext cx="3208918" cy="859533"/>
            </a:xfrm>
            <a:prstGeom prst="rect">
              <a:avLst/>
            </a:prstGeom>
            <a:noFill/>
          </p:spPr>
        </p:pic>
        <p:pic>
          <p:nvPicPr>
            <p:cNvPr id="13" name="Picture 18" descr="http://attentionwizard.com/images/stories/logo_attentionWizard.gif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7222480" y="5897265"/>
              <a:ext cx="3848100" cy="552451"/>
            </a:xfrm>
            <a:prstGeom prst="rect">
              <a:avLst/>
            </a:prstGeom>
            <a:noFill/>
          </p:spPr>
        </p:pic>
        <p:pic>
          <p:nvPicPr>
            <p:cNvPr id="14" name="Picture 21" descr="C:\Documents and Settings\ecarvalho\My Documents\Downloads\download (8).pn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7996655" y="6866024"/>
              <a:ext cx="2299750" cy="474787"/>
            </a:xfrm>
            <a:prstGeom prst="rect">
              <a:avLst/>
            </a:prstGeom>
            <a:noFill/>
          </p:spPr>
        </p:pic>
      </p:grpSp>
      <p:grpSp>
        <p:nvGrpSpPr>
          <p:cNvPr id="9" name="Group 17"/>
          <p:cNvGrpSpPr/>
          <p:nvPr/>
        </p:nvGrpSpPr>
        <p:grpSpPr>
          <a:xfrm>
            <a:off x="1686655" y="3729235"/>
            <a:ext cx="3510811" cy="4895031"/>
            <a:chOff x="1677864" y="3508648"/>
            <a:chExt cx="3510811" cy="4895031"/>
          </a:xfrm>
        </p:grpSpPr>
        <p:pic>
          <p:nvPicPr>
            <p:cNvPr id="7" name="Picture 6" descr="http://www.google.com/images/logos/website_optimizer_logo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1677864" y="3508648"/>
              <a:ext cx="3510811" cy="453009"/>
            </a:xfrm>
            <a:prstGeom prst="rect">
              <a:avLst/>
            </a:prstGeom>
            <a:noFill/>
          </p:spPr>
        </p:pic>
        <p:pic>
          <p:nvPicPr>
            <p:cNvPr id="8" name="Picture 8" descr="Vertster-logo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2414001" y="4910509"/>
              <a:ext cx="2038536" cy="838066"/>
            </a:xfrm>
            <a:prstGeom prst="rect">
              <a:avLst/>
            </a:prstGeom>
            <a:noFill/>
          </p:spPr>
        </p:pic>
        <p:grpSp>
          <p:nvGrpSpPr>
            <p:cNvPr id="18" name="Group 8"/>
            <p:cNvGrpSpPr/>
            <p:nvPr/>
          </p:nvGrpSpPr>
          <p:grpSpPr>
            <a:xfrm>
              <a:off x="2448670" y="4179231"/>
              <a:ext cx="1969199" cy="513704"/>
              <a:chOff x="1533848" y="6749008"/>
              <a:chExt cx="1656184" cy="432048"/>
            </a:xfrm>
          </p:grpSpPr>
          <p:sp>
            <p:nvSpPr>
              <p:cNvPr id="10" name="Rectangle 9"/>
              <p:cNvSpPr/>
              <p:nvPr/>
            </p:nvSpPr>
            <p:spPr bwMode="auto">
              <a:xfrm>
                <a:off x="1533848" y="6749008"/>
                <a:ext cx="1656184" cy="432048"/>
              </a:xfrm>
              <a:prstGeom prst="rect">
                <a:avLst/>
              </a:prstGeom>
              <a:solidFill>
                <a:srgbClr val="363636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13001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  <a:cs typeface="Arial" pitchFamily="34" charset="0"/>
                </a:endParaRPr>
              </a:p>
            </p:txBody>
          </p:sp>
          <p:pic>
            <p:nvPicPr>
              <p:cNvPr id="11" name="Picture 10" descr="http://www.sitespect.com/images/sitespect_logo.gif"/>
              <p:cNvPicPr>
                <a:picLocks noChangeAspect="1" noChangeArrowheads="1"/>
              </p:cNvPicPr>
              <p:nvPr/>
            </p:nvPicPr>
            <p:blipFill>
              <a:blip r:embed="rId9" cstate="print"/>
              <a:srcRect/>
              <a:stretch>
                <a:fillRect/>
              </a:stretch>
            </p:blipFill>
            <p:spPr bwMode="auto">
              <a:xfrm>
                <a:off x="1605856" y="6821016"/>
                <a:ext cx="1562100" cy="323850"/>
              </a:xfrm>
              <a:prstGeom prst="rect">
                <a:avLst/>
              </a:prstGeom>
              <a:noFill/>
            </p:spPr>
          </p:pic>
        </p:grpSp>
        <p:pic>
          <p:nvPicPr>
            <p:cNvPr id="15" name="Picture 26" descr="C:\Documents and Settings\ecarvalho\My Documents\Downloads\download (9).png"/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2067143" y="6687779"/>
              <a:ext cx="2732252" cy="707752"/>
            </a:xfrm>
            <a:prstGeom prst="rect">
              <a:avLst/>
            </a:prstGeom>
            <a:noFill/>
          </p:spPr>
        </p:pic>
        <p:pic>
          <p:nvPicPr>
            <p:cNvPr id="16" name="Picture 27" descr="C:\Documents and Settings\ecarvalho\My Documents\Downloads\download (10).png"/>
            <p:cNvPicPr>
              <a:picLocks noChangeAspect="1" noChangeArrowheads="1"/>
            </p:cNvPicPr>
            <p:nvPr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2399807" y="7613104"/>
              <a:ext cx="2066925" cy="790575"/>
            </a:xfrm>
            <a:prstGeom prst="rect">
              <a:avLst/>
            </a:prstGeom>
            <a:noFill/>
          </p:spPr>
        </p:pic>
        <p:pic>
          <p:nvPicPr>
            <p:cNvPr id="17" name="Picture 30" descr="C:\Documents and Settings\ecarvalho\My Documents\Downloads\download (11).png"/>
            <p:cNvPicPr>
              <a:picLocks noChangeAspect="1" noChangeArrowheads="1"/>
            </p:cNvPicPr>
            <p:nvPr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1768557" y="5966149"/>
              <a:ext cx="3329424" cy="504056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0" y="5812904"/>
            <a:ext cx="13004800" cy="792088"/>
          </a:xfrm>
          <a:prstGeom prst="rect">
            <a:avLst/>
          </a:prstGeom>
          <a:solidFill>
            <a:srgbClr val="FF99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pitchFamily="34" charset="0"/>
            </a:endParaRPr>
          </a:p>
        </p:txBody>
      </p:sp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pPr defTabSz="1300163"/>
            <a:fld id="{5D6F9AF1-7AA7-4A51-83D8-F302FFBFA799}" type="slidenum">
              <a:rPr lang="en-US"/>
              <a:pPr defTabSz="1300163"/>
              <a:t>38</a:t>
            </a:fld>
            <a:endParaRPr 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Agenda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dirty="0" smtClean="0">
                <a:solidFill>
                  <a:srgbClr val="C00000"/>
                </a:solidFill>
              </a:rPr>
              <a:t>O que é Landing Page?</a:t>
            </a:r>
          </a:p>
          <a:p>
            <a:pPr eaLnBrk="1" hangingPunct="1"/>
            <a:endParaRPr lang="pt-BR" dirty="0" smtClean="0">
              <a:solidFill>
                <a:srgbClr val="C00000"/>
              </a:solidFill>
            </a:endParaRPr>
          </a:p>
          <a:p>
            <a:pPr eaLnBrk="1" hangingPunct="1"/>
            <a:r>
              <a:rPr lang="pt-BR" dirty="0" smtClean="0">
                <a:solidFill>
                  <a:srgbClr val="C00000"/>
                </a:solidFill>
              </a:rPr>
              <a:t>Por quê Otimizar?</a:t>
            </a:r>
          </a:p>
          <a:p>
            <a:pPr eaLnBrk="1" hangingPunct="1"/>
            <a:endParaRPr lang="pt-BR" dirty="0" smtClean="0">
              <a:solidFill>
                <a:srgbClr val="C00000"/>
              </a:solidFill>
            </a:endParaRPr>
          </a:p>
          <a:p>
            <a:pPr eaLnBrk="1" hangingPunct="1"/>
            <a:r>
              <a:rPr lang="pt-BR" dirty="0" smtClean="0">
                <a:solidFill>
                  <a:srgbClr val="C00000"/>
                </a:solidFill>
              </a:rPr>
              <a:t>Criação da Landing Page</a:t>
            </a:r>
          </a:p>
          <a:p>
            <a:pPr eaLnBrk="1" hangingPunct="1"/>
            <a:endParaRPr lang="pt-BR" dirty="0" smtClean="0">
              <a:solidFill>
                <a:srgbClr val="C00000"/>
              </a:solidFill>
            </a:endParaRPr>
          </a:p>
          <a:p>
            <a:pPr eaLnBrk="1" hangingPunct="1"/>
            <a:r>
              <a:rPr lang="pt-BR" dirty="0" smtClean="0">
                <a:solidFill>
                  <a:srgbClr val="C00000"/>
                </a:solidFill>
              </a:rPr>
              <a:t>Teste ... Teste ... Teste ...</a:t>
            </a:r>
          </a:p>
          <a:p>
            <a:pPr eaLnBrk="1" hangingPunct="1"/>
            <a:endParaRPr lang="pt-BR" dirty="0" smtClean="0">
              <a:solidFill>
                <a:srgbClr val="C00000"/>
              </a:solidFill>
            </a:endParaRPr>
          </a:p>
          <a:p>
            <a:pPr eaLnBrk="1" hangingPunct="1"/>
            <a:r>
              <a:rPr lang="pt-BR" dirty="0" smtClean="0">
                <a:solidFill>
                  <a:schemeClr val="bg1"/>
                </a:solidFill>
              </a:rPr>
              <a:t>Customização por Segmento</a:t>
            </a:r>
          </a:p>
        </p:txBody>
      </p:sp>
      <p:pic>
        <p:nvPicPr>
          <p:cNvPr id="7" name="Picture 4" descr="\\192.168.0.151\Direct Performance\Apresentações\Eventos\SearchLabs\SearchLabs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886776" y="7685112"/>
            <a:ext cx="2758460" cy="151216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AutoShape 2"/>
          <p:cNvSpPr>
            <a:spLocks noChangeArrowheads="1"/>
          </p:cNvSpPr>
          <p:nvPr/>
        </p:nvSpPr>
        <p:spPr bwMode="auto">
          <a:xfrm rot="5400000">
            <a:off x="1638301" y="5883275"/>
            <a:ext cx="1909762" cy="1316037"/>
          </a:xfrm>
          <a:prstGeom prst="triangle">
            <a:avLst>
              <a:gd name="adj" fmla="val 50000"/>
            </a:avLst>
          </a:prstGeom>
          <a:solidFill>
            <a:schemeClr val="folHlink">
              <a:alpha val="50195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pt-BR">
              <a:solidFill>
                <a:srgbClr val="40232B"/>
              </a:solidFill>
            </a:endParaRPr>
          </a:p>
        </p:txBody>
      </p:sp>
      <p:sp>
        <p:nvSpPr>
          <p:cNvPr id="65539" name="AutoShape 3"/>
          <p:cNvSpPr>
            <a:spLocks noChangeArrowheads="1"/>
          </p:cNvSpPr>
          <p:nvPr/>
        </p:nvSpPr>
        <p:spPr bwMode="auto">
          <a:xfrm rot="5400000">
            <a:off x="1905794" y="5884069"/>
            <a:ext cx="1908175" cy="1316037"/>
          </a:xfrm>
          <a:prstGeom prst="triangle">
            <a:avLst>
              <a:gd name="adj" fmla="val 50000"/>
            </a:avLst>
          </a:prstGeom>
          <a:solidFill>
            <a:schemeClr val="folHlink">
              <a:alpha val="50195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pt-BR">
              <a:solidFill>
                <a:srgbClr val="40232B"/>
              </a:solidFill>
            </a:endParaRPr>
          </a:p>
        </p:txBody>
      </p:sp>
      <p:sp>
        <p:nvSpPr>
          <p:cNvPr id="65540" name="AutoShape 4"/>
          <p:cNvSpPr>
            <a:spLocks noChangeArrowheads="1"/>
          </p:cNvSpPr>
          <p:nvPr/>
        </p:nvSpPr>
        <p:spPr bwMode="auto">
          <a:xfrm rot="5400000">
            <a:off x="5039519" y="5884069"/>
            <a:ext cx="1908175" cy="1316037"/>
          </a:xfrm>
          <a:prstGeom prst="triangle">
            <a:avLst>
              <a:gd name="adj" fmla="val 50000"/>
            </a:avLst>
          </a:prstGeom>
          <a:solidFill>
            <a:schemeClr val="folHlink">
              <a:alpha val="50195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pt-BR">
              <a:solidFill>
                <a:srgbClr val="40232B"/>
              </a:solidFill>
            </a:endParaRPr>
          </a:p>
        </p:txBody>
      </p:sp>
      <p:sp>
        <p:nvSpPr>
          <p:cNvPr id="65541" name="AutoShape 5"/>
          <p:cNvSpPr>
            <a:spLocks noChangeArrowheads="1"/>
          </p:cNvSpPr>
          <p:nvPr/>
        </p:nvSpPr>
        <p:spPr bwMode="auto">
          <a:xfrm rot="5400000">
            <a:off x="5306219" y="5884069"/>
            <a:ext cx="1908175" cy="1316037"/>
          </a:xfrm>
          <a:prstGeom prst="triangle">
            <a:avLst>
              <a:gd name="adj" fmla="val 50000"/>
            </a:avLst>
          </a:prstGeom>
          <a:solidFill>
            <a:schemeClr val="folHlink">
              <a:alpha val="50195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pt-BR">
              <a:solidFill>
                <a:srgbClr val="40232B"/>
              </a:solidFill>
            </a:endParaRPr>
          </a:p>
        </p:txBody>
      </p:sp>
      <p:sp>
        <p:nvSpPr>
          <p:cNvPr id="65542" name="AutoShape 6"/>
          <p:cNvSpPr>
            <a:spLocks noChangeArrowheads="1"/>
          </p:cNvSpPr>
          <p:nvPr/>
        </p:nvSpPr>
        <p:spPr bwMode="auto">
          <a:xfrm rot="5400000">
            <a:off x="8807450" y="5883275"/>
            <a:ext cx="1908175" cy="1317625"/>
          </a:xfrm>
          <a:prstGeom prst="triangle">
            <a:avLst>
              <a:gd name="adj" fmla="val 50000"/>
            </a:avLst>
          </a:prstGeom>
          <a:solidFill>
            <a:schemeClr val="folHlink">
              <a:alpha val="50195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pt-BR">
              <a:solidFill>
                <a:srgbClr val="40232B"/>
              </a:solidFill>
            </a:endParaRPr>
          </a:p>
        </p:txBody>
      </p:sp>
      <p:sp>
        <p:nvSpPr>
          <p:cNvPr id="65543" name="AutoShape 7"/>
          <p:cNvSpPr>
            <a:spLocks noChangeArrowheads="1"/>
          </p:cNvSpPr>
          <p:nvPr/>
        </p:nvSpPr>
        <p:spPr bwMode="auto">
          <a:xfrm rot="5400000">
            <a:off x="9073356" y="5884069"/>
            <a:ext cx="1908175" cy="1316038"/>
          </a:xfrm>
          <a:prstGeom prst="triangle">
            <a:avLst>
              <a:gd name="adj" fmla="val 50000"/>
            </a:avLst>
          </a:prstGeom>
          <a:solidFill>
            <a:schemeClr val="folHlink">
              <a:alpha val="50195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pt-BR">
              <a:solidFill>
                <a:srgbClr val="40232B"/>
              </a:solidFill>
            </a:endParaRPr>
          </a:p>
        </p:txBody>
      </p:sp>
      <p:pic>
        <p:nvPicPr>
          <p:cNvPr id="65544" name="Picture 8" descr="a0073-000043"/>
          <p:cNvPicPr>
            <a:picLocks noChangeAspect="1" noChangeArrowheads="1"/>
          </p:cNvPicPr>
          <p:nvPr/>
        </p:nvPicPr>
        <p:blipFill>
          <a:blip r:embed="rId3" cstate="print">
            <a:lum bright="10000"/>
            <a:grayscl/>
          </a:blip>
          <a:srcRect/>
          <a:stretch>
            <a:fillRect/>
          </a:stretch>
        </p:blipFill>
        <p:spPr bwMode="auto">
          <a:xfrm>
            <a:off x="11431588" y="5189538"/>
            <a:ext cx="1317625" cy="884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545" name="Picture 9" descr="a0073-000043"/>
          <p:cNvPicPr>
            <a:picLocks noChangeAspect="1" noChangeArrowheads="1"/>
          </p:cNvPicPr>
          <p:nvPr/>
        </p:nvPicPr>
        <p:blipFill>
          <a:blip r:embed="rId3" cstate="print">
            <a:lum bright="10000"/>
            <a:grayscl/>
          </a:blip>
          <a:srcRect/>
          <a:stretch>
            <a:fillRect/>
          </a:stretch>
        </p:blipFill>
        <p:spPr bwMode="auto">
          <a:xfrm>
            <a:off x="11431588" y="6202363"/>
            <a:ext cx="131762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546" name="Picture 10" descr="a0073-000043"/>
          <p:cNvPicPr>
            <a:picLocks noChangeAspect="1" noChangeArrowheads="1"/>
          </p:cNvPicPr>
          <p:nvPr/>
        </p:nvPicPr>
        <p:blipFill>
          <a:blip r:embed="rId3" cstate="print">
            <a:lum bright="10000"/>
            <a:grayscl/>
          </a:blip>
          <a:srcRect/>
          <a:stretch>
            <a:fillRect/>
          </a:stretch>
        </p:blipFill>
        <p:spPr bwMode="auto">
          <a:xfrm>
            <a:off x="11431588" y="7232650"/>
            <a:ext cx="1317625" cy="884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5547" name="Rectangle 11"/>
          <p:cNvSpPr>
            <a:spLocks noChangeArrowheads="1"/>
          </p:cNvSpPr>
          <p:nvPr/>
        </p:nvSpPr>
        <p:spPr bwMode="auto">
          <a:xfrm>
            <a:off x="10244138" y="5189538"/>
            <a:ext cx="2505075" cy="876300"/>
          </a:xfrm>
          <a:prstGeom prst="rect">
            <a:avLst/>
          </a:prstGeom>
          <a:solidFill>
            <a:schemeClr val="accent2">
              <a:alpha val="50195"/>
            </a:schemeClr>
          </a:solidFill>
          <a:ln w="9525">
            <a:noFill/>
            <a:miter lim="800000"/>
            <a:headEnd/>
            <a:tailEnd/>
          </a:ln>
        </p:spPr>
        <p:txBody>
          <a:bodyPr wrap="none" lIns="130046" tIns="65023" rIns="130046" bIns="65023" anchor="ctr"/>
          <a:lstStyle/>
          <a:p>
            <a:pPr defTabSz="1300163"/>
            <a:r>
              <a:rPr lang="pt-BR">
                <a:solidFill>
                  <a:srgbClr val="40232B"/>
                </a:solidFill>
                <a:latin typeface="Arial" pitchFamily="34" charset="0"/>
                <a:ea typeface="ヒラギノ角ゴ Pro W3"/>
                <a:cs typeface="ヒラギノ角ゴ Pro W3"/>
              </a:rPr>
              <a:t>1</a:t>
            </a:r>
            <a:endParaRPr lang="en-US">
              <a:solidFill>
                <a:srgbClr val="40232B"/>
              </a:solidFill>
              <a:latin typeface="Arial" pitchFamily="34" charset="0"/>
              <a:ea typeface="ヒラギノ角ゴ Pro W3"/>
              <a:cs typeface="ヒラギノ角ゴ Pro W3"/>
            </a:endParaRPr>
          </a:p>
        </p:txBody>
      </p:sp>
      <p:sp>
        <p:nvSpPr>
          <p:cNvPr id="65548" name="Text Box 12"/>
          <p:cNvSpPr txBox="1">
            <a:spLocks noChangeArrowheads="1"/>
          </p:cNvSpPr>
          <p:nvPr/>
        </p:nvSpPr>
        <p:spPr bwMode="auto">
          <a:xfrm>
            <a:off x="238125" y="2432770"/>
            <a:ext cx="12385675" cy="931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30046" tIns="65023" rIns="130046" bIns="65023">
            <a:spAutoFit/>
          </a:bodyPr>
          <a:lstStyle/>
          <a:p>
            <a:pPr algn="ctr" defTabSz="1300163">
              <a:spcBef>
                <a:spcPct val="50000"/>
              </a:spcBef>
              <a:spcAft>
                <a:spcPct val="30000"/>
              </a:spcAft>
            </a:pPr>
            <a:r>
              <a:rPr lang="pt-BR" b="1" dirty="0">
                <a:solidFill>
                  <a:srgbClr val="777777"/>
                </a:solidFill>
                <a:latin typeface="Trebuchet MS" pitchFamily="34" charset="0"/>
                <a:ea typeface="ヒラギノ角ゴ Pro W3"/>
                <a:cs typeface="ヒラギノ角ゴ Pro W3"/>
              </a:rPr>
              <a:t>O histórico de ações no site com dados de performance das campanhas de e-mail e navegação permitirá a implementação prática de </a:t>
            </a:r>
            <a:r>
              <a:rPr lang="pt-BR" b="1" dirty="0">
                <a:solidFill>
                  <a:srgbClr val="FFCC00"/>
                </a:solidFill>
                <a:latin typeface="Trebuchet MS" pitchFamily="34" charset="0"/>
                <a:ea typeface="ヒラギノ角ゴ Pro W3"/>
                <a:cs typeface="ヒラギノ角ゴ Pro W3"/>
              </a:rPr>
              <a:t>Behavorial Targeting</a:t>
            </a:r>
            <a:r>
              <a:rPr lang="pt-BR" b="1" dirty="0">
                <a:solidFill>
                  <a:srgbClr val="F99D1E"/>
                </a:solidFill>
                <a:latin typeface="Trebuchet MS" pitchFamily="34" charset="0"/>
                <a:ea typeface="ヒラギノ角ゴ Pro W3"/>
                <a:cs typeface="ヒラギノ角ゴ Pro W3"/>
              </a:rPr>
              <a:t> </a:t>
            </a:r>
          </a:p>
        </p:txBody>
      </p:sp>
      <p:pic>
        <p:nvPicPr>
          <p:cNvPr id="65549" name="Picture 13"/>
          <p:cNvPicPr>
            <a:picLocks noChangeAspect="1" noChangeArrowheads="1"/>
          </p:cNvPicPr>
          <p:nvPr/>
        </p:nvPicPr>
        <p:blipFill>
          <a:blip r:embed="rId4" cstate="print"/>
          <a:srcRect t="10472" r="10495"/>
          <a:stretch>
            <a:fillRect/>
          </a:stretch>
        </p:blipFill>
        <p:spPr bwMode="auto">
          <a:xfrm>
            <a:off x="2917825" y="5151438"/>
            <a:ext cx="2771775" cy="277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5550" name="Text Box 16"/>
          <p:cNvSpPr txBox="1">
            <a:spLocks noChangeArrowheads="1"/>
          </p:cNvSpPr>
          <p:nvPr/>
        </p:nvSpPr>
        <p:spPr bwMode="auto">
          <a:xfrm>
            <a:off x="2917825" y="4240213"/>
            <a:ext cx="2771775" cy="906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30046" tIns="65023" rIns="130046" bIns="65023">
            <a:spAutoFit/>
          </a:bodyPr>
          <a:lstStyle/>
          <a:p>
            <a:pPr algn="ctr" defTabSz="1300163"/>
            <a:r>
              <a:rPr lang="pt-BR" sz="1700" b="1" dirty="0">
                <a:solidFill>
                  <a:srgbClr val="40232B"/>
                </a:solidFill>
                <a:latin typeface="Arial" pitchFamily="34" charset="0"/>
                <a:ea typeface="ヒラギノ角ゴ Pro W3"/>
                <a:cs typeface="ヒラギノ角ゴ Pro W3"/>
              </a:rPr>
              <a:t>As ações de cada usuário são registradas e coletadas</a:t>
            </a:r>
            <a:endParaRPr lang="en-US" sz="1700" b="1" dirty="0">
              <a:solidFill>
                <a:srgbClr val="40232B"/>
              </a:solidFill>
              <a:latin typeface="Arial" pitchFamily="34" charset="0"/>
              <a:ea typeface="ヒラギノ角ゴ Pro W3"/>
              <a:cs typeface="ヒラギノ角ゴ Pro W3"/>
            </a:endParaRPr>
          </a:p>
        </p:txBody>
      </p:sp>
      <p:sp>
        <p:nvSpPr>
          <p:cNvPr id="65551" name="Rectangle 17"/>
          <p:cNvSpPr>
            <a:spLocks noChangeArrowheads="1"/>
          </p:cNvSpPr>
          <p:nvPr/>
        </p:nvSpPr>
        <p:spPr bwMode="auto">
          <a:xfrm>
            <a:off x="10244138" y="6213475"/>
            <a:ext cx="2505075" cy="8763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noFill/>
            <a:miter lim="800000"/>
            <a:headEnd/>
            <a:tailEnd/>
          </a:ln>
        </p:spPr>
        <p:txBody>
          <a:bodyPr wrap="none" lIns="130046" tIns="65023" rIns="130046" bIns="65023" anchor="ctr"/>
          <a:lstStyle/>
          <a:p>
            <a:pPr defTabSz="1300163"/>
            <a:r>
              <a:rPr lang="pt-BR">
                <a:solidFill>
                  <a:srgbClr val="40232B"/>
                </a:solidFill>
                <a:latin typeface="Arial" pitchFamily="34" charset="0"/>
                <a:ea typeface="ヒラギノ角ゴ Pro W3"/>
                <a:cs typeface="ヒラギノ角ゴ Pro W3"/>
              </a:rPr>
              <a:t>2</a:t>
            </a:r>
            <a:endParaRPr lang="en-US">
              <a:solidFill>
                <a:srgbClr val="40232B"/>
              </a:solidFill>
              <a:latin typeface="Arial" pitchFamily="34" charset="0"/>
              <a:ea typeface="ヒラギノ角ゴ Pro W3"/>
              <a:cs typeface="ヒラギノ角ゴ Pro W3"/>
            </a:endParaRPr>
          </a:p>
        </p:txBody>
      </p:sp>
      <p:sp>
        <p:nvSpPr>
          <p:cNvPr id="65552" name="Rectangle 18"/>
          <p:cNvSpPr>
            <a:spLocks noChangeArrowheads="1"/>
          </p:cNvSpPr>
          <p:nvPr/>
        </p:nvSpPr>
        <p:spPr bwMode="auto">
          <a:xfrm>
            <a:off x="10244138" y="7237413"/>
            <a:ext cx="2505075" cy="874712"/>
          </a:xfrm>
          <a:prstGeom prst="rect">
            <a:avLst/>
          </a:prstGeom>
          <a:solidFill>
            <a:schemeClr val="accent4">
              <a:lumMod val="75000"/>
              <a:lumOff val="25000"/>
              <a:alpha val="50195"/>
            </a:schemeClr>
          </a:solidFill>
          <a:ln w="9525">
            <a:noFill/>
            <a:miter lim="800000"/>
            <a:headEnd/>
            <a:tailEnd/>
          </a:ln>
        </p:spPr>
        <p:txBody>
          <a:bodyPr wrap="none" lIns="130046" tIns="65023" rIns="130046" bIns="65023" anchor="ctr"/>
          <a:lstStyle/>
          <a:p>
            <a:pPr defTabSz="1300163"/>
            <a:r>
              <a:rPr lang="pt-BR">
                <a:solidFill>
                  <a:srgbClr val="40232B"/>
                </a:solidFill>
                <a:latin typeface="Arial" pitchFamily="34" charset="0"/>
                <a:ea typeface="ヒラギノ角ゴ Pro W3"/>
                <a:cs typeface="ヒラギノ角ゴ Pro W3"/>
              </a:rPr>
              <a:t>3</a:t>
            </a:r>
            <a:endParaRPr lang="en-US">
              <a:solidFill>
                <a:srgbClr val="40232B"/>
              </a:solidFill>
              <a:latin typeface="Arial" pitchFamily="34" charset="0"/>
              <a:ea typeface="ヒラギノ角ゴ Pro W3"/>
              <a:cs typeface="ヒラギノ角ゴ Pro W3"/>
            </a:endParaRPr>
          </a:p>
        </p:txBody>
      </p:sp>
      <p:pic>
        <p:nvPicPr>
          <p:cNvPr id="65553" name="Picture 19"/>
          <p:cNvPicPr>
            <a:picLocks noChangeAspect="1" noChangeArrowheads="1"/>
          </p:cNvPicPr>
          <p:nvPr/>
        </p:nvPicPr>
        <p:blipFill>
          <a:blip r:embed="rId4" cstate="print">
            <a:lum bright="30000"/>
            <a:grayscl/>
          </a:blip>
          <a:srcRect t="10434" r="10457"/>
          <a:stretch>
            <a:fillRect/>
          </a:stretch>
        </p:blipFill>
        <p:spPr bwMode="auto">
          <a:xfrm>
            <a:off x="6394450" y="5170488"/>
            <a:ext cx="2774950" cy="278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5554" name="AutoShape 20"/>
          <p:cNvSpPr>
            <a:spLocks noChangeArrowheads="1"/>
          </p:cNvSpPr>
          <p:nvPr/>
        </p:nvSpPr>
        <p:spPr bwMode="auto">
          <a:xfrm>
            <a:off x="7500938" y="5564188"/>
            <a:ext cx="409575" cy="411162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260" y="10800"/>
                </a:moveTo>
                <a:cubicBezTo>
                  <a:pt x="3260" y="14964"/>
                  <a:pt x="6636" y="18340"/>
                  <a:pt x="10800" y="18340"/>
                </a:cubicBezTo>
                <a:cubicBezTo>
                  <a:pt x="14964" y="18340"/>
                  <a:pt x="18340" y="14964"/>
                  <a:pt x="18340" y="10800"/>
                </a:cubicBezTo>
                <a:cubicBezTo>
                  <a:pt x="18340" y="6636"/>
                  <a:pt x="14964" y="3260"/>
                  <a:pt x="10800" y="3260"/>
                </a:cubicBezTo>
                <a:cubicBezTo>
                  <a:pt x="6636" y="3260"/>
                  <a:pt x="3260" y="6636"/>
                  <a:pt x="3260" y="10800"/>
                </a:cubicBezTo>
                <a:close/>
              </a:path>
            </a:pathLst>
          </a:custGeom>
          <a:solidFill>
            <a:schemeClr val="accent4">
              <a:lumMod val="75000"/>
              <a:lumOff val="25000"/>
            </a:schemeClr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55" name="AutoShape 21"/>
          <p:cNvSpPr>
            <a:spLocks noChangeArrowheads="1"/>
          </p:cNvSpPr>
          <p:nvPr/>
        </p:nvSpPr>
        <p:spPr bwMode="auto">
          <a:xfrm>
            <a:off x="6605588" y="5413375"/>
            <a:ext cx="411162" cy="409575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260" y="10800"/>
                </a:moveTo>
                <a:cubicBezTo>
                  <a:pt x="3260" y="14964"/>
                  <a:pt x="6636" y="18340"/>
                  <a:pt x="10800" y="18340"/>
                </a:cubicBezTo>
                <a:cubicBezTo>
                  <a:pt x="14964" y="18340"/>
                  <a:pt x="18340" y="14964"/>
                  <a:pt x="18340" y="10800"/>
                </a:cubicBezTo>
                <a:cubicBezTo>
                  <a:pt x="18340" y="6636"/>
                  <a:pt x="14964" y="3260"/>
                  <a:pt x="10800" y="3260"/>
                </a:cubicBezTo>
                <a:cubicBezTo>
                  <a:pt x="6636" y="3260"/>
                  <a:pt x="3260" y="6636"/>
                  <a:pt x="3260" y="10800"/>
                </a:cubicBezTo>
                <a:close/>
              </a:path>
            </a:pathLst>
          </a:custGeom>
          <a:solidFill>
            <a:schemeClr val="accent4">
              <a:lumMod val="75000"/>
              <a:lumOff val="25000"/>
            </a:schemeClr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56" name="AutoShape 22"/>
          <p:cNvSpPr>
            <a:spLocks noChangeArrowheads="1"/>
          </p:cNvSpPr>
          <p:nvPr/>
        </p:nvSpPr>
        <p:spPr bwMode="auto">
          <a:xfrm>
            <a:off x="6913563" y="5719763"/>
            <a:ext cx="411162" cy="411162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260" y="10800"/>
                </a:moveTo>
                <a:cubicBezTo>
                  <a:pt x="3260" y="14964"/>
                  <a:pt x="6636" y="18340"/>
                  <a:pt x="10800" y="18340"/>
                </a:cubicBezTo>
                <a:cubicBezTo>
                  <a:pt x="14964" y="18340"/>
                  <a:pt x="18340" y="14964"/>
                  <a:pt x="18340" y="10800"/>
                </a:cubicBezTo>
                <a:cubicBezTo>
                  <a:pt x="18340" y="6636"/>
                  <a:pt x="14964" y="3260"/>
                  <a:pt x="10800" y="3260"/>
                </a:cubicBezTo>
                <a:cubicBezTo>
                  <a:pt x="6636" y="3260"/>
                  <a:pt x="3260" y="6636"/>
                  <a:pt x="3260" y="10800"/>
                </a:cubicBezTo>
                <a:close/>
              </a:path>
            </a:pathLst>
          </a:custGeom>
          <a:solidFill>
            <a:schemeClr val="hlink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57" name="AutoShape 23"/>
          <p:cNvSpPr>
            <a:spLocks noChangeArrowheads="1"/>
          </p:cNvSpPr>
          <p:nvPr/>
        </p:nvSpPr>
        <p:spPr bwMode="auto">
          <a:xfrm>
            <a:off x="6502400" y="6088063"/>
            <a:ext cx="411163" cy="411162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260" y="10800"/>
                </a:moveTo>
                <a:cubicBezTo>
                  <a:pt x="3260" y="14964"/>
                  <a:pt x="6636" y="18340"/>
                  <a:pt x="10800" y="18340"/>
                </a:cubicBezTo>
                <a:cubicBezTo>
                  <a:pt x="14964" y="18340"/>
                  <a:pt x="18340" y="14964"/>
                  <a:pt x="18340" y="10800"/>
                </a:cubicBezTo>
                <a:cubicBezTo>
                  <a:pt x="18340" y="6636"/>
                  <a:pt x="14964" y="3260"/>
                  <a:pt x="10800" y="3260"/>
                </a:cubicBezTo>
                <a:cubicBezTo>
                  <a:pt x="6636" y="3260"/>
                  <a:pt x="3260" y="6636"/>
                  <a:pt x="3260" y="10800"/>
                </a:cubicBezTo>
                <a:close/>
              </a:path>
            </a:pathLst>
          </a:custGeom>
          <a:solidFill>
            <a:schemeClr val="hlink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58" name="AutoShape 24"/>
          <p:cNvSpPr>
            <a:spLocks noChangeArrowheads="1"/>
          </p:cNvSpPr>
          <p:nvPr/>
        </p:nvSpPr>
        <p:spPr bwMode="auto">
          <a:xfrm>
            <a:off x="6400800" y="6816725"/>
            <a:ext cx="411163" cy="4111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260" y="10800"/>
                </a:moveTo>
                <a:cubicBezTo>
                  <a:pt x="3260" y="14964"/>
                  <a:pt x="6636" y="18340"/>
                  <a:pt x="10800" y="18340"/>
                </a:cubicBezTo>
                <a:cubicBezTo>
                  <a:pt x="14964" y="18340"/>
                  <a:pt x="18340" y="14964"/>
                  <a:pt x="18340" y="10800"/>
                </a:cubicBezTo>
                <a:cubicBezTo>
                  <a:pt x="18340" y="6636"/>
                  <a:pt x="14964" y="3260"/>
                  <a:pt x="10800" y="3260"/>
                </a:cubicBezTo>
                <a:cubicBezTo>
                  <a:pt x="6636" y="3260"/>
                  <a:pt x="3260" y="6636"/>
                  <a:pt x="3260" y="10800"/>
                </a:cubicBezTo>
                <a:close/>
              </a:path>
            </a:pathLst>
          </a:custGeom>
          <a:solidFill>
            <a:schemeClr val="accent4">
              <a:lumMod val="75000"/>
              <a:lumOff val="25000"/>
            </a:schemeClr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59" name="AutoShape 25"/>
          <p:cNvSpPr>
            <a:spLocks noChangeArrowheads="1"/>
          </p:cNvSpPr>
          <p:nvPr/>
        </p:nvSpPr>
        <p:spPr bwMode="auto">
          <a:xfrm>
            <a:off x="7016750" y="6713538"/>
            <a:ext cx="411163" cy="411162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260" y="10800"/>
                </a:moveTo>
                <a:cubicBezTo>
                  <a:pt x="3260" y="14964"/>
                  <a:pt x="6636" y="18340"/>
                  <a:pt x="10800" y="18340"/>
                </a:cubicBezTo>
                <a:cubicBezTo>
                  <a:pt x="14964" y="18340"/>
                  <a:pt x="18340" y="14964"/>
                  <a:pt x="18340" y="10800"/>
                </a:cubicBezTo>
                <a:cubicBezTo>
                  <a:pt x="18340" y="6636"/>
                  <a:pt x="14964" y="3260"/>
                  <a:pt x="10800" y="3260"/>
                </a:cubicBezTo>
                <a:cubicBezTo>
                  <a:pt x="6636" y="3260"/>
                  <a:pt x="3260" y="6636"/>
                  <a:pt x="3260" y="10800"/>
                </a:cubicBezTo>
                <a:close/>
              </a:path>
            </a:pathLst>
          </a:custGeom>
          <a:solidFill>
            <a:schemeClr val="accent2">
              <a:alpha val="70195"/>
            </a:schemeClr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60" name="AutoShape 26"/>
          <p:cNvSpPr>
            <a:spLocks noChangeArrowheads="1"/>
          </p:cNvSpPr>
          <p:nvPr/>
        </p:nvSpPr>
        <p:spPr bwMode="auto">
          <a:xfrm>
            <a:off x="7910513" y="6611938"/>
            <a:ext cx="411162" cy="411162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260" y="10800"/>
                </a:moveTo>
                <a:cubicBezTo>
                  <a:pt x="3260" y="14964"/>
                  <a:pt x="6636" y="18340"/>
                  <a:pt x="10800" y="18340"/>
                </a:cubicBezTo>
                <a:cubicBezTo>
                  <a:pt x="14964" y="18340"/>
                  <a:pt x="18340" y="14964"/>
                  <a:pt x="18340" y="10800"/>
                </a:cubicBezTo>
                <a:cubicBezTo>
                  <a:pt x="18340" y="6636"/>
                  <a:pt x="14964" y="3260"/>
                  <a:pt x="10800" y="3260"/>
                </a:cubicBezTo>
                <a:cubicBezTo>
                  <a:pt x="6636" y="3260"/>
                  <a:pt x="3260" y="6636"/>
                  <a:pt x="3260" y="10800"/>
                </a:cubicBezTo>
                <a:close/>
              </a:path>
            </a:pathLst>
          </a:custGeom>
          <a:solidFill>
            <a:schemeClr val="accent4">
              <a:lumMod val="75000"/>
              <a:lumOff val="25000"/>
            </a:schemeClr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61" name="AutoShape 27"/>
          <p:cNvSpPr>
            <a:spLocks noChangeArrowheads="1"/>
          </p:cNvSpPr>
          <p:nvPr/>
        </p:nvSpPr>
        <p:spPr bwMode="auto">
          <a:xfrm>
            <a:off x="8204200" y="5761038"/>
            <a:ext cx="411163" cy="409575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260" y="10800"/>
                </a:moveTo>
                <a:cubicBezTo>
                  <a:pt x="3260" y="14964"/>
                  <a:pt x="6636" y="18340"/>
                  <a:pt x="10800" y="18340"/>
                </a:cubicBezTo>
                <a:cubicBezTo>
                  <a:pt x="14964" y="18340"/>
                  <a:pt x="18340" y="14964"/>
                  <a:pt x="18340" y="10800"/>
                </a:cubicBezTo>
                <a:cubicBezTo>
                  <a:pt x="18340" y="6636"/>
                  <a:pt x="14964" y="3260"/>
                  <a:pt x="10800" y="3260"/>
                </a:cubicBezTo>
                <a:cubicBezTo>
                  <a:pt x="6636" y="3260"/>
                  <a:pt x="3260" y="6636"/>
                  <a:pt x="3260" y="10800"/>
                </a:cubicBezTo>
                <a:close/>
              </a:path>
            </a:pathLst>
          </a:custGeom>
          <a:solidFill>
            <a:schemeClr val="hlink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62" name="AutoShape 28"/>
          <p:cNvSpPr>
            <a:spLocks noChangeArrowheads="1"/>
          </p:cNvSpPr>
          <p:nvPr/>
        </p:nvSpPr>
        <p:spPr bwMode="auto">
          <a:xfrm>
            <a:off x="8321675" y="5211763"/>
            <a:ext cx="411163" cy="411162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260" y="10800"/>
                </a:moveTo>
                <a:cubicBezTo>
                  <a:pt x="3260" y="14964"/>
                  <a:pt x="6636" y="18340"/>
                  <a:pt x="10800" y="18340"/>
                </a:cubicBezTo>
                <a:cubicBezTo>
                  <a:pt x="14964" y="18340"/>
                  <a:pt x="18340" y="14964"/>
                  <a:pt x="18340" y="10800"/>
                </a:cubicBezTo>
                <a:cubicBezTo>
                  <a:pt x="18340" y="6636"/>
                  <a:pt x="14964" y="3260"/>
                  <a:pt x="10800" y="3260"/>
                </a:cubicBezTo>
                <a:cubicBezTo>
                  <a:pt x="6636" y="3260"/>
                  <a:pt x="3260" y="6636"/>
                  <a:pt x="3260" y="10800"/>
                </a:cubicBezTo>
                <a:close/>
              </a:path>
            </a:pathLst>
          </a:custGeom>
          <a:solidFill>
            <a:schemeClr val="accent2">
              <a:alpha val="70195"/>
            </a:schemeClr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63" name="AutoShape 29"/>
          <p:cNvSpPr>
            <a:spLocks noChangeArrowheads="1"/>
          </p:cNvSpPr>
          <p:nvPr/>
        </p:nvSpPr>
        <p:spPr bwMode="auto">
          <a:xfrm>
            <a:off x="7324725" y="6237288"/>
            <a:ext cx="411163" cy="409575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260" y="10800"/>
                </a:moveTo>
                <a:cubicBezTo>
                  <a:pt x="3260" y="14964"/>
                  <a:pt x="6636" y="18340"/>
                  <a:pt x="10800" y="18340"/>
                </a:cubicBezTo>
                <a:cubicBezTo>
                  <a:pt x="14964" y="18340"/>
                  <a:pt x="18340" y="14964"/>
                  <a:pt x="18340" y="10800"/>
                </a:cubicBezTo>
                <a:cubicBezTo>
                  <a:pt x="18340" y="6636"/>
                  <a:pt x="14964" y="3260"/>
                  <a:pt x="10800" y="3260"/>
                </a:cubicBezTo>
                <a:cubicBezTo>
                  <a:pt x="6636" y="3260"/>
                  <a:pt x="3260" y="6636"/>
                  <a:pt x="3260" y="10800"/>
                </a:cubicBezTo>
                <a:close/>
              </a:path>
            </a:pathLst>
          </a:custGeom>
          <a:solidFill>
            <a:schemeClr val="hlink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64" name="AutoShape 30"/>
          <p:cNvSpPr>
            <a:spLocks noChangeArrowheads="1"/>
          </p:cNvSpPr>
          <p:nvPr/>
        </p:nvSpPr>
        <p:spPr bwMode="auto">
          <a:xfrm>
            <a:off x="7735888" y="5924550"/>
            <a:ext cx="409575" cy="4111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260" y="10800"/>
                </a:moveTo>
                <a:cubicBezTo>
                  <a:pt x="3260" y="14964"/>
                  <a:pt x="6636" y="18340"/>
                  <a:pt x="10800" y="18340"/>
                </a:cubicBezTo>
                <a:cubicBezTo>
                  <a:pt x="14964" y="18340"/>
                  <a:pt x="18340" y="14964"/>
                  <a:pt x="18340" y="10800"/>
                </a:cubicBezTo>
                <a:cubicBezTo>
                  <a:pt x="18340" y="6636"/>
                  <a:pt x="14964" y="3260"/>
                  <a:pt x="10800" y="3260"/>
                </a:cubicBezTo>
                <a:cubicBezTo>
                  <a:pt x="6636" y="3260"/>
                  <a:pt x="3260" y="6636"/>
                  <a:pt x="3260" y="10800"/>
                </a:cubicBezTo>
                <a:close/>
              </a:path>
            </a:pathLst>
          </a:custGeom>
          <a:solidFill>
            <a:schemeClr val="accent2">
              <a:alpha val="70195"/>
            </a:schemeClr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65" name="AutoShape 31"/>
          <p:cNvSpPr>
            <a:spLocks noChangeArrowheads="1"/>
          </p:cNvSpPr>
          <p:nvPr/>
        </p:nvSpPr>
        <p:spPr bwMode="auto">
          <a:xfrm>
            <a:off x="8528050" y="6302375"/>
            <a:ext cx="411163" cy="4111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260" y="10800"/>
                </a:moveTo>
                <a:cubicBezTo>
                  <a:pt x="3260" y="14964"/>
                  <a:pt x="6636" y="18340"/>
                  <a:pt x="10800" y="18340"/>
                </a:cubicBezTo>
                <a:cubicBezTo>
                  <a:pt x="14964" y="18340"/>
                  <a:pt x="18340" y="14964"/>
                  <a:pt x="18340" y="10800"/>
                </a:cubicBezTo>
                <a:cubicBezTo>
                  <a:pt x="18340" y="6636"/>
                  <a:pt x="14964" y="3260"/>
                  <a:pt x="10800" y="3260"/>
                </a:cubicBezTo>
                <a:cubicBezTo>
                  <a:pt x="6636" y="3260"/>
                  <a:pt x="3260" y="6636"/>
                  <a:pt x="3260" y="10800"/>
                </a:cubicBezTo>
                <a:close/>
              </a:path>
            </a:pathLst>
          </a:custGeom>
          <a:solidFill>
            <a:schemeClr val="hlink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66" name="AutoShape 32"/>
          <p:cNvSpPr>
            <a:spLocks noChangeArrowheads="1"/>
          </p:cNvSpPr>
          <p:nvPr/>
        </p:nvSpPr>
        <p:spPr bwMode="auto">
          <a:xfrm>
            <a:off x="8732838" y="5618163"/>
            <a:ext cx="411162" cy="411162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260" y="10800"/>
                </a:moveTo>
                <a:cubicBezTo>
                  <a:pt x="3260" y="14964"/>
                  <a:pt x="6636" y="18340"/>
                  <a:pt x="10800" y="18340"/>
                </a:cubicBezTo>
                <a:cubicBezTo>
                  <a:pt x="14964" y="18340"/>
                  <a:pt x="18340" y="14964"/>
                  <a:pt x="18340" y="10800"/>
                </a:cubicBezTo>
                <a:cubicBezTo>
                  <a:pt x="18340" y="6636"/>
                  <a:pt x="14964" y="3260"/>
                  <a:pt x="10800" y="3260"/>
                </a:cubicBezTo>
                <a:cubicBezTo>
                  <a:pt x="6636" y="3260"/>
                  <a:pt x="3260" y="6636"/>
                  <a:pt x="3260" y="10800"/>
                </a:cubicBezTo>
                <a:close/>
              </a:path>
            </a:pathLst>
          </a:custGeom>
          <a:solidFill>
            <a:schemeClr val="accent4">
              <a:lumMod val="75000"/>
              <a:lumOff val="25000"/>
            </a:schemeClr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67" name="AutoShape 33"/>
          <p:cNvSpPr>
            <a:spLocks noChangeArrowheads="1"/>
          </p:cNvSpPr>
          <p:nvPr/>
        </p:nvSpPr>
        <p:spPr bwMode="auto">
          <a:xfrm>
            <a:off x="7848600" y="5302250"/>
            <a:ext cx="409575" cy="4111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260" y="10800"/>
                </a:moveTo>
                <a:cubicBezTo>
                  <a:pt x="3260" y="14964"/>
                  <a:pt x="6636" y="18340"/>
                  <a:pt x="10800" y="18340"/>
                </a:cubicBezTo>
                <a:cubicBezTo>
                  <a:pt x="14964" y="18340"/>
                  <a:pt x="18340" y="14964"/>
                  <a:pt x="18340" y="10800"/>
                </a:cubicBezTo>
                <a:cubicBezTo>
                  <a:pt x="18340" y="6636"/>
                  <a:pt x="14964" y="3260"/>
                  <a:pt x="10800" y="3260"/>
                </a:cubicBezTo>
                <a:cubicBezTo>
                  <a:pt x="6636" y="3260"/>
                  <a:pt x="3260" y="6636"/>
                  <a:pt x="3260" y="10800"/>
                </a:cubicBezTo>
                <a:close/>
              </a:path>
            </a:pathLst>
          </a:custGeom>
          <a:solidFill>
            <a:schemeClr val="accent4">
              <a:lumMod val="75000"/>
              <a:lumOff val="25000"/>
            </a:schemeClr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68" name="AutoShape 34"/>
          <p:cNvSpPr>
            <a:spLocks noChangeArrowheads="1"/>
          </p:cNvSpPr>
          <p:nvPr/>
        </p:nvSpPr>
        <p:spPr bwMode="auto">
          <a:xfrm>
            <a:off x="7427913" y="6848475"/>
            <a:ext cx="411162" cy="4111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260" y="10800"/>
                </a:moveTo>
                <a:cubicBezTo>
                  <a:pt x="3260" y="14964"/>
                  <a:pt x="6636" y="18340"/>
                  <a:pt x="10800" y="18340"/>
                </a:cubicBezTo>
                <a:cubicBezTo>
                  <a:pt x="14964" y="18340"/>
                  <a:pt x="18340" y="14964"/>
                  <a:pt x="18340" y="10800"/>
                </a:cubicBezTo>
                <a:cubicBezTo>
                  <a:pt x="18340" y="6636"/>
                  <a:pt x="14964" y="3260"/>
                  <a:pt x="10800" y="3260"/>
                </a:cubicBezTo>
                <a:cubicBezTo>
                  <a:pt x="6636" y="3260"/>
                  <a:pt x="3260" y="6636"/>
                  <a:pt x="3260" y="10800"/>
                </a:cubicBezTo>
                <a:close/>
              </a:path>
            </a:pathLst>
          </a:custGeom>
          <a:solidFill>
            <a:schemeClr val="hlink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69" name="AutoShape 35"/>
          <p:cNvSpPr>
            <a:spLocks noChangeArrowheads="1"/>
          </p:cNvSpPr>
          <p:nvPr/>
        </p:nvSpPr>
        <p:spPr bwMode="auto">
          <a:xfrm>
            <a:off x="7735888" y="7361238"/>
            <a:ext cx="409575" cy="411162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260" y="10800"/>
                </a:moveTo>
                <a:cubicBezTo>
                  <a:pt x="3260" y="14964"/>
                  <a:pt x="6636" y="18340"/>
                  <a:pt x="10800" y="18340"/>
                </a:cubicBezTo>
                <a:cubicBezTo>
                  <a:pt x="14964" y="18340"/>
                  <a:pt x="18340" y="14964"/>
                  <a:pt x="18340" y="10800"/>
                </a:cubicBezTo>
                <a:cubicBezTo>
                  <a:pt x="18340" y="6636"/>
                  <a:pt x="14964" y="3260"/>
                  <a:pt x="10800" y="3260"/>
                </a:cubicBezTo>
                <a:cubicBezTo>
                  <a:pt x="6636" y="3260"/>
                  <a:pt x="3260" y="6636"/>
                  <a:pt x="3260" y="10800"/>
                </a:cubicBezTo>
                <a:close/>
              </a:path>
            </a:pathLst>
          </a:custGeom>
          <a:solidFill>
            <a:schemeClr val="accent2">
              <a:alpha val="70195"/>
            </a:schemeClr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70" name="AutoShape 36"/>
          <p:cNvSpPr>
            <a:spLocks noChangeArrowheads="1"/>
          </p:cNvSpPr>
          <p:nvPr/>
        </p:nvSpPr>
        <p:spPr bwMode="auto">
          <a:xfrm>
            <a:off x="8204200" y="7462838"/>
            <a:ext cx="411163" cy="411162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260" y="10800"/>
                </a:moveTo>
                <a:cubicBezTo>
                  <a:pt x="3260" y="14964"/>
                  <a:pt x="6636" y="18340"/>
                  <a:pt x="10800" y="18340"/>
                </a:cubicBezTo>
                <a:cubicBezTo>
                  <a:pt x="14964" y="18340"/>
                  <a:pt x="18340" y="14964"/>
                  <a:pt x="18340" y="10800"/>
                </a:cubicBezTo>
                <a:cubicBezTo>
                  <a:pt x="18340" y="6636"/>
                  <a:pt x="14964" y="3260"/>
                  <a:pt x="10800" y="3260"/>
                </a:cubicBezTo>
                <a:cubicBezTo>
                  <a:pt x="6636" y="3260"/>
                  <a:pt x="3260" y="6636"/>
                  <a:pt x="3260" y="10800"/>
                </a:cubicBezTo>
                <a:close/>
              </a:path>
            </a:pathLst>
          </a:custGeom>
          <a:solidFill>
            <a:schemeClr val="accent4">
              <a:lumMod val="75000"/>
              <a:lumOff val="25000"/>
            </a:schemeClr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71" name="AutoShape 37"/>
          <p:cNvSpPr>
            <a:spLocks noChangeArrowheads="1"/>
          </p:cNvSpPr>
          <p:nvPr/>
        </p:nvSpPr>
        <p:spPr bwMode="auto">
          <a:xfrm>
            <a:off x="8732838" y="7361238"/>
            <a:ext cx="411162" cy="411162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260" y="10800"/>
                </a:moveTo>
                <a:cubicBezTo>
                  <a:pt x="3260" y="14964"/>
                  <a:pt x="6636" y="18340"/>
                  <a:pt x="10800" y="18340"/>
                </a:cubicBezTo>
                <a:cubicBezTo>
                  <a:pt x="14964" y="18340"/>
                  <a:pt x="18340" y="14964"/>
                  <a:pt x="18340" y="10800"/>
                </a:cubicBezTo>
                <a:cubicBezTo>
                  <a:pt x="18340" y="6636"/>
                  <a:pt x="14964" y="3260"/>
                  <a:pt x="10800" y="3260"/>
                </a:cubicBezTo>
                <a:cubicBezTo>
                  <a:pt x="6636" y="3260"/>
                  <a:pt x="3260" y="6636"/>
                  <a:pt x="3260" y="10800"/>
                </a:cubicBezTo>
                <a:close/>
              </a:path>
            </a:pathLst>
          </a:custGeom>
          <a:solidFill>
            <a:schemeClr val="accent4">
              <a:lumMod val="75000"/>
              <a:lumOff val="25000"/>
            </a:schemeClr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72" name="AutoShape 38"/>
          <p:cNvSpPr>
            <a:spLocks noChangeArrowheads="1"/>
          </p:cNvSpPr>
          <p:nvPr/>
        </p:nvSpPr>
        <p:spPr bwMode="auto">
          <a:xfrm>
            <a:off x="8528050" y="6816725"/>
            <a:ext cx="411163" cy="4111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260" y="10800"/>
                </a:moveTo>
                <a:cubicBezTo>
                  <a:pt x="3260" y="14964"/>
                  <a:pt x="6636" y="18340"/>
                  <a:pt x="10800" y="18340"/>
                </a:cubicBezTo>
                <a:cubicBezTo>
                  <a:pt x="14964" y="18340"/>
                  <a:pt x="18340" y="14964"/>
                  <a:pt x="18340" y="10800"/>
                </a:cubicBezTo>
                <a:cubicBezTo>
                  <a:pt x="18340" y="6636"/>
                  <a:pt x="14964" y="3260"/>
                  <a:pt x="10800" y="3260"/>
                </a:cubicBezTo>
                <a:cubicBezTo>
                  <a:pt x="6636" y="3260"/>
                  <a:pt x="3260" y="6636"/>
                  <a:pt x="3260" y="10800"/>
                </a:cubicBezTo>
                <a:close/>
              </a:path>
            </a:pathLst>
          </a:custGeom>
          <a:solidFill>
            <a:schemeClr val="hlink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73" name="AutoShape 39"/>
          <p:cNvSpPr>
            <a:spLocks noChangeArrowheads="1"/>
          </p:cNvSpPr>
          <p:nvPr/>
        </p:nvSpPr>
        <p:spPr bwMode="auto">
          <a:xfrm>
            <a:off x="6811963" y="7462838"/>
            <a:ext cx="411162" cy="411162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260" y="10800"/>
                </a:moveTo>
                <a:cubicBezTo>
                  <a:pt x="3260" y="14964"/>
                  <a:pt x="6636" y="18340"/>
                  <a:pt x="10800" y="18340"/>
                </a:cubicBezTo>
                <a:cubicBezTo>
                  <a:pt x="14964" y="18340"/>
                  <a:pt x="18340" y="14964"/>
                  <a:pt x="18340" y="10800"/>
                </a:cubicBezTo>
                <a:cubicBezTo>
                  <a:pt x="18340" y="6636"/>
                  <a:pt x="14964" y="3260"/>
                  <a:pt x="10800" y="3260"/>
                </a:cubicBezTo>
                <a:cubicBezTo>
                  <a:pt x="6636" y="3260"/>
                  <a:pt x="3260" y="6636"/>
                  <a:pt x="3260" y="10800"/>
                </a:cubicBezTo>
                <a:close/>
              </a:path>
            </a:pathLst>
          </a:custGeom>
          <a:solidFill>
            <a:schemeClr val="accent2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74" name="AutoShape 40"/>
          <p:cNvSpPr>
            <a:spLocks noChangeArrowheads="1"/>
          </p:cNvSpPr>
          <p:nvPr/>
        </p:nvSpPr>
        <p:spPr bwMode="auto">
          <a:xfrm>
            <a:off x="7294563" y="7564438"/>
            <a:ext cx="411162" cy="411162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260" y="10800"/>
                </a:moveTo>
                <a:cubicBezTo>
                  <a:pt x="3260" y="14964"/>
                  <a:pt x="6636" y="18340"/>
                  <a:pt x="10800" y="18340"/>
                </a:cubicBezTo>
                <a:cubicBezTo>
                  <a:pt x="14964" y="18340"/>
                  <a:pt x="18340" y="14964"/>
                  <a:pt x="18340" y="10800"/>
                </a:cubicBezTo>
                <a:cubicBezTo>
                  <a:pt x="18340" y="6636"/>
                  <a:pt x="14964" y="3260"/>
                  <a:pt x="10800" y="3260"/>
                </a:cubicBezTo>
                <a:cubicBezTo>
                  <a:pt x="6636" y="3260"/>
                  <a:pt x="3260" y="6636"/>
                  <a:pt x="3260" y="10800"/>
                </a:cubicBezTo>
                <a:close/>
              </a:path>
            </a:pathLst>
          </a:custGeom>
          <a:solidFill>
            <a:schemeClr val="accent2">
              <a:alpha val="70195"/>
            </a:schemeClr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75" name="AutoShape 41"/>
          <p:cNvSpPr>
            <a:spLocks noChangeArrowheads="1"/>
          </p:cNvSpPr>
          <p:nvPr/>
        </p:nvSpPr>
        <p:spPr bwMode="auto">
          <a:xfrm>
            <a:off x="6935788" y="6119813"/>
            <a:ext cx="411162" cy="411162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260" y="10800"/>
                </a:moveTo>
                <a:cubicBezTo>
                  <a:pt x="3260" y="14964"/>
                  <a:pt x="6636" y="18340"/>
                  <a:pt x="10800" y="18340"/>
                </a:cubicBezTo>
                <a:cubicBezTo>
                  <a:pt x="14964" y="18340"/>
                  <a:pt x="18340" y="14964"/>
                  <a:pt x="18340" y="10800"/>
                </a:cubicBezTo>
                <a:cubicBezTo>
                  <a:pt x="18340" y="6636"/>
                  <a:pt x="14964" y="3260"/>
                  <a:pt x="10800" y="3260"/>
                </a:cubicBezTo>
                <a:cubicBezTo>
                  <a:pt x="6636" y="3260"/>
                  <a:pt x="3260" y="6636"/>
                  <a:pt x="3260" y="10800"/>
                </a:cubicBezTo>
                <a:close/>
              </a:path>
            </a:pathLst>
          </a:custGeom>
          <a:solidFill>
            <a:schemeClr val="accent4">
              <a:lumMod val="75000"/>
              <a:lumOff val="25000"/>
            </a:schemeClr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76" name="Text Box 42"/>
          <p:cNvSpPr txBox="1">
            <a:spLocks noChangeArrowheads="1"/>
          </p:cNvSpPr>
          <p:nvPr/>
        </p:nvSpPr>
        <p:spPr bwMode="auto">
          <a:xfrm>
            <a:off x="6196013" y="4017963"/>
            <a:ext cx="3173412" cy="1116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30046" tIns="65023" rIns="130046" bIns="65023">
            <a:spAutoFit/>
          </a:bodyPr>
          <a:lstStyle/>
          <a:p>
            <a:pPr algn="ctr" defTabSz="1300163"/>
            <a:r>
              <a:rPr lang="en-US" sz="1600" b="1">
                <a:solidFill>
                  <a:srgbClr val="40232B"/>
                </a:solidFill>
                <a:latin typeface="Arial" pitchFamily="34" charset="0"/>
                <a:ea typeface="ヒラギノ角ゴ Pro W3"/>
                <a:cs typeface="ヒラギノ角ゴ Pro W3"/>
              </a:rPr>
              <a:t>As informações coletadas são usadas para classificar os usuários e suas áreas de interesse</a:t>
            </a:r>
          </a:p>
        </p:txBody>
      </p:sp>
      <p:cxnSp>
        <p:nvCxnSpPr>
          <p:cNvPr id="65577" name="AutoShape 43"/>
          <p:cNvCxnSpPr>
            <a:cxnSpLocks noChangeShapeType="1"/>
            <a:stCxn id="65562" idx="6"/>
            <a:endCxn id="65547" idx="1"/>
          </p:cNvCxnSpPr>
          <p:nvPr/>
        </p:nvCxnSpPr>
        <p:spPr bwMode="auto">
          <a:xfrm>
            <a:off x="8732838" y="5418138"/>
            <a:ext cx="1511300" cy="209550"/>
          </a:xfrm>
          <a:prstGeom prst="curvedConnector3">
            <a:avLst>
              <a:gd name="adj1" fmla="val 49894"/>
            </a:avLst>
          </a:prstGeom>
          <a:noFill/>
          <a:ln w="9525">
            <a:solidFill>
              <a:schemeClr val="accent2"/>
            </a:solidFill>
            <a:round/>
            <a:headEnd/>
            <a:tailEnd/>
          </a:ln>
        </p:spPr>
      </p:cxnSp>
      <p:cxnSp>
        <p:nvCxnSpPr>
          <p:cNvPr id="65578" name="AutoShape 44"/>
          <p:cNvCxnSpPr>
            <a:cxnSpLocks noChangeShapeType="1"/>
            <a:stCxn id="65564" idx="6"/>
            <a:endCxn id="65547" idx="1"/>
          </p:cNvCxnSpPr>
          <p:nvPr/>
        </p:nvCxnSpPr>
        <p:spPr bwMode="auto">
          <a:xfrm flipV="1">
            <a:off x="8145463" y="5627688"/>
            <a:ext cx="2098675" cy="503237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accent2"/>
            </a:solidFill>
            <a:round/>
            <a:headEnd/>
            <a:tailEnd/>
          </a:ln>
        </p:spPr>
      </p:cxnSp>
      <p:cxnSp>
        <p:nvCxnSpPr>
          <p:cNvPr id="65579" name="AutoShape 45"/>
          <p:cNvCxnSpPr>
            <a:cxnSpLocks noChangeShapeType="1"/>
            <a:stCxn id="65559" idx="6"/>
            <a:endCxn id="65547" idx="1"/>
          </p:cNvCxnSpPr>
          <p:nvPr/>
        </p:nvCxnSpPr>
        <p:spPr bwMode="auto">
          <a:xfrm flipV="1">
            <a:off x="7427913" y="5627688"/>
            <a:ext cx="2816225" cy="1292225"/>
          </a:xfrm>
          <a:prstGeom prst="curvedConnector3">
            <a:avLst>
              <a:gd name="adj1" fmla="val 49944"/>
            </a:avLst>
          </a:prstGeom>
          <a:noFill/>
          <a:ln w="9525">
            <a:solidFill>
              <a:schemeClr val="accent2"/>
            </a:solidFill>
            <a:round/>
            <a:headEnd/>
            <a:tailEnd/>
          </a:ln>
        </p:spPr>
      </p:cxnSp>
      <p:cxnSp>
        <p:nvCxnSpPr>
          <p:cNvPr id="65580" name="AutoShape 46"/>
          <p:cNvCxnSpPr>
            <a:cxnSpLocks noChangeShapeType="1"/>
            <a:stCxn id="65573" idx="6"/>
            <a:endCxn id="65547" idx="1"/>
          </p:cNvCxnSpPr>
          <p:nvPr/>
        </p:nvCxnSpPr>
        <p:spPr bwMode="auto">
          <a:xfrm flipV="1">
            <a:off x="7223125" y="5627688"/>
            <a:ext cx="3021013" cy="2041525"/>
          </a:xfrm>
          <a:prstGeom prst="curvedConnector3">
            <a:avLst>
              <a:gd name="adj1" fmla="val 49972"/>
            </a:avLst>
          </a:prstGeom>
          <a:noFill/>
          <a:ln w="9525">
            <a:solidFill>
              <a:schemeClr val="accent2"/>
            </a:solidFill>
            <a:round/>
            <a:headEnd/>
            <a:tailEnd/>
          </a:ln>
        </p:spPr>
      </p:cxnSp>
      <p:cxnSp>
        <p:nvCxnSpPr>
          <p:cNvPr id="65581" name="AutoShape 47"/>
          <p:cNvCxnSpPr>
            <a:cxnSpLocks noChangeShapeType="1"/>
            <a:stCxn id="65574" idx="6"/>
            <a:endCxn id="65547" idx="1"/>
          </p:cNvCxnSpPr>
          <p:nvPr/>
        </p:nvCxnSpPr>
        <p:spPr bwMode="auto">
          <a:xfrm flipV="1">
            <a:off x="7705725" y="5627688"/>
            <a:ext cx="2538413" cy="2143125"/>
          </a:xfrm>
          <a:prstGeom prst="curvedConnector3">
            <a:avLst>
              <a:gd name="adj1" fmla="val 49968"/>
            </a:avLst>
          </a:prstGeom>
          <a:noFill/>
          <a:ln w="9525">
            <a:solidFill>
              <a:schemeClr val="accent2"/>
            </a:solidFill>
            <a:round/>
            <a:headEnd/>
            <a:tailEnd/>
          </a:ln>
        </p:spPr>
      </p:cxnSp>
      <p:cxnSp>
        <p:nvCxnSpPr>
          <p:cNvPr id="65582" name="AutoShape 48"/>
          <p:cNvCxnSpPr>
            <a:cxnSpLocks noChangeShapeType="1"/>
            <a:stCxn id="65569" idx="6"/>
            <a:endCxn id="65547" idx="1"/>
          </p:cNvCxnSpPr>
          <p:nvPr/>
        </p:nvCxnSpPr>
        <p:spPr bwMode="auto">
          <a:xfrm flipV="1">
            <a:off x="8145463" y="5627688"/>
            <a:ext cx="2098675" cy="1939925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accent2"/>
            </a:solidFill>
            <a:round/>
            <a:headEnd/>
            <a:tailEnd/>
          </a:ln>
        </p:spPr>
      </p:cxnSp>
      <p:cxnSp>
        <p:nvCxnSpPr>
          <p:cNvPr id="65583" name="AutoShape 49"/>
          <p:cNvCxnSpPr>
            <a:cxnSpLocks noChangeShapeType="1"/>
            <a:stCxn id="65561" idx="6"/>
            <a:endCxn id="65551" idx="1"/>
          </p:cNvCxnSpPr>
          <p:nvPr/>
        </p:nvCxnSpPr>
        <p:spPr bwMode="auto">
          <a:xfrm>
            <a:off x="8615363" y="5965825"/>
            <a:ext cx="1628775" cy="685800"/>
          </a:xfrm>
          <a:prstGeom prst="curvedConnector3">
            <a:avLst>
              <a:gd name="adj1" fmla="val 49903"/>
            </a:avLst>
          </a:prstGeom>
          <a:noFill/>
          <a:ln w="9525">
            <a:solidFill>
              <a:schemeClr val="hlink"/>
            </a:solidFill>
            <a:round/>
            <a:headEnd/>
            <a:tailEnd/>
          </a:ln>
        </p:spPr>
      </p:cxnSp>
      <p:cxnSp>
        <p:nvCxnSpPr>
          <p:cNvPr id="65584" name="AutoShape 50"/>
          <p:cNvCxnSpPr>
            <a:cxnSpLocks noChangeShapeType="1"/>
            <a:stCxn id="65565" idx="6"/>
            <a:endCxn id="65551" idx="1"/>
          </p:cNvCxnSpPr>
          <p:nvPr/>
        </p:nvCxnSpPr>
        <p:spPr bwMode="auto">
          <a:xfrm>
            <a:off x="8939213" y="6508750"/>
            <a:ext cx="1304925" cy="142875"/>
          </a:xfrm>
          <a:prstGeom prst="curvedConnector3">
            <a:avLst>
              <a:gd name="adj1" fmla="val 49880"/>
            </a:avLst>
          </a:prstGeom>
          <a:noFill/>
          <a:ln w="9525">
            <a:solidFill>
              <a:schemeClr val="hlink"/>
            </a:solidFill>
            <a:round/>
            <a:headEnd/>
            <a:tailEnd/>
          </a:ln>
        </p:spPr>
      </p:cxnSp>
      <p:cxnSp>
        <p:nvCxnSpPr>
          <p:cNvPr id="65585" name="AutoShape 51"/>
          <p:cNvCxnSpPr>
            <a:cxnSpLocks noChangeShapeType="1"/>
            <a:stCxn id="65572" idx="6"/>
            <a:endCxn id="65551" idx="1"/>
          </p:cNvCxnSpPr>
          <p:nvPr/>
        </p:nvCxnSpPr>
        <p:spPr bwMode="auto">
          <a:xfrm flipV="1">
            <a:off x="8939213" y="6651625"/>
            <a:ext cx="1304925" cy="371475"/>
          </a:xfrm>
          <a:prstGeom prst="curvedConnector3">
            <a:avLst>
              <a:gd name="adj1" fmla="val 49880"/>
            </a:avLst>
          </a:prstGeom>
          <a:noFill/>
          <a:ln w="9525">
            <a:solidFill>
              <a:schemeClr val="hlink"/>
            </a:solidFill>
            <a:round/>
            <a:headEnd/>
            <a:tailEnd/>
          </a:ln>
        </p:spPr>
      </p:cxnSp>
      <p:cxnSp>
        <p:nvCxnSpPr>
          <p:cNvPr id="65586" name="AutoShape 52"/>
          <p:cNvCxnSpPr>
            <a:cxnSpLocks noChangeShapeType="1"/>
            <a:stCxn id="65568" idx="6"/>
            <a:endCxn id="65551" idx="1"/>
          </p:cNvCxnSpPr>
          <p:nvPr/>
        </p:nvCxnSpPr>
        <p:spPr bwMode="auto">
          <a:xfrm flipV="1">
            <a:off x="7839075" y="6651625"/>
            <a:ext cx="2405063" cy="403225"/>
          </a:xfrm>
          <a:prstGeom prst="curvedConnector3">
            <a:avLst>
              <a:gd name="adj1" fmla="val 49968"/>
            </a:avLst>
          </a:prstGeom>
          <a:noFill/>
          <a:ln w="9525">
            <a:solidFill>
              <a:schemeClr val="hlink"/>
            </a:solidFill>
            <a:round/>
            <a:headEnd/>
            <a:tailEnd/>
          </a:ln>
        </p:spPr>
      </p:cxnSp>
      <p:cxnSp>
        <p:nvCxnSpPr>
          <p:cNvPr id="65587" name="AutoShape 53"/>
          <p:cNvCxnSpPr>
            <a:cxnSpLocks noChangeShapeType="1"/>
            <a:stCxn id="65563" idx="6"/>
            <a:endCxn id="65551" idx="1"/>
          </p:cNvCxnSpPr>
          <p:nvPr/>
        </p:nvCxnSpPr>
        <p:spPr bwMode="auto">
          <a:xfrm>
            <a:off x="7735888" y="6442075"/>
            <a:ext cx="2508250" cy="209550"/>
          </a:xfrm>
          <a:prstGeom prst="curvedConnector3">
            <a:avLst>
              <a:gd name="adj1" fmla="val 49935"/>
            </a:avLst>
          </a:prstGeom>
          <a:noFill/>
          <a:ln w="9525">
            <a:solidFill>
              <a:schemeClr val="hlink"/>
            </a:solidFill>
            <a:round/>
            <a:headEnd/>
            <a:tailEnd/>
          </a:ln>
        </p:spPr>
      </p:cxnSp>
      <p:cxnSp>
        <p:nvCxnSpPr>
          <p:cNvPr id="65588" name="AutoShape 54"/>
          <p:cNvCxnSpPr>
            <a:cxnSpLocks noChangeShapeType="1"/>
            <a:stCxn id="65556" idx="6"/>
            <a:endCxn id="65551" idx="1"/>
          </p:cNvCxnSpPr>
          <p:nvPr/>
        </p:nvCxnSpPr>
        <p:spPr bwMode="auto">
          <a:xfrm>
            <a:off x="7324725" y="5926138"/>
            <a:ext cx="2919413" cy="725487"/>
          </a:xfrm>
          <a:prstGeom prst="curvedConnector3">
            <a:avLst>
              <a:gd name="adj1" fmla="val 49972"/>
            </a:avLst>
          </a:prstGeom>
          <a:noFill/>
          <a:ln w="9525">
            <a:solidFill>
              <a:schemeClr val="hlink"/>
            </a:solidFill>
            <a:round/>
            <a:headEnd/>
            <a:tailEnd/>
          </a:ln>
        </p:spPr>
      </p:cxnSp>
      <p:cxnSp>
        <p:nvCxnSpPr>
          <p:cNvPr id="65589" name="AutoShape 55"/>
          <p:cNvCxnSpPr>
            <a:cxnSpLocks noChangeShapeType="1"/>
            <a:stCxn id="65557" idx="7"/>
            <a:endCxn id="65551" idx="1"/>
          </p:cNvCxnSpPr>
          <p:nvPr/>
        </p:nvCxnSpPr>
        <p:spPr bwMode="auto">
          <a:xfrm rot="5400000" flipV="1">
            <a:off x="8297069" y="4704557"/>
            <a:ext cx="503237" cy="3390900"/>
          </a:xfrm>
          <a:prstGeom prst="curvedConnector4">
            <a:avLst>
              <a:gd name="adj1" fmla="val -57412"/>
              <a:gd name="adj2" fmla="val 50843"/>
            </a:avLst>
          </a:prstGeom>
          <a:noFill/>
          <a:ln w="9525">
            <a:solidFill>
              <a:schemeClr val="hlink"/>
            </a:solidFill>
            <a:round/>
            <a:headEnd/>
            <a:tailEnd/>
          </a:ln>
        </p:spPr>
      </p:cxnSp>
      <p:cxnSp>
        <p:nvCxnSpPr>
          <p:cNvPr id="65590" name="AutoShape 56"/>
          <p:cNvCxnSpPr>
            <a:cxnSpLocks noChangeShapeType="1"/>
            <a:stCxn id="65571" idx="6"/>
            <a:endCxn id="65552" idx="1"/>
          </p:cNvCxnSpPr>
          <p:nvPr/>
        </p:nvCxnSpPr>
        <p:spPr bwMode="auto">
          <a:xfrm>
            <a:off x="9144000" y="7567613"/>
            <a:ext cx="1100138" cy="107950"/>
          </a:xfrm>
          <a:prstGeom prst="curvedConnector3">
            <a:avLst>
              <a:gd name="adj1" fmla="val 49926"/>
            </a:avLst>
          </a:prstGeom>
          <a:noFill/>
          <a:ln w="9525">
            <a:solidFill>
              <a:schemeClr val="accent4">
                <a:lumMod val="75000"/>
                <a:lumOff val="25000"/>
              </a:schemeClr>
            </a:solidFill>
            <a:round/>
            <a:headEnd/>
            <a:tailEnd/>
          </a:ln>
        </p:spPr>
      </p:cxnSp>
      <p:cxnSp>
        <p:nvCxnSpPr>
          <p:cNvPr id="65591" name="AutoShape 57"/>
          <p:cNvCxnSpPr>
            <a:cxnSpLocks noChangeShapeType="1"/>
            <a:stCxn id="65560" idx="5"/>
            <a:endCxn id="65552" idx="1"/>
          </p:cNvCxnSpPr>
          <p:nvPr/>
        </p:nvCxnSpPr>
        <p:spPr bwMode="auto">
          <a:xfrm rot="16200000" flipH="1">
            <a:off x="8896350" y="6327775"/>
            <a:ext cx="712788" cy="1982788"/>
          </a:xfrm>
          <a:prstGeom prst="curvedConnector2">
            <a:avLst/>
          </a:prstGeom>
          <a:noFill/>
          <a:ln w="9525">
            <a:solidFill>
              <a:schemeClr val="accent4">
                <a:lumMod val="75000"/>
                <a:lumOff val="25000"/>
              </a:schemeClr>
            </a:solidFill>
            <a:round/>
            <a:headEnd/>
            <a:tailEnd/>
          </a:ln>
        </p:spPr>
      </p:cxnSp>
      <p:cxnSp>
        <p:nvCxnSpPr>
          <p:cNvPr id="65592" name="AutoShape 58"/>
          <p:cNvCxnSpPr>
            <a:cxnSpLocks noChangeShapeType="1"/>
            <a:stCxn id="65558" idx="5"/>
            <a:endCxn id="65552" idx="1"/>
          </p:cNvCxnSpPr>
          <p:nvPr/>
        </p:nvCxnSpPr>
        <p:spPr bwMode="auto">
          <a:xfrm rot="16200000" flipH="1">
            <a:off x="8243888" y="5675313"/>
            <a:ext cx="508000" cy="3492500"/>
          </a:xfrm>
          <a:prstGeom prst="curvedConnector2">
            <a:avLst/>
          </a:prstGeom>
          <a:noFill/>
          <a:ln w="9525">
            <a:solidFill>
              <a:schemeClr val="accent4">
                <a:lumMod val="75000"/>
                <a:lumOff val="25000"/>
              </a:schemeClr>
            </a:solidFill>
            <a:round/>
            <a:headEnd/>
            <a:tailEnd/>
          </a:ln>
        </p:spPr>
      </p:cxnSp>
      <p:cxnSp>
        <p:nvCxnSpPr>
          <p:cNvPr id="65593" name="AutoShape 59"/>
          <p:cNvCxnSpPr>
            <a:cxnSpLocks noChangeShapeType="1"/>
            <a:stCxn id="65575" idx="6"/>
            <a:endCxn id="65552" idx="1"/>
          </p:cNvCxnSpPr>
          <p:nvPr/>
        </p:nvCxnSpPr>
        <p:spPr bwMode="auto">
          <a:xfrm>
            <a:off x="7346950" y="6326188"/>
            <a:ext cx="2897188" cy="1349375"/>
          </a:xfrm>
          <a:prstGeom prst="curvedConnector3">
            <a:avLst>
              <a:gd name="adj1" fmla="val 49972"/>
            </a:avLst>
          </a:prstGeom>
          <a:noFill/>
          <a:ln w="9525">
            <a:solidFill>
              <a:schemeClr val="accent4">
                <a:lumMod val="75000"/>
                <a:lumOff val="25000"/>
              </a:schemeClr>
            </a:solidFill>
            <a:round/>
            <a:headEnd/>
            <a:tailEnd/>
          </a:ln>
        </p:spPr>
      </p:cxnSp>
      <p:cxnSp>
        <p:nvCxnSpPr>
          <p:cNvPr id="65594" name="AutoShape 60"/>
          <p:cNvCxnSpPr>
            <a:cxnSpLocks noChangeShapeType="1"/>
            <a:stCxn id="65567" idx="5"/>
            <a:endCxn id="65552" idx="1"/>
          </p:cNvCxnSpPr>
          <p:nvPr/>
        </p:nvCxnSpPr>
        <p:spPr bwMode="auto">
          <a:xfrm rot="16200000" flipH="1">
            <a:off x="8209756" y="5641182"/>
            <a:ext cx="2022475" cy="2046288"/>
          </a:xfrm>
          <a:prstGeom prst="curvedConnector2">
            <a:avLst/>
          </a:prstGeom>
          <a:noFill/>
          <a:ln w="9525">
            <a:solidFill>
              <a:schemeClr val="accent4">
                <a:lumMod val="75000"/>
                <a:lumOff val="25000"/>
              </a:schemeClr>
            </a:solidFill>
            <a:round/>
            <a:headEnd/>
            <a:tailEnd/>
          </a:ln>
        </p:spPr>
      </p:cxnSp>
      <p:cxnSp>
        <p:nvCxnSpPr>
          <p:cNvPr id="65595" name="AutoShape 61"/>
          <p:cNvCxnSpPr>
            <a:cxnSpLocks noChangeShapeType="1"/>
            <a:stCxn id="65566" idx="6"/>
            <a:endCxn id="65552" idx="1"/>
          </p:cNvCxnSpPr>
          <p:nvPr/>
        </p:nvCxnSpPr>
        <p:spPr bwMode="auto">
          <a:xfrm>
            <a:off x="9144000" y="5824538"/>
            <a:ext cx="1100138" cy="1851025"/>
          </a:xfrm>
          <a:prstGeom prst="curvedConnector3">
            <a:avLst>
              <a:gd name="adj1" fmla="val 49926"/>
            </a:avLst>
          </a:prstGeom>
          <a:noFill/>
          <a:ln w="9525">
            <a:solidFill>
              <a:schemeClr val="accent4">
                <a:lumMod val="75000"/>
                <a:lumOff val="25000"/>
              </a:schemeClr>
            </a:solidFill>
            <a:round/>
            <a:headEnd/>
            <a:tailEnd/>
          </a:ln>
        </p:spPr>
      </p:cxnSp>
      <p:sp>
        <p:nvSpPr>
          <p:cNvPr id="65596" name="Text Box 62"/>
          <p:cNvSpPr txBox="1">
            <a:spLocks noChangeArrowheads="1"/>
          </p:cNvSpPr>
          <p:nvPr/>
        </p:nvSpPr>
        <p:spPr bwMode="auto">
          <a:xfrm>
            <a:off x="9574213" y="4176713"/>
            <a:ext cx="3481387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30046" tIns="65023" rIns="130046" bIns="65023">
            <a:spAutoFit/>
          </a:bodyPr>
          <a:lstStyle/>
          <a:p>
            <a:pPr algn="ctr" defTabSz="1300163"/>
            <a:r>
              <a:rPr lang="pt-BR" sz="1700" b="1">
                <a:solidFill>
                  <a:srgbClr val="40232B"/>
                </a:solidFill>
                <a:latin typeface="Arial" pitchFamily="34" charset="0"/>
                <a:ea typeface="ヒラギノ角ゴ Pro W3"/>
                <a:cs typeface="ヒラギノ角ゴ Pro W3"/>
              </a:rPr>
              <a:t>Os conteúdos serão exibidos de acordo com o comportamento anterior</a:t>
            </a:r>
            <a:endParaRPr lang="en-US" sz="1700" b="1">
              <a:solidFill>
                <a:srgbClr val="40232B"/>
              </a:solidFill>
              <a:latin typeface="Arial" pitchFamily="34" charset="0"/>
              <a:ea typeface="ヒラギノ角ゴ Pro W3"/>
              <a:cs typeface="ヒラギノ角ゴ Pro W3"/>
            </a:endParaRPr>
          </a:p>
        </p:txBody>
      </p:sp>
      <p:sp>
        <p:nvSpPr>
          <p:cNvPr id="54335" name="Text Box 4"/>
          <p:cNvSpPr txBox="1">
            <a:spLocks noChangeArrowheads="1"/>
          </p:cNvSpPr>
          <p:nvPr/>
        </p:nvSpPr>
        <p:spPr bwMode="auto">
          <a:xfrm>
            <a:off x="309712" y="556320"/>
            <a:ext cx="12097344" cy="1239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30046" tIns="65023" rIns="130046" bIns="65023">
            <a:spAutoFit/>
          </a:bodyPr>
          <a:lstStyle/>
          <a:p>
            <a:pPr defTabSz="1300163">
              <a:spcBef>
                <a:spcPct val="50000"/>
              </a:spcBef>
              <a:defRPr/>
            </a:pPr>
            <a:r>
              <a:rPr lang="pt-BR" sz="3600" b="1" dirty="0" smtClean="0">
                <a:solidFill>
                  <a:srgbClr val="FF9900"/>
                </a:solidFill>
                <a:latin typeface="+mj-lt"/>
                <a:ea typeface="+mj-ea"/>
                <a:cs typeface="+mj-cs"/>
                <a:sym typeface="Gill Sans"/>
              </a:rPr>
              <a:t>Categorizar</a:t>
            </a:r>
            <a:r>
              <a:rPr lang="pt-BR" sz="3600" b="1" dirty="0" smtClean="0">
                <a:solidFill>
                  <a:schemeClr val="folHlink"/>
                </a:solidFill>
                <a:latin typeface="+mj-lt"/>
                <a:ea typeface="+mj-ea"/>
                <a:cs typeface="+mj-cs"/>
                <a:sym typeface="Gill Sans"/>
              </a:rPr>
              <a:t> o usuário ajuda a entender o seu público-alvo ...</a:t>
            </a:r>
            <a:endParaRPr lang="pt-BR" sz="3600" b="1" dirty="0">
              <a:solidFill>
                <a:schemeClr val="folHlink"/>
              </a:solidFill>
              <a:latin typeface="+mj-lt"/>
              <a:ea typeface="+mj-ea"/>
              <a:cs typeface="+mj-cs"/>
              <a:sym typeface="Gill Sans"/>
            </a:endParaRPr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192088" y="7258050"/>
            <a:ext cx="2206625" cy="684213"/>
            <a:chOff x="699" y="1919"/>
            <a:chExt cx="882" cy="250"/>
          </a:xfrm>
        </p:grpSpPr>
        <p:grpSp>
          <p:nvGrpSpPr>
            <p:cNvPr id="3" name="Group 30"/>
            <p:cNvGrpSpPr>
              <a:grpSpLocks/>
            </p:cNvGrpSpPr>
            <p:nvPr/>
          </p:nvGrpSpPr>
          <p:grpSpPr bwMode="auto">
            <a:xfrm>
              <a:off x="699" y="1957"/>
              <a:ext cx="250" cy="212"/>
              <a:chOff x="2716" y="324"/>
              <a:chExt cx="393" cy="217"/>
            </a:xfrm>
          </p:grpSpPr>
          <p:sp>
            <p:nvSpPr>
              <p:cNvPr id="65617" name="Rectangle 31"/>
              <p:cNvSpPr>
                <a:spLocks noChangeArrowheads="1"/>
              </p:cNvSpPr>
              <p:nvPr/>
            </p:nvSpPr>
            <p:spPr bwMode="auto">
              <a:xfrm>
                <a:off x="2716" y="324"/>
                <a:ext cx="388" cy="217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solidFill>
                    <a:srgbClr val="40232B"/>
                  </a:solidFill>
                </a:endParaRPr>
              </a:p>
            </p:txBody>
          </p:sp>
          <p:sp>
            <p:nvSpPr>
              <p:cNvPr id="65618" name="Rectangle 32"/>
              <p:cNvSpPr>
                <a:spLocks noChangeArrowheads="1"/>
              </p:cNvSpPr>
              <p:nvPr/>
            </p:nvSpPr>
            <p:spPr bwMode="auto">
              <a:xfrm>
                <a:off x="2716" y="324"/>
                <a:ext cx="71" cy="217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solidFill>
                    <a:srgbClr val="40232B"/>
                  </a:solidFill>
                </a:endParaRPr>
              </a:p>
            </p:txBody>
          </p:sp>
          <p:sp>
            <p:nvSpPr>
              <p:cNvPr id="65619" name="Rectangle 33"/>
              <p:cNvSpPr>
                <a:spLocks noChangeArrowheads="1"/>
              </p:cNvSpPr>
              <p:nvPr/>
            </p:nvSpPr>
            <p:spPr bwMode="auto">
              <a:xfrm>
                <a:off x="2787" y="324"/>
                <a:ext cx="322" cy="61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solidFill>
                    <a:srgbClr val="40232B"/>
                  </a:solidFill>
                </a:endParaRPr>
              </a:p>
            </p:txBody>
          </p:sp>
          <p:sp>
            <p:nvSpPr>
              <p:cNvPr id="65620" name="Rectangle 34"/>
              <p:cNvSpPr>
                <a:spLocks noChangeArrowheads="1"/>
              </p:cNvSpPr>
              <p:nvPr/>
            </p:nvSpPr>
            <p:spPr bwMode="auto">
              <a:xfrm>
                <a:off x="3038" y="385"/>
                <a:ext cx="71" cy="156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solidFill>
                    <a:srgbClr val="40232B"/>
                  </a:solidFill>
                </a:endParaRPr>
              </a:p>
            </p:txBody>
          </p:sp>
          <p:sp>
            <p:nvSpPr>
              <p:cNvPr id="65621" name="Rectangle 35"/>
              <p:cNvSpPr>
                <a:spLocks noChangeArrowheads="1"/>
              </p:cNvSpPr>
              <p:nvPr/>
            </p:nvSpPr>
            <p:spPr bwMode="auto">
              <a:xfrm>
                <a:off x="2874" y="367"/>
                <a:ext cx="188" cy="122"/>
              </a:xfrm>
              <a:prstGeom prst="rect">
                <a:avLst/>
              </a:prstGeom>
              <a:solidFill>
                <a:srgbClr val="993300"/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solidFill>
                    <a:srgbClr val="40232B"/>
                  </a:solidFill>
                </a:endParaRPr>
              </a:p>
            </p:txBody>
          </p:sp>
        </p:grpSp>
        <p:sp>
          <p:nvSpPr>
            <p:cNvPr id="65616" name="Text Box 36"/>
            <p:cNvSpPr txBox="1">
              <a:spLocks noChangeArrowheads="1"/>
            </p:cNvSpPr>
            <p:nvPr/>
          </p:nvSpPr>
          <p:spPr bwMode="auto">
            <a:xfrm>
              <a:off x="973" y="1919"/>
              <a:ext cx="608" cy="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29992" tIns="64997" rIns="129992" bIns="64997">
              <a:spAutoFit/>
            </a:bodyPr>
            <a:lstStyle/>
            <a:p>
              <a:pPr defTabSz="1300163">
                <a:spcBef>
                  <a:spcPct val="50000"/>
                </a:spcBef>
              </a:pPr>
              <a:r>
                <a:rPr lang="pt-BR" sz="1700" b="1">
                  <a:solidFill>
                    <a:srgbClr val="777777"/>
                  </a:solidFill>
                  <a:latin typeface="Trebuchet MS" pitchFamily="34" charset="0"/>
                </a:rPr>
                <a:t>Mídia Gráfica</a:t>
              </a:r>
            </a:p>
          </p:txBody>
        </p:sp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150813" y="6573838"/>
            <a:ext cx="1914525" cy="649287"/>
            <a:chOff x="723" y="1263"/>
            <a:chExt cx="767" cy="237"/>
          </a:xfrm>
        </p:grpSpPr>
        <p:grpSp>
          <p:nvGrpSpPr>
            <p:cNvPr id="5" name="Group 18"/>
            <p:cNvGrpSpPr>
              <a:grpSpLocks/>
            </p:cNvGrpSpPr>
            <p:nvPr/>
          </p:nvGrpSpPr>
          <p:grpSpPr bwMode="auto">
            <a:xfrm>
              <a:off x="723" y="1342"/>
              <a:ext cx="226" cy="130"/>
              <a:chOff x="2849" y="539"/>
              <a:chExt cx="556" cy="318"/>
            </a:xfrm>
          </p:grpSpPr>
          <p:sp>
            <p:nvSpPr>
              <p:cNvPr id="65612" name="Rectangle 19"/>
              <p:cNvSpPr>
                <a:spLocks noChangeArrowheads="1"/>
              </p:cNvSpPr>
              <p:nvPr/>
            </p:nvSpPr>
            <p:spPr bwMode="auto">
              <a:xfrm>
                <a:off x="2854" y="539"/>
                <a:ext cx="547" cy="318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solidFill>
                    <a:srgbClr val="40232B"/>
                  </a:solidFill>
                </a:endParaRPr>
              </a:p>
            </p:txBody>
          </p:sp>
          <p:sp>
            <p:nvSpPr>
              <p:cNvPr id="65613" name="AutoShape 20"/>
              <p:cNvSpPr>
                <a:spLocks noChangeArrowheads="1"/>
              </p:cNvSpPr>
              <p:nvPr/>
            </p:nvSpPr>
            <p:spPr bwMode="auto">
              <a:xfrm rot="10800000">
                <a:off x="2849" y="639"/>
                <a:ext cx="556" cy="21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895 w 21600"/>
                  <a:gd name="T13" fmla="*/ 4954 h 21600"/>
                  <a:gd name="T14" fmla="*/ 16705 w 21600"/>
                  <a:gd name="T15" fmla="*/ 16646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6212" y="21600"/>
                    </a:lnTo>
                    <a:lnTo>
                      <a:pt x="15388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chemeClr val="bg2"/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614" name="AutoShape 21"/>
              <p:cNvSpPr>
                <a:spLocks noChangeArrowheads="1"/>
              </p:cNvSpPr>
              <p:nvPr/>
            </p:nvSpPr>
            <p:spPr bwMode="auto">
              <a:xfrm>
                <a:off x="2849" y="539"/>
                <a:ext cx="556" cy="16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6 w 21600"/>
                  <a:gd name="T13" fmla="*/ 4455 h 21600"/>
                  <a:gd name="T14" fmla="*/ 17094 w 21600"/>
                  <a:gd name="T15" fmla="*/ 17145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chemeClr val="bg2"/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5611" name="Text Box 22"/>
            <p:cNvSpPr txBox="1">
              <a:spLocks noChangeArrowheads="1"/>
            </p:cNvSpPr>
            <p:nvPr/>
          </p:nvSpPr>
          <p:spPr bwMode="auto">
            <a:xfrm>
              <a:off x="973" y="1263"/>
              <a:ext cx="517" cy="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29992" tIns="64997" rIns="129992" bIns="64997">
              <a:spAutoFit/>
            </a:bodyPr>
            <a:lstStyle/>
            <a:p>
              <a:pPr defTabSz="1300163">
                <a:spcBef>
                  <a:spcPct val="50000"/>
                </a:spcBef>
              </a:pPr>
              <a:r>
                <a:rPr lang="pt-BR" sz="1700" b="1">
                  <a:solidFill>
                    <a:srgbClr val="777777"/>
                  </a:solidFill>
                  <a:latin typeface="Trebuchet MS" pitchFamily="34" charset="0"/>
                </a:rPr>
                <a:t>E-mail mkt</a:t>
              </a:r>
            </a:p>
          </p:txBody>
        </p:sp>
      </p:grpSp>
      <p:grpSp>
        <p:nvGrpSpPr>
          <p:cNvPr id="6" name="Group 23"/>
          <p:cNvGrpSpPr>
            <a:grpSpLocks/>
          </p:cNvGrpSpPr>
          <p:nvPr/>
        </p:nvGrpSpPr>
        <p:grpSpPr bwMode="auto">
          <a:xfrm>
            <a:off x="93663" y="6002338"/>
            <a:ext cx="2662237" cy="500062"/>
            <a:chOff x="723" y="4710"/>
            <a:chExt cx="1513" cy="262"/>
          </a:xfrm>
        </p:grpSpPr>
        <p:grpSp>
          <p:nvGrpSpPr>
            <p:cNvPr id="7" name="Group 24"/>
            <p:cNvGrpSpPr>
              <a:grpSpLocks/>
            </p:cNvGrpSpPr>
            <p:nvPr/>
          </p:nvGrpSpPr>
          <p:grpSpPr bwMode="auto">
            <a:xfrm>
              <a:off x="723" y="4710"/>
              <a:ext cx="546" cy="262"/>
              <a:chOff x="2077" y="632"/>
              <a:chExt cx="470" cy="225"/>
            </a:xfrm>
          </p:grpSpPr>
          <p:sp>
            <p:nvSpPr>
              <p:cNvPr id="65607" name="Rectangle 25"/>
              <p:cNvSpPr>
                <a:spLocks noChangeArrowheads="1"/>
              </p:cNvSpPr>
              <p:nvPr/>
            </p:nvSpPr>
            <p:spPr bwMode="auto">
              <a:xfrm>
                <a:off x="2107" y="632"/>
                <a:ext cx="384" cy="225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129992" tIns="64997" rIns="129992" bIns="64997" anchor="b" anchorCtr="1"/>
              <a:lstStyle/>
              <a:p>
                <a:pPr defTabSz="1300163"/>
                <a:endParaRPr lang="pt-BR" sz="700" b="1">
                  <a:solidFill>
                    <a:srgbClr val="FFFFFF"/>
                  </a:solidFill>
                  <a:latin typeface="Trebuchet MS" pitchFamily="34" charset="0"/>
                </a:endParaRPr>
              </a:p>
            </p:txBody>
          </p:sp>
          <p:sp>
            <p:nvSpPr>
              <p:cNvPr id="65608" name="Rectangle 26"/>
              <p:cNvSpPr>
                <a:spLocks noChangeArrowheads="1"/>
              </p:cNvSpPr>
              <p:nvPr/>
            </p:nvSpPr>
            <p:spPr bwMode="auto">
              <a:xfrm>
                <a:off x="2150" y="656"/>
                <a:ext cx="275" cy="29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solidFill>
                    <a:srgbClr val="40232B"/>
                  </a:solidFill>
                </a:endParaRPr>
              </a:p>
            </p:txBody>
          </p:sp>
          <p:sp>
            <p:nvSpPr>
              <p:cNvPr id="65609" name="Text Box 27"/>
              <p:cNvSpPr txBox="1">
                <a:spLocks noChangeArrowheads="1"/>
              </p:cNvSpPr>
              <p:nvPr/>
            </p:nvSpPr>
            <p:spPr bwMode="auto">
              <a:xfrm>
                <a:off x="2077" y="691"/>
                <a:ext cx="470" cy="14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lIns="129992" tIns="64997" rIns="129992" bIns="64997">
                <a:spAutoFit/>
              </a:bodyPr>
              <a:lstStyle/>
              <a:p>
                <a:pPr defTabSz="1300163">
                  <a:spcBef>
                    <a:spcPct val="50000"/>
                  </a:spcBef>
                </a:pPr>
                <a:r>
                  <a:rPr lang="pt-BR" sz="600" b="1">
                    <a:solidFill>
                      <a:srgbClr val="FFFFFF"/>
                    </a:solidFill>
                    <a:latin typeface="Trebuchet MS" pitchFamily="34" charset="0"/>
                  </a:rPr>
                  <a:t>XXX XXX $$$</a:t>
                </a:r>
                <a:br>
                  <a:rPr lang="pt-BR" sz="600" b="1">
                    <a:solidFill>
                      <a:srgbClr val="FFFFFF"/>
                    </a:solidFill>
                    <a:latin typeface="Trebuchet MS" pitchFamily="34" charset="0"/>
                  </a:rPr>
                </a:br>
                <a:r>
                  <a:rPr lang="pt-BR" sz="600" b="1">
                    <a:solidFill>
                      <a:srgbClr val="FFFFFF"/>
                    </a:solidFill>
                    <a:latin typeface="Trebuchet MS" pitchFamily="34" charset="0"/>
                  </a:rPr>
                  <a:t>X XXX</a:t>
                </a:r>
              </a:p>
            </p:txBody>
          </p:sp>
        </p:grpSp>
        <p:sp>
          <p:nvSpPr>
            <p:cNvPr id="65606" name="Text Box 28"/>
            <p:cNvSpPr txBox="1">
              <a:spLocks noChangeArrowheads="1"/>
            </p:cNvSpPr>
            <p:nvPr/>
          </p:nvSpPr>
          <p:spPr bwMode="auto">
            <a:xfrm>
              <a:off x="1225" y="4721"/>
              <a:ext cx="1011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29992" tIns="64997" rIns="129992" bIns="64997">
              <a:spAutoFit/>
            </a:bodyPr>
            <a:lstStyle/>
            <a:p>
              <a:pPr defTabSz="1300163">
                <a:spcBef>
                  <a:spcPct val="50000"/>
                </a:spcBef>
              </a:pPr>
              <a:r>
                <a:rPr lang="pt-BR" sz="1700" b="1">
                  <a:solidFill>
                    <a:srgbClr val="777777"/>
                  </a:solidFill>
                  <a:latin typeface="Trebuchet MS" pitchFamily="34" charset="0"/>
                </a:rPr>
                <a:t>SEM</a:t>
              </a:r>
            </a:p>
          </p:txBody>
        </p:sp>
      </p:grpSp>
      <p:grpSp>
        <p:nvGrpSpPr>
          <p:cNvPr id="8" name="Group 37"/>
          <p:cNvGrpSpPr>
            <a:grpSpLocks/>
          </p:cNvGrpSpPr>
          <p:nvPr/>
        </p:nvGrpSpPr>
        <p:grpSpPr bwMode="auto">
          <a:xfrm>
            <a:off x="152400" y="5143500"/>
            <a:ext cx="1868488" cy="566738"/>
            <a:chOff x="1472" y="1289"/>
            <a:chExt cx="725" cy="207"/>
          </a:xfrm>
        </p:grpSpPr>
        <p:pic>
          <p:nvPicPr>
            <p:cNvPr id="65603" name="Picture 38" descr="http://www.albany.ga.us/images/design_elements/MCj03894500000%5B1%5D.gif"/>
            <p:cNvPicPr>
              <a:picLocks noChangeAspect="1" noChangeArrowheads="1"/>
            </p:cNvPicPr>
            <p:nvPr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grayscl/>
            </a:blip>
            <a:srcRect/>
            <a:stretch>
              <a:fillRect/>
            </a:stretch>
          </p:blipFill>
          <p:spPr bwMode="auto">
            <a:xfrm>
              <a:off x="1472" y="1289"/>
              <a:ext cx="208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5604" name="Text Box 39"/>
            <p:cNvSpPr txBox="1">
              <a:spLocks noChangeArrowheads="1"/>
            </p:cNvSpPr>
            <p:nvPr/>
          </p:nvSpPr>
          <p:spPr bwMode="auto">
            <a:xfrm>
              <a:off x="1680" y="1306"/>
              <a:ext cx="517" cy="1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29992" tIns="64997" rIns="129992" bIns="64997">
              <a:spAutoFit/>
            </a:bodyPr>
            <a:lstStyle/>
            <a:p>
              <a:pPr defTabSz="1300163">
                <a:spcBef>
                  <a:spcPct val="50000"/>
                </a:spcBef>
              </a:pPr>
              <a:r>
                <a:rPr lang="pt-BR" sz="1700" b="1">
                  <a:solidFill>
                    <a:srgbClr val="777777"/>
                  </a:solidFill>
                  <a:latin typeface="Trebuchet MS" pitchFamily="34" charset="0"/>
                </a:rPr>
                <a:t>Orgânico</a:t>
              </a:r>
            </a:p>
          </p:txBody>
        </p:sp>
      </p:grpSp>
      <p:sp>
        <p:nvSpPr>
          <p:cNvPr id="65602" name="Text Box 44"/>
          <p:cNvSpPr txBox="1">
            <a:spLocks noChangeArrowheads="1"/>
          </p:cNvSpPr>
          <p:nvPr/>
        </p:nvSpPr>
        <p:spPr bwMode="auto">
          <a:xfrm>
            <a:off x="238125" y="4557713"/>
            <a:ext cx="4043363" cy="3683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91401" tIns="45700" rIns="91401" bIns="45700">
            <a:spAutoFit/>
          </a:bodyPr>
          <a:lstStyle/>
          <a:p>
            <a:pPr defTabSz="1300163">
              <a:spcBef>
                <a:spcPct val="50000"/>
              </a:spcBef>
            </a:pPr>
            <a:r>
              <a:rPr lang="pt-BR" sz="1800" b="1">
                <a:solidFill>
                  <a:srgbClr val="40232B"/>
                </a:solidFill>
              </a:rPr>
              <a:t>Origem</a:t>
            </a:r>
          </a:p>
        </p:txBody>
      </p:sp>
      <p:cxnSp>
        <p:nvCxnSpPr>
          <p:cNvPr id="86" name="AutoShape 61"/>
          <p:cNvCxnSpPr>
            <a:cxnSpLocks noChangeShapeType="1"/>
            <a:endCxn id="65552" idx="1"/>
          </p:cNvCxnSpPr>
          <p:nvPr/>
        </p:nvCxnSpPr>
        <p:spPr bwMode="auto">
          <a:xfrm>
            <a:off x="7006458" y="5668890"/>
            <a:ext cx="3237680" cy="2005879"/>
          </a:xfrm>
          <a:prstGeom prst="curvedConnector3">
            <a:avLst>
              <a:gd name="adj1" fmla="val 25053"/>
            </a:avLst>
          </a:prstGeom>
          <a:noFill/>
          <a:ln w="9525">
            <a:solidFill>
              <a:schemeClr val="accent4">
                <a:lumMod val="75000"/>
                <a:lumOff val="25000"/>
              </a:schemeClr>
            </a:solidFill>
            <a:round/>
            <a:headEnd/>
            <a:tailEnd/>
          </a:ln>
        </p:spPr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AutoShape 32"/>
          <p:cNvSpPr>
            <a:spLocks noChangeArrowheads="1"/>
          </p:cNvSpPr>
          <p:nvPr/>
        </p:nvSpPr>
        <p:spPr bwMode="auto">
          <a:xfrm>
            <a:off x="5529263" y="3652838"/>
            <a:ext cx="1944687" cy="863600"/>
          </a:xfrm>
          <a:prstGeom prst="upArrow">
            <a:avLst>
              <a:gd name="adj1" fmla="val 49954"/>
              <a:gd name="adj2" fmla="val 45671"/>
            </a:avLst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vert="eaVert" wrap="none" anchor="ctr"/>
          <a:lstStyle/>
          <a:p>
            <a:endParaRPr lang="pt-BR"/>
          </a:p>
        </p:txBody>
      </p:sp>
      <p:sp>
        <p:nvSpPr>
          <p:cNvPr id="100355" name="Rectangle 2"/>
          <p:cNvSpPr>
            <a:spLocks noGrp="1" noChangeArrowheads="1"/>
          </p:cNvSpPr>
          <p:nvPr>
            <p:ph type="title"/>
          </p:nvPr>
        </p:nvSpPr>
        <p:spPr>
          <a:xfrm>
            <a:off x="309563" y="484188"/>
            <a:ext cx="12457533" cy="1152525"/>
          </a:xfrm>
        </p:spPr>
        <p:txBody>
          <a:bodyPr/>
          <a:lstStyle/>
          <a:p>
            <a:r>
              <a:rPr lang="pt-BR" dirty="0" smtClean="0"/>
              <a:t>Existem diversos tipos de </a:t>
            </a:r>
            <a:r>
              <a:rPr lang="pt-BR" dirty="0" smtClean="0">
                <a:solidFill>
                  <a:srgbClr val="FF9900"/>
                </a:solidFill>
              </a:rPr>
              <a:t>Targeting</a:t>
            </a:r>
            <a:r>
              <a:rPr lang="pt-BR" dirty="0" smtClean="0"/>
              <a:t> que podem melhorar a performance ... </a:t>
            </a:r>
            <a:endParaRPr lang="en-US" dirty="0" smtClean="0"/>
          </a:p>
        </p:txBody>
      </p:sp>
      <p:sp>
        <p:nvSpPr>
          <p:cNvPr id="873501" name="AutoShape 29"/>
          <p:cNvSpPr>
            <a:spLocks noChangeArrowheads="1"/>
          </p:cNvSpPr>
          <p:nvPr/>
        </p:nvSpPr>
        <p:spPr bwMode="auto">
          <a:xfrm>
            <a:off x="309563" y="1968500"/>
            <a:ext cx="12385675" cy="1468438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>
                  <a:gamma/>
                  <a:shade val="89020"/>
                  <a:invGamma/>
                </a:schemeClr>
              </a:gs>
              <a:gs pos="100000">
                <a:schemeClr val="bg1"/>
              </a:gs>
            </a:gsLst>
            <a:lin ang="18900000" scaled="1"/>
          </a:gradFill>
          <a:ln w="57150">
            <a:solidFill>
              <a:srgbClr val="EAEAEA"/>
            </a:solidFill>
            <a:round/>
            <a:headEnd/>
            <a:tailEnd/>
          </a:ln>
          <a:effectLst/>
        </p:spPr>
        <p:txBody>
          <a:bodyPr lIns="91430" tIns="45715" rIns="91430" bIns="45715" anchor="ctr"/>
          <a:lstStyle/>
          <a:p>
            <a:pPr algn="ctr" defTabSz="1300163"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pt-BR" sz="2100" b="1"/>
              <a:t> </a:t>
            </a:r>
            <a:r>
              <a:rPr lang="pt-BR" sz="2100" b="1">
                <a:solidFill>
                  <a:schemeClr val="folHlink"/>
                </a:solidFill>
              </a:rPr>
              <a:t>Behavioral Target (BT)</a:t>
            </a:r>
            <a:endParaRPr lang="pt-BR" sz="100" b="1">
              <a:solidFill>
                <a:schemeClr val="folHlink"/>
              </a:solidFill>
            </a:endParaRPr>
          </a:p>
          <a:p>
            <a:pPr algn="ctr" defTabSz="1300163"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pt-BR" sz="1800"/>
              <a:t> </a:t>
            </a:r>
            <a:r>
              <a:rPr lang="pt-BR" sz="1600"/>
              <a:t>Direciona peças a usuários específicos de acordo com as ações feitas em seu site.</a:t>
            </a:r>
          </a:p>
          <a:p>
            <a:pPr algn="ctr" defTabSz="1300163"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pt-BR" sz="1600"/>
              <a:t>Ex. Clientes que fizeram compras em seu site podem receber mensagens de cross sell, mostrar mensagem diferente num portal para usuários que já viram um produto no site e etc.</a:t>
            </a:r>
            <a:endParaRPr lang="en-US" sz="1600"/>
          </a:p>
        </p:txBody>
      </p:sp>
      <p:sp>
        <p:nvSpPr>
          <p:cNvPr id="873505" name="AutoShape 33"/>
          <p:cNvSpPr>
            <a:spLocks noChangeArrowheads="1"/>
          </p:cNvSpPr>
          <p:nvPr/>
        </p:nvSpPr>
        <p:spPr bwMode="auto">
          <a:xfrm>
            <a:off x="309563" y="3868738"/>
            <a:ext cx="3744912" cy="3313112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>
                  <a:gamma/>
                  <a:shade val="89020"/>
                  <a:invGamma/>
                </a:schemeClr>
              </a:gs>
              <a:gs pos="100000">
                <a:schemeClr val="bg1"/>
              </a:gs>
            </a:gsLst>
            <a:lin ang="18900000" scaled="1"/>
          </a:gradFill>
          <a:ln w="57150">
            <a:solidFill>
              <a:srgbClr val="EAEAEA"/>
            </a:solidFill>
            <a:round/>
            <a:headEnd/>
            <a:tailEnd/>
          </a:ln>
          <a:effectLst/>
        </p:spPr>
        <p:txBody>
          <a:bodyPr lIns="91430" tIns="45715" rIns="91430" bIns="45715" anchor="ctr"/>
          <a:lstStyle/>
          <a:p>
            <a:pPr algn="ctr" defTabSz="1300163"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pt-BR" sz="2100" b="1" dirty="0"/>
              <a:t> </a:t>
            </a:r>
            <a:r>
              <a:rPr lang="pt-BR" sz="2100" b="1" dirty="0" err="1">
                <a:solidFill>
                  <a:schemeClr val="folHlink"/>
                </a:solidFill>
              </a:rPr>
              <a:t>Geo</a:t>
            </a:r>
            <a:r>
              <a:rPr lang="pt-BR" sz="2100" b="1" dirty="0">
                <a:solidFill>
                  <a:schemeClr val="folHlink"/>
                </a:solidFill>
              </a:rPr>
              <a:t> </a:t>
            </a:r>
            <a:r>
              <a:rPr lang="pt-BR" sz="2100" b="1" dirty="0" err="1">
                <a:solidFill>
                  <a:schemeClr val="folHlink"/>
                </a:solidFill>
              </a:rPr>
              <a:t>Target</a:t>
            </a:r>
            <a:endParaRPr lang="pt-BR" sz="100" b="1" dirty="0">
              <a:solidFill>
                <a:schemeClr val="folHlink"/>
              </a:solidFill>
            </a:endParaRPr>
          </a:p>
          <a:p>
            <a:pPr defTabSz="1300163"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pt-BR" sz="1600" dirty="0"/>
              <a:t> Direciona peças a usuários específicos de acordo com a sua localização geográfica. </a:t>
            </a:r>
          </a:p>
          <a:p>
            <a:pPr defTabSz="1300163"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pt-BR" sz="1600" dirty="0"/>
              <a:t> Ex. Mostrar a peça para pessoas de um determinado Estado</a:t>
            </a:r>
          </a:p>
        </p:txBody>
      </p:sp>
      <p:sp>
        <p:nvSpPr>
          <p:cNvPr id="873506" name="AutoShape 34"/>
          <p:cNvSpPr>
            <a:spLocks noChangeArrowheads="1"/>
          </p:cNvSpPr>
          <p:nvPr/>
        </p:nvSpPr>
        <p:spPr bwMode="auto">
          <a:xfrm>
            <a:off x="8950325" y="3868738"/>
            <a:ext cx="3744913" cy="3313112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>
                  <a:gamma/>
                  <a:shade val="89020"/>
                  <a:invGamma/>
                </a:schemeClr>
              </a:gs>
              <a:gs pos="100000">
                <a:schemeClr val="bg1"/>
              </a:gs>
            </a:gsLst>
            <a:lin ang="18900000" scaled="1"/>
          </a:gradFill>
          <a:ln w="57150">
            <a:solidFill>
              <a:srgbClr val="EAEAEA"/>
            </a:solidFill>
            <a:round/>
            <a:headEnd/>
            <a:tailEnd/>
          </a:ln>
          <a:effectLst/>
        </p:spPr>
        <p:txBody>
          <a:bodyPr lIns="91430" tIns="45715" rIns="91430" bIns="45715" anchor="ctr"/>
          <a:lstStyle/>
          <a:p>
            <a:pPr algn="ctr" defTabSz="1300163"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pt-BR" sz="2100" b="1" dirty="0" err="1" smtClean="0">
                <a:solidFill>
                  <a:schemeClr val="folHlink"/>
                </a:solidFill>
              </a:rPr>
              <a:t>Technical</a:t>
            </a:r>
            <a:r>
              <a:rPr lang="pt-BR" sz="2100" b="1" dirty="0" smtClean="0">
                <a:solidFill>
                  <a:schemeClr val="folHlink"/>
                </a:solidFill>
              </a:rPr>
              <a:t> </a:t>
            </a:r>
            <a:r>
              <a:rPr lang="pt-BR" sz="2100" b="1" dirty="0" err="1">
                <a:solidFill>
                  <a:schemeClr val="folHlink"/>
                </a:solidFill>
              </a:rPr>
              <a:t>Target</a:t>
            </a:r>
            <a:endParaRPr lang="pt-BR" sz="100" b="1" dirty="0">
              <a:solidFill>
                <a:schemeClr val="folHlink"/>
              </a:solidFill>
            </a:endParaRPr>
          </a:p>
          <a:p>
            <a:pPr defTabSz="1300163"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pt-BR" sz="1600" dirty="0"/>
              <a:t> Direciona peças a usuários específicos de acordo com configurações técnicas. </a:t>
            </a:r>
          </a:p>
          <a:p>
            <a:pPr defTabSz="1300163"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pt-BR" sz="1600" dirty="0"/>
              <a:t> Ex. direcionado a determinado tipo de conexão, browser e etc.</a:t>
            </a:r>
          </a:p>
        </p:txBody>
      </p:sp>
      <p:sp>
        <p:nvSpPr>
          <p:cNvPr id="873507" name="AutoShape 35"/>
          <p:cNvSpPr>
            <a:spLocks noChangeArrowheads="1"/>
          </p:cNvSpPr>
          <p:nvPr/>
        </p:nvSpPr>
        <p:spPr bwMode="auto">
          <a:xfrm>
            <a:off x="381000" y="7685088"/>
            <a:ext cx="12242800" cy="146843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>
                  <a:gamma/>
                  <a:shade val="89020"/>
                  <a:invGamma/>
                </a:schemeClr>
              </a:gs>
              <a:gs pos="100000">
                <a:schemeClr val="bg1"/>
              </a:gs>
            </a:gsLst>
            <a:lin ang="18900000" scaled="1"/>
          </a:gradFill>
          <a:ln w="57150">
            <a:solidFill>
              <a:srgbClr val="EAEAEA"/>
            </a:solidFill>
            <a:round/>
            <a:headEnd/>
            <a:tailEnd/>
          </a:ln>
          <a:effectLst/>
        </p:spPr>
        <p:txBody>
          <a:bodyPr lIns="91430" tIns="45715" rIns="91430" bIns="45715" anchor="ctr"/>
          <a:lstStyle/>
          <a:p>
            <a:pPr algn="ctr" defTabSz="1300163"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pt-BR" sz="2100" b="1"/>
              <a:t> </a:t>
            </a:r>
            <a:r>
              <a:rPr lang="pt-BR" sz="2100" b="1">
                <a:solidFill>
                  <a:schemeClr val="folHlink"/>
                </a:solidFill>
              </a:rPr>
              <a:t>Messaging Target</a:t>
            </a:r>
            <a:endParaRPr lang="pt-BR" sz="1600"/>
          </a:p>
          <a:p>
            <a:pPr algn="ctr" defTabSz="1300163"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pt-BR" sz="1600"/>
              <a:t> Mostrar a mensagem para diferentes grupos de diferentes maneiras</a:t>
            </a:r>
          </a:p>
          <a:p>
            <a:pPr algn="ctr" defTabSz="1300163"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pt-BR" sz="1600"/>
              <a:t> Ex. Criar 2 grupos diferentes com mensagens diferentes para cada grupo para testar a eficácia da comunicação, testar a sequência de mensagens que dá mais retorno e etc. </a:t>
            </a:r>
          </a:p>
        </p:txBody>
      </p:sp>
      <p:sp>
        <p:nvSpPr>
          <p:cNvPr id="100360" name="AutoShape 36"/>
          <p:cNvSpPr>
            <a:spLocks noChangeArrowheads="1"/>
          </p:cNvSpPr>
          <p:nvPr/>
        </p:nvSpPr>
        <p:spPr bwMode="auto">
          <a:xfrm rot="10800000">
            <a:off x="5530850" y="6461125"/>
            <a:ext cx="1944688" cy="863600"/>
          </a:xfrm>
          <a:prstGeom prst="upArrow">
            <a:avLst>
              <a:gd name="adj1" fmla="val 49954"/>
              <a:gd name="adj2" fmla="val 45671"/>
            </a:avLst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vert="eaVert" wrap="none" anchor="ctr"/>
          <a:lstStyle/>
          <a:p>
            <a:endParaRPr lang="pt-BR"/>
          </a:p>
        </p:txBody>
      </p:sp>
      <p:sp>
        <p:nvSpPr>
          <p:cNvPr id="100361" name="AutoShape 37"/>
          <p:cNvSpPr>
            <a:spLocks noChangeArrowheads="1"/>
          </p:cNvSpPr>
          <p:nvPr/>
        </p:nvSpPr>
        <p:spPr bwMode="auto">
          <a:xfrm rot="-5400000">
            <a:off x="3945731" y="5093494"/>
            <a:ext cx="1944688" cy="863600"/>
          </a:xfrm>
          <a:prstGeom prst="upArrow">
            <a:avLst>
              <a:gd name="adj1" fmla="val 49954"/>
              <a:gd name="adj2" fmla="val 45671"/>
            </a:avLst>
          </a:prstGeom>
          <a:solidFill>
            <a:srgbClr val="DFDFDF"/>
          </a:solidFill>
          <a:ln w="9525">
            <a:noFill/>
            <a:miter lim="800000"/>
            <a:headEnd/>
            <a:tailEnd/>
          </a:ln>
        </p:spPr>
        <p:txBody>
          <a:bodyPr vert="eaVert" wrap="none" anchor="ctr"/>
          <a:lstStyle/>
          <a:p>
            <a:endParaRPr lang="pt-BR"/>
          </a:p>
        </p:txBody>
      </p:sp>
      <p:sp>
        <p:nvSpPr>
          <p:cNvPr id="100362" name="AutoShape 38"/>
          <p:cNvSpPr>
            <a:spLocks noChangeArrowheads="1"/>
          </p:cNvSpPr>
          <p:nvPr/>
        </p:nvSpPr>
        <p:spPr bwMode="auto">
          <a:xfrm rot="5400000">
            <a:off x="7185819" y="5093494"/>
            <a:ext cx="1944688" cy="863600"/>
          </a:xfrm>
          <a:prstGeom prst="upArrow">
            <a:avLst>
              <a:gd name="adj1" fmla="val 49954"/>
              <a:gd name="adj2" fmla="val 45671"/>
            </a:avLst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eaVert" wrap="none" anchor="ctr"/>
          <a:lstStyle/>
          <a:p>
            <a:endParaRPr lang="pt-BR"/>
          </a:p>
        </p:txBody>
      </p:sp>
      <p:pic>
        <p:nvPicPr>
          <p:cNvPr id="100363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70488" y="4465638"/>
            <a:ext cx="2663825" cy="211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Rede de Segmentação com o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Quando um </a:t>
            </a:r>
            <a:r>
              <a:rPr lang="pt-BR" sz="2800" dirty="0" smtClean="0">
                <a:solidFill>
                  <a:srgbClr val="FF9900"/>
                </a:solidFill>
              </a:rPr>
              <a:t>novo usuário entra no seu site</a:t>
            </a:r>
            <a:r>
              <a:rPr lang="pt-BR" dirty="0" smtClean="0"/>
              <a:t> você geralmente não tem nenhuma informação sobre ele, além da origem da visita. </a:t>
            </a:r>
          </a:p>
          <a:p>
            <a:endParaRPr lang="pt-BR" dirty="0" smtClean="0"/>
          </a:p>
          <a:p>
            <a:r>
              <a:rPr lang="pt-BR" sz="2800" dirty="0" smtClean="0">
                <a:solidFill>
                  <a:srgbClr val="FF9900"/>
                </a:solidFill>
              </a:rPr>
              <a:t>Com o </a:t>
            </a:r>
            <a:r>
              <a:rPr lang="pt-BR" sz="2800" dirty="0" err="1" smtClean="0">
                <a:solidFill>
                  <a:srgbClr val="FF9900"/>
                </a:solidFill>
              </a:rPr>
              <a:t>Navegg</a:t>
            </a:r>
            <a:r>
              <a:rPr lang="pt-BR" sz="2800" dirty="0" smtClean="0">
                <a:solidFill>
                  <a:srgbClr val="FF9900"/>
                </a:solidFill>
              </a:rPr>
              <a:t> você pode ter algumas informações </a:t>
            </a:r>
            <a:r>
              <a:rPr lang="pt-BR" dirty="0" smtClean="0"/>
              <a:t>de uma parcela dos visitantes mesmo estes sendo novos.</a:t>
            </a:r>
          </a:p>
          <a:p>
            <a:pPr lvl="1"/>
            <a:r>
              <a:rPr lang="pt-BR" dirty="0" smtClean="0"/>
              <a:t>Sexo</a:t>
            </a:r>
          </a:p>
          <a:p>
            <a:pPr lvl="1"/>
            <a:r>
              <a:rPr lang="pt-BR" dirty="0" smtClean="0"/>
              <a:t>Idade</a:t>
            </a:r>
          </a:p>
          <a:p>
            <a:pPr lvl="1"/>
            <a:r>
              <a:rPr lang="pt-BR" dirty="0" smtClean="0"/>
              <a:t>Educação Tópicos de interesse</a:t>
            </a:r>
          </a:p>
          <a:p>
            <a:pPr lvl="1"/>
            <a:r>
              <a:rPr lang="pt-BR" dirty="0" smtClean="0"/>
              <a:t>País</a:t>
            </a:r>
          </a:p>
          <a:p>
            <a:pPr lvl="1"/>
            <a:r>
              <a:rPr lang="pt-BR" dirty="0" smtClean="0"/>
              <a:t>Região</a:t>
            </a:r>
          </a:p>
          <a:p>
            <a:pPr lvl="1"/>
            <a:r>
              <a:rPr lang="pt-BR" dirty="0" smtClean="0"/>
              <a:t>Cidade</a:t>
            </a:r>
          </a:p>
          <a:p>
            <a:pPr lvl="1"/>
            <a:endParaRPr lang="pt-BR" dirty="0" smtClean="0"/>
          </a:p>
          <a:p>
            <a:r>
              <a:rPr lang="pt-BR" dirty="0" smtClean="0"/>
              <a:t>O </a:t>
            </a:r>
            <a:r>
              <a:rPr lang="pt-BR" dirty="0" err="1" smtClean="0"/>
              <a:t>Navegg</a:t>
            </a:r>
            <a:r>
              <a:rPr lang="pt-BR" dirty="0" smtClean="0"/>
              <a:t> gera um relatório do </a:t>
            </a:r>
            <a:r>
              <a:rPr lang="pt-BR" sz="2800" dirty="0" smtClean="0">
                <a:solidFill>
                  <a:srgbClr val="FF9900"/>
                </a:solidFill>
              </a:rPr>
              <a:t>perfil dos visitantes </a:t>
            </a:r>
            <a:r>
              <a:rPr lang="pt-BR" dirty="0" smtClean="0"/>
              <a:t>e permite </a:t>
            </a:r>
            <a:r>
              <a:rPr lang="pt-BR" sz="2800" dirty="0" smtClean="0">
                <a:solidFill>
                  <a:srgbClr val="FF9900"/>
                </a:solidFill>
              </a:rPr>
              <a:t>integração</a:t>
            </a:r>
            <a:r>
              <a:rPr lang="pt-BR" dirty="0" smtClean="0"/>
              <a:t> com seu site ou ferramenta de Web Analytics.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E0E8-EF2A-47E5-858D-DF8D682E2C50}" type="slidenum">
              <a:rPr lang="en-US" smtClean="0"/>
              <a:pPr/>
              <a:t>41</a:t>
            </a:fld>
            <a:endParaRPr lang="en-US"/>
          </a:p>
        </p:txBody>
      </p:sp>
      <p:pic>
        <p:nvPicPr>
          <p:cNvPr id="5" name="Picture 14" descr="http://www.navegg.com/img/logo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14568" y="700336"/>
            <a:ext cx="2362200" cy="762000"/>
          </a:xfrm>
          <a:prstGeom prst="rect">
            <a:avLst/>
          </a:prstGeom>
          <a:noFill/>
        </p:spPr>
      </p:pic>
      <p:pic>
        <p:nvPicPr>
          <p:cNvPr id="9933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93410" y="7198323"/>
            <a:ext cx="8617981" cy="2051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99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pPr defTabSz="1300163"/>
            <a:fld id="{5D6F9AF1-7AA7-4A51-83D8-F302FFBFA799}" type="slidenum">
              <a:rPr lang="en-US"/>
              <a:pPr defTabSz="1300163"/>
              <a:t>42</a:t>
            </a:fld>
            <a:endParaRPr 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97744" y="1852613"/>
            <a:ext cx="12098337" cy="1800225"/>
          </a:xfrm>
        </p:spPr>
        <p:txBody>
          <a:bodyPr/>
          <a:lstStyle/>
          <a:p>
            <a:pPr algn="ctr" eaLnBrk="1" hangingPunct="1"/>
            <a:r>
              <a:rPr lang="pt-BR" sz="4800" dirty="0" smtClean="0"/>
              <a:t>Além de tudo isso, ainda podemos fazer testes segmentados por Target!!!!</a:t>
            </a:r>
          </a:p>
        </p:txBody>
      </p:sp>
      <p:pic>
        <p:nvPicPr>
          <p:cNvPr id="157698" name="Picture 2" descr="http://portuguesbrasileiro.istockphoto.com/file_thumbview_approve/5000965/2/istockphoto_5000965-target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46616" y="4120716"/>
            <a:ext cx="4191744" cy="523968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Webtrends insights usa teste multivariável para entregar Targeting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1720" y="4156720"/>
            <a:ext cx="608012" cy="342900"/>
          </a:xfrm>
        </p:spPr>
        <p:txBody>
          <a:bodyPr/>
          <a:lstStyle/>
          <a:p>
            <a:fld id="{3558E0E8-EF2A-47E5-858D-DF8D682E2C50}" type="slidenum">
              <a:rPr lang="en-US" smtClean="0"/>
              <a:pPr/>
              <a:t>43</a:t>
            </a:fld>
            <a:endParaRPr lang="en-US"/>
          </a:p>
        </p:txBody>
      </p:sp>
      <p:grpSp>
        <p:nvGrpSpPr>
          <p:cNvPr id="3" name="Group 18"/>
          <p:cNvGrpSpPr/>
          <p:nvPr/>
        </p:nvGrpSpPr>
        <p:grpSpPr>
          <a:xfrm>
            <a:off x="9364808" y="1924472"/>
            <a:ext cx="2938066" cy="7348462"/>
            <a:chOff x="9364808" y="1924472"/>
            <a:chExt cx="2938066" cy="7348462"/>
          </a:xfrm>
        </p:grpSpPr>
        <p:pic>
          <p:nvPicPr>
            <p:cNvPr id="1025" name="Picture 1"/>
            <p:cNvPicPr>
              <a:picLocks noChangeAspect="1" noChangeArrowheads="1"/>
            </p:cNvPicPr>
            <p:nvPr/>
          </p:nvPicPr>
          <p:blipFill>
            <a:blip r:embed="rId2" cstate="print"/>
            <a:srcRect l="75353"/>
            <a:stretch>
              <a:fillRect/>
            </a:stretch>
          </p:blipFill>
          <p:spPr bwMode="auto">
            <a:xfrm>
              <a:off x="9364808" y="4156720"/>
              <a:ext cx="2938066" cy="5116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Rounded Rectangle 8"/>
            <p:cNvSpPr/>
            <p:nvPr/>
          </p:nvSpPr>
          <p:spPr bwMode="auto">
            <a:xfrm>
              <a:off x="9465689" y="1924472"/>
              <a:ext cx="2736304" cy="2160240"/>
            </a:xfrm>
            <a:prstGeom prst="roundRect">
              <a:avLst>
                <a:gd name="adj" fmla="val 10620"/>
              </a:avLst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3001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  <a:cs typeface="Arial" pitchFamily="34" charset="0"/>
                </a:rPr>
                <a:t>Passo 4 – Personalização</a:t>
              </a:r>
            </a:p>
            <a:p>
              <a:pPr marL="0" marR="0" indent="0" algn="l" defTabSz="13001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pitchFamily="34" charset="0"/>
              </a:endParaRPr>
            </a:p>
            <a:p>
              <a:pPr marL="0" marR="0" indent="0" algn="l" defTabSz="13001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pt-BR" sz="1400" dirty="0" smtClean="0">
                  <a:cs typeface="Arial" pitchFamily="34" charset="0"/>
                </a:rPr>
                <a:t>Assim que o </a:t>
              </a:r>
              <a:r>
                <a:rPr lang="pt-BR" sz="1400" dirty="0" err="1" smtClean="0">
                  <a:cs typeface="Arial" pitchFamily="34" charset="0"/>
                </a:rPr>
                <a:t>Targeting</a:t>
              </a:r>
              <a:r>
                <a:rPr lang="pt-BR" sz="1400" dirty="0" smtClean="0">
                  <a:cs typeface="Arial" pitchFamily="34" charset="0"/>
                </a:rPr>
                <a:t> estiver rodando você pode usar seus insights para melhorar as páginas</a:t>
              </a:r>
              <a:endPara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pitchFamily="34" charset="0"/>
              </a:endParaRPr>
            </a:p>
          </p:txBody>
        </p:sp>
      </p:grpSp>
      <p:grpSp>
        <p:nvGrpSpPr>
          <p:cNvPr id="5" name="Group 17"/>
          <p:cNvGrpSpPr/>
          <p:nvPr/>
        </p:nvGrpSpPr>
        <p:grpSpPr>
          <a:xfrm>
            <a:off x="6338872" y="1924472"/>
            <a:ext cx="2985550" cy="7348462"/>
            <a:chOff x="6338872" y="1924472"/>
            <a:chExt cx="2985550" cy="7348462"/>
          </a:xfrm>
        </p:grpSpPr>
        <p:sp>
          <p:nvSpPr>
            <p:cNvPr id="8" name="Rounded Rectangle 7"/>
            <p:cNvSpPr/>
            <p:nvPr/>
          </p:nvSpPr>
          <p:spPr bwMode="auto">
            <a:xfrm>
              <a:off x="6463495" y="1924472"/>
              <a:ext cx="2736304" cy="2160240"/>
            </a:xfrm>
            <a:prstGeom prst="roundRect">
              <a:avLst>
                <a:gd name="adj" fmla="val 10620"/>
              </a:avLst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3001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  <a:cs typeface="Arial" pitchFamily="34" charset="0"/>
                </a:rPr>
                <a:t>Passo 3 – </a:t>
              </a:r>
              <a:r>
                <a:rPr kumimoji="0" lang="pt-BR" sz="1600" b="1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  <a:cs typeface="Arial" pitchFamily="34" charset="0"/>
                </a:rPr>
                <a:t>Targeting</a:t>
              </a:r>
              <a:endParaRPr lang="pt-BR" sz="1600" b="1" dirty="0" smtClean="0">
                <a:cs typeface="Arial" pitchFamily="34" charset="0"/>
              </a:endParaRPr>
            </a:p>
            <a:p>
              <a:pPr marL="0" marR="0" indent="0" algn="l" defTabSz="13001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pitchFamily="34" charset="0"/>
              </a:endParaRPr>
            </a:p>
            <a:p>
              <a:pPr defTabSz="1300163"/>
              <a:r>
                <a:rPr lang="pt-BR" sz="1400" dirty="0" smtClean="0">
                  <a:cs typeface="Arial" pitchFamily="34" charset="0"/>
                </a:rPr>
                <a:t>Após determinar a combinação ótima para cada segmento comece a usá-las para impulsionar as conversões</a:t>
              </a:r>
              <a:endPara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pitchFamily="34" charset="0"/>
              </a:endParaRPr>
            </a:p>
          </p:txBody>
        </p:sp>
        <p:pic>
          <p:nvPicPr>
            <p:cNvPr id="11" name="Picture 1"/>
            <p:cNvPicPr>
              <a:picLocks noChangeAspect="1" noChangeArrowheads="1"/>
            </p:cNvPicPr>
            <p:nvPr/>
          </p:nvPicPr>
          <p:blipFill>
            <a:blip r:embed="rId2" cstate="print"/>
            <a:srcRect l="49971" r="24985"/>
            <a:stretch>
              <a:fillRect/>
            </a:stretch>
          </p:blipFill>
          <p:spPr bwMode="auto">
            <a:xfrm>
              <a:off x="6338872" y="4156720"/>
              <a:ext cx="2985550" cy="5116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4" name="Group 16"/>
          <p:cNvGrpSpPr/>
          <p:nvPr/>
        </p:nvGrpSpPr>
        <p:grpSpPr>
          <a:xfrm>
            <a:off x="3313012" y="1924472"/>
            <a:ext cx="2985474" cy="7348462"/>
            <a:chOff x="3313012" y="1924472"/>
            <a:chExt cx="2985474" cy="7348462"/>
          </a:xfrm>
        </p:grpSpPr>
        <p:sp>
          <p:nvSpPr>
            <p:cNvPr id="7" name="Rounded Rectangle 6"/>
            <p:cNvSpPr/>
            <p:nvPr/>
          </p:nvSpPr>
          <p:spPr bwMode="auto">
            <a:xfrm>
              <a:off x="3437597" y="1924472"/>
              <a:ext cx="2736304" cy="2160240"/>
            </a:xfrm>
            <a:prstGeom prst="roundRect">
              <a:avLst>
                <a:gd name="adj" fmla="val 10620"/>
              </a:avLst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3001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  <a:cs typeface="Arial" pitchFamily="34" charset="0"/>
                </a:rPr>
                <a:t>Passo 2 – Segmente</a:t>
              </a:r>
            </a:p>
            <a:p>
              <a:pPr marL="0" marR="0" indent="0" algn="l" defTabSz="13001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pitchFamily="34" charset="0"/>
              </a:endParaRPr>
            </a:p>
            <a:p>
              <a:pPr defTabSz="1300163"/>
              <a:r>
                <a:rPr lang="pt-BR" sz="1400" dirty="0" smtClean="0">
                  <a:cs typeface="Arial" pitchFamily="34" charset="0"/>
                </a:rPr>
                <a:t>Assim que o primeiro teste terminar comece a testar suas combinações ótimas contra grupos de usuários</a:t>
              </a:r>
              <a:r>
                <a:rPr lang="en-US" sz="1400" dirty="0" smtClean="0"/>
                <a:t>- returning vs. new visitor, time of day, geo-targeting, etc.</a:t>
              </a:r>
              <a:endParaRPr lang="en-US" sz="1400" dirty="0" smtClean="0">
                <a:cs typeface="Arial" pitchFamily="34" charset="0"/>
              </a:endParaRPr>
            </a:p>
            <a:p>
              <a:pPr marL="0" marR="0" indent="0" algn="l" defTabSz="13001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pitchFamily="34" charset="0"/>
              </a:endParaRPr>
            </a:p>
          </p:txBody>
        </p:sp>
        <p:pic>
          <p:nvPicPr>
            <p:cNvPr id="12" name="Picture 1"/>
            <p:cNvPicPr>
              <a:picLocks noChangeAspect="1" noChangeArrowheads="1"/>
            </p:cNvPicPr>
            <p:nvPr/>
          </p:nvPicPr>
          <p:blipFill>
            <a:blip r:embed="rId2" cstate="print"/>
            <a:srcRect l="24589" r="50367"/>
            <a:stretch>
              <a:fillRect/>
            </a:stretch>
          </p:blipFill>
          <p:spPr bwMode="auto">
            <a:xfrm>
              <a:off x="3313012" y="4156720"/>
              <a:ext cx="2985474" cy="5116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5" name="Group 15"/>
          <p:cNvGrpSpPr/>
          <p:nvPr/>
        </p:nvGrpSpPr>
        <p:grpSpPr>
          <a:xfrm>
            <a:off x="381720" y="1924472"/>
            <a:ext cx="2890909" cy="7348462"/>
            <a:chOff x="381720" y="1924472"/>
            <a:chExt cx="2890909" cy="7348462"/>
          </a:xfrm>
        </p:grpSpPr>
        <p:sp>
          <p:nvSpPr>
            <p:cNvPr id="6" name="Rounded Rectangle 5"/>
            <p:cNvSpPr/>
            <p:nvPr/>
          </p:nvSpPr>
          <p:spPr bwMode="auto">
            <a:xfrm>
              <a:off x="459022" y="1924472"/>
              <a:ext cx="2736304" cy="2160240"/>
            </a:xfrm>
            <a:prstGeom prst="roundRect">
              <a:avLst>
                <a:gd name="adj" fmla="val 10620"/>
              </a:avLst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3001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  <a:cs typeface="Arial" pitchFamily="34" charset="0"/>
                </a:rPr>
                <a:t>Passo 1 – Teste em geral</a:t>
              </a:r>
            </a:p>
            <a:p>
              <a:pPr marL="0" marR="0" indent="0" algn="l" defTabSz="13001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pitchFamily="34" charset="0"/>
              </a:endParaRPr>
            </a:p>
            <a:p>
              <a:pPr marL="0" marR="0" indent="0" defTabSz="13001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pt-BR" sz="1400" dirty="0" smtClean="0">
                  <a:cs typeface="Arial" pitchFamily="34" charset="0"/>
                </a:rPr>
                <a:t>Comece testando seu conteúdo contra todo o tráfego</a:t>
              </a:r>
              <a:endPara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pitchFamily="34" charset="0"/>
              </a:endParaRPr>
            </a:p>
          </p:txBody>
        </p:sp>
        <p:pic>
          <p:nvPicPr>
            <p:cNvPr id="13" name="Picture 1"/>
            <p:cNvPicPr>
              <a:picLocks noChangeAspect="1" noChangeArrowheads="1"/>
            </p:cNvPicPr>
            <p:nvPr/>
          </p:nvPicPr>
          <p:blipFill>
            <a:blip r:embed="rId2" cstate="print"/>
            <a:srcRect r="75749"/>
            <a:stretch>
              <a:fillRect/>
            </a:stretch>
          </p:blipFill>
          <p:spPr bwMode="auto">
            <a:xfrm>
              <a:off x="381720" y="4156720"/>
              <a:ext cx="2890909" cy="5116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" name="Picture 2" descr="Webtrend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7704" y="8981256"/>
            <a:ext cx="2168154" cy="36728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pPr defTabSz="1300163"/>
            <a:fld id="{5D6F9AF1-7AA7-4A51-83D8-F302FFBFA799}" type="slidenum">
              <a:rPr lang="en-US"/>
              <a:pPr defTabSz="1300163"/>
              <a:t>44</a:t>
            </a:fld>
            <a:endParaRPr 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309712" y="2788568"/>
            <a:ext cx="9073008" cy="1800597"/>
          </a:xfrm>
        </p:spPr>
        <p:txBody>
          <a:bodyPr/>
          <a:lstStyle/>
          <a:p>
            <a:pPr eaLnBrk="1" hangingPunct="1"/>
            <a:r>
              <a:rPr lang="pt-BR" sz="2800" dirty="0" smtClean="0"/>
              <a:t>Gerson Ribeiro</a:t>
            </a:r>
            <a:br>
              <a:rPr lang="pt-BR" sz="2800" dirty="0" smtClean="0"/>
            </a:br>
            <a:r>
              <a:rPr lang="pt-BR" sz="2800" dirty="0" smtClean="0">
                <a:hlinkClick r:id="rId3"/>
              </a:rPr>
              <a:t>gerson.ribeiro@directperformance.com.br</a:t>
            </a:r>
            <a:r>
              <a:rPr lang="pt-BR" sz="2800" dirty="0" smtClean="0"/>
              <a:t/>
            </a:r>
            <a:br>
              <a:rPr lang="pt-BR" sz="2800" dirty="0" smtClean="0"/>
            </a:br>
            <a:r>
              <a:rPr lang="pt-BR" sz="2800" dirty="0" smtClean="0"/>
              <a:t>@gerson_ribeiro</a:t>
            </a:r>
            <a:br>
              <a:rPr lang="pt-BR" sz="2800" dirty="0" smtClean="0"/>
            </a:br>
            <a:endParaRPr lang="pt-BR" sz="2800" dirty="0" smtClean="0"/>
          </a:p>
        </p:txBody>
      </p:sp>
      <p:pic>
        <p:nvPicPr>
          <p:cNvPr id="135170" name="Picture 2" descr="http://4.bp.blogspot.com/_Zlz4enJSzDk/SnBgV87uInI/AAAAAAAAEjM/Iro8-9uLr1Q/s400/OBRIGADO+PFC+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26136" y="4228728"/>
            <a:ext cx="4513684" cy="4513684"/>
          </a:xfrm>
          <a:prstGeom prst="rect">
            <a:avLst/>
          </a:prstGeom>
          <a:noFill/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37704" y="844352"/>
            <a:ext cx="12098213" cy="18005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130046" tIns="65023" rIns="130046" bIns="65023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Eduardo</a:t>
            </a:r>
            <a:r>
              <a:rPr kumimoji="0" lang="pt-BR" sz="2800" b="1" i="0" u="none" strike="noStrike" kern="0" cap="none" spc="0" normalizeH="0" noProof="0" dirty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Cereto</a:t>
            </a:r>
            <a:r>
              <a:rPr kumimoji="0" lang="pt-BR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pt-BR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lang="pt-BR" sz="2800" b="1" kern="0" dirty="0" smtClean="0">
                <a:solidFill>
                  <a:schemeClr val="folHlink"/>
                </a:solidFill>
                <a:latin typeface="+mj-lt"/>
                <a:ea typeface="+mj-ea"/>
                <a:cs typeface="+mj-cs"/>
                <a:hlinkClick r:id="rId5"/>
              </a:rPr>
              <a:t>eduardo</a:t>
            </a:r>
            <a:r>
              <a:rPr kumimoji="0" lang="pt-BR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j-lt"/>
                <a:ea typeface="+mj-ea"/>
                <a:cs typeface="+mj-cs"/>
                <a:hlinkClick r:id="rId5"/>
              </a:rPr>
              <a:t>@directperformance.com.br</a:t>
            </a:r>
            <a:endParaRPr kumimoji="0" lang="pt-BR" sz="2800" b="1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@eduardocereto</a:t>
            </a:r>
            <a:br>
              <a:rPr kumimoji="0" lang="pt-BR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pt-BR" sz="2800" b="1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35171" name="Picture 3" descr="\\192.168.0.151\Direct Performance\Marketing_Produtos\Marca\Logo\Alta Resolução\logo_directperformance_rgb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81720" y="7471536"/>
            <a:ext cx="3416748" cy="1293696"/>
          </a:xfrm>
          <a:prstGeom prst="rect">
            <a:avLst/>
          </a:prstGeom>
          <a:noFill/>
        </p:spPr>
      </p:pic>
      <p:pic>
        <p:nvPicPr>
          <p:cNvPr id="135172" name="Picture 4" descr="\\192.168.0.151\Direct Performance\Apresentações\Eventos\SearchLabs\SearchLabs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950672" y="6965032"/>
            <a:ext cx="3538171" cy="1939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subTitle" idx="1"/>
          </p:nvPr>
        </p:nvSpPr>
        <p:spPr>
          <a:ln/>
        </p:spPr>
        <p:txBody>
          <a:bodyPr/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rect Performance - Tequila Sunrise 2010">
  <a:themeElements>
    <a:clrScheme name="Direct Performance - Tequila Sunrise 2008 14">
      <a:dk1>
        <a:srgbClr val="40232B"/>
      </a:dk1>
      <a:lt1>
        <a:srgbClr val="FFFFFF"/>
      </a:lt1>
      <a:dk2>
        <a:srgbClr val="F8F8F8"/>
      </a:dk2>
      <a:lt2>
        <a:srgbClr val="8EAB99"/>
      </a:lt2>
      <a:accent1>
        <a:srgbClr val="DEC085"/>
      </a:accent1>
      <a:accent2>
        <a:srgbClr val="F99D1E"/>
      </a:accent2>
      <a:accent3>
        <a:srgbClr val="FFFFFF"/>
      </a:accent3>
      <a:accent4>
        <a:srgbClr val="351C23"/>
      </a:accent4>
      <a:accent5>
        <a:srgbClr val="ECDCC2"/>
      </a:accent5>
      <a:accent6>
        <a:srgbClr val="E28E1A"/>
      </a:accent6>
      <a:hlink>
        <a:srgbClr val="E7702C"/>
      </a:hlink>
      <a:folHlink>
        <a:srgbClr val="A63412"/>
      </a:folHlink>
    </a:clrScheme>
    <a:fontScheme name="Direct Performance - Tequila Sunrise 2008">
      <a:majorFont>
        <a:latin typeface="Verdana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cs typeface="Arial" pitchFamily="34" charset="0"/>
          </a:defRPr>
        </a:defPPr>
      </a:lstStyle>
    </a:lnDef>
  </a:objectDefaults>
  <a:extraClrSchemeLst>
    <a:extraClrScheme>
      <a:clrScheme name="Direct Performance - Tequila Sunrise 2008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rect Performance - Tequila Sunrise 2008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rect Performance - Tequila Sunrise 2008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rect Performance - Tequila Sunrise 2008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rect Performance - Tequila Sunrise 2008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rect Performance - Tequila Sunrise 2008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rect Performance - Tequila Sunrise 2008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rect Performance - Tequila Sunrise 2008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rect Performance - Tequila Sunrise 2008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rect Performance - Tequila Sunrise 2008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rect Performance - Tequila Sunrise 2008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rect Performance - Tequila Sunrise 2008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rect Performance - Tequila Sunrise 2008 13">
        <a:dk1>
          <a:srgbClr val="939598"/>
        </a:dk1>
        <a:lt1>
          <a:srgbClr val="FFFFFF"/>
        </a:lt1>
        <a:dk2>
          <a:srgbClr val="F8F8F8"/>
        </a:dk2>
        <a:lt2>
          <a:srgbClr val="E0D7C8"/>
        </a:lt2>
        <a:accent1>
          <a:srgbClr val="F99D1E"/>
        </a:accent1>
        <a:accent2>
          <a:srgbClr val="E7702C"/>
        </a:accent2>
        <a:accent3>
          <a:srgbClr val="FFFFFF"/>
        </a:accent3>
        <a:accent4>
          <a:srgbClr val="7D7E81"/>
        </a:accent4>
        <a:accent5>
          <a:srgbClr val="FBCCAB"/>
        </a:accent5>
        <a:accent6>
          <a:srgbClr val="D16527"/>
        </a:accent6>
        <a:hlink>
          <a:srgbClr val="A63412"/>
        </a:hlink>
        <a:folHlink>
          <a:srgbClr val="AB936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rect Performance - Tequila Sunrise 2008 14">
        <a:dk1>
          <a:srgbClr val="40232B"/>
        </a:dk1>
        <a:lt1>
          <a:srgbClr val="FFFFFF"/>
        </a:lt1>
        <a:dk2>
          <a:srgbClr val="F8F8F8"/>
        </a:dk2>
        <a:lt2>
          <a:srgbClr val="8EAB99"/>
        </a:lt2>
        <a:accent1>
          <a:srgbClr val="DEC085"/>
        </a:accent1>
        <a:accent2>
          <a:srgbClr val="F99D1E"/>
        </a:accent2>
        <a:accent3>
          <a:srgbClr val="FFFFFF"/>
        </a:accent3>
        <a:accent4>
          <a:srgbClr val="351C23"/>
        </a:accent4>
        <a:accent5>
          <a:srgbClr val="ECDCC2"/>
        </a:accent5>
        <a:accent6>
          <a:srgbClr val="E28E1A"/>
        </a:accent6>
        <a:hlink>
          <a:srgbClr val="E7702C"/>
        </a:hlink>
        <a:folHlink>
          <a:srgbClr val="A6341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Agenda">
  <a:themeElements>
    <a:clrScheme name="Agenda 14">
      <a:dk1>
        <a:srgbClr val="40232B"/>
      </a:dk1>
      <a:lt1>
        <a:srgbClr val="FFFFFF"/>
      </a:lt1>
      <a:dk2>
        <a:srgbClr val="F8F8F8"/>
      </a:dk2>
      <a:lt2>
        <a:srgbClr val="8EAB99"/>
      </a:lt2>
      <a:accent1>
        <a:srgbClr val="DEC085"/>
      </a:accent1>
      <a:accent2>
        <a:srgbClr val="F99D1E"/>
      </a:accent2>
      <a:accent3>
        <a:srgbClr val="FFFFFF"/>
      </a:accent3>
      <a:accent4>
        <a:srgbClr val="351C23"/>
      </a:accent4>
      <a:accent5>
        <a:srgbClr val="ECDCC2"/>
      </a:accent5>
      <a:accent6>
        <a:srgbClr val="E28E1A"/>
      </a:accent6>
      <a:hlink>
        <a:srgbClr val="E7702C"/>
      </a:hlink>
      <a:folHlink>
        <a:srgbClr val="A63412"/>
      </a:folHlink>
    </a:clrScheme>
    <a:fontScheme name="Agenda">
      <a:majorFont>
        <a:latin typeface="Verdana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cs typeface="Arial" pitchFamily="34" charset="0"/>
          </a:defRPr>
        </a:defPPr>
      </a:lstStyle>
    </a:lnDef>
  </a:objectDefaults>
  <a:extraClrSchemeLst>
    <a:extraClrScheme>
      <a:clrScheme name="Agend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gend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gend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gend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gend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gend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gend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gend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gend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gend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gend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gend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genda 13">
        <a:dk1>
          <a:srgbClr val="939598"/>
        </a:dk1>
        <a:lt1>
          <a:srgbClr val="FFFFFF"/>
        </a:lt1>
        <a:dk2>
          <a:srgbClr val="F8F8F8"/>
        </a:dk2>
        <a:lt2>
          <a:srgbClr val="E0D7C8"/>
        </a:lt2>
        <a:accent1>
          <a:srgbClr val="F99D1E"/>
        </a:accent1>
        <a:accent2>
          <a:srgbClr val="E7702C"/>
        </a:accent2>
        <a:accent3>
          <a:srgbClr val="FFFFFF"/>
        </a:accent3>
        <a:accent4>
          <a:srgbClr val="7D7E81"/>
        </a:accent4>
        <a:accent5>
          <a:srgbClr val="FBCCAB"/>
        </a:accent5>
        <a:accent6>
          <a:srgbClr val="D16527"/>
        </a:accent6>
        <a:hlink>
          <a:srgbClr val="A63412"/>
        </a:hlink>
        <a:folHlink>
          <a:srgbClr val="AB936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genda 14">
        <a:dk1>
          <a:srgbClr val="40232B"/>
        </a:dk1>
        <a:lt1>
          <a:srgbClr val="FFFFFF"/>
        </a:lt1>
        <a:dk2>
          <a:srgbClr val="F8F8F8"/>
        </a:dk2>
        <a:lt2>
          <a:srgbClr val="8EAB99"/>
        </a:lt2>
        <a:accent1>
          <a:srgbClr val="DEC085"/>
        </a:accent1>
        <a:accent2>
          <a:srgbClr val="F99D1E"/>
        </a:accent2>
        <a:accent3>
          <a:srgbClr val="FFFFFF"/>
        </a:accent3>
        <a:accent4>
          <a:srgbClr val="351C23"/>
        </a:accent4>
        <a:accent5>
          <a:srgbClr val="ECDCC2"/>
        </a:accent5>
        <a:accent6>
          <a:srgbClr val="E28E1A"/>
        </a:accent6>
        <a:hlink>
          <a:srgbClr val="E7702C"/>
        </a:hlink>
        <a:folHlink>
          <a:srgbClr val="A6341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Contatos1">
  <a:themeElements>
    <a:clrScheme name="Contatos1 14">
      <a:dk1>
        <a:srgbClr val="40232B"/>
      </a:dk1>
      <a:lt1>
        <a:srgbClr val="FFFFFF"/>
      </a:lt1>
      <a:dk2>
        <a:srgbClr val="F8F8F8"/>
      </a:dk2>
      <a:lt2>
        <a:srgbClr val="8EAB99"/>
      </a:lt2>
      <a:accent1>
        <a:srgbClr val="DEC085"/>
      </a:accent1>
      <a:accent2>
        <a:srgbClr val="F99D1E"/>
      </a:accent2>
      <a:accent3>
        <a:srgbClr val="FFFFFF"/>
      </a:accent3>
      <a:accent4>
        <a:srgbClr val="351C23"/>
      </a:accent4>
      <a:accent5>
        <a:srgbClr val="ECDCC2"/>
      </a:accent5>
      <a:accent6>
        <a:srgbClr val="E28E1A"/>
      </a:accent6>
      <a:hlink>
        <a:srgbClr val="E7702C"/>
      </a:hlink>
      <a:folHlink>
        <a:srgbClr val="A63412"/>
      </a:folHlink>
    </a:clrScheme>
    <a:fontScheme name="Contatos1">
      <a:majorFont>
        <a:latin typeface="Verdana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cs typeface="Arial" pitchFamily="34" charset="0"/>
          </a:defRPr>
        </a:defPPr>
      </a:lstStyle>
    </a:lnDef>
  </a:objectDefaults>
  <a:extraClrSchemeLst>
    <a:extraClrScheme>
      <a:clrScheme name="Contato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atos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atos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atos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atos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atos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atos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atos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atos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atos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atos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atos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atos1 13">
        <a:dk1>
          <a:srgbClr val="939598"/>
        </a:dk1>
        <a:lt1>
          <a:srgbClr val="FFFFFF"/>
        </a:lt1>
        <a:dk2>
          <a:srgbClr val="F8F8F8"/>
        </a:dk2>
        <a:lt2>
          <a:srgbClr val="E0D7C8"/>
        </a:lt2>
        <a:accent1>
          <a:srgbClr val="F99D1E"/>
        </a:accent1>
        <a:accent2>
          <a:srgbClr val="E7702C"/>
        </a:accent2>
        <a:accent3>
          <a:srgbClr val="FFFFFF"/>
        </a:accent3>
        <a:accent4>
          <a:srgbClr val="7D7E81"/>
        </a:accent4>
        <a:accent5>
          <a:srgbClr val="FBCCAB"/>
        </a:accent5>
        <a:accent6>
          <a:srgbClr val="D16527"/>
        </a:accent6>
        <a:hlink>
          <a:srgbClr val="A63412"/>
        </a:hlink>
        <a:folHlink>
          <a:srgbClr val="AB936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atos1 14">
        <a:dk1>
          <a:srgbClr val="40232B"/>
        </a:dk1>
        <a:lt1>
          <a:srgbClr val="FFFFFF"/>
        </a:lt1>
        <a:dk2>
          <a:srgbClr val="F8F8F8"/>
        </a:dk2>
        <a:lt2>
          <a:srgbClr val="8EAB99"/>
        </a:lt2>
        <a:accent1>
          <a:srgbClr val="DEC085"/>
        </a:accent1>
        <a:accent2>
          <a:srgbClr val="F99D1E"/>
        </a:accent2>
        <a:accent3>
          <a:srgbClr val="FFFFFF"/>
        </a:accent3>
        <a:accent4>
          <a:srgbClr val="351C23"/>
        </a:accent4>
        <a:accent5>
          <a:srgbClr val="ECDCC2"/>
        </a:accent5>
        <a:accent6>
          <a:srgbClr val="E28E1A"/>
        </a:accent6>
        <a:hlink>
          <a:srgbClr val="E7702C"/>
        </a:hlink>
        <a:folHlink>
          <a:srgbClr val="A6341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Contatos">
  <a:themeElements>
    <a:clrScheme name="Contatos 14">
      <a:dk1>
        <a:srgbClr val="40232B"/>
      </a:dk1>
      <a:lt1>
        <a:srgbClr val="FFFFFF"/>
      </a:lt1>
      <a:dk2>
        <a:srgbClr val="F8F8F8"/>
      </a:dk2>
      <a:lt2>
        <a:srgbClr val="8EAB99"/>
      </a:lt2>
      <a:accent1>
        <a:srgbClr val="DEC085"/>
      </a:accent1>
      <a:accent2>
        <a:srgbClr val="F99D1E"/>
      </a:accent2>
      <a:accent3>
        <a:srgbClr val="FFFFFF"/>
      </a:accent3>
      <a:accent4>
        <a:srgbClr val="351C23"/>
      </a:accent4>
      <a:accent5>
        <a:srgbClr val="ECDCC2"/>
      </a:accent5>
      <a:accent6>
        <a:srgbClr val="E28E1A"/>
      </a:accent6>
      <a:hlink>
        <a:srgbClr val="E7702C"/>
      </a:hlink>
      <a:folHlink>
        <a:srgbClr val="A63412"/>
      </a:folHlink>
    </a:clrScheme>
    <a:fontScheme name="Contatos">
      <a:majorFont>
        <a:latin typeface="Verdana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cs typeface="Arial" pitchFamily="34" charset="0"/>
          </a:defRPr>
        </a:defPPr>
      </a:lstStyle>
    </a:lnDef>
  </a:objectDefaults>
  <a:extraClrSchemeLst>
    <a:extraClrScheme>
      <a:clrScheme name="Contato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ato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ato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ato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ato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ato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ato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ato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ato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ato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ato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ato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atos 13">
        <a:dk1>
          <a:srgbClr val="939598"/>
        </a:dk1>
        <a:lt1>
          <a:srgbClr val="FFFFFF"/>
        </a:lt1>
        <a:dk2>
          <a:srgbClr val="F8F8F8"/>
        </a:dk2>
        <a:lt2>
          <a:srgbClr val="E0D7C8"/>
        </a:lt2>
        <a:accent1>
          <a:srgbClr val="F99D1E"/>
        </a:accent1>
        <a:accent2>
          <a:srgbClr val="E7702C"/>
        </a:accent2>
        <a:accent3>
          <a:srgbClr val="FFFFFF"/>
        </a:accent3>
        <a:accent4>
          <a:srgbClr val="7D7E81"/>
        </a:accent4>
        <a:accent5>
          <a:srgbClr val="FBCCAB"/>
        </a:accent5>
        <a:accent6>
          <a:srgbClr val="D16527"/>
        </a:accent6>
        <a:hlink>
          <a:srgbClr val="A63412"/>
        </a:hlink>
        <a:folHlink>
          <a:srgbClr val="AB936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atos 14">
        <a:dk1>
          <a:srgbClr val="40232B"/>
        </a:dk1>
        <a:lt1>
          <a:srgbClr val="FFFFFF"/>
        </a:lt1>
        <a:dk2>
          <a:srgbClr val="F8F8F8"/>
        </a:dk2>
        <a:lt2>
          <a:srgbClr val="8EAB99"/>
        </a:lt2>
        <a:accent1>
          <a:srgbClr val="DEC085"/>
        </a:accent1>
        <a:accent2>
          <a:srgbClr val="F99D1E"/>
        </a:accent2>
        <a:accent3>
          <a:srgbClr val="FFFFFF"/>
        </a:accent3>
        <a:accent4>
          <a:srgbClr val="351C23"/>
        </a:accent4>
        <a:accent5>
          <a:srgbClr val="ECDCC2"/>
        </a:accent5>
        <a:accent6>
          <a:srgbClr val="E28E1A"/>
        </a:accent6>
        <a:hlink>
          <a:srgbClr val="E7702C"/>
        </a:hlink>
        <a:folHlink>
          <a:srgbClr val="A6341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Direct Performance - Tequila Sunrise 2008 13">
    <a:dk1>
      <a:srgbClr val="939598"/>
    </a:dk1>
    <a:lt1>
      <a:srgbClr val="FFFFFF"/>
    </a:lt1>
    <a:dk2>
      <a:srgbClr val="F8F8F8"/>
    </a:dk2>
    <a:lt2>
      <a:srgbClr val="E0D7C8"/>
    </a:lt2>
    <a:accent1>
      <a:srgbClr val="F99D1E"/>
    </a:accent1>
    <a:accent2>
      <a:srgbClr val="E7702C"/>
    </a:accent2>
    <a:accent3>
      <a:srgbClr val="FFFFFF"/>
    </a:accent3>
    <a:accent4>
      <a:srgbClr val="7D7E81"/>
    </a:accent4>
    <a:accent5>
      <a:srgbClr val="FBCCAB"/>
    </a:accent5>
    <a:accent6>
      <a:srgbClr val="D16527"/>
    </a:accent6>
    <a:hlink>
      <a:srgbClr val="A63412"/>
    </a:hlink>
    <a:folHlink>
      <a:srgbClr val="AB9367"/>
    </a:folHlink>
  </a:clrScheme>
</a:themeOverride>
</file>

<file path=ppt/theme/themeOverride2.xml><?xml version="1.0" encoding="utf-8"?>
<a:themeOverride xmlns:a="http://schemas.openxmlformats.org/drawingml/2006/main">
  <a:clrScheme name="Contatos 13">
    <a:dk1>
      <a:srgbClr val="939598"/>
    </a:dk1>
    <a:lt1>
      <a:srgbClr val="FFFFFF"/>
    </a:lt1>
    <a:dk2>
      <a:srgbClr val="F8F8F8"/>
    </a:dk2>
    <a:lt2>
      <a:srgbClr val="E0D7C8"/>
    </a:lt2>
    <a:accent1>
      <a:srgbClr val="F99D1E"/>
    </a:accent1>
    <a:accent2>
      <a:srgbClr val="E7702C"/>
    </a:accent2>
    <a:accent3>
      <a:srgbClr val="FFFFFF"/>
    </a:accent3>
    <a:accent4>
      <a:srgbClr val="7D7E81"/>
    </a:accent4>
    <a:accent5>
      <a:srgbClr val="FBCCAB"/>
    </a:accent5>
    <a:accent6>
      <a:srgbClr val="D16527"/>
    </a:accent6>
    <a:hlink>
      <a:srgbClr val="A63412"/>
    </a:hlink>
    <a:folHlink>
      <a:srgbClr val="AB936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Direct Performance - Tequila Sunrise 2010</Template>
  <TotalTime>1689</TotalTime>
  <Words>1820</Words>
  <Application>Microsoft Office PowerPoint</Application>
  <PresentationFormat>Custom</PresentationFormat>
  <Paragraphs>382</Paragraphs>
  <Slides>45</Slides>
  <Notes>21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Direct Performance - Tequila Sunrise 2010</vt:lpstr>
      <vt:lpstr>Agenda</vt:lpstr>
      <vt:lpstr>Contatos1</vt:lpstr>
      <vt:lpstr>Contatos</vt:lpstr>
      <vt:lpstr>Otimização de Landing Pages</vt:lpstr>
      <vt:lpstr>Agenda</vt:lpstr>
      <vt:lpstr>O que é uma Landing Page?</vt:lpstr>
      <vt:lpstr>Qual deve ser minha Landing Page de Campanha????</vt:lpstr>
      <vt:lpstr>Sempre usar uma Página com Call to Action!</vt:lpstr>
      <vt:lpstr>Ainda podemos customizar a Landing Page conforme o Target de sua Campanha ...</vt:lpstr>
      <vt:lpstr>Você sabe quais são as principais Landing Pages de seu Site????</vt:lpstr>
      <vt:lpstr>Cuidado!!! Elas podem te surpreender ....</vt:lpstr>
      <vt:lpstr>Ok! E como eu sei quais são minhas principais Landing Pages??? </vt:lpstr>
      <vt:lpstr>Slide 10</vt:lpstr>
      <vt:lpstr>Slide 11</vt:lpstr>
      <vt:lpstr>Humm ... Temos algumas métricas importantes para Landing Pages ...</vt:lpstr>
      <vt:lpstr>Agenda</vt:lpstr>
      <vt:lpstr>A resposta é muito simples ....</vt:lpstr>
      <vt:lpstr>E se você pegar o Gosto pela Otimização ....</vt:lpstr>
      <vt:lpstr>Também é possível otimizar o Formulário de Conversão de seu Site ....</vt:lpstr>
      <vt:lpstr>Bom, já falamos muito!!! Vamos colocar a mão na massa ... </vt:lpstr>
      <vt:lpstr>Agenda</vt:lpstr>
      <vt:lpstr>Já podemos criar uma Landing Page utilizando algumas “Boas Práticas” ... </vt:lpstr>
      <vt:lpstr>Bananadas: Um Case de Sucesso!</vt:lpstr>
      <vt:lpstr>Tenha certeza que seu CTA está visível para a maioria dos usuários</vt:lpstr>
      <vt:lpstr>Estudos de Eye Tracking podem antecipar tendências ....</vt:lpstr>
      <vt:lpstr>Agenda</vt:lpstr>
      <vt:lpstr>Tipos de teste</vt:lpstr>
      <vt:lpstr>Antes/Depois é fácil de testar porém muitos pontos podem influenciar o resultado</vt:lpstr>
      <vt:lpstr>Teste A/B são ótimos para testar grandes alterações de layout </vt:lpstr>
      <vt:lpstr>Slide 27</vt:lpstr>
      <vt:lpstr>Bacana! Mas, como eu faço um teste A/B??? </vt:lpstr>
      <vt:lpstr>É muito simples!!! </vt:lpstr>
      <vt:lpstr>E se eu quiser testar um número maior de variações??? </vt:lpstr>
      <vt:lpstr>Bingo! Temos o Teste Multivariável ...</vt:lpstr>
      <vt:lpstr>Veja na prática ... Case Taylor Woodrow España</vt:lpstr>
      <vt:lpstr>Veja na prática ... Case Taylor Woodrow España</vt:lpstr>
      <vt:lpstr>Xiii ... Agora cumplicou!!!  </vt:lpstr>
      <vt:lpstr>Nada! É tão simples quanto o teste A/B!</vt:lpstr>
      <vt:lpstr>Após algum tempo você verá os relatórios com resultados ...</vt:lpstr>
      <vt:lpstr>Temos várias ferramentas disponíveis ... </vt:lpstr>
      <vt:lpstr>Agenda</vt:lpstr>
      <vt:lpstr>Slide 39</vt:lpstr>
      <vt:lpstr>Existem diversos tipos de Targeting que podem melhorar a performance ... </vt:lpstr>
      <vt:lpstr>Rede de Segmentação com o </vt:lpstr>
      <vt:lpstr>Além de tudo isso, ainda podemos fazer testes segmentados por Target!!!!</vt:lpstr>
      <vt:lpstr>Webtrends insights usa teste multivariável para entregar Targeting</vt:lpstr>
      <vt:lpstr>Gerson Ribeiro gerson.ribeiro@directperformance.com.br @gerson_ribeiro </vt:lpstr>
      <vt:lpstr>Slide 45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Otimização de Landing Pages</dc:title>
  <dc:creator>Eduardo Cereto Carvalho</dc:creator>
  <cp:lastModifiedBy>gerson.ribeiro</cp:lastModifiedBy>
  <cp:revision>159</cp:revision>
  <dcterms:created xsi:type="dcterms:W3CDTF">2010-07-18T21:24:23Z</dcterms:created>
  <dcterms:modified xsi:type="dcterms:W3CDTF">2010-07-28T02:51:28Z</dcterms:modified>
</cp:coreProperties>
</file>