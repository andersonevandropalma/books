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39" r:id="rId2"/>
    <p:sldId id="343" r:id="rId3"/>
    <p:sldId id="257" r:id="rId4"/>
    <p:sldId id="311" r:id="rId5"/>
    <p:sldId id="344" r:id="rId6"/>
    <p:sldId id="369" r:id="rId7"/>
    <p:sldId id="294" r:id="rId8"/>
    <p:sldId id="291" r:id="rId9"/>
    <p:sldId id="330" r:id="rId10"/>
    <p:sldId id="358" r:id="rId11"/>
    <p:sldId id="363" r:id="rId12"/>
    <p:sldId id="364" r:id="rId13"/>
    <p:sldId id="357" r:id="rId14"/>
    <p:sldId id="370" r:id="rId15"/>
    <p:sldId id="371" r:id="rId16"/>
    <p:sldId id="365" r:id="rId17"/>
    <p:sldId id="346" r:id="rId18"/>
    <p:sldId id="361" r:id="rId19"/>
    <p:sldId id="359" r:id="rId20"/>
    <p:sldId id="367" r:id="rId21"/>
    <p:sldId id="368" r:id="rId22"/>
    <p:sldId id="352" r:id="rId23"/>
    <p:sldId id="353" r:id="rId24"/>
    <p:sldId id="354" r:id="rId25"/>
    <p:sldId id="355" r:id="rId26"/>
    <p:sldId id="372" r:id="rId27"/>
    <p:sldId id="34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ssica.rodrigue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163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-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7" d="100"/>
        <a:sy n="137" d="100"/>
      </p:scale>
      <p:origin x="0" y="18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handoutMaster" Target="handoutMasters/handoutMaster1.xml"/><Relationship Id="rId31" Type="http://schemas.openxmlformats.org/officeDocument/2006/relationships/printerSettings" Target="printerSettings/printerSettings1.bin"/><Relationship Id="rId32" Type="http://schemas.openxmlformats.org/officeDocument/2006/relationships/commentAuthors" Target="commentAuthor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F521C-A6B4-F34B-BAD6-0BA18D3A77C9}" type="doc">
      <dgm:prSet loTypeId="urn:microsoft.com/office/officeart/2005/8/layout/pyramid3" loCatId="" qsTypeId="urn:microsoft.com/office/officeart/2005/8/quickstyle/simple2" qsCatId="simple" csTypeId="urn:microsoft.com/office/officeart/2005/8/colors/colorful4" csCatId="colorful" phldr="1"/>
      <dgm:spPr/>
    </dgm:pt>
    <dgm:pt modelId="{5ABD8E87-CD9F-E44B-9872-515B24915A43}">
      <dgm:prSet phldrT="[Text]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000" b="1">
            <a:solidFill>
              <a:schemeClr val="tx2">
                <a:lumMod val="75000"/>
              </a:schemeClr>
            </a:solidFill>
          </a:endParaRPr>
        </a:p>
      </dgm:t>
    </dgm:pt>
    <dgm:pt modelId="{78CDC98F-E0FB-3F43-B6D1-111D987A9A10}" type="parTrans" cxnId="{81390E1F-52D5-1B49-BD49-09FC15A5FDD7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6EDA079E-B6EC-E340-ABAA-9B2ED5C8F5CE}" type="sibTrans" cxnId="{81390E1F-52D5-1B49-BD49-09FC15A5FDD7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C52CD5B-18A2-3F47-ABDA-3868695A623B}">
      <dgm:prSet phldrT="[Text]" custT="1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lnSpc>
              <a:spcPct val="70000"/>
            </a:lnSpc>
          </a:pPr>
          <a:endParaRPr lang="en-US" sz="1800" b="1">
            <a:solidFill>
              <a:schemeClr val="accent3">
                <a:lumMod val="50000"/>
              </a:schemeClr>
            </a:solidFill>
          </a:endParaRPr>
        </a:p>
      </dgm:t>
    </dgm:pt>
    <dgm:pt modelId="{00534FF2-60C8-A945-B8F4-341B40E404AB}" type="parTrans" cxnId="{2D1BD5C0-B720-D24A-AD35-E2EB1C555195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FC9E847-A54D-7745-811C-A570142532D0}" type="sibTrans" cxnId="{2D1BD5C0-B720-D24A-AD35-E2EB1C555195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2883C59-1342-594E-81F1-53C180D497FE}">
      <dgm:prSet phldrT="[Text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 sz="2000" b="1">
            <a:solidFill>
              <a:schemeClr val="accent6">
                <a:lumMod val="50000"/>
              </a:schemeClr>
            </a:solidFill>
          </a:endParaRPr>
        </a:p>
      </dgm:t>
    </dgm:pt>
    <dgm:pt modelId="{9FCB7C32-75E5-3645-83BE-BDD55C75C0AC}" type="parTrans" cxnId="{6BC77C5F-29DC-C044-90B6-795589892407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EC5C571-A635-414A-9B86-92A356DEF1EE}" type="sibTrans" cxnId="{6BC77C5F-29DC-C044-90B6-795589892407}">
      <dgm:prSet/>
      <dgm:spPr/>
      <dgm:t>
        <a:bodyPr/>
        <a:lstStyle/>
        <a:p>
          <a:endParaRPr lang="en-US" sz="1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7F11A11C-D2DE-3048-B003-A9DFCA14E899}" type="pres">
      <dgm:prSet presAssocID="{D25F521C-A6B4-F34B-BAD6-0BA18D3A77C9}" presName="Name0" presStyleCnt="0">
        <dgm:presLayoutVars>
          <dgm:dir/>
          <dgm:animLvl val="lvl"/>
          <dgm:resizeHandles val="exact"/>
        </dgm:presLayoutVars>
      </dgm:prSet>
      <dgm:spPr/>
    </dgm:pt>
    <dgm:pt modelId="{6ADFD888-C2CA-C241-A40B-050EBDAB98D9}" type="pres">
      <dgm:prSet presAssocID="{5ABD8E87-CD9F-E44B-9872-515B24915A43}" presName="Name8" presStyleCnt="0"/>
      <dgm:spPr/>
    </dgm:pt>
    <dgm:pt modelId="{C41399A6-CEC8-634B-BF00-8A14E9BE8A8E}" type="pres">
      <dgm:prSet presAssocID="{5ABD8E87-CD9F-E44B-9872-515B24915A43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F752EF-FACE-314B-8194-37ED571BAEF3}" type="pres">
      <dgm:prSet presAssocID="{5ABD8E87-CD9F-E44B-9872-515B24915A43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AC5356-4D10-EA43-A101-0C40E7428297}" type="pres">
      <dgm:prSet presAssocID="{DC52CD5B-18A2-3F47-ABDA-3868695A623B}" presName="Name8" presStyleCnt="0"/>
      <dgm:spPr/>
    </dgm:pt>
    <dgm:pt modelId="{0D2619C6-D5B0-FE46-834C-654D9CB87A1C}" type="pres">
      <dgm:prSet presAssocID="{DC52CD5B-18A2-3F47-ABDA-3868695A623B}" presName="level" presStyleLbl="node1" presStyleIdx="1" presStyleCnt="3" custLinFactNeighborX="-2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4376A1-B9CB-7B48-B8E0-576CE503AB7C}" type="pres">
      <dgm:prSet presAssocID="{DC52CD5B-18A2-3F47-ABDA-3868695A623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F026BB-A297-4840-8ADF-DA2E7A6E2F0C}" type="pres">
      <dgm:prSet presAssocID="{32883C59-1342-594E-81F1-53C180D497FE}" presName="Name8" presStyleCnt="0"/>
      <dgm:spPr/>
    </dgm:pt>
    <dgm:pt modelId="{12A912C9-6744-A141-A94E-AC0340D80091}" type="pres">
      <dgm:prSet presAssocID="{32883C59-1342-594E-81F1-53C180D497FE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28F21D-F538-8E4A-A28E-EB430243EF4B}" type="pres">
      <dgm:prSet presAssocID="{32883C59-1342-594E-81F1-53C180D497F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C77C5F-29DC-C044-90B6-795589892407}" srcId="{D25F521C-A6B4-F34B-BAD6-0BA18D3A77C9}" destId="{32883C59-1342-594E-81F1-53C180D497FE}" srcOrd="2" destOrd="0" parTransId="{9FCB7C32-75E5-3645-83BE-BDD55C75C0AC}" sibTransId="{1EC5C571-A635-414A-9B86-92A356DEF1EE}"/>
    <dgm:cxn modelId="{0BF49616-82F9-4B4C-8699-C716E12157EC}" type="presOf" srcId="{DC52CD5B-18A2-3F47-ABDA-3868695A623B}" destId="{784376A1-B9CB-7B48-B8E0-576CE503AB7C}" srcOrd="1" destOrd="0" presId="urn:microsoft.com/office/officeart/2005/8/layout/pyramid3"/>
    <dgm:cxn modelId="{2BFDC04C-AA06-AF42-860D-61DF64BDE1FE}" type="presOf" srcId="{D25F521C-A6B4-F34B-BAD6-0BA18D3A77C9}" destId="{7F11A11C-D2DE-3048-B003-A9DFCA14E899}" srcOrd="0" destOrd="0" presId="urn:microsoft.com/office/officeart/2005/8/layout/pyramid3"/>
    <dgm:cxn modelId="{81390E1F-52D5-1B49-BD49-09FC15A5FDD7}" srcId="{D25F521C-A6B4-F34B-BAD6-0BA18D3A77C9}" destId="{5ABD8E87-CD9F-E44B-9872-515B24915A43}" srcOrd="0" destOrd="0" parTransId="{78CDC98F-E0FB-3F43-B6D1-111D987A9A10}" sibTransId="{6EDA079E-B6EC-E340-ABAA-9B2ED5C8F5CE}"/>
    <dgm:cxn modelId="{472B5DAE-C176-3444-8328-436216413110}" type="presOf" srcId="{32883C59-1342-594E-81F1-53C180D497FE}" destId="{0D28F21D-F538-8E4A-A28E-EB430243EF4B}" srcOrd="1" destOrd="0" presId="urn:microsoft.com/office/officeart/2005/8/layout/pyramid3"/>
    <dgm:cxn modelId="{A9E7E8E3-8CC8-CB42-8962-13F755B9E94C}" type="presOf" srcId="{5ABD8E87-CD9F-E44B-9872-515B24915A43}" destId="{EBF752EF-FACE-314B-8194-37ED571BAEF3}" srcOrd="1" destOrd="0" presId="urn:microsoft.com/office/officeart/2005/8/layout/pyramid3"/>
    <dgm:cxn modelId="{5B56352E-EF0B-5F4D-834E-AE3303084A90}" type="presOf" srcId="{DC52CD5B-18A2-3F47-ABDA-3868695A623B}" destId="{0D2619C6-D5B0-FE46-834C-654D9CB87A1C}" srcOrd="0" destOrd="0" presId="urn:microsoft.com/office/officeart/2005/8/layout/pyramid3"/>
    <dgm:cxn modelId="{2D1BD5C0-B720-D24A-AD35-E2EB1C555195}" srcId="{D25F521C-A6B4-F34B-BAD6-0BA18D3A77C9}" destId="{DC52CD5B-18A2-3F47-ABDA-3868695A623B}" srcOrd="1" destOrd="0" parTransId="{00534FF2-60C8-A945-B8F4-341B40E404AB}" sibTransId="{DFC9E847-A54D-7745-811C-A570142532D0}"/>
    <dgm:cxn modelId="{BA5507FD-91C6-5A41-81C2-B8CF64151ED9}" type="presOf" srcId="{32883C59-1342-594E-81F1-53C180D497FE}" destId="{12A912C9-6744-A141-A94E-AC0340D80091}" srcOrd="0" destOrd="0" presId="urn:microsoft.com/office/officeart/2005/8/layout/pyramid3"/>
    <dgm:cxn modelId="{B9CCB579-D964-BC44-8AD7-8D5864DB7F95}" type="presOf" srcId="{5ABD8E87-CD9F-E44B-9872-515B24915A43}" destId="{C41399A6-CEC8-634B-BF00-8A14E9BE8A8E}" srcOrd="0" destOrd="0" presId="urn:microsoft.com/office/officeart/2005/8/layout/pyramid3"/>
    <dgm:cxn modelId="{5637D016-AC3A-6548-B4B5-47F732363805}" type="presParOf" srcId="{7F11A11C-D2DE-3048-B003-A9DFCA14E899}" destId="{6ADFD888-C2CA-C241-A40B-050EBDAB98D9}" srcOrd="0" destOrd="0" presId="urn:microsoft.com/office/officeart/2005/8/layout/pyramid3"/>
    <dgm:cxn modelId="{5435EC48-C0CA-CC4B-8C73-298B147AEC71}" type="presParOf" srcId="{6ADFD888-C2CA-C241-A40B-050EBDAB98D9}" destId="{C41399A6-CEC8-634B-BF00-8A14E9BE8A8E}" srcOrd="0" destOrd="0" presId="urn:microsoft.com/office/officeart/2005/8/layout/pyramid3"/>
    <dgm:cxn modelId="{4FA3E956-D859-9947-8EA0-FC7D645627EA}" type="presParOf" srcId="{6ADFD888-C2CA-C241-A40B-050EBDAB98D9}" destId="{EBF752EF-FACE-314B-8194-37ED571BAEF3}" srcOrd="1" destOrd="0" presId="urn:microsoft.com/office/officeart/2005/8/layout/pyramid3"/>
    <dgm:cxn modelId="{C8ACD6DA-A252-C241-9774-38D57B51ADA7}" type="presParOf" srcId="{7F11A11C-D2DE-3048-B003-A9DFCA14E899}" destId="{3FAC5356-4D10-EA43-A101-0C40E7428297}" srcOrd="1" destOrd="0" presId="urn:microsoft.com/office/officeart/2005/8/layout/pyramid3"/>
    <dgm:cxn modelId="{8BD46B76-C960-4347-A241-AFEA26072F45}" type="presParOf" srcId="{3FAC5356-4D10-EA43-A101-0C40E7428297}" destId="{0D2619C6-D5B0-FE46-834C-654D9CB87A1C}" srcOrd="0" destOrd="0" presId="urn:microsoft.com/office/officeart/2005/8/layout/pyramid3"/>
    <dgm:cxn modelId="{FDA80A28-8913-F24D-9EBA-7B8AEDEF74C1}" type="presParOf" srcId="{3FAC5356-4D10-EA43-A101-0C40E7428297}" destId="{784376A1-B9CB-7B48-B8E0-576CE503AB7C}" srcOrd="1" destOrd="0" presId="urn:microsoft.com/office/officeart/2005/8/layout/pyramid3"/>
    <dgm:cxn modelId="{DD82580F-20CE-BB4D-92FB-6BCE2CDED867}" type="presParOf" srcId="{7F11A11C-D2DE-3048-B003-A9DFCA14E899}" destId="{4FF026BB-A297-4840-8ADF-DA2E7A6E2F0C}" srcOrd="2" destOrd="0" presId="urn:microsoft.com/office/officeart/2005/8/layout/pyramid3"/>
    <dgm:cxn modelId="{EF921C52-D888-9249-A11A-BAF59E783ED8}" type="presParOf" srcId="{4FF026BB-A297-4840-8ADF-DA2E7A6E2F0C}" destId="{12A912C9-6744-A141-A94E-AC0340D80091}" srcOrd="0" destOrd="0" presId="urn:microsoft.com/office/officeart/2005/8/layout/pyramid3"/>
    <dgm:cxn modelId="{079093B6-2FB2-584E-8BB9-1A6B8D6083BC}" type="presParOf" srcId="{4FF026BB-A297-4840-8ADF-DA2E7A6E2F0C}" destId="{0D28F21D-F538-8E4A-A28E-EB430243EF4B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1399A6-CEC8-634B-BF00-8A14E9BE8A8E}">
      <dsp:nvSpPr>
        <dsp:cNvPr id="0" name=""/>
        <dsp:cNvSpPr/>
      </dsp:nvSpPr>
      <dsp:spPr>
        <a:xfrm rot="10800000">
          <a:off x="0" y="0"/>
          <a:ext cx="6944349" cy="1543188"/>
        </a:xfrm>
        <a:prstGeom prst="trapezoid">
          <a:avLst>
            <a:gd name="adj" fmla="val 75000"/>
          </a:avLst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>
            <a:solidFill>
              <a:schemeClr val="tx2">
                <a:lumMod val="75000"/>
              </a:schemeClr>
            </a:solidFill>
          </a:endParaRPr>
        </a:p>
      </dsp:txBody>
      <dsp:txXfrm rot="-10800000">
        <a:off x="1215261" y="0"/>
        <a:ext cx="4513826" cy="1543188"/>
      </dsp:txXfrm>
    </dsp:sp>
    <dsp:sp modelId="{0D2619C6-D5B0-FE46-834C-654D9CB87A1C}">
      <dsp:nvSpPr>
        <dsp:cNvPr id="0" name=""/>
        <dsp:cNvSpPr/>
      </dsp:nvSpPr>
      <dsp:spPr>
        <a:xfrm rot="10800000">
          <a:off x="1147530" y="1543188"/>
          <a:ext cx="4629566" cy="1543188"/>
        </a:xfrm>
        <a:prstGeom prst="trapezoid">
          <a:avLst>
            <a:gd name="adj" fmla="val 75000"/>
          </a:avLst>
        </a:prstGeom>
        <a:solidFill>
          <a:schemeClr val="accent3"/>
        </a:solidFill>
        <a:ln w="25400" cap="flat" cmpd="sng" algn="ctr">
          <a:solidFill>
            <a:schemeClr val="accent3">
              <a:shade val="50000"/>
            </a:schemeClr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>
            <a:solidFill>
              <a:schemeClr val="accent3">
                <a:lumMod val="50000"/>
              </a:schemeClr>
            </a:solidFill>
          </a:endParaRPr>
        </a:p>
      </dsp:txBody>
      <dsp:txXfrm rot="-10800000">
        <a:off x="1957704" y="1543188"/>
        <a:ext cx="3009217" cy="1543188"/>
      </dsp:txXfrm>
    </dsp:sp>
    <dsp:sp modelId="{12A912C9-6744-A141-A94E-AC0340D80091}">
      <dsp:nvSpPr>
        <dsp:cNvPr id="0" name=""/>
        <dsp:cNvSpPr/>
      </dsp:nvSpPr>
      <dsp:spPr>
        <a:xfrm rot="10800000">
          <a:off x="2314782" y="3086376"/>
          <a:ext cx="2314783" cy="1543188"/>
        </a:xfrm>
        <a:prstGeom prst="trapezoid">
          <a:avLst>
            <a:gd name="adj" fmla="val 75000"/>
          </a:avLst>
        </a:prstGeom>
        <a:solidFill>
          <a:schemeClr val="accent6"/>
        </a:solidFill>
        <a:ln w="2540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>
            <a:solidFill>
              <a:schemeClr val="accent6">
                <a:lumMod val="50000"/>
              </a:schemeClr>
            </a:solidFill>
          </a:endParaRPr>
        </a:p>
      </dsp:txBody>
      <dsp:txXfrm rot="-10800000">
        <a:off x="2314782" y="3086376"/>
        <a:ext cx="2314783" cy="1543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75601-8EF4-D446-9CF4-8E7DA02D52A4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7A20D-FE1A-8047-9C97-B96AEF6A9E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367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96D5A-C2F5-2D4B-B3BF-F3E1B886C2D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E6B03-4C49-BA45-A36A-A9DEFE450C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30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E6B03-4C49-BA45-A36A-A9DEFE450C7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E6B03-4C49-BA45-A36A-A9DEFE450C7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E6B03-4C49-BA45-A36A-A9DEFE450C7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E6B03-4C49-BA45-A36A-A9DEFE450C7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E6B03-4C49-BA45-A36A-A9DEFE450C7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9849"/>
            <a:ext cx="77724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5624"/>
            <a:ext cx="6400800" cy="1441255"/>
          </a:xfrm>
        </p:spPr>
        <p:txBody>
          <a:bodyPr/>
          <a:lstStyle>
            <a:lvl1pPr marL="0" indent="0" algn="ctr">
              <a:buNone/>
              <a:defRPr>
                <a:solidFill>
                  <a:srgbClr val="595959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57633" y="387673"/>
            <a:ext cx="4362611" cy="1293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58ED5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Treinamento interno.</a:t>
            </a:r>
          </a:p>
          <a:p>
            <a:r>
              <a:rPr lang="en-GB" smtClean="0"/>
              <a:t>Propriedade privada e confidencial.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03/05/2010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03/05/2010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59FEE-C65A-2A43-8385-E4559EB67D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adastra_logo_fundobranco3.pd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9996" y="6198165"/>
            <a:ext cx="1765299" cy="5233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963"/>
            <a:ext cx="8229600" cy="995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44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3366"/>
          </a:solidFill>
          <a:latin typeface="Franklin Gothic Medium"/>
          <a:ea typeface="+mj-ea"/>
          <a:cs typeface="Franklin Gothic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>
              <a:lumMod val="60000"/>
              <a:lumOff val="40000"/>
            </a:schemeClr>
          </a:solidFill>
          <a:latin typeface="Franklin Gothic Medium"/>
          <a:ea typeface="+mn-ea"/>
          <a:cs typeface="Franklin Gothic Medium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595959"/>
          </a:solidFill>
          <a:latin typeface="Franklin Gothic Medium"/>
          <a:ea typeface="+mn-ea"/>
          <a:cs typeface="Franklin Gothic Medium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95959"/>
          </a:solidFill>
          <a:latin typeface="Franklin Gothic Medium"/>
          <a:ea typeface="+mn-ea"/>
          <a:cs typeface="Franklin Gothic Medium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95959"/>
          </a:solidFill>
          <a:latin typeface="Franklin Gothic Medium"/>
          <a:ea typeface="+mn-ea"/>
          <a:cs typeface="Franklin Gothic Medium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95959"/>
          </a:solidFill>
          <a:latin typeface="Franklin Gothic Medium"/>
          <a:ea typeface="+mn-ea"/>
          <a:cs typeface="Franklin Gothic Medium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png"/><Relationship Id="rId5" Type="http://schemas.openxmlformats.org/officeDocument/2006/relationships/hyperlink" Target="http://mz.cm/FatoresSEO" TargetMode="External"/><Relationship Id="rId6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bit.ly/PubliGoogle" TargetMode="External"/><Relationship Id="rId3" Type="http://schemas.openxmlformats.org/officeDocument/2006/relationships/image" Target="../media/image2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zillow.com/webtools/" TargetMode="External"/><Relationship Id="rId3" Type="http://schemas.openxmlformats.org/officeDocument/2006/relationships/image" Target="../media/image3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pi.skyscanner.net/api/integration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4" Type="http://schemas.openxmlformats.org/officeDocument/2006/relationships/image" Target="../media/image39.jpeg"/><Relationship Id="rId5" Type="http://schemas.openxmlformats.org/officeDocument/2006/relationships/image" Target="../media/image40.jpeg"/><Relationship Id="rId6" Type="http://schemas.openxmlformats.org/officeDocument/2006/relationships/image" Target="../media/image41.jpeg"/><Relationship Id="rId7" Type="http://schemas.openxmlformats.org/officeDocument/2006/relationships/image" Target="../media/image42.jpeg"/><Relationship Id="rId8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4" Type="http://schemas.openxmlformats.org/officeDocument/2006/relationships/image" Target="../media/image47.jpeg"/><Relationship Id="rId5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cadastra.com.br" TargetMode="External"/><Relationship Id="rId3" Type="http://schemas.openxmlformats.org/officeDocument/2006/relationships/hyperlink" Target="mailto:gustavo@cadastra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22173"/>
            <a:ext cx="7772400" cy="1470025"/>
          </a:xfrm>
        </p:spPr>
        <p:txBody>
          <a:bodyPr/>
          <a:lstStyle/>
          <a:p>
            <a:r>
              <a:rPr lang="en-US" smtClean="0"/>
              <a:t>Estratégias de SEO e Link Building para E-commerce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71497"/>
            <a:ext cx="6400800" cy="1688080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Gustavo Bacchin</a:t>
            </a:r>
          </a:p>
          <a:p>
            <a:r>
              <a:rPr lang="en-US" sz="2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Co-Fundador e Diretor de Operações</a:t>
            </a:r>
          </a:p>
          <a:p>
            <a:r>
              <a:rPr lang="en-US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@gustavobacchin</a:t>
            </a:r>
            <a:endParaRPr 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sz="1600" dirty="0" err="1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18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Março 2012</a:t>
            </a:r>
            <a:endParaRPr lang="en-US" sz="18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265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s_u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1251"/>
            <a:ext cx="9144000" cy="4969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0787" y="5453678"/>
            <a:ext cx="27879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</a:rPr>
              <a:t>http://www.flickr.com/photos/wareinholgado/5856076598/</a:t>
            </a:r>
          </a:p>
        </p:txBody>
      </p:sp>
    </p:spTree>
    <p:extLst>
      <p:ext uri="{BB962C8B-B14F-4D97-AF65-F5344CB8AC3E}">
        <p14:creationId xmlns:p14="http://schemas.microsoft.com/office/powerpoint/2010/main" val="1476433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 smtClean="0"/>
              <a:t>Agenda de Hoje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1573"/>
            <a:ext cx="8229600" cy="4459740"/>
          </a:xfrm>
        </p:spPr>
        <p:txBody>
          <a:bodyPr>
            <a:noAutofit/>
          </a:bodyPr>
          <a:lstStyle/>
          <a:p>
            <a:r>
              <a:rPr lang="en-US" err="1" smtClean="0"/>
              <a:t>Por</a:t>
            </a:r>
            <a:r>
              <a:rPr lang="en-US" smtClean="0"/>
              <a:t> </a:t>
            </a:r>
            <a:r>
              <a:rPr lang="en-US" err="1" smtClean="0"/>
              <a:t>que</a:t>
            </a:r>
            <a:r>
              <a:rPr lang="en-US" smtClean="0"/>
              <a:t> Links?</a:t>
            </a:r>
          </a:p>
          <a:p>
            <a:r>
              <a:rPr lang="en-US"/>
              <a:t>Planejamento</a:t>
            </a:r>
          </a:p>
          <a:p>
            <a:r>
              <a:rPr lang="en-US"/>
              <a:t>O Que é um Link de Qualidade?</a:t>
            </a:r>
          </a:p>
          <a:p>
            <a:r>
              <a:rPr lang="en-US"/>
              <a:t>Os Desafios do E-commerce</a:t>
            </a:r>
          </a:p>
          <a:p>
            <a:r>
              <a:rPr lang="en-US" smtClean="0"/>
              <a:t>Táticas Externas</a:t>
            </a:r>
          </a:p>
          <a:p>
            <a:r>
              <a:rPr lang="en-US"/>
              <a:t>Os Ativos Linkáveis</a:t>
            </a:r>
          </a:p>
          <a:p>
            <a:r>
              <a:rPr lang="en-US" smtClean="0"/>
              <a:t>Táticas Internas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162"/>
            <a:ext cx="8229600" cy="928593"/>
          </a:xfrm>
        </p:spPr>
        <p:txBody>
          <a:bodyPr>
            <a:normAutofit/>
          </a:bodyPr>
          <a:lstStyle/>
          <a:p>
            <a:r>
              <a:rPr lang="en-US" smtClean="0"/>
              <a:t>Por que Links?</a:t>
            </a:r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29" y="1729523"/>
            <a:ext cx="2244986" cy="14648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45" descr="800px-PageRank-hi-r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900" y="1585571"/>
            <a:ext cx="4185415" cy="322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959" y="3608461"/>
            <a:ext cx="4188817" cy="204160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944674" y="5664372"/>
            <a:ext cx="2775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Franklin Gothic Medium"/>
                <a:cs typeface="Franklin Gothic Medium"/>
                <a:hlinkClick r:id="rId5"/>
              </a:rPr>
              <a:t>http://mz.cm/FatoresSEO</a:t>
            </a:r>
            <a:endParaRPr lang="en-US">
              <a:latin typeface="Franklin Gothic Medium"/>
              <a:cs typeface="Franklin Gothic Medium"/>
            </a:endParaRPr>
          </a:p>
        </p:txBody>
      </p:sp>
      <p:pic>
        <p:nvPicPr>
          <p:cNvPr id="9" name="Picture 5" descr="googlepr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84124" y="1478478"/>
            <a:ext cx="1403421" cy="1403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1851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 Pirâmide Invertida de SEO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12235520"/>
              </p:ext>
            </p:extLst>
          </p:nvPr>
        </p:nvGraphicFramePr>
        <p:xfrm>
          <a:off x="1122399" y="1384853"/>
          <a:ext cx="6944349" cy="4629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31502" y="4474690"/>
            <a:ext cx="19014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sz="2800">
                <a:solidFill>
                  <a:srgbClr val="FFFFFF"/>
                </a:solidFill>
              </a:rPr>
              <a:t>Tecnologia</a:t>
            </a:r>
            <a:endParaRPr lang="en-US" sz="2400">
              <a:solidFill>
                <a:srgbClr val="FFFFFF"/>
              </a:solidFill>
            </a:endParaRPr>
          </a:p>
          <a:p>
            <a:pPr lvl="0" algn="ctr"/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Plataforma</a:t>
            </a:r>
          </a:p>
          <a:p>
            <a:pPr lvl="0" algn="ctr"/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0471" y="3045952"/>
            <a:ext cx="31949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sz="3600">
                <a:solidFill>
                  <a:srgbClr val="FFFFFF"/>
                </a:solidFill>
              </a:rPr>
              <a:t>Conteúdo</a:t>
            </a:r>
            <a: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b="1">
                <a:solidFill>
                  <a:schemeClr val="accent3">
                    <a:lumMod val="50000"/>
                  </a:schemeClr>
                </a:solidFill>
              </a:rPr>
              <a:t>Texto, Imagens, Vídeos, etc</a:t>
            </a:r>
          </a:p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57312" y="1555456"/>
            <a:ext cx="2417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sz="3600">
                <a:solidFill>
                  <a:srgbClr val="FFFFFF"/>
                </a:solidFill>
              </a:rPr>
              <a:t>Reputação</a:t>
            </a:r>
          </a:p>
          <a:p>
            <a:pPr lvl="0" algn="ctr"/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Links Externos</a:t>
            </a:r>
          </a:p>
          <a:p>
            <a:pPr lvl="0" algn="ctr"/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Redes Sociais</a:t>
            </a:r>
          </a:p>
        </p:txBody>
      </p:sp>
    </p:spTree>
    <p:extLst>
      <p:ext uri="{BB962C8B-B14F-4D97-AF65-F5344CB8AC3E}">
        <p14:creationId xmlns:p14="http://schemas.microsoft.com/office/powerpoint/2010/main" val="100473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Planejamento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O “</a:t>
            </a:r>
            <a:r>
              <a:rPr lang="en-US" sz="3600" b="1" dirty="0"/>
              <a:t>VAVA”</a:t>
            </a:r>
            <a:r>
              <a:rPr lang="en-US" sz="3600" dirty="0"/>
              <a:t> do Link Building</a:t>
            </a:r>
          </a:p>
          <a:p>
            <a:pPr lvl="1" algn="just"/>
            <a:r>
              <a:rPr lang="en-US" dirty="0">
                <a:solidFill>
                  <a:srgbClr val="E46C0A"/>
                </a:solidFill>
              </a:rPr>
              <a:t>Velocity (</a:t>
            </a:r>
            <a:r>
              <a:rPr lang="en-US" dirty="0" err="1">
                <a:solidFill>
                  <a:srgbClr val="E46C0A"/>
                </a:solidFill>
              </a:rPr>
              <a:t>Velocidade</a:t>
            </a:r>
            <a:r>
              <a:rPr lang="en-US" dirty="0">
                <a:solidFill>
                  <a:srgbClr val="E46C0A"/>
                </a:solidFill>
              </a:rPr>
              <a:t>): </a:t>
            </a:r>
            <a:r>
              <a:rPr lang="en-US" dirty="0" err="1"/>
              <a:t>quantos</a:t>
            </a:r>
            <a:r>
              <a:rPr lang="en-US" dirty="0"/>
              <a:t> links eu devo construir por mês/ano</a:t>
            </a:r>
          </a:p>
          <a:p>
            <a:pPr lvl="1" algn="just"/>
            <a:r>
              <a:rPr lang="en-US" dirty="0">
                <a:solidFill>
                  <a:srgbClr val="E46C0A"/>
                </a:solidFill>
              </a:rPr>
              <a:t>Authority (</a:t>
            </a:r>
            <a:r>
              <a:rPr lang="en-US" dirty="0" err="1">
                <a:solidFill>
                  <a:srgbClr val="E46C0A"/>
                </a:solidFill>
              </a:rPr>
              <a:t>Autoridade</a:t>
            </a:r>
            <a:r>
              <a:rPr lang="en-US" dirty="0">
                <a:solidFill>
                  <a:srgbClr val="E46C0A"/>
                </a:solidFill>
              </a:rPr>
              <a:t>): </a:t>
            </a:r>
            <a:r>
              <a:rPr lang="en-US" dirty="0" err="1"/>
              <a:t>reputação</a:t>
            </a:r>
            <a:r>
              <a:rPr lang="en-US" dirty="0"/>
              <a:t> e </a:t>
            </a:r>
            <a:r>
              <a:rPr lang="en-US" dirty="0" err="1"/>
              <a:t>autoridade dos links</a:t>
            </a:r>
            <a:endParaRPr lang="en-US" dirty="0"/>
          </a:p>
          <a:p>
            <a:pPr lvl="1" algn="just"/>
            <a:r>
              <a:rPr lang="en-US" dirty="0">
                <a:solidFill>
                  <a:srgbClr val="E46C0A"/>
                </a:solidFill>
              </a:rPr>
              <a:t>Volume (</a:t>
            </a:r>
            <a:r>
              <a:rPr lang="en-US" dirty="0" err="1">
                <a:solidFill>
                  <a:srgbClr val="E46C0A"/>
                </a:solidFill>
              </a:rPr>
              <a:t>Quantidade</a:t>
            </a:r>
            <a:r>
              <a:rPr lang="en-US" dirty="0">
                <a:solidFill>
                  <a:srgbClr val="E46C0A"/>
                </a:solidFill>
              </a:rPr>
              <a:t>):</a:t>
            </a:r>
            <a:r>
              <a:rPr lang="en-US" dirty="0"/>
              <a:t> </a:t>
            </a:r>
            <a:r>
              <a:rPr lang="en-US" dirty="0" err="1"/>
              <a:t>quantos</a:t>
            </a:r>
            <a:r>
              <a:rPr lang="en-US" dirty="0"/>
              <a:t> links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preciso</a:t>
            </a:r>
            <a:endParaRPr lang="en-US" dirty="0"/>
          </a:p>
          <a:p>
            <a:pPr lvl="1" algn="just"/>
            <a:r>
              <a:rPr lang="en-US" dirty="0">
                <a:solidFill>
                  <a:srgbClr val="E46C0A"/>
                </a:solidFill>
              </a:rPr>
              <a:t>Anchor (</a:t>
            </a:r>
            <a:r>
              <a:rPr lang="en-US" dirty="0" err="1">
                <a:solidFill>
                  <a:srgbClr val="E46C0A"/>
                </a:solidFill>
              </a:rPr>
              <a:t>texto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 err="1">
                <a:solidFill>
                  <a:srgbClr val="E46C0A"/>
                </a:solidFill>
              </a:rPr>
              <a:t>âncora</a:t>
            </a:r>
            <a:r>
              <a:rPr lang="en-US" dirty="0">
                <a:solidFill>
                  <a:srgbClr val="E46C0A"/>
                </a:solidFill>
              </a:rPr>
              <a:t>):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âncora</a:t>
            </a:r>
            <a:r>
              <a:rPr lang="en-US" dirty="0"/>
              <a:t> os links precisam 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2259" y="5955947"/>
            <a:ext cx="3524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Fonte: Becoming a Clockwork Pirate, Kelvin Newman </a:t>
            </a:r>
          </a:p>
        </p:txBody>
      </p:sp>
    </p:spTree>
    <p:extLst>
      <p:ext uri="{BB962C8B-B14F-4D97-AF65-F5344CB8AC3E}">
        <p14:creationId xmlns:p14="http://schemas.microsoft.com/office/powerpoint/2010/main" val="1961735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um Link de Qualidade?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Fatores do Domínio</a:t>
            </a:r>
            <a:endParaRPr lang="pt-BR" b="1" dirty="0" smtClean="0"/>
          </a:p>
          <a:p>
            <a:pPr lvl="1"/>
            <a:r>
              <a:rPr lang="pt-BR" dirty="0"/>
              <a:t>Número de</a:t>
            </a:r>
            <a:r>
              <a:rPr lang="pt-BR" dirty="0" smtClean="0"/>
              <a:t> Links Externos</a:t>
            </a:r>
          </a:p>
          <a:p>
            <a:pPr lvl="1"/>
            <a:r>
              <a:rPr lang="pt-BR" dirty="0"/>
              <a:t>Número de Sites</a:t>
            </a:r>
          </a:p>
          <a:p>
            <a:pPr lvl="1"/>
            <a:r>
              <a:rPr lang="pt-BR" dirty="0" smtClean="0"/>
              <a:t>Métricas de Reputação: </a:t>
            </a:r>
            <a:r>
              <a:rPr lang="pt-BR" dirty="0" err="1" smtClean="0"/>
              <a:t>DomainRank (SEOmoz)</a:t>
            </a:r>
            <a:endParaRPr lang="pt-BR" dirty="0" smtClean="0"/>
          </a:p>
          <a:p>
            <a:pPr lvl="1"/>
            <a:r>
              <a:rPr lang="pt-BR" dirty="0" smtClean="0"/>
              <a:t>Métricas de Autoridade: </a:t>
            </a:r>
            <a:r>
              <a:rPr lang="pt-BR" dirty="0" err="1" smtClean="0"/>
              <a:t>mozTrust (SEOmoz)</a:t>
            </a:r>
            <a:r>
              <a:rPr lang="pt-BR" dirty="0" smtClean="0"/>
              <a:t>, idade do domínio, extensão do domínio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um Link de Qualidade?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pt-BR" sz="3800" dirty="0" smtClean="0"/>
              <a:t>Fatores da Página</a:t>
            </a:r>
          </a:p>
          <a:p>
            <a:pPr lvl="1"/>
            <a:r>
              <a:rPr lang="pt-BR" dirty="0" smtClean="0"/>
              <a:t>Indexada pelo Google</a:t>
            </a:r>
          </a:p>
          <a:p>
            <a:pPr lvl="1"/>
            <a:r>
              <a:rPr lang="pt-BR" dirty="0" smtClean="0"/>
              <a:t>Relevância e Correspond</a:t>
            </a:r>
            <a:r>
              <a:rPr lang="pt-BR" dirty="0"/>
              <a:t>ência do Tópico</a:t>
            </a:r>
            <a:endParaRPr lang="pt-BR" dirty="0" smtClean="0"/>
          </a:p>
          <a:p>
            <a:pPr lvl="1"/>
            <a:r>
              <a:rPr lang="pt-BR" dirty="0"/>
              <a:t>Número de</a:t>
            </a:r>
            <a:r>
              <a:rPr lang="pt-BR" dirty="0" smtClean="0"/>
              <a:t> Links Externos</a:t>
            </a:r>
          </a:p>
          <a:p>
            <a:pPr lvl="1"/>
            <a:r>
              <a:rPr lang="pt-BR" dirty="0"/>
              <a:t>Número de</a:t>
            </a:r>
            <a:r>
              <a:rPr lang="pt-BR" dirty="0" smtClean="0"/>
              <a:t> Sites</a:t>
            </a:r>
          </a:p>
          <a:p>
            <a:pPr lvl="1"/>
            <a:r>
              <a:rPr lang="pt-BR" dirty="0" smtClean="0"/>
              <a:t>Métricas de </a:t>
            </a:r>
            <a:r>
              <a:rPr lang="pt-BR" dirty="0"/>
              <a:t>R</a:t>
            </a:r>
            <a:r>
              <a:rPr lang="pt-BR" dirty="0" smtClean="0"/>
              <a:t>eputação: </a:t>
            </a:r>
            <a:r>
              <a:rPr lang="pt-BR" dirty="0" err="1" smtClean="0"/>
              <a:t>PageRank</a:t>
            </a:r>
            <a:r>
              <a:rPr lang="pt-BR" dirty="0" smtClean="0"/>
              <a:t> e </a:t>
            </a:r>
            <a:r>
              <a:rPr lang="pt-BR" dirty="0" err="1" smtClean="0"/>
              <a:t>mozRank</a:t>
            </a:r>
            <a:endParaRPr lang="pt-BR" dirty="0" smtClean="0"/>
          </a:p>
          <a:p>
            <a:pPr lvl="1"/>
            <a:r>
              <a:rPr lang="pt-BR" dirty="0" smtClean="0"/>
              <a:t>Qualidade dos Links de Saída (se os links já existentes apontam para sites “suspeitos”)</a:t>
            </a:r>
          </a:p>
          <a:p>
            <a:pPr lvl="1"/>
            <a:r>
              <a:rPr lang="pt-BR" dirty="0" smtClean="0"/>
              <a:t>Evite PPP: porn, poker and pills (na verdade, evite tudo que linkar para algo irrelevante e sem contexto)</a:t>
            </a:r>
          </a:p>
          <a:p>
            <a:pPr lvl="2"/>
            <a:endParaRPr lang="pt-BR" dirty="0" smtClean="0"/>
          </a:p>
          <a:p>
            <a:pPr lvl="2"/>
            <a:endParaRPr lang="pt-BR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um Link de Qualidade?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36150"/>
            <a:ext cx="8451669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pt-BR" sz="3600" dirty="0" smtClean="0"/>
              <a:t>Fatores do Link</a:t>
            </a:r>
          </a:p>
          <a:p>
            <a:pPr lvl="1"/>
            <a:r>
              <a:rPr lang="pt-BR" dirty="0" smtClean="0"/>
              <a:t>Formato do Link: texto ou imagem</a:t>
            </a:r>
          </a:p>
          <a:p>
            <a:pPr lvl="1"/>
            <a:r>
              <a:rPr lang="pt-BR" dirty="0" smtClean="0"/>
              <a:t>Texto Âncora: exato, semi-exato, marca, etc</a:t>
            </a:r>
          </a:p>
          <a:p>
            <a:pPr lvl="1"/>
            <a:r>
              <a:rPr lang="pt-BR" dirty="0" smtClean="0"/>
              <a:t>Link “Bloqueado/Invisível”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sz="2500" dirty="0" smtClean="0"/>
              <a:t>	-	</a:t>
            </a:r>
            <a:r>
              <a:rPr lang="pt-BR" sz="2500" dirty="0" err="1" smtClean="0"/>
              <a:t>Javascript</a:t>
            </a:r>
            <a:r>
              <a:rPr lang="pt-BR" sz="2500" dirty="0" smtClean="0"/>
              <a:t>;</a:t>
            </a:r>
          </a:p>
          <a:p>
            <a:pPr lvl="1">
              <a:buNone/>
            </a:pPr>
            <a:r>
              <a:rPr lang="pt-BR" sz="2500" dirty="0" smtClean="0"/>
              <a:t>		-	</a:t>
            </a:r>
            <a:r>
              <a:rPr lang="pt-BR" sz="2500" i="1" dirty="0" err="1" smtClean="0"/>
              <a:t>Nofollow</a:t>
            </a:r>
            <a:r>
              <a:rPr lang="pt-BR" sz="2500" i="1" dirty="0" smtClean="0"/>
              <a:t>;</a:t>
            </a:r>
          </a:p>
          <a:p>
            <a:pPr lvl="1">
              <a:buNone/>
            </a:pPr>
            <a:r>
              <a:rPr lang="pt-BR" sz="2500" dirty="0" smtClean="0"/>
              <a:t>		-	Redirecionamento 302.</a:t>
            </a:r>
          </a:p>
          <a:p>
            <a:pPr lvl="2"/>
            <a:endParaRPr lang="pt-BR" dirty="0" smtClean="0"/>
          </a:p>
          <a:p>
            <a:pPr lvl="2"/>
            <a:endParaRPr lang="pt-BR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 Que é um Link de Qualidade?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848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MAS, FOQUE NO SEGUINTE: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trike="sngStrike">
                <a:solidFill>
                  <a:schemeClr val="tx1">
                    <a:lumMod val="65000"/>
                    <a:lumOff val="35000"/>
                  </a:schemeClr>
                </a:solidFill>
              </a:rPr>
              <a:t>PageRank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>
                <a:solidFill>
                  <a:srgbClr val="E46C0A"/>
                </a:solidFill>
              </a:rPr>
              <a:t>#NOT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Sites, e não de Links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Correspondência do Tópico/Tema entre sites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Contexto do Link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Site está recebendo visitas? Sinais de penalização?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Link está gerando visitas? Vendas?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06063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1251"/>
            <a:ext cx="8229600" cy="72832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Case: Artigonal.com (diretório de artigos)</a:t>
            </a:r>
          </a:p>
        </p:txBody>
      </p:sp>
      <p:pic>
        <p:nvPicPr>
          <p:cNvPr id="6" name="Picture 5" descr="Diretório de Artigos Gratuitos | Ler e Publicar Artigos - Artigonal.co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30908"/>
            <a:ext cx="5448932" cy="2607941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Diretório de Artigos Gratuitos | Ler e Publicar Artigos - Artigonal.com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359" y="1226853"/>
            <a:ext cx="1564665" cy="5598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606" y="4024940"/>
            <a:ext cx="5690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Medium"/>
                <a:cs typeface="Franklin Gothic Medium"/>
              </a:rPr>
              <a:t>PageRank: 3 </a:t>
            </a:r>
          </a:p>
          <a:p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Medium"/>
                <a:cs typeface="Franklin Gothic Medium"/>
              </a:rPr>
              <a:t>Sites (Links Externos): 8,998 (225k) </a:t>
            </a:r>
          </a:p>
        </p:txBody>
      </p:sp>
    </p:spTree>
    <p:extLst>
      <p:ext uri="{BB962C8B-B14F-4D97-AF65-F5344CB8AC3E}">
        <p14:creationId xmlns:p14="http://schemas.microsoft.com/office/powerpoint/2010/main" val="1688045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301251"/>
            <a:ext cx="8229600" cy="72832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Case: Artigonal.com (diretório de artigos)</a:t>
            </a:r>
          </a:p>
        </p:txBody>
      </p:sp>
      <p:pic>
        <p:nvPicPr>
          <p:cNvPr id="3" name="Picture 2" descr="SEMRush Trends-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30" y="1849087"/>
            <a:ext cx="8486132" cy="2854357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9329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Desafios do E-commerce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238049"/>
            <a:ext cx="8229600" cy="1330998"/>
          </a:xfrm>
        </p:spPr>
        <p:txBody>
          <a:bodyPr>
            <a:normAutofit/>
          </a:bodyPr>
          <a:lstStyle/>
          <a:p>
            <a:r>
              <a:rPr lang="en-US"/>
              <a:t>DESAFIO 1 – Página de Destino</a:t>
            </a:r>
          </a:p>
        </p:txBody>
      </p:sp>
      <p:pic>
        <p:nvPicPr>
          <p:cNvPr id="5" name="Picture 2" descr="flattened site architecture with pageran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9" y="2071027"/>
            <a:ext cx="8147031" cy="389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9908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Desafios do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59"/>
            <a:ext cx="8229600" cy="4525963"/>
          </a:xfrm>
        </p:spPr>
        <p:txBody>
          <a:bodyPr>
            <a:normAutofit/>
          </a:bodyPr>
          <a:lstStyle/>
          <a:p>
            <a:r>
              <a:rPr lang="en-US" sz="3600"/>
              <a:t>DESAFIO 2  - Texto Âncora</a:t>
            </a:r>
          </a:p>
          <a:p>
            <a:pPr lvl="1"/>
            <a:r>
              <a:rPr lang="en-US" sz="3200">
                <a:solidFill>
                  <a:srgbClr val="E46C0A"/>
                </a:solidFill>
              </a:rPr>
              <a:t>Texto Âncora Exato</a:t>
            </a:r>
            <a:r>
              <a:rPr lang="en-US" sz="3200"/>
              <a:t> é o “Link dos Sonhos”</a:t>
            </a:r>
          </a:p>
          <a:p>
            <a:pPr lvl="1"/>
            <a:r>
              <a:rPr lang="en-US" sz="3200"/>
              <a:t>Raramente pessoas usam</a:t>
            </a:r>
          </a:p>
          <a:p>
            <a:pPr lvl="1"/>
            <a:r>
              <a:rPr lang="en-US" sz="3200"/>
              <a:t>E-commerce, mais raro ainda</a:t>
            </a:r>
          </a:p>
          <a:p>
            <a:pPr lvl="1"/>
            <a:r>
              <a:rPr lang="en-US" sz="3200"/>
              <a:t>Abusado por SEO’s, pode tornar-se um sinal para detecção de spam</a:t>
            </a:r>
          </a:p>
        </p:txBody>
      </p:sp>
    </p:spTree>
    <p:extLst>
      <p:ext uri="{BB962C8B-B14F-4D97-AF65-F5344CB8AC3E}">
        <p14:creationId xmlns:p14="http://schemas.microsoft.com/office/powerpoint/2010/main" val="204037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Desafios do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38" y="1151449"/>
            <a:ext cx="3526075" cy="4525963"/>
          </a:xfrm>
        </p:spPr>
        <p:txBody>
          <a:bodyPr>
            <a:normAutofit/>
          </a:bodyPr>
          <a:lstStyle/>
          <a:p>
            <a:r>
              <a:rPr lang="en-US" sz="2400"/>
              <a:t>SOLUÇÃO</a:t>
            </a:r>
          </a:p>
          <a:p>
            <a:pPr marL="722313" lvl="1" indent="-288925">
              <a:buFont typeface="+mj-lt"/>
              <a:buAutoNum type="arabicPeriod"/>
            </a:pPr>
            <a:r>
              <a:rPr lang="en-US" sz="2000"/>
              <a:t>Para o Link Building (links externos), esqueça texto âncora, foque nos fatores do slide 12</a:t>
            </a:r>
          </a:p>
          <a:p>
            <a:pPr marL="722313" lvl="1" indent="-288925">
              <a:buFont typeface="+mj-lt"/>
              <a:buAutoNum type="arabicPeriod"/>
            </a:pPr>
            <a:r>
              <a:rPr lang="en-US" sz="2000"/>
              <a:t>Coloque todo seu esforço em criar 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links internos com texto âncora exato </a:t>
            </a:r>
            <a:r>
              <a:rPr lang="en-US" sz="2000"/>
              <a:t>(ou semi-exato)</a:t>
            </a:r>
          </a:p>
        </p:txBody>
      </p:sp>
      <p:pic>
        <p:nvPicPr>
          <p:cNvPr id="5" name="Picture 4" descr="Accessories | Zappos.co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483" y="1151449"/>
            <a:ext cx="5029466" cy="349034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ccessories | Zappos.com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552" y="3190087"/>
            <a:ext cx="3739748" cy="2903404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ccessories | Zappos.com-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792" y="933323"/>
            <a:ext cx="1263085" cy="5385851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4396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Táticas internas e externas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61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P Brasil - Distribuidor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4" y="2642518"/>
            <a:ext cx="4241800" cy="1935621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Lojas | Sony - make.believ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991" y="2188493"/>
            <a:ext cx="2847567" cy="4110733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Onde comprar - Xbox.com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53" y="4132211"/>
            <a:ext cx="2505376" cy="1870681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Tablet Positivo YPY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867" y="4578139"/>
            <a:ext cx="3573547" cy="2085154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62963"/>
            <a:ext cx="8229600" cy="995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3366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r>
              <a:rPr lang="en-US"/>
              <a:t>Táticas Internas - Tema de Casa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00619" y="956344"/>
            <a:ext cx="8186182" cy="46545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2">
                    <a:lumMod val="60000"/>
                    <a:lumOff val="40000"/>
                  </a:schemeClr>
                </a:solidFill>
                <a:latin typeface="Franklin Gothic Medium"/>
                <a:ea typeface="+mn-ea"/>
                <a:cs typeface="Franklin Gothic Medium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595959"/>
                </a:solidFill>
                <a:latin typeface="Franklin Gothic Medium"/>
                <a:ea typeface="+mn-ea"/>
                <a:cs typeface="Franklin Gothic Medium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595959"/>
                </a:solidFill>
                <a:latin typeface="Franklin Gothic Medium"/>
                <a:ea typeface="+mn-ea"/>
                <a:cs typeface="Franklin Gothic Medium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595959"/>
                </a:solidFill>
                <a:latin typeface="Franklin Gothic Medium"/>
                <a:ea typeface="+mn-ea"/>
                <a:cs typeface="Franklin Gothic Medium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595959"/>
                </a:solidFill>
                <a:latin typeface="Franklin Gothic Medium"/>
                <a:ea typeface="+mn-ea"/>
                <a:cs typeface="Franklin Gothic Medium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8138"/>
            <a:r>
              <a:rPr lang="en-US" sz="2400"/>
              <a:t>Fornecedores e Parcerias</a:t>
            </a:r>
          </a:p>
          <a:p>
            <a:pPr lvl="1" indent="-338138"/>
            <a:r>
              <a:rPr lang="en-US" sz="2000"/>
              <a:t>Identifique todos os fornecedores e fabricantes, procure pela página “Onde Comprar” ou Distribuidor Online”</a:t>
            </a:r>
          </a:p>
        </p:txBody>
      </p:sp>
    </p:spTree>
    <p:extLst>
      <p:ext uri="{BB962C8B-B14F-4D97-AF65-F5344CB8AC3E}">
        <p14:creationId xmlns:p14="http://schemas.microsoft.com/office/powerpoint/2010/main" val="2030849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Táticas Externas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449"/>
            <a:ext cx="4633413" cy="4525963"/>
          </a:xfrm>
        </p:spPr>
        <p:txBody>
          <a:bodyPr>
            <a:normAutofit/>
          </a:bodyPr>
          <a:lstStyle/>
          <a:p>
            <a:r>
              <a:rPr lang="en-US"/>
              <a:t>Publieditoriais </a:t>
            </a:r>
          </a:p>
          <a:p>
            <a:pPr marL="400050" lvl="1" indent="0">
              <a:buNone/>
            </a:pPr>
            <a:r>
              <a:rPr lang="en-US" sz="2000">
                <a:solidFill>
                  <a:schemeClr val="tx2">
                    <a:lumMod val="60000"/>
                    <a:lumOff val="40000"/>
                  </a:schemeClr>
                </a:solidFill>
              </a:rPr>
              <a:t>(ler: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  <a:hlinkClick r:id="rId2"/>
              </a:rPr>
              <a:t>http://bit.ly/PubliGoogle</a:t>
            </a:r>
            <a:r>
              <a:rPr lang="en-US" sz="2000"/>
              <a:t>)</a:t>
            </a:r>
          </a:p>
          <a:p>
            <a:pPr lvl="1"/>
            <a:r>
              <a:rPr lang="en-US" sz="2400"/>
              <a:t>Avaliações de Produtos</a:t>
            </a:r>
          </a:p>
          <a:p>
            <a:pPr lvl="1"/>
            <a:r>
              <a:rPr lang="en-US" sz="2400"/>
              <a:t>Lançamentos</a:t>
            </a:r>
          </a:p>
          <a:p>
            <a:pPr lvl="1"/>
            <a:r>
              <a:rPr lang="en-US" sz="2400"/>
              <a:t>Amostras Grátis</a:t>
            </a:r>
          </a:p>
          <a:p>
            <a:pPr lvl="1"/>
            <a:r>
              <a:rPr lang="en-US" sz="2400"/>
              <a:t>Cupons de Desconto</a:t>
            </a:r>
          </a:p>
        </p:txBody>
      </p:sp>
      <p:pic>
        <p:nvPicPr>
          <p:cNvPr id="4" name="Picture 3" descr="* Hoje é Dia D comprar Notebooks * » Brainstorm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276" y="1416422"/>
            <a:ext cx="3735243" cy="4689167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2142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 dirty="0" err="1"/>
              <a:t>Ativos</a:t>
            </a:r>
            <a:r>
              <a:rPr lang="en-US" dirty="0"/>
              <a:t> </a:t>
            </a:r>
            <a:r>
              <a:rPr lang="en-US" dirty="0" err="1"/>
              <a:t>Linkáveis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3813"/>
            <a:ext cx="4830618" cy="4525963"/>
          </a:xfrm>
        </p:spPr>
        <p:txBody>
          <a:bodyPr numCol="1">
            <a:noAutofit/>
          </a:bodyPr>
          <a:lstStyle/>
          <a:p>
            <a:r>
              <a:rPr lang="en-US" sz="2400" dirty="0" err="1"/>
              <a:t>Pesquisas</a:t>
            </a:r>
            <a:r>
              <a:rPr lang="en-US" sz="2400" dirty="0"/>
              <a:t> de </a:t>
            </a:r>
            <a:r>
              <a:rPr lang="en-US" sz="2400" dirty="0" err="1"/>
              <a:t>mercado</a:t>
            </a:r>
            <a:r>
              <a:rPr lang="en-US" sz="2400" dirty="0"/>
              <a:t> e </a:t>
            </a:r>
            <a:r>
              <a:rPr lang="en-US" sz="2400" dirty="0" err="1"/>
              <a:t>científicas</a:t>
            </a:r>
            <a:endParaRPr lang="en-US" sz="2400" dirty="0"/>
          </a:p>
          <a:p>
            <a:r>
              <a:rPr lang="en-US" sz="2400" dirty="0"/>
              <a:t>“Wikis”</a:t>
            </a:r>
          </a:p>
          <a:p>
            <a:r>
              <a:rPr lang="en-US" sz="2400" dirty="0" err="1"/>
              <a:t>Vídeos e Imagens</a:t>
            </a:r>
            <a:endParaRPr lang="en-US" sz="2400" dirty="0"/>
          </a:p>
          <a:p>
            <a:r>
              <a:rPr lang="en-US" sz="2400" dirty="0"/>
              <a:t>Podcast</a:t>
            </a:r>
          </a:p>
          <a:p>
            <a:r>
              <a:rPr lang="en-US" sz="2400" dirty="0" err="1"/>
              <a:t>Ferramentas</a:t>
            </a:r>
            <a:endParaRPr lang="en-US" sz="2400" dirty="0"/>
          </a:p>
          <a:p>
            <a:r>
              <a:rPr lang="en-US" sz="2400" dirty="0"/>
              <a:t>Widgets/Gadgets</a:t>
            </a:r>
          </a:p>
          <a:p>
            <a:r>
              <a:rPr lang="en-US" sz="2400" dirty="0" err="1"/>
              <a:t>Aplicativos</a:t>
            </a:r>
          </a:p>
          <a:p>
            <a:r>
              <a:rPr lang="en-US" sz="2400" dirty="0" err="1"/>
              <a:t>Entrevistas</a:t>
            </a:r>
            <a:r>
              <a:rPr lang="en-US" sz="2400" dirty="0"/>
              <a:t> </a:t>
            </a:r>
            <a:r>
              <a:rPr lang="en-US" sz="2400" dirty="0" smtClean="0"/>
              <a:t>com experts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celebridades</a:t>
            </a:r>
            <a:endParaRPr lang="en-US" sz="2400" dirty="0"/>
          </a:p>
          <a:p>
            <a:r>
              <a:rPr lang="en-US" sz="2400" dirty="0" err="1"/>
              <a:t>Competições</a:t>
            </a:r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7635" y="4077674"/>
            <a:ext cx="3807229" cy="1692102"/>
          </a:xfrm>
          <a:prstGeom prst="rect">
            <a:avLst/>
          </a:prstGeom>
          <a:ln w="6350" cap="sq">
            <a:solidFill>
              <a:srgbClr val="595959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65204" y="2369554"/>
            <a:ext cx="4306389" cy="1508808"/>
          </a:xfrm>
          <a:prstGeom prst="rect">
            <a:avLst/>
          </a:prstGeom>
          <a:noFill/>
          <a:ln w="9525">
            <a:solidFill>
              <a:srgbClr val="595959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465" y="1341578"/>
            <a:ext cx="2286335" cy="2118222"/>
          </a:xfrm>
          <a:prstGeom prst="rect">
            <a:avLst/>
          </a:prstGeom>
          <a:noFill/>
          <a:ln w="9525">
            <a:solidFill>
              <a:srgbClr val="595959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6327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Ativos Linkáveis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Zillow “Collection”: </a:t>
            </a:r>
            <a:r>
              <a:rPr lang="en-US" sz="2400">
                <a:hlinkClick r:id="rId2"/>
              </a:rPr>
              <a:t>http://www.zillow.com/webtools/</a:t>
            </a:r>
            <a:r>
              <a:rPr lang="en-US" sz="2400"/>
              <a:t> </a:t>
            </a:r>
          </a:p>
        </p:txBody>
      </p:sp>
      <p:pic>
        <p:nvPicPr>
          <p:cNvPr id="6" name="Picture 5" descr="Real Estate and Mortgage Widgets, Badges and Data - Zillow Website Tool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35" y="1857935"/>
            <a:ext cx="6686746" cy="426556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3831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Ativos Linkáveis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Skyscanner: </a:t>
            </a:r>
            <a:r>
              <a:rPr lang="en-US" sz="2400">
                <a:hlinkClick r:id="rId2"/>
              </a:rPr>
              <a:t>http://api.skyscanner.net/api/integration.html</a:t>
            </a:r>
            <a:r>
              <a:rPr lang="en-US" sz="2400"/>
              <a:t> </a:t>
            </a:r>
          </a:p>
        </p:txBody>
      </p:sp>
      <p:pic>
        <p:nvPicPr>
          <p:cNvPr id="7" name="Picture 6" descr="Flight Search Overview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327" y="1370079"/>
            <a:ext cx="1074567" cy="4982086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Maps API Overview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16" y="3150436"/>
            <a:ext cx="4170027" cy="2549255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Flight Search Overview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404" y="2375445"/>
            <a:ext cx="2849252" cy="2560720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808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indle Touch_ Touchscreen e-Reader with Wi-Fi, 6_ E Ink Displa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10" y="2043277"/>
            <a:ext cx="8882780" cy="461257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962114"/>
            <a:ext cx="91440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1720" tIns="40680" rIns="81720" bIns="40680"/>
          <a:lstStyle/>
          <a:p>
            <a:pPr algn="ctr">
              <a:lnSpc>
                <a:spcPct val="12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 smtClean="0">
                <a:solidFill>
                  <a:srgbClr val="558ED5"/>
                </a:solidFill>
                <a:latin typeface="Myriad Pro"/>
                <a:cs typeface="Myriad Pro"/>
              </a:rPr>
              <a:t>Página de Produtos: Amazon Kindle</a:t>
            </a:r>
            <a:endParaRPr lang="en-GB" sz="2800" dirty="0">
              <a:solidFill>
                <a:srgbClr val="558ED5"/>
              </a:solidFill>
              <a:latin typeface="Myriad Pro"/>
              <a:cs typeface="Myriad Pro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62963"/>
            <a:ext cx="8229600" cy="995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3366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r>
              <a:rPr lang="en-US"/>
              <a:t>Os Ativos Linkáveis</a:t>
            </a:r>
          </a:p>
        </p:txBody>
      </p:sp>
    </p:spTree>
    <p:extLst>
      <p:ext uri="{BB962C8B-B14F-4D97-AF65-F5344CB8AC3E}">
        <p14:creationId xmlns:p14="http://schemas.microsoft.com/office/powerpoint/2010/main" val="38570392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59FEE-C65A-2A43-8385-E4559EB67DA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 descr="Kindle Touch_ Touchscreen e-Reader with Wi-Fi, 6_ E Ink Display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2" y="64573"/>
            <a:ext cx="5463949" cy="3077894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Kindle Touch_ Touchscreen e-Reader with Wi-Fi, 6_ E Ink Display-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82" y="567057"/>
            <a:ext cx="5973129" cy="2889952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Kindle Touch_ Touchscreen e-Reader with Wi-Fi, 6_ E Ink Display-3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52" y="1955135"/>
            <a:ext cx="4789266" cy="2374663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Kindle Touch_ Touchscreen e-Reader with Wi-Fi, 6_ E Ink Display-4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61" y="3457009"/>
            <a:ext cx="4989464" cy="2687443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Kindle Touch_ Touchscreen e-Reader with Wi-Fi, 6_ E Ink Display-5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512" y="2794687"/>
            <a:ext cx="4875365" cy="2571020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Kindle Touch_ Touchscreen e-Reader with Wi-Fi, 6_ E Ink Display-6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741" y="3706309"/>
            <a:ext cx="4165047" cy="2290334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Kindle Touch_ Touchscreen e-Reader with Wi-Fi, 6_ E Ink Display-7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86" y="4393212"/>
            <a:ext cx="3972832" cy="2257157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29363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5790076"/>
            <a:ext cx="2133600" cy="365125"/>
          </a:xfrm>
        </p:spPr>
        <p:txBody>
          <a:bodyPr/>
          <a:lstStyle/>
          <a:p>
            <a:fld id="{B0759FEE-C65A-2A43-8385-E4559EB67DA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788009"/>
            <a:ext cx="91440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1720" tIns="40680" rIns="81720" bIns="40680"/>
          <a:lstStyle/>
          <a:p>
            <a:pPr algn="ctr">
              <a:lnSpc>
                <a:spcPct val="12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 smtClean="0">
                <a:solidFill>
                  <a:srgbClr val="558ED5"/>
                </a:solidFill>
                <a:latin typeface="Myriad Pro"/>
                <a:cs typeface="Myriad Pro"/>
              </a:rPr>
              <a:t>Página de Produtos: Oyster.com</a:t>
            </a:r>
            <a:endParaRPr lang="en-GB" sz="2800" dirty="0">
              <a:solidFill>
                <a:srgbClr val="558ED5"/>
              </a:solidFill>
              <a:latin typeface="Myriad Pro"/>
              <a:cs typeface="Myriad Pro"/>
            </a:endParaRPr>
          </a:p>
        </p:txBody>
      </p:sp>
      <p:pic>
        <p:nvPicPr>
          <p:cNvPr id="6" name="Picture 5" descr="Hotel Palomar Chicago, Chicago | Oyster.com -- Hotel Reviews and Photo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0" y="1558420"/>
            <a:ext cx="8536126" cy="5109510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57200" y="62963"/>
            <a:ext cx="8229600" cy="995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3366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r>
              <a:rPr lang="en-US"/>
              <a:t>Os Ativos Linkáveis</a:t>
            </a:r>
          </a:p>
        </p:txBody>
      </p:sp>
    </p:spTree>
    <p:extLst>
      <p:ext uri="{BB962C8B-B14F-4D97-AF65-F5344CB8AC3E}">
        <p14:creationId xmlns:p14="http://schemas.microsoft.com/office/powerpoint/2010/main" val="3251010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otel Palomar Chicago, Chicago | Oyster.com -- Hotel Reviews and Photos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6" y="150667"/>
            <a:ext cx="5628733" cy="2808288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Hotel Palomar Chicago, Chicago | Oyster.com -- Hotel Reviews and Photos-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553" y="822022"/>
            <a:ext cx="4222809" cy="2697112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Hotel Palomar Chicago, Chicago | Oyster.com -- Hotel Reviews and Photos-4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51" y="2793282"/>
            <a:ext cx="5052412" cy="3892752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Hotel Palomar Chicago, Chicago | Oyster.com -- Hotel Reviews and Photos-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702" y="2401382"/>
            <a:ext cx="5295098" cy="1594909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3048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Ativos Linkáveis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3829"/>
            <a:ext cx="8229600" cy="4525963"/>
          </a:xfrm>
        </p:spPr>
        <p:txBody>
          <a:bodyPr/>
          <a:lstStyle/>
          <a:p>
            <a:r>
              <a:rPr lang="en-US"/>
              <a:t>Guias de Compra – www.rei.com</a:t>
            </a:r>
          </a:p>
        </p:txBody>
      </p:sp>
      <p:pic>
        <p:nvPicPr>
          <p:cNvPr id="4" name="Picture 3" descr="REI Expert Advice_ Outdoor Adventure How To Articles and Video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1" y="1886314"/>
            <a:ext cx="4348648" cy="367271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How to Choose Bike Shoes_ Expert Advice from REI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2" y="3718084"/>
            <a:ext cx="4530969" cy="3010774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site_http___www.rei.com_expertadvice_ - Pesquisa Googl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878" y="1671072"/>
            <a:ext cx="3343069" cy="1022656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bike shoes - Google Search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081" y="3074420"/>
            <a:ext cx="3928273" cy="3654439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Open Site Explorer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264" y="2646539"/>
            <a:ext cx="4247111" cy="417238"/>
          </a:xfrm>
          <a:prstGeom prst="rect">
            <a:avLst/>
          </a:prstGeom>
          <a:ln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4256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005" y="2845411"/>
            <a:ext cx="4266265" cy="1470025"/>
          </a:xfrm>
        </p:spPr>
        <p:txBody>
          <a:bodyPr/>
          <a:lstStyle/>
          <a:p>
            <a:pPr algn="l"/>
            <a:r>
              <a:rPr lang="en-US" smtClean="0"/>
              <a:t>Obrigado!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365645" y="2346268"/>
            <a:ext cx="5091101" cy="2673254"/>
          </a:xfrm>
        </p:spPr>
        <p:txBody>
          <a:bodyPr numCol="1">
            <a:noAutofit/>
          </a:bodyPr>
          <a:lstStyle/>
          <a:p>
            <a:pPr algn="r"/>
            <a:r>
              <a:rPr lang="en-US" sz="2800" b="1" spc="0">
                <a:solidFill>
                  <a:schemeClr val="tx2">
                    <a:lumMod val="60000"/>
                    <a:lumOff val="40000"/>
                  </a:schemeClr>
                </a:solidFill>
              </a:rPr>
              <a:t>Gustavo Bacchin</a:t>
            </a:r>
          </a:p>
          <a:p>
            <a:pPr algn="r"/>
            <a:r>
              <a:rPr lang="en-US" sz="2000" spc="0">
                <a:solidFill>
                  <a:schemeClr val="tx2">
                    <a:lumMod val="60000"/>
                    <a:lumOff val="40000"/>
                  </a:schemeClr>
                </a:solidFill>
              </a:rPr>
              <a:t>Co-fundador e Diretor de Operações</a:t>
            </a:r>
          </a:p>
          <a:p>
            <a:pPr algn="r"/>
            <a:endParaRPr lang="en-US" sz="2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r"/>
            <a:r>
              <a:rPr lang="en-US" sz="2400">
                <a:solidFill>
                  <a:schemeClr val="tx2">
                    <a:lumMod val="60000"/>
                    <a:lumOff val="40000"/>
                  </a:schemeClr>
                </a:solidFill>
              </a:rPr>
              <a:t>@gustavobacchin </a:t>
            </a:r>
            <a:endParaRPr lang="en-US" sz="2400" spc="0">
              <a:solidFill>
                <a:schemeClr val="tx2">
                  <a:lumMod val="60000"/>
                  <a:lumOff val="40000"/>
                </a:schemeClr>
              </a:solidFill>
              <a:hlinkClick r:id="rId2"/>
            </a:endParaRPr>
          </a:p>
          <a:p>
            <a:pPr algn="r"/>
            <a:r>
              <a:rPr lang="en-US" sz="2400" spc="0">
                <a:solidFill>
                  <a:schemeClr val="tx2">
                    <a:lumMod val="60000"/>
                    <a:lumOff val="40000"/>
                  </a:schemeClr>
                </a:solidFill>
              </a:rPr>
              <a:t>slideshare.net/gbacchin</a:t>
            </a:r>
            <a:endParaRPr lang="en-US" sz="2400" spc="0">
              <a:solidFill>
                <a:schemeClr val="tx2">
                  <a:lumMod val="60000"/>
                  <a:lumOff val="40000"/>
                </a:schemeClr>
              </a:solidFill>
              <a:hlinkClick r:id="rId2"/>
            </a:endParaRPr>
          </a:p>
          <a:p>
            <a:pPr algn="r"/>
            <a:r>
              <a:rPr lang="en-US" sz="2400" spc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/>
            </a:r>
            <a:br>
              <a:rPr lang="en-US" sz="2400" spc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</a:br>
            <a: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</a:rPr>
              <a:t>www.cadastra.com.br</a:t>
            </a:r>
            <a: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  <a:t/>
            </a:r>
            <a:b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</a:br>
            <a:r>
              <a:rPr lang="en-US" sz="1800" u="sng" spc="0">
                <a:solidFill>
                  <a:schemeClr val="tx2">
                    <a:lumMod val="60000"/>
                    <a:lumOff val="40000"/>
                  </a:schemeClr>
                </a:solidFill>
              </a:rPr>
              <a:t>gustavo@cadastra.com.br </a:t>
            </a:r>
            <a:endParaRPr lang="en-US" sz="2400" u="sng" spc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r"/>
            <a:r>
              <a:rPr lang="en-US" sz="1800" spc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en-US" sz="1800" b="1" spc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7812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12511</TotalTime>
  <Words>643</Words>
  <Application>Microsoft Macintosh PowerPoint</Application>
  <PresentationFormat>On-screen Show (4:3)</PresentationFormat>
  <Paragraphs>125</Paragraphs>
  <Slides>27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Estratégias de SEO e Link Building para E-commerce</vt:lpstr>
      <vt:lpstr>PowerPoint Presentation</vt:lpstr>
      <vt:lpstr>Agenda de Hoje</vt:lpstr>
      <vt:lpstr>Por que Links?</vt:lpstr>
      <vt:lpstr>A Pirâmide Invertida de SEO</vt:lpstr>
      <vt:lpstr>Planejamento</vt:lpstr>
      <vt:lpstr>O Que é um Link de Qualidade?</vt:lpstr>
      <vt:lpstr>O Que é um Link de Qualidade?</vt:lpstr>
      <vt:lpstr>O Que é um Link de Qualidade?</vt:lpstr>
      <vt:lpstr>O Que é um Link de Qualidade?</vt:lpstr>
      <vt:lpstr>PowerPoint Presentation</vt:lpstr>
      <vt:lpstr>PowerPoint Presentation</vt:lpstr>
      <vt:lpstr>Os Desafios do E-commerce</vt:lpstr>
      <vt:lpstr>Os Desafios do E-commerce</vt:lpstr>
      <vt:lpstr>Os Desafios do E-commerce</vt:lpstr>
      <vt:lpstr>Táticas internas e externas</vt:lpstr>
      <vt:lpstr>PowerPoint Presentation</vt:lpstr>
      <vt:lpstr>Táticas Externas</vt:lpstr>
      <vt:lpstr>Os Ativos Linkáveis</vt:lpstr>
      <vt:lpstr>Os Ativos Linkáveis</vt:lpstr>
      <vt:lpstr>Os Ativos Linkáveis</vt:lpstr>
      <vt:lpstr>PowerPoint Presentation</vt:lpstr>
      <vt:lpstr>PowerPoint Presentation</vt:lpstr>
      <vt:lpstr>PowerPoint Presentation</vt:lpstr>
      <vt:lpstr>PowerPoint Presentation</vt:lpstr>
      <vt:lpstr>Os Ativos Linkáveis</vt:lpstr>
      <vt:lpstr>Obrigado!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Gustavo</dc:creator>
  <cp:lastModifiedBy>Gustavo Bacchin</cp:lastModifiedBy>
  <cp:revision>273</cp:revision>
  <dcterms:created xsi:type="dcterms:W3CDTF">2010-08-02T20:40:28Z</dcterms:created>
  <dcterms:modified xsi:type="dcterms:W3CDTF">2012-03-16T02:35:59Z</dcterms:modified>
</cp:coreProperties>
</file>