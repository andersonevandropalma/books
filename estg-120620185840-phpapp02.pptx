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289" r:id="rId11"/>
    <p:sldId id="313" r:id="rId12"/>
    <p:sldId id="280" r:id="rId13"/>
    <p:sldId id="281" r:id="rId14"/>
    <p:sldId id="283" r:id="rId15"/>
    <p:sldId id="282" r:id="rId16"/>
    <p:sldId id="319" r:id="rId17"/>
    <p:sldId id="315" r:id="rId18"/>
    <p:sldId id="316" r:id="rId19"/>
    <p:sldId id="317" r:id="rId20"/>
    <p:sldId id="318" r:id="rId21"/>
    <p:sldId id="314" r:id="rId22"/>
    <p:sldId id="320" r:id="rId23"/>
    <p:sldId id="321" r:id="rId24"/>
    <p:sldId id="322" r:id="rId25"/>
    <p:sldId id="293" r:id="rId26"/>
    <p:sldId id="332" r:id="rId27"/>
    <p:sldId id="323" r:id="rId28"/>
    <p:sldId id="297" r:id="rId29"/>
    <p:sldId id="324" r:id="rId30"/>
    <p:sldId id="325" r:id="rId31"/>
    <p:sldId id="326" r:id="rId32"/>
    <p:sldId id="327" r:id="rId33"/>
    <p:sldId id="328" r:id="rId34"/>
    <p:sldId id="330" r:id="rId35"/>
    <p:sldId id="331" r:id="rId36"/>
    <p:sldId id="329" r:id="rId37"/>
    <p:sldId id="294" r:id="rId38"/>
    <p:sldId id="295" r:id="rId39"/>
    <p:sldId id="296" r:id="rId40"/>
    <p:sldId id="271" r:id="rId41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3C23"/>
    <a:srgbClr val="EAED00"/>
    <a:srgbClr val="91D177"/>
    <a:srgbClr val="E31A79"/>
    <a:srgbClr val="D7D7D7"/>
    <a:srgbClr val="E9E9E9"/>
    <a:srgbClr val="3444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5" autoAdjust="0"/>
    <p:restoredTop sz="94353" autoAdjust="0"/>
  </p:normalViewPr>
  <p:slideViewPr>
    <p:cSldViewPr snapToGrid="0">
      <p:cViewPr varScale="1">
        <p:scale>
          <a:sx n="138" d="100"/>
          <a:sy n="138" d="100"/>
        </p:scale>
        <p:origin x="-912" y="-104"/>
      </p:cViewPr>
      <p:guideLst>
        <p:guide orient="horz" pos="1800"/>
        <p:guide orient="horz" pos="303"/>
        <p:guide orient="horz" pos="3528"/>
        <p:guide orient="horz" pos="480"/>
        <p:guide orient="horz" pos="666"/>
        <p:guide pos="2880"/>
        <p:guide pos="295"/>
        <p:guide pos="1882"/>
        <p:guide pos="5436"/>
        <p:guide pos="1660"/>
        <p:guide pos="1978"/>
        <p:guide pos="2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0" d="100"/>
          <a:sy n="90" d="100"/>
        </p:scale>
        <p:origin x="-3752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EE9686-9A27-8C41-9C91-7B397A9E8FE3}" type="doc">
      <dgm:prSet loTypeId="urn:microsoft.com/office/officeart/2005/8/layout/cycle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3C1FCB-B80F-DE43-B0B2-FB445B5E4FE5}">
      <dgm:prSet phldrT="[Text]"/>
      <dgm:spPr>
        <a:solidFill>
          <a:srgbClr val="E13C23"/>
        </a:solidFill>
        <a:effectLst>
          <a:outerShdw blurRad="40005" dist="22987" dir="5400000" algn="tl" rotWithShape="0">
            <a:srgbClr val="000000">
              <a:alpha val="35000"/>
            </a:srgbClr>
          </a:outerShdw>
        </a:effectLst>
      </dgm:spPr>
      <dgm:t>
        <a:bodyPr/>
        <a:lstStyle/>
        <a:p>
          <a:r>
            <a:rPr lang="en-US" dirty="0" err="1" smtClean="0"/>
            <a:t>Anunciar</a:t>
          </a:r>
          <a:r>
            <a:rPr lang="en-US" dirty="0" smtClean="0"/>
            <a:t> </a:t>
          </a:r>
          <a:r>
            <a:rPr lang="en-US" dirty="0" err="1" smtClean="0"/>
            <a:t>Produto</a:t>
          </a:r>
          <a:endParaRPr lang="en-US" dirty="0"/>
        </a:p>
      </dgm:t>
    </dgm:pt>
    <dgm:pt modelId="{3245E1EA-39F0-5242-A393-5A6EB662A51A}" type="parTrans" cxnId="{4FC41316-2ADC-EA43-BC23-EC9E40AD1BB4}">
      <dgm:prSet/>
      <dgm:spPr/>
      <dgm:t>
        <a:bodyPr/>
        <a:lstStyle/>
        <a:p>
          <a:endParaRPr lang="en-US"/>
        </a:p>
      </dgm:t>
    </dgm:pt>
    <dgm:pt modelId="{865BE107-D1B6-7B42-BE08-C305E33BFACB}" type="sibTrans" cxnId="{4FC41316-2ADC-EA43-BC23-EC9E40AD1BB4}">
      <dgm:prSet/>
      <dgm:spPr/>
      <dgm:t>
        <a:bodyPr/>
        <a:lstStyle/>
        <a:p>
          <a:endParaRPr lang="en-US"/>
        </a:p>
      </dgm:t>
    </dgm:pt>
    <dgm:pt modelId="{796E644B-BF64-2C4B-B9D8-4691544E3EC4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err="1" smtClean="0"/>
            <a:t>Utilizador</a:t>
          </a:r>
          <a:r>
            <a:rPr lang="en-US" dirty="0" smtClean="0"/>
            <a:t> </a:t>
          </a:r>
          <a:r>
            <a:rPr lang="en-US" dirty="0" err="1" smtClean="0"/>
            <a:t>Clica</a:t>
          </a:r>
          <a:endParaRPr lang="en-US" dirty="0"/>
        </a:p>
      </dgm:t>
    </dgm:pt>
    <dgm:pt modelId="{9D13FB21-650A-AE40-AE87-2CA183A3D3E9}" type="parTrans" cxnId="{CCAF900D-76CA-764C-881D-474A8E2BDE85}">
      <dgm:prSet/>
      <dgm:spPr/>
      <dgm:t>
        <a:bodyPr/>
        <a:lstStyle/>
        <a:p>
          <a:endParaRPr lang="en-US"/>
        </a:p>
      </dgm:t>
    </dgm:pt>
    <dgm:pt modelId="{4FE1D110-B260-1843-AEFB-56FC76F013CB}" type="sibTrans" cxnId="{CCAF900D-76CA-764C-881D-474A8E2BDE85}">
      <dgm:prSet/>
      <dgm:spPr/>
      <dgm:t>
        <a:bodyPr/>
        <a:lstStyle/>
        <a:p>
          <a:endParaRPr lang="en-US"/>
        </a:p>
      </dgm:t>
    </dgm:pt>
    <dgm:pt modelId="{04B69FB3-6B64-8940-89B6-0252A73C44D7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err="1" smtClean="0"/>
            <a:t>Efetua</a:t>
          </a:r>
          <a:r>
            <a:rPr lang="en-US" dirty="0" smtClean="0"/>
            <a:t> </a:t>
          </a:r>
          <a:r>
            <a:rPr lang="en-US" dirty="0" err="1" smtClean="0"/>
            <a:t>Compra</a:t>
          </a:r>
          <a:endParaRPr lang="en-US" dirty="0"/>
        </a:p>
      </dgm:t>
    </dgm:pt>
    <dgm:pt modelId="{2AB9ED1A-1B32-E645-AC67-67C8569E641E}" type="parTrans" cxnId="{C8926813-13A5-C447-9562-E481B84D30E2}">
      <dgm:prSet/>
      <dgm:spPr/>
      <dgm:t>
        <a:bodyPr/>
        <a:lstStyle/>
        <a:p>
          <a:endParaRPr lang="en-US"/>
        </a:p>
      </dgm:t>
    </dgm:pt>
    <dgm:pt modelId="{982A52D9-6E94-EE41-A27F-507D3B208B11}" type="sibTrans" cxnId="{C8926813-13A5-C447-9562-E481B84D30E2}">
      <dgm:prSet/>
      <dgm:spPr/>
      <dgm:t>
        <a:bodyPr/>
        <a:lstStyle/>
        <a:p>
          <a:endParaRPr lang="en-US"/>
        </a:p>
      </dgm:t>
    </dgm:pt>
    <dgm:pt modelId="{2450017E-2663-0344-9A29-4ED467A4FF3E}">
      <dgm:prSet phldrT="[Text]"/>
      <dgm:spPr>
        <a:solidFill>
          <a:srgbClr val="E13C23"/>
        </a:solidFill>
      </dgm:spPr>
      <dgm:t>
        <a:bodyPr/>
        <a:lstStyle/>
        <a:p>
          <a:r>
            <a:rPr lang="en-US" dirty="0" err="1" smtClean="0"/>
            <a:t>Recebe</a:t>
          </a:r>
          <a:r>
            <a:rPr lang="en-US" dirty="0" smtClean="0"/>
            <a:t> </a:t>
          </a:r>
          <a:r>
            <a:rPr lang="en-US" dirty="0" err="1" smtClean="0"/>
            <a:t>Comiss</a:t>
          </a:r>
          <a:r>
            <a:rPr lang="en-US" dirty="0" err="1" smtClean="0"/>
            <a:t>ão</a:t>
          </a:r>
          <a:r>
            <a:rPr lang="en-US" dirty="0" smtClean="0"/>
            <a:t> %</a:t>
          </a:r>
          <a:endParaRPr lang="en-US" dirty="0"/>
        </a:p>
      </dgm:t>
    </dgm:pt>
    <dgm:pt modelId="{8009DBE5-E39B-C04E-B1DB-A4C3D0ADF99B}" type="parTrans" cxnId="{32A1DC0F-8ABB-C74A-892D-3DCA1A4F5259}">
      <dgm:prSet/>
      <dgm:spPr/>
      <dgm:t>
        <a:bodyPr/>
        <a:lstStyle/>
        <a:p>
          <a:endParaRPr lang="en-US"/>
        </a:p>
      </dgm:t>
    </dgm:pt>
    <dgm:pt modelId="{7557AE8D-57BF-D24F-872C-75F404B13206}" type="sibTrans" cxnId="{32A1DC0F-8ABB-C74A-892D-3DCA1A4F5259}">
      <dgm:prSet/>
      <dgm:spPr/>
      <dgm:t>
        <a:bodyPr/>
        <a:lstStyle/>
        <a:p>
          <a:endParaRPr lang="en-US"/>
        </a:p>
      </dgm:t>
    </dgm:pt>
    <dgm:pt modelId="{C4CB7C70-24A7-9840-8E42-8279FEAD2388}" type="pres">
      <dgm:prSet presAssocID="{28EE9686-9A27-8C41-9C91-7B397A9E8FE3}" presName="cycle" presStyleCnt="0">
        <dgm:presLayoutVars>
          <dgm:dir/>
          <dgm:resizeHandles val="exact"/>
        </dgm:presLayoutVars>
      </dgm:prSet>
      <dgm:spPr/>
    </dgm:pt>
    <dgm:pt modelId="{703A30F9-CA97-3240-8FCD-A93F83B71DE7}" type="pres">
      <dgm:prSet presAssocID="{1B3C1FCB-B80F-DE43-B0B2-FB445B5E4FE5}" presName="node" presStyleLbl="node1" presStyleIdx="0" presStyleCnt="4">
        <dgm:presLayoutVars>
          <dgm:bulletEnabled val="1"/>
        </dgm:presLayoutVars>
      </dgm:prSet>
      <dgm:spPr/>
    </dgm:pt>
    <dgm:pt modelId="{1E5C831E-9840-8E44-9365-F89C566C2736}" type="pres">
      <dgm:prSet presAssocID="{1B3C1FCB-B80F-DE43-B0B2-FB445B5E4FE5}" presName="spNode" presStyleCnt="0"/>
      <dgm:spPr/>
    </dgm:pt>
    <dgm:pt modelId="{C8861D6C-09D3-1145-8738-1E7B0E25EEC3}" type="pres">
      <dgm:prSet presAssocID="{865BE107-D1B6-7B42-BE08-C305E33BFACB}" presName="sibTrans" presStyleLbl="sibTrans1D1" presStyleIdx="0" presStyleCnt="4"/>
      <dgm:spPr/>
    </dgm:pt>
    <dgm:pt modelId="{E9C4F079-CAAE-784D-BA94-68166BBA66C7}" type="pres">
      <dgm:prSet presAssocID="{796E644B-BF64-2C4B-B9D8-4691544E3EC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CF69E9-B811-A641-9A71-59565F0979F0}" type="pres">
      <dgm:prSet presAssocID="{796E644B-BF64-2C4B-B9D8-4691544E3EC4}" presName="spNode" presStyleCnt="0"/>
      <dgm:spPr/>
    </dgm:pt>
    <dgm:pt modelId="{9B3F6CC5-0B51-514F-9229-3BD6E7CB3295}" type="pres">
      <dgm:prSet presAssocID="{4FE1D110-B260-1843-AEFB-56FC76F013CB}" presName="sibTrans" presStyleLbl="sibTrans1D1" presStyleIdx="1" presStyleCnt="4"/>
      <dgm:spPr/>
    </dgm:pt>
    <dgm:pt modelId="{5BFC9CA0-4DA4-7D4E-8DB7-A8E807AD8C3B}" type="pres">
      <dgm:prSet presAssocID="{04B69FB3-6B64-8940-89B6-0252A73C44D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41C6C1-D967-5E4C-ACF6-C67EC0F8343B}" type="pres">
      <dgm:prSet presAssocID="{04B69FB3-6B64-8940-89B6-0252A73C44D7}" presName="spNode" presStyleCnt="0"/>
      <dgm:spPr/>
    </dgm:pt>
    <dgm:pt modelId="{ABEEF979-78B5-9D4A-8D2B-B264BB7048C8}" type="pres">
      <dgm:prSet presAssocID="{982A52D9-6E94-EE41-A27F-507D3B208B11}" presName="sibTrans" presStyleLbl="sibTrans1D1" presStyleIdx="2" presStyleCnt="4"/>
      <dgm:spPr/>
    </dgm:pt>
    <dgm:pt modelId="{49BF37B0-EB55-AA45-B77C-B90B2E8376AE}" type="pres">
      <dgm:prSet presAssocID="{2450017E-2663-0344-9A29-4ED467A4FF3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2CEF4A-415D-5E49-9F32-DA4A42E6FF40}" type="pres">
      <dgm:prSet presAssocID="{2450017E-2663-0344-9A29-4ED467A4FF3E}" presName="spNode" presStyleCnt="0"/>
      <dgm:spPr/>
    </dgm:pt>
    <dgm:pt modelId="{6676BDEF-02FC-AE45-80AA-9F89623BADB9}" type="pres">
      <dgm:prSet presAssocID="{7557AE8D-57BF-D24F-872C-75F404B13206}" presName="sibTrans" presStyleLbl="sibTrans1D1" presStyleIdx="3" presStyleCnt="4"/>
      <dgm:spPr/>
    </dgm:pt>
  </dgm:ptLst>
  <dgm:cxnLst>
    <dgm:cxn modelId="{5C13EC40-0B42-A048-8262-0BF37559FA86}" type="presOf" srcId="{865BE107-D1B6-7B42-BE08-C305E33BFACB}" destId="{C8861D6C-09D3-1145-8738-1E7B0E25EEC3}" srcOrd="0" destOrd="0" presId="urn:microsoft.com/office/officeart/2005/8/layout/cycle5"/>
    <dgm:cxn modelId="{32A1DC0F-8ABB-C74A-892D-3DCA1A4F5259}" srcId="{28EE9686-9A27-8C41-9C91-7B397A9E8FE3}" destId="{2450017E-2663-0344-9A29-4ED467A4FF3E}" srcOrd="3" destOrd="0" parTransId="{8009DBE5-E39B-C04E-B1DB-A4C3D0ADF99B}" sibTransId="{7557AE8D-57BF-D24F-872C-75F404B13206}"/>
    <dgm:cxn modelId="{CCAF900D-76CA-764C-881D-474A8E2BDE85}" srcId="{28EE9686-9A27-8C41-9C91-7B397A9E8FE3}" destId="{796E644B-BF64-2C4B-B9D8-4691544E3EC4}" srcOrd="1" destOrd="0" parTransId="{9D13FB21-650A-AE40-AE87-2CA183A3D3E9}" sibTransId="{4FE1D110-B260-1843-AEFB-56FC76F013CB}"/>
    <dgm:cxn modelId="{C8926813-13A5-C447-9562-E481B84D30E2}" srcId="{28EE9686-9A27-8C41-9C91-7B397A9E8FE3}" destId="{04B69FB3-6B64-8940-89B6-0252A73C44D7}" srcOrd="2" destOrd="0" parTransId="{2AB9ED1A-1B32-E645-AC67-67C8569E641E}" sibTransId="{982A52D9-6E94-EE41-A27F-507D3B208B11}"/>
    <dgm:cxn modelId="{578A226F-ABA1-314E-B180-96E7F2E8EB3A}" type="presOf" srcId="{28EE9686-9A27-8C41-9C91-7B397A9E8FE3}" destId="{C4CB7C70-24A7-9840-8E42-8279FEAD2388}" srcOrd="0" destOrd="0" presId="urn:microsoft.com/office/officeart/2005/8/layout/cycle5"/>
    <dgm:cxn modelId="{B8D80C21-0C64-4344-A0D4-D6FD5F05679D}" type="presOf" srcId="{982A52D9-6E94-EE41-A27F-507D3B208B11}" destId="{ABEEF979-78B5-9D4A-8D2B-B264BB7048C8}" srcOrd="0" destOrd="0" presId="urn:microsoft.com/office/officeart/2005/8/layout/cycle5"/>
    <dgm:cxn modelId="{AED6D2D2-4AD6-964B-8429-E65DD905B29D}" type="presOf" srcId="{2450017E-2663-0344-9A29-4ED467A4FF3E}" destId="{49BF37B0-EB55-AA45-B77C-B90B2E8376AE}" srcOrd="0" destOrd="0" presId="urn:microsoft.com/office/officeart/2005/8/layout/cycle5"/>
    <dgm:cxn modelId="{48184A01-50AF-8B4F-A006-AA3E9AA859FD}" type="presOf" srcId="{796E644B-BF64-2C4B-B9D8-4691544E3EC4}" destId="{E9C4F079-CAAE-784D-BA94-68166BBA66C7}" srcOrd="0" destOrd="0" presId="urn:microsoft.com/office/officeart/2005/8/layout/cycle5"/>
    <dgm:cxn modelId="{BF10133E-702F-7C49-BF42-C982C5E84355}" type="presOf" srcId="{7557AE8D-57BF-D24F-872C-75F404B13206}" destId="{6676BDEF-02FC-AE45-80AA-9F89623BADB9}" srcOrd="0" destOrd="0" presId="urn:microsoft.com/office/officeart/2005/8/layout/cycle5"/>
    <dgm:cxn modelId="{103C1CCC-2FC5-2842-A778-4C721F76605B}" type="presOf" srcId="{04B69FB3-6B64-8940-89B6-0252A73C44D7}" destId="{5BFC9CA0-4DA4-7D4E-8DB7-A8E807AD8C3B}" srcOrd="0" destOrd="0" presId="urn:microsoft.com/office/officeart/2005/8/layout/cycle5"/>
    <dgm:cxn modelId="{4FC41316-2ADC-EA43-BC23-EC9E40AD1BB4}" srcId="{28EE9686-9A27-8C41-9C91-7B397A9E8FE3}" destId="{1B3C1FCB-B80F-DE43-B0B2-FB445B5E4FE5}" srcOrd="0" destOrd="0" parTransId="{3245E1EA-39F0-5242-A393-5A6EB662A51A}" sibTransId="{865BE107-D1B6-7B42-BE08-C305E33BFACB}"/>
    <dgm:cxn modelId="{DB0C714D-B14E-C443-B476-6D8819C391D0}" type="presOf" srcId="{1B3C1FCB-B80F-DE43-B0B2-FB445B5E4FE5}" destId="{703A30F9-CA97-3240-8FCD-A93F83B71DE7}" srcOrd="0" destOrd="0" presId="urn:microsoft.com/office/officeart/2005/8/layout/cycle5"/>
    <dgm:cxn modelId="{4ABA86B3-CBD8-4245-AEFF-D50C9C54C75E}" type="presOf" srcId="{4FE1D110-B260-1843-AEFB-56FC76F013CB}" destId="{9B3F6CC5-0B51-514F-9229-3BD6E7CB3295}" srcOrd="0" destOrd="0" presId="urn:microsoft.com/office/officeart/2005/8/layout/cycle5"/>
    <dgm:cxn modelId="{637316D1-F2C1-CC46-A67B-CF504043D59D}" type="presParOf" srcId="{C4CB7C70-24A7-9840-8E42-8279FEAD2388}" destId="{703A30F9-CA97-3240-8FCD-A93F83B71DE7}" srcOrd="0" destOrd="0" presId="urn:microsoft.com/office/officeart/2005/8/layout/cycle5"/>
    <dgm:cxn modelId="{03963536-ACE1-1C40-AC0E-FBEF1CB70843}" type="presParOf" srcId="{C4CB7C70-24A7-9840-8E42-8279FEAD2388}" destId="{1E5C831E-9840-8E44-9365-F89C566C2736}" srcOrd="1" destOrd="0" presId="urn:microsoft.com/office/officeart/2005/8/layout/cycle5"/>
    <dgm:cxn modelId="{65C8BA77-6E0B-EB4D-A04B-1FB4C6A91389}" type="presParOf" srcId="{C4CB7C70-24A7-9840-8E42-8279FEAD2388}" destId="{C8861D6C-09D3-1145-8738-1E7B0E25EEC3}" srcOrd="2" destOrd="0" presId="urn:microsoft.com/office/officeart/2005/8/layout/cycle5"/>
    <dgm:cxn modelId="{1EC37F70-B666-E54D-9D28-CDE6AD56C72F}" type="presParOf" srcId="{C4CB7C70-24A7-9840-8E42-8279FEAD2388}" destId="{E9C4F079-CAAE-784D-BA94-68166BBA66C7}" srcOrd="3" destOrd="0" presId="urn:microsoft.com/office/officeart/2005/8/layout/cycle5"/>
    <dgm:cxn modelId="{629B1C14-6293-8242-9E6D-624C15334EF9}" type="presParOf" srcId="{C4CB7C70-24A7-9840-8E42-8279FEAD2388}" destId="{67CF69E9-B811-A641-9A71-59565F0979F0}" srcOrd="4" destOrd="0" presId="urn:microsoft.com/office/officeart/2005/8/layout/cycle5"/>
    <dgm:cxn modelId="{21FB5F6D-4C9E-7A4E-A391-8D6CDAD804DA}" type="presParOf" srcId="{C4CB7C70-24A7-9840-8E42-8279FEAD2388}" destId="{9B3F6CC5-0B51-514F-9229-3BD6E7CB3295}" srcOrd="5" destOrd="0" presId="urn:microsoft.com/office/officeart/2005/8/layout/cycle5"/>
    <dgm:cxn modelId="{173DA623-EBCB-3E44-9221-B75AA89B2A6A}" type="presParOf" srcId="{C4CB7C70-24A7-9840-8E42-8279FEAD2388}" destId="{5BFC9CA0-4DA4-7D4E-8DB7-A8E807AD8C3B}" srcOrd="6" destOrd="0" presId="urn:microsoft.com/office/officeart/2005/8/layout/cycle5"/>
    <dgm:cxn modelId="{FC34A0D8-96D4-B345-934C-5D0080942DC4}" type="presParOf" srcId="{C4CB7C70-24A7-9840-8E42-8279FEAD2388}" destId="{CB41C6C1-D967-5E4C-ACF6-C67EC0F8343B}" srcOrd="7" destOrd="0" presId="urn:microsoft.com/office/officeart/2005/8/layout/cycle5"/>
    <dgm:cxn modelId="{291F144F-2638-2B45-BB8A-B89D52F6411A}" type="presParOf" srcId="{C4CB7C70-24A7-9840-8E42-8279FEAD2388}" destId="{ABEEF979-78B5-9D4A-8D2B-B264BB7048C8}" srcOrd="8" destOrd="0" presId="urn:microsoft.com/office/officeart/2005/8/layout/cycle5"/>
    <dgm:cxn modelId="{596C1DFA-B343-7D4F-BDA0-877C00B8B335}" type="presParOf" srcId="{C4CB7C70-24A7-9840-8E42-8279FEAD2388}" destId="{49BF37B0-EB55-AA45-B77C-B90B2E8376AE}" srcOrd="9" destOrd="0" presId="urn:microsoft.com/office/officeart/2005/8/layout/cycle5"/>
    <dgm:cxn modelId="{ECB2643C-F4C7-9041-81DF-A265DC665A9F}" type="presParOf" srcId="{C4CB7C70-24A7-9840-8E42-8279FEAD2388}" destId="{792CEF4A-415D-5E49-9F32-DA4A42E6FF40}" srcOrd="10" destOrd="0" presId="urn:microsoft.com/office/officeart/2005/8/layout/cycle5"/>
    <dgm:cxn modelId="{0C12CD33-3D99-594B-A9B4-BA86CF6DCA69}" type="presParOf" srcId="{C4CB7C70-24A7-9840-8E42-8279FEAD2388}" destId="{6676BDEF-02FC-AE45-80AA-9F89623BADB9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A30F9-CA97-3240-8FCD-A93F83B71DE7}">
      <dsp:nvSpPr>
        <dsp:cNvPr id="0" name=""/>
        <dsp:cNvSpPr/>
      </dsp:nvSpPr>
      <dsp:spPr>
        <a:xfrm>
          <a:off x="2321718" y="174"/>
          <a:ext cx="1452562" cy="944165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5" dist="22987" dir="54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Anunciar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Produto</a:t>
          </a:r>
          <a:endParaRPr lang="en-US" sz="1900" kern="1200" dirty="0"/>
        </a:p>
      </dsp:txBody>
      <dsp:txXfrm>
        <a:off x="2367808" y="46264"/>
        <a:ext cx="1360382" cy="851985"/>
      </dsp:txXfrm>
    </dsp:sp>
    <dsp:sp modelId="{C8861D6C-09D3-1145-8738-1E7B0E25EEC3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486503" y="305186"/>
              </a:moveTo>
              <a:arcTo wR="1559742" hR="1559742" stAng="18387232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C4F079-CAAE-784D-BA94-68166BBA66C7}">
      <dsp:nvSpPr>
        <dsp:cNvPr id="0" name=""/>
        <dsp:cNvSpPr/>
      </dsp:nvSpPr>
      <dsp:spPr>
        <a:xfrm>
          <a:off x="3881461" y="1559917"/>
          <a:ext cx="1452562" cy="944165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Utilizador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Clica</a:t>
          </a:r>
          <a:endParaRPr lang="en-US" sz="1900" kern="1200" dirty="0"/>
        </a:p>
      </dsp:txBody>
      <dsp:txXfrm>
        <a:off x="3927551" y="1606007"/>
        <a:ext cx="1360382" cy="851985"/>
      </dsp:txXfrm>
    </dsp:sp>
    <dsp:sp modelId="{9B3F6CC5-0B51-514F-9229-3BD6E7CB3295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957789" y="2251307"/>
              </a:moveTo>
              <a:arcTo wR="1559742" hR="1559742" stAng="1579199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FC9CA0-4DA4-7D4E-8DB7-A8E807AD8C3B}">
      <dsp:nvSpPr>
        <dsp:cNvPr id="0" name=""/>
        <dsp:cNvSpPr/>
      </dsp:nvSpPr>
      <dsp:spPr>
        <a:xfrm>
          <a:off x="2321718" y="3119659"/>
          <a:ext cx="1452562" cy="944165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Efetua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Compra</a:t>
          </a:r>
          <a:endParaRPr lang="en-US" sz="1900" kern="1200" dirty="0"/>
        </a:p>
      </dsp:txBody>
      <dsp:txXfrm>
        <a:off x="2367808" y="3165749"/>
        <a:ext cx="1360382" cy="851985"/>
      </dsp:txXfrm>
    </dsp:sp>
    <dsp:sp modelId="{ABEEF979-78B5-9D4A-8D2B-B264BB7048C8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632981" y="2814299"/>
              </a:moveTo>
              <a:arcTo wR="1559742" hR="1559742" stAng="7587232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BF37B0-EB55-AA45-B77C-B90B2E8376AE}">
      <dsp:nvSpPr>
        <dsp:cNvPr id="0" name=""/>
        <dsp:cNvSpPr/>
      </dsp:nvSpPr>
      <dsp:spPr>
        <a:xfrm>
          <a:off x="761975" y="1559917"/>
          <a:ext cx="1452562" cy="944165"/>
        </a:xfrm>
        <a:prstGeom prst="roundRect">
          <a:avLst/>
        </a:prstGeom>
        <a:solidFill>
          <a:srgbClr val="E13C2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Recebe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Comiss</a:t>
          </a:r>
          <a:r>
            <a:rPr lang="en-US" sz="1900" kern="1200" dirty="0" err="1" smtClean="0"/>
            <a:t>ão</a:t>
          </a:r>
          <a:r>
            <a:rPr lang="en-US" sz="1900" kern="1200" dirty="0" smtClean="0"/>
            <a:t> %</a:t>
          </a:r>
          <a:endParaRPr lang="en-US" sz="1900" kern="1200" dirty="0"/>
        </a:p>
      </dsp:txBody>
      <dsp:txXfrm>
        <a:off x="808065" y="1606007"/>
        <a:ext cx="1360382" cy="851985"/>
      </dsp:txXfrm>
    </dsp:sp>
    <dsp:sp modelId="{6676BDEF-02FC-AE45-80AA-9F89623BADB9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161695" y="868178"/>
              </a:moveTo>
              <a:arcTo wR="1559742" hR="1559742" stAng="12379199" swAng="163356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7D4AF-3624-4E4C-B20E-3A05F226DA85}" type="datetimeFigureOut">
              <a:rPr lang="en-US" smtClean="0"/>
              <a:t>20/06/12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A46A2-3D18-224B-9B79-5F1459AE1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85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DDE3F-2F5C-1940-9525-B4FA03A4DA86}" type="datetimeFigureOut">
              <a:rPr lang="en-US" smtClean="0"/>
              <a:t>20/06/12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AA494-601F-8341-B611-8FF2BFCA7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4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884" y="537940"/>
            <a:ext cx="8397228" cy="3600400"/>
          </a:xfrm>
        </p:spPr>
        <p:txBody>
          <a:bodyPr anchor="t" anchorCtr="0">
            <a:noAutofit/>
          </a:bodyPr>
          <a:lstStyle>
            <a:lvl1pPr algn="l">
              <a:lnSpc>
                <a:spcPts val="5000"/>
              </a:lnSpc>
              <a:defRPr sz="6600" b="1" cap="all" baseline="0">
                <a:solidFill>
                  <a:srgbClr val="344447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972" y="3705004"/>
            <a:ext cx="8389316" cy="1460500"/>
          </a:xfrm>
        </p:spPr>
        <p:txBody>
          <a:bodyPr>
            <a:normAutofit/>
          </a:bodyPr>
          <a:lstStyle>
            <a:lvl1pPr marL="0" indent="0" algn="l">
              <a:lnSpc>
                <a:spcPts val="1500"/>
              </a:lnSpc>
              <a:buNone/>
              <a:defRPr sz="2000" b="1">
                <a:solidFill>
                  <a:srgbClr val="344447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5724128" y="3361556"/>
            <a:ext cx="2353444" cy="2353444"/>
          </a:xfrm>
          <a:prstGeom prst="line">
            <a:avLst/>
          </a:prstGeom>
          <a:ln>
            <a:solidFill>
              <a:srgbClr val="344447">
                <a:alpha val="14000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1289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94" y="1333501"/>
            <a:ext cx="8229600" cy="3612231"/>
          </a:xfrm>
        </p:spPr>
        <p:txBody>
          <a:bodyPr/>
          <a:lstStyle>
            <a:lvl1pPr marL="0" indent="0">
              <a:buNone/>
              <a:defRPr>
                <a:solidFill>
                  <a:srgbClr val="344447"/>
                </a:solidFill>
              </a:defRPr>
            </a:lvl1pPr>
            <a:lvl2pPr marL="457200" indent="0">
              <a:buNone/>
              <a:defRPr>
                <a:solidFill>
                  <a:srgbClr val="344447"/>
                </a:solidFill>
              </a:defRPr>
            </a:lvl2pPr>
            <a:lvl3pPr marL="914400" indent="0">
              <a:buNone/>
              <a:defRPr>
                <a:solidFill>
                  <a:srgbClr val="344447"/>
                </a:solidFill>
              </a:defRPr>
            </a:lvl3pPr>
            <a:lvl4pPr marL="1371600" indent="0">
              <a:buNone/>
              <a:defRPr>
                <a:solidFill>
                  <a:srgbClr val="344447"/>
                </a:solidFill>
              </a:defRPr>
            </a:lvl4pPr>
            <a:lvl5pPr marL="1828800" indent="0"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1197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 rot="18900000">
            <a:off x="277536" y="2745580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/>
          </p:nvPr>
        </p:nvSpPr>
        <p:spPr>
          <a:xfrm rot="18900000">
            <a:off x="729853" y="2620006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/>
          </p:nvPr>
        </p:nvSpPr>
        <p:spPr>
          <a:xfrm rot="18900000">
            <a:off x="962296" y="2715100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6"/>
          </p:nvPr>
        </p:nvSpPr>
        <p:spPr>
          <a:xfrm rot="18900000">
            <a:off x="975623" y="3028439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7"/>
          </p:nvPr>
        </p:nvSpPr>
        <p:spPr>
          <a:xfrm rot="18900000">
            <a:off x="1505813" y="2827572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8"/>
          </p:nvPr>
        </p:nvSpPr>
        <p:spPr>
          <a:xfrm rot="18900000">
            <a:off x="1621631" y="303849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9"/>
          </p:nvPr>
        </p:nvSpPr>
        <p:spPr>
          <a:xfrm rot="18900000">
            <a:off x="2080848" y="290681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0"/>
          </p:nvPr>
        </p:nvSpPr>
        <p:spPr>
          <a:xfrm rot="18900000">
            <a:off x="2117335" y="3198213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 rot="18900000">
            <a:off x="2706909" y="293455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 rot="18900000">
            <a:off x="3161778" y="2808983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3"/>
          </p:nvPr>
        </p:nvSpPr>
        <p:spPr>
          <a:xfrm rot="18900000">
            <a:off x="3243154" y="3057696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4"/>
          </p:nvPr>
        </p:nvSpPr>
        <p:spPr>
          <a:xfrm rot="18900000">
            <a:off x="3580199" y="3049168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5"/>
          </p:nvPr>
        </p:nvSpPr>
        <p:spPr>
          <a:xfrm rot="18900000">
            <a:off x="4213661" y="2745581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26"/>
          </p:nvPr>
        </p:nvSpPr>
        <p:spPr>
          <a:xfrm rot="18900000">
            <a:off x="4651532" y="2635852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7"/>
          </p:nvPr>
        </p:nvSpPr>
        <p:spPr>
          <a:xfrm rot="18900000">
            <a:off x="4996257" y="2620305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8"/>
          </p:nvPr>
        </p:nvSpPr>
        <p:spPr>
          <a:xfrm rot="18900000">
            <a:off x="5200247" y="2745581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29"/>
          </p:nvPr>
        </p:nvSpPr>
        <p:spPr>
          <a:xfrm rot="18900000">
            <a:off x="5613650" y="2663589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30"/>
          </p:nvPr>
        </p:nvSpPr>
        <p:spPr>
          <a:xfrm rot="18900000">
            <a:off x="6070730" y="2538015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31"/>
          </p:nvPr>
        </p:nvSpPr>
        <p:spPr>
          <a:xfrm rot="18900000">
            <a:off x="6305725" y="2633109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32"/>
          </p:nvPr>
        </p:nvSpPr>
        <p:spPr>
          <a:xfrm rot="18900000">
            <a:off x="6285028" y="2983025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33"/>
          </p:nvPr>
        </p:nvSpPr>
        <p:spPr>
          <a:xfrm rot="18900000">
            <a:off x="6727510" y="2869938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34"/>
          </p:nvPr>
        </p:nvSpPr>
        <p:spPr>
          <a:xfrm rot="18900000">
            <a:off x="7182379" y="2745581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35"/>
          </p:nvPr>
        </p:nvSpPr>
        <p:spPr>
          <a:xfrm rot="18900000">
            <a:off x="-1295110" y="2671213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36"/>
          </p:nvPr>
        </p:nvSpPr>
        <p:spPr>
          <a:xfrm rot="18900000">
            <a:off x="-1060115" y="276630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37"/>
          </p:nvPr>
        </p:nvSpPr>
        <p:spPr>
          <a:xfrm rot="18900000">
            <a:off x="-649215" y="2684626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38"/>
          </p:nvPr>
        </p:nvSpPr>
        <p:spPr>
          <a:xfrm rot="18900000">
            <a:off x="-638330" y="3003136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39"/>
          </p:nvPr>
        </p:nvSpPr>
        <p:spPr>
          <a:xfrm rot="18900000">
            <a:off x="-183461" y="2878779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40"/>
          </p:nvPr>
        </p:nvSpPr>
        <p:spPr>
          <a:xfrm rot="18900000">
            <a:off x="7686162" y="2573677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41"/>
          </p:nvPr>
        </p:nvSpPr>
        <p:spPr>
          <a:xfrm rot="18900000">
            <a:off x="7767538" y="2822390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42"/>
          </p:nvPr>
        </p:nvSpPr>
        <p:spPr>
          <a:xfrm rot="18900000">
            <a:off x="8104583" y="2813862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43"/>
          </p:nvPr>
        </p:nvSpPr>
        <p:spPr>
          <a:xfrm rot="18900000">
            <a:off x="8738045" y="2510275"/>
            <a:ext cx="1843088" cy="223837"/>
          </a:xfrm>
          <a:solidFill>
            <a:srgbClr val="E31A79"/>
          </a:solidFill>
        </p:spPr>
        <p:txBody>
          <a:bodyPr tIns="32400">
            <a:noAutofit/>
          </a:bodyPr>
          <a:lstStyle>
            <a:lvl1pPr algn="ctr">
              <a:buNone/>
              <a:defRPr sz="105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pt-PT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61197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69" y="462634"/>
            <a:ext cx="8229600" cy="952500"/>
          </a:xfrm>
        </p:spPr>
        <p:txBody>
          <a:bodyPr/>
          <a:lstStyle>
            <a:lvl1pPr>
              <a:lnSpc>
                <a:spcPts val="2300"/>
              </a:lnSpc>
              <a:defRPr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448462" y="1414800"/>
            <a:ext cx="2516188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448462" y="1737083"/>
            <a:ext cx="3730251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21" hasCustomPrompt="1"/>
          </p:nvPr>
        </p:nvSpPr>
        <p:spPr>
          <a:xfrm>
            <a:off x="448463" y="2064129"/>
            <a:ext cx="3069028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9" name="Text Placeholder 16"/>
          <p:cNvSpPr>
            <a:spLocks noGrp="1"/>
          </p:cNvSpPr>
          <p:nvPr>
            <p:ph type="body" sz="quarter" idx="22" hasCustomPrompt="1"/>
          </p:nvPr>
        </p:nvSpPr>
        <p:spPr>
          <a:xfrm>
            <a:off x="448462" y="2391175"/>
            <a:ext cx="4123538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23" hasCustomPrompt="1"/>
          </p:nvPr>
        </p:nvSpPr>
        <p:spPr>
          <a:xfrm>
            <a:off x="448462" y="2713458"/>
            <a:ext cx="3924435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24" hasCustomPrompt="1"/>
          </p:nvPr>
        </p:nvSpPr>
        <p:spPr>
          <a:xfrm>
            <a:off x="448462" y="3035741"/>
            <a:ext cx="2691613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2" name="Text Placeholder 16"/>
          <p:cNvSpPr>
            <a:spLocks noGrp="1"/>
          </p:cNvSpPr>
          <p:nvPr>
            <p:ph type="body" sz="quarter" idx="25" hasCustomPrompt="1"/>
          </p:nvPr>
        </p:nvSpPr>
        <p:spPr>
          <a:xfrm>
            <a:off x="448462" y="3358024"/>
            <a:ext cx="3400867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26" hasCustomPrompt="1"/>
          </p:nvPr>
        </p:nvSpPr>
        <p:spPr>
          <a:xfrm>
            <a:off x="448462" y="3680307"/>
            <a:ext cx="3083777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27" hasCustomPrompt="1"/>
          </p:nvPr>
        </p:nvSpPr>
        <p:spPr>
          <a:xfrm>
            <a:off x="448462" y="4007350"/>
            <a:ext cx="2346357" cy="318135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text</a:t>
            </a:r>
            <a:endParaRPr lang="en-GB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163207" y="1335087"/>
            <a:ext cx="3466443" cy="36862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068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333501"/>
            <a:ext cx="5007077" cy="3612231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053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1978" y="1333502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412964" y="1335088"/>
            <a:ext cx="2520000" cy="1600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2519524" y="3240955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5410510" y="3242541"/>
            <a:ext cx="2520000" cy="1600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8364" y="1306286"/>
            <a:ext cx="4036728" cy="317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28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2273" y="1684622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3259" y="1686208"/>
            <a:ext cx="2520000" cy="1600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3199819" y="3562815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6090805" y="3564401"/>
            <a:ext cx="2520000" cy="1600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7"/>
          </p:nvPr>
        </p:nvSpPr>
        <p:spPr>
          <a:xfrm>
            <a:off x="361042" y="1690722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358588" y="3568915"/>
            <a:ext cx="2520000" cy="1601428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800">
                <a:solidFill>
                  <a:srgbClr val="344447"/>
                </a:solidFill>
              </a:defRPr>
            </a:lvl1pPr>
            <a:lvl2pPr marL="4572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2pPr>
            <a:lvl3pPr marL="9144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3pPr>
            <a:lvl4pPr marL="13716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4pPr>
            <a:lvl5pPr marL="1828800" indent="0">
              <a:spcAft>
                <a:spcPts val="300"/>
              </a:spcAft>
              <a:buNone/>
              <a:defRPr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358775" y="1408395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3205910" y="1414495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21" hasCustomPrompt="1"/>
          </p:nvPr>
        </p:nvSpPr>
        <p:spPr>
          <a:xfrm>
            <a:off x="6091517" y="1405961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22" hasCustomPrompt="1"/>
          </p:nvPr>
        </p:nvSpPr>
        <p:spPr>
          <a:xfrm>
            <a:off x="364875" y="3279864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23" hasCustomPrompt="1"/>
          </p:nvPr>
        </p:nvSpPr>
        <p:spPr>
          <a:xfrm>
            <a:off x="3212010" y="3285964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  <p:sp>
        <p:nvSpPr>
          <p:cNvPr id="22" name="Text Placeholder 16"/>
          <p:cNvSpPr>
            <a:spLocks noGrp="1"/>
          </p:cNvSpPr>
          <p:nvPr>
            <p:ph type="body" sz="quarter" idx="24" hasCustomPrompt="1"/>
          </p:nvPr>
        </p:nvSpPr>
        <p:spPr>
          <a:xfrm>
            <a:off x="6097617" y="3277430"/>
            <a:ext cx="2516188" cy="216000"/>
          </a:xfrm>
          <a:solidFill>
            <a:srgbClr val="E31A79"/>
          </a:solidFill>
        </p:spPr>
        <p:txBody>
          <a:bodyPr anchor="ctr" anchorCtr="0">
            <a:noAutofit/>
          </a:bodyPr>
          <a:lstStyle>
            <a:lvl1pPr>
              <a:buNone/>
              <a:defRPr sz="11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ADD SERVICE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428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428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Bi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5" y="460281"/>
            <a:ext cx="8229600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163715" y="2073833"/>
            <a:ext cx="4489450" cy="300618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57663" y="1320278"/>
            <a:ext cx="4427537" cy="415925"/>
          </a:xfrm>
        </p:spPr>
        <p:txBody>
          <a:bodyPr>
            <a:noAutofit/>
          </a:bodyPr>
          <a:lstStyle>
            <a:lvl1pPr>
              <a:buNone/>
              <a:defRPr sz="1600" b="1" cap="all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 sz="1600" cap="all" baseline="0">
                <a:latin typeface="Helvetica Neue" pitchFamily="2" charset="0"/>
              </a:defRPr>
            </a:lvl2pPr>
            <a:lvl3pPr>
              <a:buNone/>
              <a:defRPr sz="1600" cap="all" baseline="0">
                <a:latin typeface="Helvetica Neue" pitchFamily="2" charset="0"/>
              </a:defRPr>
            </a:lvl3pPr>
            <a:lvl4pPr>
              <a:buNone/>
              <a:defRPr sz="1600" cap="all" baseline="0">
                <a:latin typeface="Helvetica Neue" pitchFamily="2" charset="0"/>
              </a:defRPr>
            </a:lvl4pPr>
            <a:lvl5pPr>
              <a:buNone/>
              <a:defRPr sz="1600" cap="all" baseline="0">
                <a:latin typeface="Helvetica Neue" pitchFamily="2" charset="0"/>
              </a:defRPr>
            </a:lvl5pPr>
          </a:lstStyle>
          <a:p>
            <a:pPr lvl="0"/>
            <a:r>
              <a:rPr lang="en-US" dirty="0" smtClean="0"/>
              <a:t>Team player name</a:t>
            </a:r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166124" y="1658952"/>
            <a:ext cx="4427537" cy="415925"/>
          </a:xfrm>
        </p:spPr>
        <p:txBody>
          <a:bodyPr>
            <a:noAutofit/>
          </a:bodyPr>
          <a:lstStyle>
            <a:lvl1pPr>
              <a:buNone/>
              <a:defRPr sz="1600" b="1" cap="none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 sz="1600" cap="all" baseline="0">
                <a:latin typeface="Helvetica Neue" pitchFamily="2" charset="0"/>
              </a:defRPr>
            </a:lvl2pPr>
            <a:lvl3pPr>
              <a:buNone/>
              <a:defRPr sz="1600" cap="all" baseline="0">
                <a:latin typeface="Helvetica Neue" pitchFamily="2" charset="0"/>
              </a:defRPr>
            </a:lvl3pPr>
            <a:lvl4pPr>
              <a:buNone/>
              <a:defRPr sz="1600" cap="all" baseline="0">
                <a:latin typeface="Helvetica Neue" pitchFamily="2" charset="0"/>
              </a:defRPr>
            </a:lvl4pPr>
            <a:lvl5pPr>
              <a:buNone/>
              <a:defRPr sz="1600" cap="all" baseline="0">
                <a:latin typeface="Helvetica Neue" pitchFamily="2" charset="0"/>
              </a:defRPr>
            </a:lvl5pPr>
          </a:lstStyle>
          <a:p>
            <a:pPr lvl="0"/>
            <a:r>
              <a:rPr lang="en-US" dirty="0" smtClean="0"/>
              <a:t>Team player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428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4" y="460281"/>
            <a:ext cx="2749921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94" y="1775942"/>
            <a:ext cx="2124109" cy="2803442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44447"/>
                </a:solidFill>
              </a:defRPr>
            </a:lvl1pPr>
            <a:lvl2pPr marL="0" indent="0">
              <a:buNone/>
              <a:defRPr sz="1400">
                <a:solidFill>
                  <a:srgbClr val="344447"/>
                </a:solidFill>
              </a:defRPr>
            </a:lvl2pPr>
            <a:lvl3pPr marL="0" indent="0">
              <a:buNone/>
              <a:defRPr sz="1400">
                <a:solidFill>
                  <a:srgbClr val="344447"/>
                </a:solidFill>
              </a:defRPr>
            </a:lvl3pPr>
            <a:lvl4pPr marL="0" indent="0">
              <a:buNone/>
              <a:defRPr sz="1400">
                <a:solidFill>
                  <a:srgbClr val="344447"/>
                </a:solidFill>
              </a:defRPr>
            </a:lvl4pPr>
            <a:lvl5pPr marL="0" indent="0">
              <a:buNone/>
              <a:defRPr sz="1400"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934" y="598161"/>
            <a:ext cx="6003583" cy="4404717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3331066" y="977353"/>
            <a:ext cx="5104800" cy="3333600"/>
          </a:xfrm>
        </p:spPr>
        <p:txBody>
          <a:bodyPr/>
          <a:lstStyle/>
          <a:p>
            <a:r>
              <a:rPr lang="pt-PT" smtClean="0"/>
              <a:t>Drag picture to placeholder or click icon to add</a:t>
            </a:r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2560" y="1511301"/>
            <a:ext cx="2162690" cy="236384"/>
          </a:xfrm>
          <a:solidFill>
            <a:srgbClr val="E31A79"/>
          </a:solidFill>
        </p:spPr>
        <p:txBody>
          <a:bodyPr tIns="32400" anchor="t" anchorCtr="0">
            <a:no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33324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ow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14" y="460281"/>
            <a:ext cx="2749921" cy="952500"/>
          </a:xfrm>
        </p:spPr>
        <p:txBody>
          <a:bodyPr anchor="t" anchorCtr="0"/>
          <a:lstStyle>
            <a:lvl1pPr>
              <a:lnSpc>
                <a:spcPts val="2300"/>
              </a:lnSpc>
              <a:defRPr sz="2800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94" y="1775942"/>
            <a:ext cx="2124109" cy="2803442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344447"/>
                </a:solidFill>
              </a:defRPr>
            </a:lvl1pPr>
            <a:lvl2pPr marL="0" indent="0">
              <a:buNone/>
              <a:defRPr sz="1400">
                <a:solidFill>
                  <a:srgbClr val="344447"/>
                </a:solidFill>
              </a:defRPr>
            </a:lvl2pPr>
            <a:lvl3pPr marL="0" indent="0">
              <a:buNone/>
              <a:defRPr sz="1400">
                <a:solidFill>
                  <a:srgbClr val="344447"/>
                </a:solidFill>
              </a:defRPr>
            </a:lvl3pPr>
            <a:lvl4pPr marL="0" indent="0">
              <a:buNone/>
              <a:defRPr sz="1400">
                <a:solidFill>
                  <a:srgbClr val="344447"/>
                </a:solidFill>
              </a:defRPr>
            </a:lvl4pPr>
            <a:lvl5pPr marL="0" indent="0">
              <a:buNone/>
              <a:defRPr sz="1400">
                <a:solidFill>
                  <a:srgbClr val="344447"/>
                </a:solidFill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2560" y="1511301"/>
            <a:ext cx="2162690" cy="236384"/>
          </a:xfrm>
          <a:solidFill>
            <a:srgbClr val="E31A79"/>
          </a:solidFill>
        </p:spPr>
        <p:txBody>
          <a:bodyPr tIns="32400" anchor="t" anchorCtr="0">
            <a:no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0" indent="0">
              <a:buNone/>
              <a:defRPr sz="12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423" y="654568"/>
            <a:ext cx="5753148" cy="4410000"/>
          </a:xfrm>
          <a:prstGeom prst="rect">
            <a:avLst/>
          </a:prstGeom>
        </p:spPr>
      </p:pic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133724" y="1072022"/>
            <a:ext cx="5398217" cy="3890809"/>
          </a:xfrm>
        </p:spPr>
        <p:txBody>
          <a:bodyPr/>
          <a:lstStyle/>
          <a:p>
            <a:r>
              <a:rPr lang="pt-PT" smtClean="0"/>
              <a:t>Drag picture to placeholder or click icon to add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073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3730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669" y="381520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pt-PT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22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2E8A4-B6C8-4346-ADD1-84C6930EF6A5}" type="datetimeFigureOut">
              <a:rPr lang="en-GB" smtClean="0"/>
              <a:pPr/>
              <a:t>20/06/12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6ABA4-253D-44E9-97A8-82E0FB6AF78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-7374" y="463557"/>
            <a:ext cx="353961" cy="132736"/>
          </a:xfrm>
          <a:prstGeom prst="rect">
            <a:avLst/>
          </a:prstGeom>
          <a:solidFill>
            <a:srgbClr val="E13C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54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66" r:id="rId4"/>
    <p:sldLayoutId id="2147483660" r:id="rId5"/>
    <p:sldLayoutId id="2147483662" r:id="rId6"/>
    <p:sldLayoutId id="2147483664" r:id="rId7"/>
    <p:sldLayoutId id="2147483665" r:id="rId8"/>
    <p:sldLayoutId id="2147483667" r:id="rId9"/>
    <p:sldLayoutId id="2147483658" r:id="rId10"/>
    <p:sldLayoutId id="2147483661" r:id="rId11"/>
    <p:sldLayoutId id="2147483651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914400" rtl="0" eaLnBrk="1" latinLnBrk="0" hangingPunct="1">
        <a:lnSpc>
          <a:spcPts val="3000"/>
        </a:lnSpc>
        <a:spcBef>
          <a:spcPct val="0"/>
        </a:spcBef>
        <a:buNone/>
        <a:defRPr sz="2800" b="1" kern="1200" cap="all" baseline="0">
          <a:solidFill>
            <a:srgbClr val="344447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44447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34444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4444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34444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34444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slidesha.re/EDblogs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hyperlink" Target="http://bit.ly/EDadsens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hyperlink" Target="http://bit.ly/EDcpabr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hyperlink" Target="http://bit.ly/EDnetaff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hyperlink" Target="http://bit.ly/EDlucro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hyperlink" Target="http://bit.ly/EDuprise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hyperlink" Target="http://bit.ly/EDyoupar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hyperlink" Target="http://bit.ly/EDebookg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hyperlink" Target="http://bit.ly/EDebookp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escoladinheiro" TargetMode="External"/><Relationship Id="rId4" Type="http://schemas.openxmlformats.org/officeDocument/2006/relationships/hyperlink" Target="http://www.escoladinheiro.com" TargetMode="External"/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facebook.com/paulofaust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GANHAR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E13C23"/>
                </a:solidFill>
              </a:rPr>
              <a:t>DINHEIRO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NA INTERNET</a:t>
            </a:r>
            <a:br>
              <a:rPr lang="en-GB" dirty="0" smtClean="0"/>
            </a:br>
            <a:r>
              <a:rPr lang="en-GB" dirty="0" smtClean="0"/>
              <a:t>COM BLOGS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Paulo Faustino</a:t>
            </a:r>
          </a:p>
          <a:p>
            <a:r>
              <a:rPr lang="en-GB" dirty="0" smtClean="0">
                <a:solidFill>
                  <a:srgbClr val="E13C23"/>
                </a:solidFill>
                <a:hlinkClick r:id="rId2"/>
              </a:rPr>
              <a:t>http://slidesha.re/</a:t>
            </a:r>
            <a:r>
              <a:rPr lang="en-GB" dirty="0" smtClean="0">
                <a:solidFill>
                  <a:srgbClr val="E13C23"/>
                </a:solidFill>
                <a:hlinkClick r:id="rId2"/>
              </a:rPr>
              <a:t>EDblogs</a:t>
            </a:r>
            <a:endParaRPr lang="en-GB" dirty="0" smtClean="0">
              <a:solidFill>
                <a:srgbClr val="E13C23"/>
              </a:solidFill>
            </a:endParaRPr>
          </a:p>
          <a:p>
            <a:endParaRPr lang="en-GB" dirty="0" smtClean="0">
              <a:solidFill>
                <a:srgbClr val="E13C23"/>
              </a:solidFill>
            </a:endParaRPr>
          </a:p>
          <a:p>
            <a:endParaRPr lang="en-GB" dirty="0" smtClean="0">
              <a:solidFill>
                <a:srgbClr val="E13C23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2887025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</a:t>
            </a:r>
            <a:r>
              <a:rPr lang="en-GB" dirty="0" err="1" smtClean="0"/>
              <a:t>scolas</a:t>
            </a:r>
            <a:r>
              <a:rPr lang="en-GB" dirty="0" smtClean="0"/>
              <a:t>+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 descr="Captura de ecrã 2012-06-20, às 22.57.4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24" y="975938"/>
            <a:ext cx="8264547" cy="525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44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Escolas</a:t>
            </a:r>
            <a:r>
              <a:rPr lang="en-GB" dirty="0" smtClean="0"/>
              <a:t>+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1660" y="1914202"/>
            <a:ext cx="692228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4000" b="1" dirty="0">
                <a:solidFill>
                  <a:srgbClr val="E13C23"/>
                </a:solidFill>
                <a:latin typeface="Arial"/>
                <a:cs typeface="Arial"/>
              </a:rPr>
              <a:t>10 866 688 </a:t>
            </a:r>
            <a:r>
              <a:rPr lang="en-US" sz="4000" b="1" dirty="0">
                <a:latin typeface="Arial"/>
                <a:cs typeface="Arial"/>
              </a:rPr>
              <a:t>ARTIGOS LIDOS</a:t>
            </a:r>
          </a:p>
          <a:p>
            <a:pPr algn="ctr">
              <a:defRPr/>
            </a:pPr>
            <a:r>
              <a:rPr lang="en-US" sz="4000" b="1" dirty="0">
                <a:solidFill>
                  <a:srgbClr val="E13C23"/>
                </a:solidFill>
                <a:latin typeface="Arial"/>
                <a:cs typeface="Arial"/>
              </a:rPr>
              <a:t>7 947 122</a:t>
            </a:r>
            <a:r>
              <a:rPr lang="en-US" sz="4000" b="1" dirty="0">
                <a:latin typeface="Arial"/>
                <a:cs typeface="Arial"/>
              </a:rPr>
              <a:t> LEITORES</a:t>
            </a:r>
          </a:p>
          <a:p>
            <a:pPr algn="ctr">
              <a:defRPr/>
            </a:pPr>
            <a:r>
              <a:rPr lang="en-US" sz="4000" b="1" dirty="0">
                <a:solidFill>
                  <a:srgbClr val="E13C23"/>
                </a:solidFill>
                <a:latin typeface="Arial"/>
                <a:cs typeface="Arial"/>
              </a:rPr>
              <a:t>158</a:t>
            </a:r>
            <a:r>
              <a:rPr lang="en-US" sz="4000" b="1" dirty="0">
                <a:latin typeface="Arial"/>
                <a:cs typeface="Arial"/>
              </a:rPr>
              <a:t> PAÍSES</a:t>
            </a:r>
          </a:p>
          <a:p>
            <a:endParaRPr lang="en-US" sz="4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09066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EscolaDINHEIRO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24" y="975938"/>
            <a:ext cx="8264547" cy="52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93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EscolaWORDPRESS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24" y="975938"/>
            <a:ext cx="8264546" cy="52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01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EscolaPSICOLOGIA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24" y="975938"/>
            <a:ext cx="8264546" cy="525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631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EscolaCRIATIVIDADE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25" y="975938"/>
            <a:ext cx="8264544" cy="525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709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EscolaFREELANCER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25" y="975938"/>
            <a:ext cx="8264544" cy="525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42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EscolaAPOSTAS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25" y="975938"/>
            <a:ext cx="8264543" cy="525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8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COMO</a:t>
            </a:r>
            <a:br>
              <a:rPr lang="en-GB" dirty="0" smtClean="0"/>
            </a:br>
            <a:r>
              <a:rPr lang="en-GB" dirty="0" smtClean="0"/>
              <a:t>RENTABILIZAR</a:t>
            </a:r>
            <a:br>
              <a:rPr lang="en-GB" dirty="0" smtClean="0"/>
            </a:br>
            <a:r>
              <a:rPr lang="en-GB" dirty="0" smtClean="0"/>
              <a:t>SITES</a:t>
            </a:r>
            <a:br>
              <a:rPr lang="en-GB" dirty="0" smtClean="0"/>
            </a:br>
            <a:r>
              <a:rPr lang="en-GB" dirty="0" smtClean="0"/>
              <a:t>E </a:t>
            </a:r>
            <a:r>
              <a:rPr lang="en-GB" dirty="0" smtClean="0">
                <a:solidFill>
                  <a:srgbClr val="E13C23"/>
                </a:solidFill>
              </a:rPr>
              <a:t>BLOGS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96572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</a:t>
            </a:r>
            <a:r>
              <a:rPr lang="en-GB" dirty="0" smtClean="0"/>
              <a:t>ÉTODOS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>
                <a:solidFill>
                  <a:srgbClr val="E13C23"/>
                </a:solidFill>
              </a:rPr>
              <a:t>DIRETOS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5035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GOOGLE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ADSENSE</a:t>
            </a:r>
            <a:endParaRPr lang="en-GB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 POR CLIQUE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TEXTO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PAYOUT MÍNIMO DE 70EUR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CONTEXTUALIZADO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797" y="1188033"/>
            <a:ext cx="5702203" cy="4326994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</a:t>
            </a:r>
            <a:r>
              <a:rPr lang="en-GB" dirty="0" smtClean="0">
                <a:solidFill>
                  <a:srgbClr val="91D177"/>
                </a:solidFill>
                <a:hlinkClick r:id="rId3"/>
              </a:rPr>
              <a:t>EDadsense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6217493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3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7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4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1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GOOGLE ADSENSE</a:t>
            </a:r>
            <a:br>
              <a:rPr lang="en-GB" dirty="0" smtClean="0"/>
            </a:b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/EXEMPLO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Picture 12" descr="exempl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27" y="1086252"/>
            <a:ext cx="8062087" cy="512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05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GOOGLE ADSENSE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/PAGE LAYOUT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23" y="1263905"/>
            <a:ext cx="3019083" cy="4025444"/>
          </a:xfrm>
        </p:spPr>
      </p:pic>
      <p:cxnSp>
        <p:nvCxnSpPr>
          <p:cNvPr id="15" name="Straight Arrow Connector 14"/>
          <p:cNvCxnSpPr/>
          <p:nvPr/>
        </p:nvCxnSpPr>
        <p:spPr>
          <a:xfrm flipV="1">
            <a:off x="3027677" y="1601310"/>
            <a:ext cx="3377379" cy="69021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err="1" smtClean="0">
                <a:solidFill>
                  <a:srgbClr val="7F7F7F"/>
                </a:solidFill>
              </a:rPr>
              <a:t>Dois</a:t>
            </a:r>
            <a:r>
              <a:rPr lang="en-GB" sz="1800" dirty="0" smtClean="0">
                <a:solidFill>
                  <a:srgbClr val="7F7F7F"/>
                </a:solidFill>
              </a:rPr>
              <a:t> </a:t>
            </a:r>
            <a:r>
              <a:rPr lang="en-GB" sz="1800" dirty="0" err="1" smtClean="0">
                <a:solidFill>
                  <a:srgbClr val="7F7F7F"/>
                </a:solidFill>
              </a:rPr>
              <a:t>Formatos</a:t>
            </a:r>
            <a:r>
              <a:rPr lang="en-GB" sz="1800" dirty="0" smtClean="0">
                <a:solidFill>
                  <a:srgbClr val="7F7F7F"/>
                </a:solidFill>
              </a:rPr>
              <a:t/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DE ALTA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PERFORMANCE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728X90 e 160X600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CONTEÚDO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ABOVE THE FOLD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165717" y="1601306"/>
            <a:ext cx="3202529" cy="231912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113523" y="1601305"/>
            <a:ext cx="5236317" cy="212586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825219" y="1914203"/>
            <a:ext cx="3469405" cy="163811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058307" y="2447971"/>
            <a:ext cx="5217912" cy="1104348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2934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GOOGLE ADSENSE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/PAGE LAYOUT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23" y="1263905"/>
            <a:ext cx="3019083" cy="4025444"/>
          </a:xfrm>
        </p:spPr>
      </p:pic>
      <p:cxnSp>
        <p:nvCxnSpPr>
          <p:cNvPr id="15" name="Straight Arrow Connector 14"/>
          <p:cNvCxnSpPr/>
          <p:nvPr/>
        </p:nvCxnSpPr>
        <p:spPr>
          <a:xfrm flipV="1">
            <a:off x="2411099" y="1601309"/>
            <a:ext cx="3993957" cy="106753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err="1" smtClean="0">
                <a:solidFill>
                  <a:srgbClr val="7F7F7F"/>
                </a:solidFill>
              </a:rPr>
              <a:t>Dois</a:t>
            </a:r>
            <a:r>
              <a:rPr lang="en-GB" sz="1800" dirty="0" smtClean="0">
                <a:solidFill>
                  <a:srgbClr val="7F7F7F"/>
                </a:solidFill>
              </a:rPr>
              <a:t> </a:t>
            </a:r>
            <a:r>
              <a:rPr lang="en-GB" sz="1800" dirty="0" err="1" smtClean="0">
                <a:solidFill>
                  <a:srgbClr val="7F7F7F"/>
                </a:solidFill>
              </a:rPr>
              <a:t>Formatos</a:t>
            </a:r>
            <a:r>
              <a:rPr lang="en-GB" sz="1800" dirty="0" smtClean="0">
                <a:solidFill>
                  <a:srgbClr val="7F7F7F"/>
                </a:solidFill>
              </a:rPr>
              <a:t/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DE ALTA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PERFORMANCE</a:t>
            </a:r>
          </a:p>
          <a:p>
            <a:r>
              <a:rPr lang="en-GB" sz="1800" dirty="0" smtClean="0">
                <a:solidFill>
                  <a:srgbClr val="7F7F7F"/>
                </a:solidFill>
              </a:rPr>
              <a:t>336x280 E 300X250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CONTEÚDO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ABOVE THE FOLD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766912" y="1601305"/>
            <a:ext cx="4601334" cy="276086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193325" y="1601304"/>
            <a:ext cx="3156515" cy="138043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251563" y="2475580"/>
            <a:ext cx="5043061" cy="1076739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59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PROGRAMAS DE AFILIADOS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/ESTRUTURA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004656435"/>
              </p:ext>
            </p:extLst>
          </p:nvPr>
        </p:nvGraphicFramePr>
        <p:xfrm>
          <a:off x="1524000" y="126724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795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CPA BRASIL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/AFILIADOS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CPA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CPL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A PRONTO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NICHOS DIVERSIFICADOS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3" y="1299583"/>
            <a:ext cx="6018497" cy="3826431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</a:t>
            </a:r>
            <a:r>
              <a:rPr lang="en-GB" dirty="0" smtClean="0">
                <a:solidFill>
                  <a:srgbClr val="91D177"/>
                </a:solidFill>
                <a:hlinkClick r:id="rId3"/>
              </a:rPr>
              <a:t>EDcpabr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0253558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9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6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NETAFFILIATION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/AFILIADOS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CPA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CPL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A PRONTO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NICHOS DIVERSIFICADOS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4" y="1299583"/>
            <a:ext cx="6018495" cy="3826431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</a:t>
            </a:r>
            <a:r>
              <a:rPr lang="en-GB" dirty="0" smtClean="0">
                <a:solidFill>
                  <a:srgbClr val="91D177"/>
                </a:solidFill>
                <a:hlinkClick r:id="rId3"/>
              </a:rPr>
              <a:t>EDnetaff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40528052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NETLUCRO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/AFILIADOS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CPA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CPL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A PRONTO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NICHOS DIVERSIFICADOS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4" y="1299583"/>
            <a:ext cx="6018495" cy="3826430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</a:t>
            </a:r>
            <a:r>
              <a:rPr lang="en-GB" dirty="0" smtClean="0">
                <a:solidFill>
                  <a:srgbClr val="91D177"/>
                </a:solidFill>
                <a:hlinkClick r:id="rId3"/>
              </a:rPr>
              <a:t>EDlucro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6629436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UPRISE40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/AFILIADOS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 smtClean="0"/>
              <a:t>INSCRIÇÃO GRATUITA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CPA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CAMPANHAS CPL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ANÚNCIOS DE BANNER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VÁRIOS FORMATOS DE MÍDIA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MENSAIS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PAGAMENTOS A PRONTO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NICHOS DIVERSIFICADOS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CONFIÁVEL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4" y="1299583"/>
            <a:ext cx="6018494" cy="3826430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</a:t>
            </a:r>
            <a:r>
              <a:rPr lang="en-GB" dirty="0" smtClean="0">
                <a:solidFill>
                  <a:srgbClr val="91D177"/>
                </a:solidFill>
                <a:hlinkClick r:id="rId3"/>
              </a:rPr>
              <a:t>EDuprise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7881194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VENDA PUBLICIDADE DIRETA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/EXEMPLO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27" y="1086252"/>
            <a:ext cx="8062087" cy="51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787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VENDA de </a:t>
            </a:r>
            <a:r>
              <a:rPr lang="en-GB" dirty="0" err="1" smtClean="0"/>
              <a:t>produtos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/EXEMPLO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28" y="1086252"/>
            <a:ext cx="8062085" cy="51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683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</a:t>
            </a:r>
            <a:r>
              <a:rPr lang="en-GB" dirty="0" smtClean="0"/>
              <a:t>ÉTODOS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>
                <a:solidFill>
                  <a:srgbClr val="E13C23"/>
                </a:solidFill>
              </a:rPr>
              <a:t>INDIRETOS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79115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06181" y="1858986"/>
            <a:ext cx="5577068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CONSULTORIA</a:t>
            </a:r>
            <a:b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</a:br>
            <a:r>
              <a:rPr lang="en-US" sz="4400" b="1" dirty="0" smtClean="0">
                <a:solidFill>
                  <a:srgbClr val="E13C23"/>
                </a:solidFill>
                <a:latin typeface="Arial"/>
                <a:cs typeface="Arial"/>
              </a:rPr>
              <a:t>PALESTRAS</a:t>
            </a:r>
            <a: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/>
            </a:r>
            <a:b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</a:br>
            <a: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EDIÇ</a:t>
            </a:r>
            <a: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ÃO DE LIVROS</a:t>
            </a:r>
            <a:b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</a:br>
            <a:r>
              <a:rPr lang="en-US" sz="4400" b="1" dirty="0" smtClean="0">
                <a:solidFill>
                  <a:srgbClr val="E13C23"/>
                </a:solidFill>
                <a:latin typeface="Arial"/>
                <a:cs typeface="Arial"/>
              </a:rPr>
              <a:t>PARCERIAS</a:t>
            </a:r>
            <a:endParaRPr lang="en-US" sz="4400" b="1" dirty="0">
              <a:solidFill>
                <a:srgbClr val="E13C2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4905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ESTRATÉGIAS</a:t>
            </a:r>
            <a:br>
              <a:rPr lang="en-GB" dirty="0" smtClean="0"/>
            </a:br>
            <a:r>
              <a:rPr lang="en-GB" dirty="0" smtClean="0"/>
              <a:t>PARA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RENTABILIZAR</a:t>
            </a:r>
            <a:br>
              <a:rPr lang="en-GB" dirty="0" smtClean="0"/>
            </a:br>
            <a:r>
              <a:rPr lang="en-GB" dirty="0" smtClean="0">
                <a:solidFill>
                  <a:srgbClr val="E13C23"/>
                </a:solidFill>
              </a:rPr>
              <a:t>BLOGS</a:t>
            </a:r>
            <a:endParaRPr lang="en-GB" dirty="0">
              <a:solidFill>
                <a:srgbClr val="E13C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71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3200" cap="none" dirty="0" smtClean="0">
                <a:solidFill>
                  <a:srgbClr val="E13C23"/>
                </a:solidFill>
              </a:rPr>
              <a:t/>
            </a:r>
            <a:br>
              <a:rPr lang="en-GB" sz="3200" cap="none" dirty="0" smtClean="0">
                <a:solidFill>
                  <a:srgbClr val="E13C23"/>
                </a:solidFill>
              </a:rPr>
            </a:br>
            <a:r>
              <a:rPr lang="en-GB" sz="2600" cap="none" dirty="0" smtClean="0">
                <a:solidFill>
                  <a:srgbClr val="E13C23"/>
                </a:solidFill>
              </a:rPr>
              <a:t>“</a:t>
            </a:r>
            <a:r>
              <a:rPr lang="en-GB" sz="2600" cap="none" dirty="0" smtClean="0"/>
              <a:t>FAZER NEG</a:t>
            </a:r>
            <a:r>
              <a:rPr lang="en-GB" sz="2600" cap="none" dirty="0" smtClean="0"/>
              <a:t>ÓCIOS SEM PUBLICIDADE </a:t>
            </a:r>
            <a:r>
              <a:rPr lang="en-GB" sz="2600" cap="none" dirty="0" err="1" smtClean="0"/>
              <a:t>É</a:t>
            </a:r>
            <a:r>
              <a:rPr lang="en-GB" sz="2600" cap="none" dirty="0" smtClean="0"/>
              <a:t> COMO </a:t>
            </a:r>
            <a:br>
              <a:rPr lang="en-GB" sz="2600" cap="none" dirty="0" smtClean="0"/>
            </a:br>
            <a:r>
              <a:rPr lang="en-GB" sz="2600" cap="none" dirty="0" smtClean="0"/>
              <a:t>PISCAR O OLHO PARA UMA MULHER NO ESCURO: </a:t>
            </a:r>
            <a:br>
              <a:rPr lang="en-GB" sz="2600" cap="none" dirty="0" smtClean="0"/>
            </a:br>
            <a:r>
              <a:rPr lang="en-GB" sz="2600" cap="none" dirty="0" smtClean="0"/>
              <a:t>VOCÊ SABE O QUE ESTÁ A FAZER, MAS MAIS</a:t>
            </a:r>
            <a:r>
              <a:rPr lang="en-GB" sz="2600" cap="none" dirty="0" smtClean="0"/>
              <a:t> </a:t>
            </a:r>
            <a:r>
              <a:rPr lang="en-GB" sz="2600" cap="none" dirty="0" smtClean="0"/>
              <a:t>NINGUÉM SABE.</a:t>
            </a:r>
            <a:r>
              <a:rPr lang="en-GB" sz="2600" cap="none" dirty="0" smtClean="0">
                <a:solidFill>
                  <a:srgbClr val="E13C23"/>
                </a:solidFill>
              </a:rPr>
              <a:t>”</a:t>
            </a:r>
            <a:endParaRPr lang="en-GB" sz="2600" cap="none" dirty="0">
              <a:solidFill>
                <a:srgbClr val="E13C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320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TOP SPOTS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/ADS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4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MELHORES LOCAIS</a:t>
            </a:r>
            <a:b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GERAM MAIS</a:t>
            </a:r>
            <a:b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CONVERS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ÕES</a:t>
            </a:r>
          </a:p>
          <a:p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ADSENSE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AFILIADOS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PUBLICIDADE</a:t>
            </a:r>
            <a:b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ETC.</a:t>
            </a: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303757" y="1601307"/>
            <a:ext cx="3064489" cy="236514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380469" y="1597259"/>
            <a:ext cx="1974529" cy="229556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291534" y="1630022"/>
            <a:ext cx="1077824" cy="449833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3376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EMAIL MARKETING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/CAPTURA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5" cy="4432944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CAPTURA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DE CONTACTOS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PARA ACÇÕES</a:t>
            </a: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DE EMAIL MARKETING</a:t>
            </a:r>
          </a:p>
          <a:p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Excluir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campos</a:t>
            </a:r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desnecessários</a:t>
            </a:r>
            <a:endParaRPr lang="en-GB" sz="18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 smtClean="0">
                <a:solidFill>
                  <a:schemeClr val="bg1">
                    <a:lumMod val="50000"/>
                  </a:schemeClr>
                </a:solidFill>
              </a:rPr>
              <a:t>Ex: </a:t>
            </a:r>
            <a:r>
              <a:rPr lang="en-GB" sz="1800" dirty="0" err="1" smtClean="0">
                <a:solidFill>
                  <a:schemeClr val="bg1">
                    <a:lumMod val="50000"/>
                  </a:schemeClr>
                </a:solidFill>
              </a:rPr>
              <a:t>nome</a:t>
            </a: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748576" y="1601306"/>
            <a:ext cx="1619670" cy="199702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935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RESENHAS DE PRODUTOS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/CONTE</a:t>
            </a:r>
            <a:r>
              <a:rPr lang="en-GB" dirty="0" smtClean="0">
                <a:solidFill>
                  <a:srgbClr val="7F7F7F"/>
                </a:solidFill>
              </a:rPr>
              <a:t>ÚDO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4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>
                <a:solidFill>
                  <a:srgbClr val="7F7F7F"/>
                </a:solidFill>
              </a:rPr>
              <a:t>ARTIGO CONTEXTUALIZADO SOBRE PRODUTO DE AFILIADO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- KEYWORD</a:t>
            </a:r>
          </a:p>
          <a:p>
            <a:r>
              <a:rPr lang="en-GB" sz="1800" dirty="0">
                <a:solidFill>
                  <a:srgbClr val="7F7F7F"/>
                </a:solidFill>
              </a:rPr>
              <a:t>- TÍTULO ATRACTIVO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- RELEVÂNCIA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- LINKS DE PRODUTO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156515" y="1601307"/>
            <a:ext cx="3211731" cy="200622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7029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/TWITTER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5" y="1282056"/>
            <a:ext cx="6972464" cy="4432943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>
                <a:solidFill>
                  <a:srgbClr val="7F7F7F"/>
                </a:solidFill>
              </a:rPr>
              <a:t>BRANDING E</a:t>
            </a:r>
          </a:p>
          <a:p>
            <a:r>
              <a:rPr lang="en-GB" sz="1800" dirty="0" err="1">
                <a:solidFill>
                  <a:srgbClr val="7F7F7F"/>
                </a:solidFill>
              </a:rPr>
              <a:t>ANGARiAÇÃO</a:t>
            </a:r>
            <a:r>
              <a:rPr lang="en-GB" sz="1800" dirty="0">
                <a:solidFill>
                  <a:srgbClr val="7F7F7F"/>
                </a:solidFill>
              </a:rPr>
              <a:t/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DE NOVOS LEITORES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err="1">
                <a:solidFill>
                  <a:srgbClr val="7F7F7F"/>
                </a:solidFill>
              </a:rPr>
              <a:t>DIVULGAçÃO</a:t>
            </a:r>
            <a:r>
              <a:rPr lang="en-GB" sz="1800" dirty="0">
                <a:solidFill>
                  <a:srgbClr val="7F7F7F"/>
                </a:solidFill>
              </a:rPr>
              <a:t/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DE RESENHAS</a:t>
            </a:r>
          </a:p>
          <a:p>
            <a:r>
              <a:rPr lang="en-GB" sz="1800" dirty="0" err="1">
                <a:solidFill>
                  <a:srgbClr val="7F7F7F"/>
                </a:solidFill>
              </a:rPr>
              <a:t>GERar</a:t>
            </a:r>
            <a:r>
              <a:rPr lang="en-GB" sz="1800" dirty="0">
                <a:solidFill>
                  <a:srgbClr val="7F7F7F"/>
                </a:solidFill>
              </a:rPr>
              <a:t> </a:t>
            </a:r>
            <a:r>
              <a:rPr lang="en-GB" sz="1800" dirty="0" err="1">
                <a:solidFill>
                  <a:srgbClr val="7F7F7F"/>
                </a:solidFill>
              </a:rPr>
              <a:t>vendas</a:t>
            </a:r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MARKETING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PARA NOVOS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SEGUIDORES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3579837" y="1601310"/>
            <a:ext cx="2788409" cy="69941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015384" y="3570725"/>
            <a:ext cx="4288443" cy="128840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3"/>
          </p:cNvCxnSpPr>
          <p:nvPr/>
        </p:nvCxnSpPr>
        <p:spPr>
          <a:xfrm>
            <a:off x="3901931" y="3221014"/>
            <a:ext cx="2402178" cy="277514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204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2" cy="4432943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ANGARIAÇÃO </a:t>
            </a:r>
            <a:r>
              <a:rPr lang="en-GB" sz="1800" dirty="0">
                <a:solidFill>
                  <a:srgbClr val="7F7F7F"/>
                </a:solidFill>
              </a:rPr>
              <a:t>DE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NOVOS FÃS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PROVA SOCIAL</a:t>
            </a:r>
          </a:p>
          <a:p>
            <a:r>
              <a:rPr lang="en-GB" sz="1800" dirty="0">
                <a:solidFill>
                  <a:srgbClr val="7F7F7F"/>
                </a:solidFill>
              </a:rPr>
              <a:t>PELOS </a:t>
            </a:r>
            <a:r>
              <a:rPr lang="en-GB" sz="1800" dirty="0" smtClean="0">
                <a:solidFill>
                  <a:srgbClr val="7F7F7F"/>
                </a:solidFill>
              </a:rPr>
              <a:t>NÚMEROS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ANGARIAÇ</a:t>
            </a:r>
            <a:r>
              <a:rPr lang="en-GB" sz="1800" dirty="0" smtClean="0">
                <a:solidFill>
                  <a:srgbClr val="7F7F7F"/>
                </a:solidFill>
              </a:rPr>
              <a:t>ÃO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DE EMAILS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693360" y="2586015"/>
            <a:ext cx="1684088" cy="1030724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469405" y="3727174"/>
            <a:ext cx="2834422" cy="38652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36915" y="4251739"/>
            <a:ext cx="1766912" cy="340507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1208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2" cy="4432942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PROMOVER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ARTIGOS CHAVE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AFILIADOS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613557" y="2586015"/>
            <a:ext cx="3763891" cy="1242391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5187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/FACEBOOK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1" cy="4432942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PROMOVER</a:t>
            </a:r>
            <a:br>
              <a:rPr lang="en-GB" sz="1800" dirty="0" smtClean="0">
                <a:solidFill>
                  <a:srgbClr val="7F7F7F"/>
                </a:solidFill>
              </a:rPr>
            </a:br>
            <a:r>
              <a:rPr lang="en-GB" sz="1800" dirty="0" smtClean="0">
                <a:solidFill>
                  <a:srgbClr val="7F7F7F"/>
                </a:solidFill>
              </a:rPr>
              <a:t>ARTIGOS CHAVE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AFILIADOS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MILH</a:t>
            </a:r>
            <a:r>
              <a:rPr lang="en-GB" sz="1800" dirty="0" smtClean="0">
                <a:solidFill>
                  <a:srgbClr val="7F7F7F"/>
                </a:solidFill>
              </a:rPr>
              <a:t>ÕES DE PESSOAS</a:t>
            </a:r>
            <a:endParaRPr lang="en-GB" sz="1800" dirty="0">
              <a:solidFill>
                <a:srgbClr val="7F7F7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426483" y="2586016"/>
            <a:ext cx="1950965" cy="487752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582928" y="3828406"/>
            <a:ext cx="1794520" cy="496956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5146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/YOUTUBE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3" y="1282056"/>
            <a:ext cx="6972459" cy="4432941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>
                <a:solidFill>
                  <a:srgbClr val="7F7F7F"/>
                </a:solidFill>
              </a:rPr>
              <a:t>SUBSCRIÇÃO DO CANAL IMEDIATA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DIVULGAÇÃO DE PRODUTOS E MARKETING PESSOAL / BLOG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PROVA SOCIAL PELOS NÚMEROS</a:t>
            </a:r>
          </a:p>
          <a:p>
            <a:r>
              <a:rPr lang="en-GB" sz="1800" dirty="0">
                <a:solidFill>
                  <a:srgbClr val="7F7F7F"/>
                </a:solidFill>
              </a:rPr>
              <a:t>E LINKS RELEVANTES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696381" y="1628914"/>
            <a:ext cx="3625851" cy="634999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886616" y="2291522"/>
            <a:ext cx="1435616" cy="2493985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622760" y="2885662"/>
            <a:ext cx="3695427" cy="326150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279240" y="3487899"/>
            <a:ext cx="2061398" cy="1297608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3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REDES SOCIAIS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/YOUTUBE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  <a:ln>
            <a:noFill/>
          </a:ln>
        </p:spPr>
        <p:txBody>
          <a:bodyPr/>
          <a:lstStyle/>
          <a:p>
            <a:r>
              <a:rPr lang="en-GB" dirty="0"/>
              <a:t>MAIOR AUDIÊNCIA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RENTABILIZAÇÃO DE VÍDEOS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ANÚNCIOS GOOGLE ADSENSE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GESTÃO DE DIREITOS DE AUTOR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FERRAMENTAS AVANÇADAS DISPONÍVEIS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REGRAS APERTADAS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SUCESSO GARANTIDO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LAYOUTS PERSONALIZÁVEIS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GANHOS AO CLIQUE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4" y="1299583"/>
            <a:ext cx="6018494" cy="3826429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</a:t>
            </a:r>
            <a:r>
              <a:rPr lang="en-GB" dirty="0" smtClean="0">
                <a:solidFill>
                  <a:srgbClr val="91D177"/>
                </a:solidFill>
                <a:hlinkClick r:id="rId3"/>
              </a:rPr>
              <a:t>EDyoupar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3732615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9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5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6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EMAIL MARKETING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/ENVIOS</a:t>
            </a:r>
            <a:endParaRPr lang="en-GB" dirty="0">
              <a:solidFill>
                <a:srgbClr val="7F7F7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8354" y="1282056"/>
            <a:ext cx="6972461" cy="4432941"/>
          </a:xfrm>
        </p:spPr>
      </p:pic>
      <p:sp>
        <p:nvSpPr>
          <p:cNvPr id="17" name="Title 86"/>
          <p:cNvSpPr>
            <a:spLocks noGrp="1"/>
          </p:cNvSpPr>
          <p:nvPr/>
        </p:nvSpPr>
        <p:spPr>
          <a:xfrm>
            <a:off x="6374514" y="1359728"/>
            <a:ext cx="2579681" cy="37570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2300"/>
              </a:lnSpc>
              <a:spcBef>
                <a:spcPct val="0"/>
              </a:spcBef>
              <a:buNone/>
              <a:defRPr sz="2800" b="1" kern="1200" cap="all" baseline="0">
                <a:solidFill>
                  <a:srgbClr val="34444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sz="1800" dirty="0" smtClean="0">
                <a:solidFill>
                  <a:srgbClr val="7F7F7F"/>
                </a:solidFill>
              </a:rPr>
              <a:t>CALL TO ACTION</a:t>
            </a:r>
          </a:p>
          <a:p>
            <a:endParaRPr lang="en-GB" sz="1800" dirty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r>
              <a:rPr lang="en-GB" sz="1800" dirty="0">
                <a:solidFill>
                  <a:srgbClr val="7F7F7F"/>
                </a:solidFill>
              </a:rPr>
              <a:t>PONTOS CHAVE</a:t>
            </a:r>
            <a:br>
              <a:rPr lang="en-GB" sz="1800" dirty="0">
                <a:solidFill>
                  <a:srgbClr val="7F7F7F"/>
                </a:solidFill>
              </a:rPr>
            </a:br>
            <a:r>
              <a:rPr lang="en-GB" sz="1800" dirty="0">
                <a:solidFill>
                  <a:srgbClr val="7F7F7F"/>
                </a:solidFill>
              </a:rPr>
              <a:t>RAZÕES DA COMPRA</a:t>
            </a:r>
          </a:p>
          <a:p>
            <a:endParaRPr lang="en-GB" sz="1800" dirty="0" smtClean="0">
              <a:solidFill>
                <a:srgbClr val="7F7F7F"/>
              </a:solidFill>
            </a:endParaRPr>
          </a:p>
          <a:p>
            <a:endParaRPr lang="en-GB" sz="1800" dirty="0">
              <a:solidFill>
                <a:srgbClr val="7F7F7F"/>
              </a:solidFill>
            </a:endParaRPr>
          </a:p>
          <a:p>
            <a:r>
              <a:rPr lang="en-GB" sz="1800" dirty="0" smtClean="0">
                <a:solidFill>
                  <a:srgbClr val="7F7F7F"/>
                </a:solidFill>
              </a:rPr>
              <a:t>IMAGEM DO PRODUTO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024587" y="1628913"/>
            <a:ext cx="4297645" cy="1555291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337547" y="3276232"/>
            <a:ext cx="1039901" cy="1049130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751597" y="2885661"/>
            <a:ext cx="3566590" cy="777093"/>
          </a:xfrm>
          <a:prstGeom prst="straightConnector1">
            <a:avLst/>
          </a:prstGeom>
          <a:ln>
            <a:solidFill>
              <a:srgbClr val="E13C2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494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COMO</a:t>
            </a:r>
            <a:br>
              <a:rPr lang="en-GB" dirty="0" smtClean="0"/>
            </a:br>
            <a:r>
              <a:rPr lang="en-GB" dirty="0" smtClean="0"/>
              <a:t>APRENDER</a:t>
            </a:r>
            <a:br>
              <a:rPr lang="en-GB" dirty="0" smtClean="0"/>
            </a:br>
            <a:r>
              <a:rPr lang="en-GB" dirty="0" smtClean="0"/>
              <a:t>MAIS</a:t>
            </a:r>
            <a:br>
              <a:rPr lang="en-GB" dirty="0" smtClean="0"/>
            </a:br>
            <a:r>
              <a:rPr lang="en-GB" dirty="0" smtClean="0"/>
              <a:t>SOBRE</a:t>
            </a:r>
            <a:br>
              <a:rPr lang="en-GB" dirty="0" smtClean="0"/>
            </a:br>
            <a:r>
              <a:rPr lang="en-GB" dirty="0" smtClean="0">
                <a:solidFill>
                  <a:srgbClr val="E13C23"/>
                </a:solidFill>
              </a:rPr>
              <a:t>BLOGS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01730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EBOOK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/GRATUITO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CRIAR UM BLOG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PLANEAMENTO ESTRATÉGICO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ESTRUTURAR UM BLOG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CONTEÚDO DE QUALIDADE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OBJECTIVAR O SUCESSO A LONGO PRAZO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CRIAR ALICERCES SÓLIDOS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PENSAR FOR</a:t>
            </a:r>
            <a:r>
              <a:rPr lang="en-US" dirty="0" smtClean="0"/>
              <a:t>A DA CAIXA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/>
              <a:t>MAIS DE 20,000 </a:t>
            </a:r>
            <a:r>
              <a:rPr lang="en-GB" dirty="0" smtClean="0"/>
              <a:t>DOWNLOADS FEITOS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MAIS DE 100 PÁGINAS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853" y="356143"/>
            <a:ext cx="6730400" cy="6021465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</a:t>
            </a:r>
            <a:r>
              <a:rPr lang="en-GB" dirty="0" smtClean="0">
                <a:solidFill>
                  <a:srgbClr val="91D177"/>
                </a:solidFill>
                <a:hlinkClick r:id="rId3"/>
              </a:rPr>
              <a:t>EDebookg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655193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EBOOK</a:t>
            </a:r>
            <a:br>
              <a:rPr lang="en-GB" dirty="0" smtClean="0"/>
            </a:br>
            <a:r>
              <a:rPr lang="en-GB" dirty="0" smtClean="0">
                <a:solidFill>
                  <a:srgbClr val="7F7F7F"/>
                </a:solidFill>
              </a:rPr>
              <a:t>/PREMIUM</a:t>
            </a:r>
            <a:endParaRPr lang="en-GB" dirty="0">
              <a:solidFill>
                <a:srgbClr val="7F7F7F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48462" y="1414800"/>
            <a:ext cx="194423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MAIS DE 190 PÁGINAS</a:t>
            </a:r>
            <a:endParaRPr lang="en-GB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448462" y="1737083"/>
            <a:ext cx="270805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CONTEÚDO PRÁTICO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1"/>
          </p:nvPr>
        </p:nvSpPr>
        <p:spPr>
          <a:xfrm>
            <a:off x="448463" y="2064129"/>
            <a:ext cx="228472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EXERCÍCIOS DIVERSIFICADOS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48462" y="2391175"/>
            <a:ext cx="2901309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CRIAR UM BLOG DE SUCESSO</a:t>
            </a:r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3"/>
          </p:nvPr>
        </p:nvSpPr>
        <p:spPr>
          <a:xfrm>
            <a:off x="448462" y="2713458"/>
            <a:ext cx="3149781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MAIS DE 56,000 PALAVRAS DE TEXTO</a:t>
            </a:r>
            <a:endParaRPr lang="en-GB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4"/>
          </p:nvPr>
        </p:nvSpPr>
        <p:spPr>
          <a:xfrm>
            <a:off x="448462" y="3035741"/>
            <a:ext cx="2441175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RECOMENDAÇÕES PRÁTICAS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448462" y="3358024"/>
            <a:ext cx="2625229" cy="318135"/>
          </a:xfrm>
          <a:solidFill>
            <a:srgbClr val="E13C23"/>
          </a:solidFill>
        </p:spPr>
        <p:txBody>
          <a:bodyPr/>
          <a:lstStyle/>
          <a:p>
            <a:r>
              <a:rPr lang="pt-PT" dirty="0" smtClean="0"/>
              <a:t>EXERCÍCIOS INDEPENDENTES</a:t>
            </a:r>
            <a:endParaRPr lang="en-GB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6"/>
          </p:nvPr>
        </p:nvSpPr>
        <p:spPr>
          <a:xfrm>
            <a:off x="448462" y="3680307"/>
            <a:ext cx="2744863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GARANTIA DE SATISFAÇÃO A 100%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7"/>
          </p:nvPr>
        </p:nvSpPr>
        <p:spPr>
          <a:xfrm>
            <a:off x="448463" y="4007350"/>
            <a:ext cx="1815394" cy="318135"/>
          </a:xfrm>
          <a:solidFill>
            <a:srgbClr val="E13C23"/>
          </a:solidFill>
        </p:spPr>
        <p:txBody>
          <a:bodyPr/>
          <a:lstStyle/>
          <a:p>
            <a:r>
              <a:rPr lang="en-GB" dirty="0" smtClean="0"/>
              <a:t>MAIS DE 1500 VENDAS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853" y="356144"/>
            <a:ext cx="6730400" cy="6021463"/>
          </a:xfrm>
          <a:prstGeom prst="rect">
            <a:avLst/>
          </a:prstGeom>
        </p:spPr>
      </p:pic>
      <p:sp>
        <p:nvSpPr>
          <p:cNvPr id="27" name="Subtitle 2"/>
          <p:cNvSpPr>
            <a:spLocks noGrp="1"/>
          </p:cNvSpPr>
          <p:nvPr/>
        </p:nvSpPr>
        <p:spPr>
          <a:xfrm>
            <a:off x="349734" y="4122898"/>
            <a:ext cx="8389316" cy="146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500"/>
              </a:lnSpc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rgbClr val="34444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>
                <a:solidFill>
                  <a:srgbClr val="91D177"/>
                </a:solidFill>
                <a:hlinkClick r:id="rId3"/>
              </a:rPr>
              <a:t>http://bit.ly/</a:t>
            </a:r>
            <a:r>
              <a:rPr lang="en-GB" dirty="0" smtClean="0">
                <a:solidFill>
                  <a:srgbClr val="91D177"/>
                </a:solidFill>
                <a:hlinkClick r:id="rId3"/>
              </a:rPr>
              <a:t>EDebookp</a:t>
            </a:r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>
              <a:solidFill>
                <a:srgbClr val="91D177"/>
              </a:solidFill>
            </a:endParaRP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6487028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1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85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2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uild="p" animBg="1"/>
      <p:bldP spid="18" grpId="0" build="p" animBg="1"/>
      <p:bldP spid="19" grpId="0" build="p" animBg="1"/>
      <p:bldP spid="20" grpId="0" build="p" animBg="1"/>
      <p:bldP spid="21" grpId="0" build="p" animBg="1"/>
      <p:bldP spid="22" grpId="0" build="p" animBg="1"/>
      <p:bldP spid="23" grpId="0" build="p" animBg="1"/>
      <p:bldP spid="24" grpId="0" build="p" animBg="1"/>
      <p:bldP spid="25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VAMOS</a:t>
            </a:r>
            <a:br>
              <a:rPr lang="en-GB" dirty="0" smtClean="0"/>
            </a:br>
            <a:r>
              <a:rPr lang="en-GB" dirty="0" smtClean="0"/>
              <a:t>GANHAR</a:t>
            </a:r>
            <a:br>
              <a:rPr lang="en-GB" dirty="0" smtClean="0"/>
            </a:br>
            <a:r>
              <a:rPr lang="en-GB" dirty="0" smtClean="0">
                <a:solidFill>
                  <a:srgbClr val="E13C23"/>
                </a:solidFill>
              </a:rPr>
              <a:t>DINHEIRO</a:t>
            </a:r>
            <a:r>
              <a:rPr lang="en-GB" dirty="0" smtClean="0"/>
              <a:t>? :)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972" y="3705004"/>
            <a:ext cx="8389316" cy="2009996"/>
          </a:xfrm>
        </p:spPr>
        <p:txBody>
          <a:bodyPr>
            <a:normAutofit/>
          </a:bodyPr>
          <a:lstStyle/>
          <a:p>
            <a:r>
              <a:rPr lang="en-GB" dirty="0" smtClean="0"/>
              <a:t>Paulo Faustino</a:t>
            </a:r>
          </a:p>
          <a:p>
            <a:endParaRPr lang="en-GB" dirty="0"/>
          </a:p>
          <a:p>
            <a:r>
              <a:rPr lang="en-GB" dirty="0" smtClean="0">
                <a:solidFill>
                  <a:srgbClr val="000090"/>
                </a:solidFill>
              </a:rPr>
              <a:t>Facebook</a:t>
            </a:r>
            <a:r>
              <a:rPr lang="en-GB" dirty="0" smtClean="0"/>
              <a:t>: </a:t>
            </a:r>
            <a:r>
              <a:rPr lang="en-GB" dirty="0" smtClean="0">
                <a:hlinkClick r:id="rId2"/>
              </a:rPr>
              <a:t>www.facebook.com</a:t>
            </a:r>
            <a:r>
              <a:rPr lang="en-GB" dirty="0" smtClean="0">
                <a:hlinkClick r:id="rId2"/>
              </a:rPr>
              <a:t>/paulofaustino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>
                <a:solidFill>
                  <a:srgbClr val="3366FF"/>
                </a:solidFill>
              </a:rPr>
              <a:t>Twitter</a:t>
            </a:r>
            <a:r>
              <a:rPr lang="en-GB" dirty="0" smtClean="0"/>
              <a:t>: </a:t>
            </a:r>
            <a:r>
              <a:rPr lang="en-GB" dirty="0" smtClean="0">
                <a:hlinkClick r:id="rId3"/>
              </a:rPr>
              <a:t>www.twitter.com/</a:t>
            </a:r>
            <a:r>
              <a:rPr lang="en-GB" dirty="0" smtClean="0">
                <a:hlinkClick r:id="rId3"/>
              </a:rPr>
              <a:t>escoladinheiro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Blog: </a:t>
            </a:r>
            <a:r>
              <a:rPr lang="en-GB" dirty="0" smtClean="0">
                <a:hlinkClick r:id="rId4"/>
              </a:rPr>
              <a:t>www.escoladinheiro.com</a:t>
            </a:r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545064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SwissStyle-Arial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2810"/>
      </a:hlink>
      <a:folHlink>
        <a:srgbClr val="D7281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SwissStyle-Arial.potx</Template>
  <TotalTime>985</TotalTime>
  <Words>422</Words>
  <Application>Microsoft Macintosh PowerPoint</Application>
  <PresentationFormat>On-screen Show (16:10)</PresentationFormat>
  <Paragraphs>290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SwissStyle-Arial</vt:lpstr>
      <vt:lpstr>GANHAR DINHEIRO NA INTERNET COM BLOGS</vt:lpstr>
      <vt:lpstr>Escolas+</vt:lpstr>
      <vt:lpstr>Escolas+</vt:lpstr>
      <vt:lpstr>EscolaDINHEIRO</vt:lpstr>
      <vt:lpstr>EscolaWORDPRESS</vt:lpstr>
      <vt:lpstr>EscolaPSICOLOGIA</vt:lpstr>
      <vt:lpstr>EscolaCRIATIVIDADE</vt:lpstr>
      <vt:lpstr>EscolaFREELANCER</vt:lpstr>
      <vt:lpstr>EscolaAPOSTAS</vt:lpstr>
      <vt:lpstr>COMO RENTABILIZAR SITES E BLOGS?</vt:lpstr>
      <vt:lpstr>MÉTODOS DIRETOS</vt:lpstr>
      <vt:lpstr>GOOGLE ADSENSE</vt:lpstr>
      <vt:lpstr>GOOGLE ADSENSE /EXEMPLO</vt:lpstr>
      <vt:lpstr>GOOGLE ADSENSE /PAGE LAYOUT</vt:lpstr>
      <vt:lpstr>GOOGLE ADSENSE /PAGE LAYOUT</vt:lpstr>
      <vt:lpstr>PROGRAMAS DE AFILIADOS /ESTRUTURA</vt:lpstr>
      <vt:lpstr>CPA BRASIL /AFILIADOS</vt:lpstr>
      <vt:lpstr>NETAFFILIATION /AFILIADOS</vt:lpstr>
      <vt:lpstr>NETLUCRO /AFILIADOS</vt:lpstr>
      <vt:lpstr>UPRISE40 /AFILIADOS</vt:lpstr>
      <vt:lpstr>VENDA PUBLICIDADE DIRETA /EXEMPLO</vt:lpstr>
      <vt:lpstr>VENDA de produtos /EXEMPLO</vt:lpstr>
      <vt:lpstr>MÉTODOS INDIRETOS</vt:lpstr>
      <vt:lpstr>PowerPoint Presentation</vt:lpstr>
      <vt:lpstr>ESTRATÉGIAS PARA RENTABILIZAR BLOGS</vt:lpstr>
      <vt:lpstr> “FAZER NEGÓCIOS SEM PUBLICIDADE É COMO  PISCAR O OLHO PARA UMA MULHER NO ESCURO:  VOCÊ SABE O QUE ESTÁ A FAZER, MAS MAIS NINGUÉM SABE.”</vt:lpstr>
      <vt:lpstr>TOP SPOTS /ADS</vt:lpstr>
      <vt:lpstr>EMAIL MARKETING /CAPTURA</vt:lpstr>
      <vt:lpstr>RESENHAS DE PRODUTOS /CONTEÚDO</vt:lpstr>
      <vt:lpstr>REDES SOCIAIS /TWITTER</vt:lpstr>
      <vt:lpstr>REDES SOCIAIS /FACEBOOK</vt:lpstr>
      <vt:lpstr>REDES SOCIAIS /FACEBOOK</vt:lpstr>
      <vt:lpstr>REDES SOCIAIS /FACEBOOK</vt:lpstr>
      <vt:lpstr>REDES SOCIAIS /YOUTUBE</vt:lpstr>
      <vt:lpstr>REDES SOCIAIS /YOUTUBE</vt:lpstr>
      <vt:lpstr>EMAIL MARKETING /ENVIOS</vt:lpstr>
      <vt:lpstr>COMO APRENDER MAIS SOBRE BLOGS?</vt:lpstr>
      <vt:lpstr>EBOOK /GRATUITO</vt:lpstr>
      <vt:lpstr>EBOOK /PREMIUM</vt:lpstr>
      <vt:lpstr>VAMOS GANHAR DINHEIRO? :)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dmx</dc:creator>
  <cp:lastModifiedBy>Paulo Faustino</cp:lastModifiedBy>
  <cp:revision>260</cp:revision>
  <dcterms:created xsi:type="dcterms:W3CDTF">2010-10-03T18:33:51Z</dcterms:created>
  <dcterms:modified xsi:type="dcterms:W3CDTF">2012-06-20T23:57:09Z</dcterms:modified>
</cp:coreProperties>
</file>