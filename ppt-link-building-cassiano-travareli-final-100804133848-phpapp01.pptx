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317" r:id="rId5"/>
    <p:sldId id="261" r:id="rId6"/>
    <p:sldId id="318" r:id="rId7"/>
    <p:sldId id="263" r:id="rId8"/>
    <p:sldId id="264" r:id="rId9"/>
    <p:sldId id="265" r:id="rId10"/>
    <p:sldId id="266" r:id="rId11"/>
    <p:sldId id="267" r:id="rId12"/>
    <p:sldId id="268" r:id="rId13"/>
    <p:sldId id="269" r:id="rId14"/>
    <p:sldId id="31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311" r:id="rId36"/>
    <p:sldId id="290" r:id="rId37"/>
    <p:sldId id="291" r:id="rId38"/>
    <p:sldId id="292" r:id="rId39"/>
    <p:sldId id="293" r:id="rId40"/>
    <p:sldId id="294" r:id="rId41"/>
    <p:sldId id="316" r:id="rId42"/>
    <p:sldId id="295"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20" r:id="rId57"/>
    <p:sldId id="321" r:id="rId58"/>
    <p:sldId id="310"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2FC9FF"/>
    <a:srgbClr val="00B3EF"/>
    <a:srgbClr val="631765"/>
    <a:srgbClr val="FFCC00"/>
    <a:srgbClr val="FF0066"/>
    <a:srgbClr val="996633"/>
    <a:srgbClr val="582A04"/>
    <a:srgbClr val="B85808"/>
    <a:srgbClr val="753805"/>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746" y="-60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estilo do título mestre</a:t>
            </a:r>
            <a:endParaRPr lang="en-U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en-US"/>
          </a:p>
        </p:txBody>
      </p:sp>
      <p:sp>
        <p:nvSpPr>
          <p:cNvPr id="4" name="Espaço Reservado para Data 3"/>
          <p:cNvSpPr>
            <a:spLocks noGrp="1"/>
          </p:cNvSpPr>
          <p:nvPr>
            <p:ph type="dt" sz="half" idx="10"/>
          </p:nvPr>
        </p:nvSpPr>
        <p:spPr/>
        <p:txBody>
          <a:bodyPr/>
          <a:lstStyle/>
          <a:p>
            <a:fld id="{BF1F44BC-573B-4096-8F5A-EC701ABB18E3}" type="datetimeFigureOut">
              <a:rPr lang="en-US" smtClean="0"/>
              <a:pPr/>
              <a:t>8/4/2010</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3"/>
          <p:cNvSpPr>
            <a:spLocks noGrp="1"/>
          </p:cNvSpPr>
          <p:nvPr>
            <p:ph type="dt" sz="half" idx="10"/>
          </p:nvPr>
        </p:nvSpPr>
        <p:spPr/>
        <p:txBody>
          <a:bodyPr/>
          <a:lstStyle/>
          <a:p>
            <a:fld id="{BF1F44BC-573B-4096-8F5A-EC701ABB18E3}" type="datetimeFigureOut">
              <a:rPr lang="en-US" smtClean="0"/>
              <a:pPr/>
              <a:t>8/4/2010</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estilo do título mestre</a:t>
            </a:r>
            <a:endParaRPr lang="en-US"/>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os estilos do texto mestre</a:t>
            </a:r>
          </a:p>
        </p:txBody>
      </p:sp>
      <p:sp>
        <p:nvSpPr>
          <p:cNvPr id="4" name="Espaço Reservado para Data 3"/>
          <p:cNvSpPr>
            <a:spLocks noGrp="1"/>
          </p:cNvSpPr>
          <p:nvPr>
            <p:ph type="dt" sz="half" idx="10"/>
          </p:nvPr>
        </p:nvSpPr>
        <p:spPr/>
        <p:txBody>
          <a:bodyPr/>
          <a:lstStyle/>
          <a:p>
            <a:fld id="{BF1F44BC-573B-4096-8F5A-EC701ABB18E3}" type="datetimeFigureOut">
              <a:rPr lang="en-US" smtClean="0"/>
              <a:pPr/>
              <a:t>8/4/2010</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5" name="Espaço Reservado para Data 4"/>
          <p:cNvSpPr>
            <a:spLocks noGrp="1"/>
          </p:cNvSpPr>
          <p:nvPr>
            <p:ph type="dt" sz="half" idx="10"/>
          </p:nvPr>
        </p:nvSpPr>
        <p:spPr/>
        <p:txBody>
          <a:bodyPr/>
          <a:lstStyle/>
          <a:p>
            <a:fld id="{BF1F44BC-573B-4096-8F5A-EC701ABB18E3}" type="datetimeFigureOut">
              <a:rPr lang="en-US" smtClean="0"/>
              <a:pPr/>
              <a:t>8/4/2010</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estilo do título mestre</a:t>
            </a:r>
            <a:endParaRPr lang="en-US"/>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7" name="Espaço Reservado para Data 6"/>
          <p:cNvSpPr>
            <a:spLocks noGrp="1"/>
          </p:cNvSpPr>
          <p:nvPr>
            <p:ph type="dt" sz="half" idx="10"/>
          </p:nvPr>
        </p:nvSpPr>
        <p:spPr/>
        <p:txBody>
          <a:bodyPr/>
          <a:lstStyle/>
          <a:p>
            <a:fld id="{BF1F44BC-573B-4096-8F5A-EC701ABB18E3}" type="datetimeFigureOut">
              <a:rPr lang="en-US" smtClean="0"/>
              <a:pPr/>
              <a:t>8/4/2010</a:t>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Data 2"/>
          <p:cNvSpPr>
            <a:spLocks noGrp="1"/>
          </p:cNvSpPr>
          <p:nvPr>
            <p:ph type="dt" sz="half" idx="10"/>
          </p:nvPr>
        </p:nvSpPr>
        <p:spPr/>
        <p:txBody>
          <a:bodyPr/>
          <a:lstStyle/>
          <a:p>
            <a:fld id="{BF1F44BC-573B-4096-8F5A-EC701ABB18E3}" type="datetimeFigureOut">
              <a:rPr lang="en-US" smtClean="0"/>
              <a:pPr/>
              <a:t>8/4/2010</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F1F44BC-573B-4096-8F5A-EC701ABB18E3}" type="datetimeFigureOut">
              <a:rPr lang="en-US" smtClean="0"/>
              <a:pPr/>
              <a:t>8/4/2010</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estilo do título mestre</a:t>
            </a:r>
            <a:endParaRPr lang="en-US"/>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BF1F44BC-573B-4096-8F5A-EC701ABB18E3}" type="datetimeFigureOut">
              <a:rPr lang="en-US" smtClean="0"/>
              <a:pPr/>
              <a:t>8/4/2010</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estilo do título mestre</a:t>
            </a:r>
            <a:endParaRPr lang="en-US"/>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BF1F44BC-573B-4096-8F5A-EC701ABB18E3}" type="datetimeFigureOut">
              <a:rPr lang="en-US" smtClean="0"/>
              <a:pPr/>
              <a:t>8/4/2010</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3"/>
          <p:cNvSpPr>
            <a:spLocks noGrp="1"/>
          </p:cNvSpPr>
          <p:nvPr>
            <p:ph type="dt" sz="half" idx="10"/>
          </p:nvPr>
        </p:nvSpPr>
        <p:spPr/>
        <p:txBody>
          <a:bodyPr/>
          <a:lstStyle/>
          <a:p>
            <a:fld id="{BF1F44BC-573B-4096-8F5A-EC701ABB18E3}" type="datetimeFigureOut">
              <a:rPr lang="en-US" smtClean="0"/>
              <a:pPr/>
              <a:t>8/4/2010</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estilo do título mestre</a:t>
            </a:r>
            <a:endParaRPr lang="en-US"/>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3"/>
          <p:cNvSpPr>
            <a:spLocks noGrp="1"/>
          </p:cNvSpPr>
          <p:nvPr>
            <p:ph type="dt" sz="half" idx="10"/>
          </p:nvPr>
        </p:nvSpPr>
        <p:spPr/>
        <p:txBody>
          <a:bodyPr/>
          <a:lstStyle/>
          <a:p>
            <a:fld id="{BF1F44BC-573B-4096-8F5A-EC701ABB18E3}" type="datetimeFigureOut">
              <a:rPr lang="en-US" smtClean="0"/>
              <a:pPr/>
              <a:t>8/4/2010</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7DC94DC3-684B-4664-A4E6-EA4466AF8D98}"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estilo do título mestre</a:t>
            </a:r>
            <a:endParaRPr lang="en-US"/>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n-US"/>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1F44BC-573B-4096-8F5A-EC701ABB18E3}" type="datetimeFigureOut">
              <a:rPr lang="en-US" smtClean="0"/>
              <a:pPr/>
              <a:t>8/4/2010</a:t>
            </a:fld>
            <a:endParaRPr lang="en-US"/>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C94DC3-684B-4664-A4E6-EA4466AF8D98}"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searchcast.com.br/searchcast-24-20-tecnicas-de-link-bait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labs.wordtracker.com/keyword-questions/" TargetMode="Externa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tools.seobook.com/backlink-analyzer/" TargetMode="External"/><Relationship Id="rId3" Type="http://schemas.openxmlformats.org/officeDocument/2006/relationships/hyperlink" Target="http://siteexplorer.search.yahoo.com/" TargetMode="External"/><Relationship Id="rId7" Type="http://schemas.openxmlformats.org/officeDocument/2006/relationships/hyperlink" Target="http://www.seomoz.org/labs/link-intersect" TargetMode="External"/><Relationship Id="rId2" Type="http://schemas.openxmlformats.org/officeDocument/2006/relationships/hyperlink" Target="http://www.opensiteexplorer.org/" TargetMode="External"/><Relationship Id="rId1" Type="http://schemas.openxmlformats.org/officeDocument/2006/relationships/slideLayout" Target="../slideLayouts/slideLayout2.xml"/><Relationship Id="rId6" Type="http://schemas.openxmlformats.org/officeDocument/2006/relationships/hyperlink" Target="http://www.iwebtool.com/backlink_checker" TargetMode="External"/><Relationship Id="rId5" Type="http://schemas.openxmlformats.org/officeDocument/2006/relationships/hyperlink" Target="http://www.backlinkwatch.com/" TargetMode="External"/><Relationship Id="rId4" Type="http://schemas.openxmlformats.org/officeDocument/2006/relationships/hyperlink" Target="http://www.majesticseo.com/" TargetMode="External"/><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hyperlink" Target="http://www.superartigos.com/" TargetMode="External"/><Relationship Id="rId3" Type="http://schemas.openxmlformats.org/officeDocument/2006/relationships/hyperlink" Target="http://www.amazines.com/" TargetMode="External"/><Relationship Id="rId7" Type="http://schemas.openxmlformats.org/officeDocument/2006/relationships/hyperlink" Target="http://www.articlesbase.com/" TargetMode="External"/><Relationship Id="rId2" Type="http://schemas.openxmlformats.org/officeDocument/2006/relationships/hyperlink" Target="http://www.ezinearticles.com/" TargetMode="External"/><Relationship Id="rId1" Type="http://schemas.openxmlformats.org/officeDocument/2006/relationships/slideLayout" Target="../slideLayouts/slideLayout2.xml"/><Relationship Id="rId6" Type="http://schemas.openxmlformats.org/officeDocument/2006/relationships/hyperlink" Target="http://www.365articles.com/" TargetMode="External"/><Relationship Id="rId11" Type="http://schemas.openxmlformats.org/officeDocument/2006/relationships/hyperlink" Target="http://www.murall.com.br/" TargetMode="External"/><Relationship Id="rId5" Type="http://schemas.openxmlformats.org/officeDocument/2006/relationships/hyperlink" Target="http://www.goarticles.com/" TargetMode="External"/><Relationship Id="rId10" Type="http://schemas.openxmlformats.org/officeDocument/2006/relationships/hyperlink" Target="http://www.artigonal.com/" TargetMode="External"/><Relationship Id="rId4" Type="http://schemas.openxmlformats.org/officeDocument/2006/relationships/hyperlink" Target="http://www.articlealley.com/" TargetMode="External"/><Relationship Id="rId9" Type="http://schemas.openxmlformats.org/officeDocument/2006/relationships/hyperlink" Target="http://www.ancorador.com.br/"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smartbloggerz.com/2008/10/100-rss-feed-submission-site/" TargetMode="External"/><Relationship Id="rId2" Type="http://schemas.openxmlformats.org/officeDocument/2006/relationships/hyperlink" Target="http://www.rss-specifications.com/rss-submission.htm" TargetMode="External"/><Relationship Id="rId1" Type="http://schemas.openxmlformats.org/officeDocument/2006/relationships/slideLayout" Target="../slideLayouts/slideLayout2.xml"/><Relationship Id="rId4" Type="http://schemas.openxmlformats.org/officeDocument/2006/relationships/hyperlink" Target="http://cssti.wordpress.com/2010/05/31/diretorios-de-feed-rss-para-submeter-seu-blog/"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namechk.com/" TargetMode="External"/><Relationship Id="rId2" Type="http://schemas.openxmlformats.org/officeDocument/2006/relationships/hyperlink" Target="http://bit.ly/6VVCmW" TargetMode="External"/><Relationship Id="rId1" Type="http://schemas.openxmlformats.org/officeDocument/2006/relationships/slideLayout" Target="../slideLayouts/slideLayout2.xml"/><Relationship Id="rId5" Type="http://schemas.openxmlformats.org/officeDocument/2006/relationships/hyperlink" Target="http://www.meadiciona.com/" TargetMode="External"/><Relationship Id="rId4" Type="http://schemas.openxmlformats.org/officeDocument/2006/relationships/hyperlink" Target="http://knowem.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nicusor.com/do-follow-list/" TargetMode="External"/><Relationship Id="rId3" Type="http://schemas.openxmlformats.org/officeDocument/2006/relationships/hyperlink" Target="http://www.smmguru.com/1114-sortable-do-follow-blogs-with-pagerank" TargetMode="External"/><Relationship Id="rId7" Type="http://schemas.openxmlformats.org/officeDocument/2006/relationships/hyperlink" Target="http://www.stephanmiller.com/the-ultimate-dofollow-blog-list/" TargetMode="External"/><Relationship Id="rId2" Type="http://schemas.openxmlformats.org/officeDocument/2006/relationships/hyperlink" Target="http://www.commenthunt.com/" TargetMode="External"/><Relationship Id="rId1" Type="http://schemas.openxmlformats.org/officeDocument/2006/relationships/slideLayout" Target="../slideLayouts/slideLayout2.xml"/><Relationship Id="rId6" Type="http://schemas.openxmlformats.org/officeDocument/2006/relationships/hyperlink" Target="http://bloggers-directory.blogspot.com/2007/11/list-of-dofollow-blogs.html" TargetMode="External"/><Relationship Id="rId5" Type="http://schemas.openxmlformats.org/officeDocument/2006/relationships/hyperlink" Target="http://www.whydowork.com/blog/blogging-tips/558/" TargetMode="External"/><Relationship Id="rId4" Type="http://schemas.openxmlformats.org/officeDocument/2006/relationships/hyperlink" Target="http://courtneytuttle.com/blogs-that-follow/" TargetMode="Externa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www.blogtoplist.com/"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www.twitter.com/cassy82" TargetMode="External"/><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hyperlink" Target="http://www.twitter.com/alineideia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n-US" dirty="0"/>
          </a:p>
        </p:txBody>
      </p:sp>
      <p:sp>
        <p:nvSpPr>
          <p:cNvPr id="3" name="Subtítulo 2"/>
          <p:cNvSpPr>
            <a:spLocks noGrp="1"/>
          </p:cNvSpPr>
          <p:nvPr>
            <p:ph type="subTitle" idx="1"/>
          </p:nvPr>
        </p:nvSpPr>
        <p:spPr/>
        <p:txBody>
          <a:bodyPr/>
          <a:lstStyle/>
          <a:p>
            <a:endParaRPr lang="en-US" dirty="0"/>
          </a:p>
        </p:txBody>
      </p:sp>
      <p:pic>
        <p:nvPicPr>
          <p:cNvPr id="5" name="Imagem 4" descr="apresentacao-linkbuilding-01.jpg"/>
          <p:cNvPicPr>
            <a:picLocks noChangeAspect="1"/>
          </p:cNvPicPr>
          <p:nvPr/>
        </p:nvPicPr>
        <p:blipFill>
          <a:blip r:embed="rId2" cstate="print"/>
          <a:stretch>
            <a:fillRect/>
          </a:stretch>
        </p:blipFill>
        <p:spPr>
          <a:xfrm>
            <a:off x="-36512" y="0"/>
            <a:ext cx="9217024" cy="6918356"/>
          </a:xfrm>
          <a:prstGeom prst="rect">
            <a:avLst/>
          </a:prstGeom>
        </p:spPr>
      </p:pic>
      <p:sp>
        <p:nvSpPr>
          <p:cNvPr id="6" name="Espaço Reservado para Conteúdo 2"/>
          <p:cNvSpPr txBox="1">
            <a:spLocks/>
          </p:cNvSpPr>
          <p:nvPr/>
        </p:nvSpPr>
        <p:spPr>
          <a:xfrm>
            <a:off x="3483900" y="6165304"/>
            <a:ext cx="1448140" cy="709727"/>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pt-BR" sz="2000" b="0" i="0" u="none" strike="noStrike" kern="1200" cap="none" spc="0" normalizeH="0" baseline="0" noProof="0" dirty="0" smtClean="0">
                <a:ln>
                  <a:noFill/>
                </a:ln>
                <a:solidFill>
                  <a:schemeClr val="bg1"/>
                </a:solidFill>
                <a:effectLst/>
                <a:uLnTx/>
                <a:uFillTx/>
                <a:latin typeface="Arial" pitchFamily="34" charset="0"/>
                <a:cs typeface="Arial" pitchFamily="34" charset="0"/>
              </a:rPr>
              <a:t>@cassy82</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schemeClr val="tx1">
                  <a:tint val="75000"/>
                </a:schemeClr>
              </a:solidFill>
              <a:effectLst/>
              <a:uLnTx/>
              <a:uFillTx/>
              <a:latin typeface="Arial" pitchFamily="34" charset="0"/>
              <a:cs typeface="Arial" pitchFamily="34" charset="0"/>
            </a:endParaRPr>
          </a:p>
        </p:txBody>
      </p:sp>
      <p:pic>
        <p:nvPicPr>
          <p:cNvPr id="7" name="Picture 2" descr="C:\Users\Brivin\Desktop\apresentacao-cassiano\twitter-02.jpg"/>
          <p:cNvPicPr>
            <a:picLocks noChangeAspect="1" noChangeArrowheads="1"/>
          </p:cNvPicPr>
          <p:nvPr/>
        </p:nvPicPr>
        <p:blipFill>
          <a:blip r:embed="rId3" cstate="print"/>
          <a:srcRect/>
          <a:stretch>
            <a:fillRect/>
          </a:stretch>
        </p:blipFill>
        <p:spPr bwMode="auto">
          <a:xfrm>
            <a:off x="2987824" y="6165304"/>
            <a:ext cx="409801" cy="41871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620688"/>
            <a:ext cx="8136904" cy="1080120"/>
          </a:xfrm>
        </p:spPr>
        <p:txBody>
          <a:bodyPr>
            <a:noAutofit/>
          </a:bodyPr>
          <a:lstStyle/>
          <a:p>
            <a:pPr algn="r"/>
            <a:r>
              <a:rPr lang="en-US" sz="6600" b="1" dirty="0" err="1" smtClean="0">
                <a:solidFill>
                  <a:srgbClr val="2FC9FF"/>
                </a:solidFill>
                <a:latin typeface="Arial" pitchFamily="34" charset="0"/>
                <a:cs typeface="Arial" pitchFamily="34" charset="0"/>
              </a:rPr>
              <a:t>Importância</a:t>
            </a:r>
            <a:r>
              <a:rPr lang="en-US" sz="6600" b="1" dirty="0" smtClean="0">
                <a:solidFill>
                  <a:srgbClr val="2FC9FF"/>
                </a:solidFill>
                <a:latin typeface="Arial" pitchFamily="34" charset="0"/>
                <a:cs typeface="Arial" pitchFamily="34" charset="0"/>
              </a:rPr>
              <a:t> </a:t>
            </a:r>
            <a:br>
              <a:rPr lang="en-US" sz="6600" b="1" dirty="0" smtClean="0">
                <a:solidFill>
                  <a:srgbClr val="2FC9FF"/>
                </a:solidFill>
                <a:latin typeface="Arial" pitchFamily="34" charset="0"/>
                <a:cs typeface="Arial" pitchFamily="34" charset="0"/>
              </a:rPr>
            </a:br>
            <a:r>
              <a:rPr lang="en-US" sz="6600" b="1" dirty="0" smtClean="0">
                <a:solidFill>
                  <a:srgbClr val="2FC9FF"/>
                </a:solidFill>
                <a:latin typeface="Arial" pitchFamily="34" charset="0"/>
                <a:cs typeface="Arial" pitchFamily="34" charset="0"/>
              </a:rPr>
              <a:t>dos Links</a:t>
            </a:r>
            <a:endParaRPr lang="en-US" sz="6600" b="1" dirty="0">
              <a:solidFill>
                <a:srgbClr val="2FC9FF"/>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a:bodyPr>
          <a:lstStyle/>
          <a:p>
            <a:pPr>
              <a:buNone/>
            </a:pPr>
            <a:endParaRPr lang="en-US" dirty="0" smtClean="0">
              <a:latin typeface="Arial" pitchFamily="34" charset="0"/>
              <a:cs typeface="Arial" pitchFamily="34" charset="0"/>
            </a:endParaRPr>
          </a:p>
          <a:p>
            <a:pPr algn="ctr">
              <a:buNone/>
            </a:pPr>
            <a:endParaRPr lang="en-US" dirty="0" smtClean="0">
              <a:latin typeface="Arial" pitchFamily="34" charset="0"/>
              <a:cs typeface="Arial" pitchFamily="34" charset="0"/>
            </a:endParaRPr>
          </a:p>
          <a:p>
            <a:pPr algn="ctr">
              <a:buNone/>
            </a:pPr>
            <a:r>
              <a:rPr lang="en-US" sz="3500" dirty="0" smtClean="0">
                <a:solidFill>
                  <a:schemeClr val="tx1">
                    <a:lumMod val="65000"/>
                    <a:lumOff val="35000"/>
                  </a:schemeClr>
                </a:solidFill>
                <a:latin typeface="Arial" pitchFamily="34" charset="0"/>
                <a:cs typeface="Arial" pitchFamily="34" charset="0"/>
              </a:rPr>
              <a:t>"</a:t>
            </a:r>
            <a:r>
              <a:rPr lang="en-US" sz="3500" b="1" dirty="0" smtClean="0">
                <a:solidFill>
                  <a:schemeClr val="tx1">
                    <a:lumMod val="65000"/>
                    <a:lumOff val="35000"/>
                  </a:schemeClr>
                </a:solidFill>
                <a:latin typeface="Arial" pitchFamily="34" charset="0"/>
                <a:cs typeface="Arial" pitchFamily="34" charset="0"/>
              </a:rPr>
              <a:t>Links</a:t>
            </a:r>
            <a:r>
              <a:rPr lang="en-US" sz="3500" dirty="0" smtClean="0">
                <a:solidFill>
                  <a:schemeClr val="tx1">
                    <a:lumMod val="65000"/>
                    <a:lumOff val="35000"/>
                  </a:schemeClr>
                </a:solidFill>
                <a:latin typeface="Arial" pitchFamily="34" charset="0"/>
                <a:cs typeface="Arial" pitchFamily="34" charset="0"/>
              </a:rPr>
              <a:t> </a:t>
            </a:r>
            <a:r>
              <a:rPr lang="en-US" sz="3500" b="1" dirty="0" smtClean="0">
                <a:solidFill>
                  <a:schemeClr val="tx1">
                    <a:lumMod val="65000"/>
                    <a:lumOff val="35000"/>
                  </a:schemeClr>
                </a:solidFill>
                <a:latin typeface="Arial" pitchFamily="34" charset="0"/>
                <a:cs typeface="Arial" pitchFamily="34" charset="0"/>
              </a:rPr>
              <a:t>are</a:t>
            </a:r>
            <a:r>
              <a:rPr lang="en-US" sz="3500" dirty="0" smtClean="0">
                <a:solidFill>
                  <a:schemeClr val="tx1">
                    <a:lumMod val="65000"/>
                    <a:lumOff val="35000"/>
                  </a:schemeClr>
                </a:solidFill>
                <a:latin typeface="Arial" pitchFamily="34" charset="0"/>
                <a:cs typeface="Arial" pitchFamily="34" charset="0"/>
              </a:rPr>
              <a:t> the </a:t>
            </a:r>
            <a:r>
              <a:rPr lang="en-US" sz="3500" b="1" dirty="0" smtClean="0">
                <a:solidFill>
                  <a:schemeClr val="tx1">
                    <a:lumMod val="65000"/>
                    <a:lumOff val="35000"/>
                  </a:schemeClr>
                </a:solidFill>
                <a:latin typeface="Arial" pitchFamily="34" charset="0"/>
                <a:cs typeface="Arial" pitchFamily="34" charset="0"/>
              </a:rPr>
              <a:t>arteries</a:t>
            </a:r>
            <a:r>
              <a:rPr lang="en-US" sz="3500" dirty="0" smtClean="0">
                <a:solidFill>
                  <a:schemeClr val="tx1">
                    <a:lumMod val="65000"/>
                    <a:lumOff val="35000"/>
                  </a:schemeClr>
                </a:solidFill>
                <a:latin typeface="Arial" pitchFamily="34" charset="0"/>
                <a:cs typeface="Arial" pitchFamily="34" charset="0"/>
              </a:rPr>
              <a:t> of the web, </a:t>
            </a:r>
          </a:p>
          <a:p>
            <a:pPr algn="ctr">
              <a:buNone/>
            </a:pPr>
            <a:r>
              <a:rPr lang="en-US" sz="3500" dirty="0" smtClean="0">
                <a:solidFill>
                  <a:schemeClr val="tx1">
                    <a:lumMod val="65000"/>
                    <a:lumOff val="35000"/>
                  </a:schemeClr>
                </a:solidFill>
                <a:latin typeface="Arial" pitchFamily="34" charset="0"/>
                <a:cs typeface="Arial" pitchFamily="34" charset="0"/>
              </a:rPr>
              <a:t>Traffic travels across links, </a:t>
            </a:r>
          </a:p>
          <a:p>
            <a:pPr algn="ctr">
              <a:buNone/>
            </a:pPr>
            <a:r>
              <a:rPr lang="en-US" sz="3500" dirty="0" smtClean="0">
                <a:solidFill>
                  <a:schemeClr val="tx1">
                    <a:lumMod val="65000"/>
                    <a:lumOff val="35000"/>
                  </a:schemeClr>
                </a:solidFill>
                <a:latin typeface="Arial" pitchFamily="34" charset="0"/>
                <a:cs typeface="Arial" pitchFamily="34" charset="0"/>
              </a:rPr>
              <a:t>so </a:t>
            </a:r>
            <a:r>
              <a:rPr lang="en-US" sz="3500" b="1" dirty="0" smtClean="0">
                <a:solidFill>
                  <a:schemeClr val="tx1">
                    <a:lumMod val="65000"/>
                    <a:lumOff val="35000"/>
                  </a:schemeClr>
                </a:solidFill>
                <a:latin typeface="Arial" pitchFamily="34" charset="0"/>
                <a:cs typeface="Arial" pitchFamily="34" charset="0"/>
              </a:rPr>
              <a:t>all links</a:t>
            </a:r>
            <a:r>
              <a:rPr lang="en-US" sz="3500" dirty="0" smtClean="0">
                <a:solidFill>
                  <a:schemeClr val="tx1">
                    <a:lumMod val="65000"/>
                    <a:lumOff val="35000"/>
                  </a:schemeClr>
                </a:solidFill>
                <a:latin typeface="Arial" pitchFamily="34" charset="0"/>
                <a:cs typeface="Arial" pitchFamily="34" charset="0"/>
              </a:rPr>
              <a:t>, </a:t>
            </a:r>
            <a:r>
              <a:rPr lang="en-US" sz="3500" dirty="0" err="1" smtClean="0">
                <a:solidFill>
                  <a:schemeClr val="tx1">
                    <a:lumMod val="65000"/>
                    <a:lumOff val="35000"/>
                  </a:schemeClr>
                </a:solidFill>
                <a:latin typeface="Arial" pitchFamily="34" charset="0"/>
                <a:cs typeface="Arial" pitchFamily="34" charset="0"/>
              </a:rPr>
              <a:t>crawlable</a:t>
            </a:r>
            <a:r>
              <a:rPr lang="en-US" sz="3500" dirty="0" smtClean="0">
                <a:solidFill>
                  <a:schemeClr val="tx1">
                    <a:lumMod val="65000"/>
                    <a:lumOff val="35000"/>
                  </a:schemeClr>
                </a:solidFill>
                <a:latin typeface="Arial" pitchFamily="34" charset="0"/>
                <a:cs typeface="Arial" pitchFamily="34" charset="0"/>
              </a:rPr>
              <a:t> or not, </a:t>
            </a:r>
          </a:p>
          <a:p>
            <a:pPr algn="ctr">
              <a:buNone/>
            </a:pPr>
            <a:r>
              <a:rPr lang="en-US" sz="3500" dirty="0" smtClean="0">
                <a:solidFill>
                  <a:schemeClr val="tx1">
                    <a:lumMod val="65000"/>
                    <a:lumOff val="35000"/>
                  </a:schemeClr>
                </a:solidFill>
                <a:latin typeface="Arial" pitchFamily="34" charset="0"/>
                <a:cs typeface="Arial" pitchFamily="34" charset="0"/>
              </a:rPr>
              <a:t>no-followed or otherwise, </a:t>
            </a:r>
            <a:r>
              <a:rPr lang="en-US" sz="3500" b="1" dirty="0" smtClean="0">
                <a:solidFill>
                  <a:schemeClr val="tx1">
                    <a:lumMod val="65000"/>
                    <a:lumOff val="35000"/>
                  </a:schemeClr>
                </a:solidFill>
                <a:latin typeface="Arial" pitchFamily="34" charset="0"/>
                <a:cs typeface="Arial" pitchFamily="34" charset="0"/>
              </a:rPr>
              <a:t>are valuable</a:t>
            </a:r>
            <a:r>
              <a:rPr lang="en-US" sz="3500" dirty="0" smtClean="0">
                <a:solidFill>
                  <a:schemeClr val="tx1">
                    <a:lumMod val="65000"/>
                    <a:lumOff val="35000"/>
                  </a:schemeClr>
                </a:solidFill>
                <a:latin typeface="Arial" pitchFamily="34" charset="0"/>
                <a:cs typeface="Arial" pitchFamily="34" charset="0"/>
              </a:rPr>
              <a:t>“ </a:t>
            </a:r>
          </a:p>
          <a:p>
            <a:pPr algn="ctr">
              <a:buNone/>
            </a:pPr>
            <a:endParaRPr lang="pt-BR" sz="1700" dirty="0" smtClean="0">
              <a:solidFill>
                <a:schemeClr val="bg1"/>
              </a:solidFill>
              <a:latin typeface="Arial" pitchFamily="34" charset="0"/>
              <a:cs typeface="Arial" pitchFamily="34" charset="0"/>
            </a:endParaRPr>
          </a:p>
          <a:p>
            <a:pPr algn="ctr">
              <a:buNone/>
            </a:pPr>
            <a:endParaRPr lang="pt-BR" sz="1700" dirty="0" smtClean="0">
              <a:solidFill>
                <a:schemeClr val="bg1"/>
              </a:solidFill>
              <a:latin typeface="Arial" pitchFamily="34" charset="0"/>
              <a:cs typeface="Arial" pitchFamily="34" charset="0"/>
            </a:endParaRPr>
          </a:p>
          <a:p>
            <a:pPr algn="ctr">
              <a:buNone/>
            </a:pPr>
            <a:endParaRPr lang="en-US" sz="1700" dirty="0" smtClean="0">
              <a:solidFill>
                <a:schemeClr val="bg1"/>
              </a:solidFill>
              <a:latin typeface="Arial" pitchFamily="34" charset="0"/>
              <a:cs typeface="Arial" pitchFamily="34" charset="0"/>
            </a:endParaRPr>
          </a:p>
          <a:p>
            <a:pPr algn="ctr">
              <a:buNone/>
            </a:pPr>
            <a:r>
              <a:rPr lang="en-US" sz="1700" dirty="0" smtClean="0">
                <a:solidFill>
                  <a:schemeClr val="tx1">
                    <a:lumMod val="65000"/>
                    <a:lumOff val="35000"/>
                  </a:schemeClr>
                </a:solidFill>
                <a:latin typeface="Arial" pitchFamily="34" charset="0"/>
                <a:cs typeface="Arial" pitchFamily="34" charset="0"/>
              </a:rPr>
              <a:t>Peter </a:t>
            </a:r>
            <a:r>
              <a:rPr lang="en-US" sz="1700" dirty="0" err="1" smtClean="0">
                <a:solidFill>
                  <a:schemeClr val="tx1">
                    <a:lumMod val="65000"/>
                    <a:lumOff val="35000"/>
                  </a:schemeClr>
                </a:solidFill>
                <a:latin typeface="Arial" pitchFamily="34" charset="0"/>
                <a:cs typeface="Arial" pitchFamily="34" charset="0"/>
              </a:rPr>
              <a:t>Da</a:t>
            </a:r>
            <a:r>
              <a:rPr lang="en-US" sz="1700" dirty="0" smtClean="0">
                <a:solidFill>
                  <a:schemeClr val="tx1">
                    <a:lumMod val="65000"/>
                    <a:lumOff val="35000"/>
                  </a:schemeClr>
                </a:solidFill>
                <a:latin typeface="Arial" pitchFamily="34" charset="0"/>
                <a:cs typeface="Arial" pitchFamily="34" charset="0"/>
              </a:rPr>
              <a:t> </a:t>
            </a:r>
            <a:r>
              <a:rPr lang="en-US" sz="1700" dirty="0" err="1" smtClean="0">
                <a:solidFill>
                  <a:schemeClr val="tx1">
                    <a:lumMod val="65000"/>
                    <a:lumOff val="35000"/>
                  </a:schemeClr>
                </a:solidFill>
                <a:latin typeface="Arial" pitchFamily="34" charset="0"/>
                <a:cs typeface="Arial" pitchFamily="34" charset="0"/>
              </a:rPr>
              <a:t>Vanzo</a:t>
            </a:r>
            <a:endParaRPr lang="en-US" sz="1700" dirty="0" smtClean="0">
              <a:solidFill>
                <a:schemeClr val="tx1">
                  <a:lumMod val="65000"/>
                  <a:lumOff val="35000"/>
                </a:schemeClr>
              </a:solidFill>
              <a:latin typeface="Arial" pitchFamily="34" charset="0"/>
              <a:cs typeface="Arial" pitchFamily="34" charset="0"/>
            </a:endParaRPr>
          </a:p>
          <a:p>
            <a:pPr algn="r">
              <a:buNone/>
            </a:pPr>
            <a:endParaRPr lang="en-US" sz="4000" dirty="0">
              <a:latin typeface="Arial" pitchFamily="34" charset="0"/>
              <a:cs typeface="Arial" pitchFamily="34" charset="0"/>
            </a:endParaRPr>
          </a:p>
        </p:txBody>
      </p:sp>
      <p:pic>
        <p:nvPicPr>
          <p:cNvPr id="1029" name="Picture 5" descr="C:\Users\Brivin\Desktop\searchlabs\linkazul-02.png"/>
          <p:cNvPicPr>
            <a:picLocks noChangeAspect="1" noChangeArrowheads="1"/>
          </p:cNvPicPr>
          <p:nvPr/>
        </p:nvPicPr>
        <p:blipFill>
          <a:blip r:embed="rId2" cstate="print"/>
          <a:srcRect/>
          <a:stretch>
            <a:fillRect/>
          </a:stretch>
        </p:blipFill>
        <p:spPr bwMode="auto">
          <a:xfrm rot="18900000">
            <a:off x="-907030" y="664200"/>
            <a:ext cx="3911601" cy="7874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04664"/>
            <a:ext cx="8208912" cy="1296144"/>
          </a:xfrm>
        </p:spPr>
        <p:txBody>
          <a:bodyPr>
            <a:noAutofit/>
          </a:bodyPr>
          <a:lstStyle/>
          <a:p>
            <a:pPr algn="r"/>
            <a:r>
              <a:rPr lang="pt-BR" sz="6600" b="1" dirty="0" smtClean="0">
                <a:solidFill>
                  <a:srgbClr val="2FC9FF"/>
                </a:solidFill>
                <a:latin typeface="Arial" pitchFamily="34" charset="0"/>
                <a:cs typeface="Arial" pitchFamily="34" charset="0"/>
              </a:rPr>
              <a:t>Link </a:t>
            </a:r>
            <a:r>
              <a:rPr lang="pt-BR" sz="6600" b="1" dirty="0" err="1" smtClean="0">
                <a:solidFill>
                  <a:srgbClr val="2FC9FF"/>
                </a:solidFill>
                <a:latin typeface="Arial" pitchFamily="34" charset="0"/>
                <a:cs typeface="Arial" pitchFamily="34" charset="0"/>
              </a:rPr>
              <a:t>Building</a:t>
            </a:r>
            <a:r>
              <a:rPr lang="pt-BR" sz="6600" b="1" dirty="0" smtClean="0">
                <a:solidFill>
                  <a:srgbClr val="2FC9FF"/>
                </a:solidFill>
                <a:latin typeface="Arial" pitchFamily="34" charset="0"/>
                <a:cs typeface="Arial" pitchFamily="34" charset="0"/>
              </a:rPr>
              <a:t>: </a:t>
            </a:r>
            <a:br>
              <a:rPr lang="pt-BR" sz="6600" b="1" dirty="0" smtClean="0">
                <a:solidFill>
                  <a:srgbClr val="2FC9FF"/>
                </a:solidFill>
                <a:latin typeface="Arial" pitchFamily="34" charset="0"/>
                <a:cs typeface="Arial" pitchFamily="34" charset="0"/>
              </a:rPr>
            </a:br>
            <a:r>
              <a:rPr lang="pt-BR" sz="5400" b="1" dirty="0" smtClean="0">
                <a:solidFill>
                  <a:srgbClr val="2FC9FF"/>
                </a:solidFill>
                <a:latin typeface="Arial" pitchFamily="34" charset="0"/>
                <a:cs typeface="Arial" pitchFamily="34" charset="0"/>
              </a:rPr>
              <a:t>Conteúdo e Visibilidade</a:t>
            </a:r>
            <a:endParaRPr lang="en-US" sz="5400" b="1" dirty="0">
              <a:solidFill>
                <a:srgbClr val="2FC9FF"/>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92500" lnSpcReduction="20000"/>
          </a:bodyPr>
          <a:lstStyle/>
          <a:p>
            <a:pPr>
              <a:buNone/>
            </a:pPr>
            <a:endParaRPr lang="en-US"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pPr algn="r">
              <a:buNone/>
            </a:pPr>
            <a:r>
              <a:rPr lang="en-US" sz="3000" dirty="0" smtClean="0">
                <a:solidFill>
                  <a:schemeClr val="tx1">
                    <a:lumMod val="65000"/>
                    <a:lumOff val="35000"/>
                  </a:schemeClr>
                </a:solidFill>
                <a:latin typeface="Arial" pitchFamily="34" charset="0"/>
                <a:cs typeface="Arial" pitchFamily="34" charset="0"/>
              </a:rPr>
              <a:t>"If Content is King, Links Are Queen” </a:t>
            </a:r>
          </a:p>
          <a:p>
            <a:pPr algn="r">
              <a:buNone/>
            </a:pPr>
            <a:endParaRPr lang="pt-BR" sz="3500" dirty="0" smtClean="0">
              <a:solidFill>
                <a:schemeClr val="tx1">
                  <a:lumMod val="65000"/>
                  <a:lumOff val="35000"/>
                </a:schemeClr>
              </a:solidFill>
              <a:latin typeface="Arial" pitchFamily="34" charset="0"/>
              <a:cs typeface="Arial" pitchFamily="34" charset="0"/>
            </a:endParaRPr>
          </a:p>
          <a:p>
            <a:pPr algn="r">
              <a:buNone/>
            </a:pPr>
            <a:endParaRPr lang="pt-BR" sz="3500" dirty="0" smtClean="0">
              <a:solidFill>
                <a:schemeClr val="tx1">
                  <a:lumMod val="65000"/>
                  <a:lumOff val="35000"/>
                </a:schemeClr>
              </a:solidFill>
              <a:latin typeface="Arial" pitchFamily="34" charset="0"/>
              <a:cs typeface="Arial" pitchFamily="34" charset="0"/>
            </a:endParaRPr>
          </a:p>
          <a:p>
            <a:pPr algn="r">
              <a:buNone/>
            </a:pPr>
            <a:endParaRPr lang="pt-BR" sz="3500" dirty="0" smtClean="0">
              <a:solidFill>
                <a:schemeClr val="tx1">
                  <a:lumMod val="65000"/>
                  <a:lumOff val="35000"/>
                </a:schemeClr>
              </a:solidFill>
              <a:latin typeface="Arial" pitchFamily="34" charset="0"/>
              <a:cs typeface="Arial" pitchFamily="34" charset="0"/>
            </a:endParaRPr>
          </a:p>
          <a:p>
            <a:r>
              <a:rPr lang="en-US" sz="2600" b="1" dirty="0" err="1" smtClean="0">
                <a:solidFill>
                  <a:schemeClr val="tx1">
                    <a:lumMod val="65000"/>
                    <a:lumOff val="35000"/>
                  </a:schemeClr>
                </a:solidFill>
                <a:latin typeface="Arial" pitchFamily="34" charset="0"/>
                <a:cs typeface="Arial" pitchFamily="34" charset="0"/>
              </a:rPr>
              <a:t>Conteúdo</a:t>
            </a:r>
            <a:r>
              <a:rPr lang="en-US" sz="2600" b="1" dirty="0" smtClean="0">
                <a:solidFill>
                  <a:schemeClr val="tx1">
                    <a:lumMod val="65000"/>
                    <a:lumOff val="35000"/>
                  </a:schemeClr>
                </a:solidFill>
                <a:latin typeface="Arial" pitchFamily="34" charset="0"/>
                <a:cs typeface="Arial" pitchFamily="34" charset="0"/>
              </a:rPr>
              <a:t> de </a:t>
            </a:r>
            <a:r>
              <a:rPr lang="en-US" sz="2600" b="1" dirty="0" err="1" smtClean="0">
                <a:solidFill>
                  <a:schemeClr val="tx1">
                    <a:lumMod val="65000"/>
                    <a:lumOff val="35000"/>
                  </a:schemeClr>
                </a:solidFill>
                <a:latin typeface="Arial" pitchFamily="34" charset="0"/>
                <a:cs typeface="Arial" pitchFamily="34" charset="0"/>
              </a:rPr>
              <a:t>Qualidade</a:t>
            </a:r>
            <a:r>
              <a:rPr lang="en-US" sz="2600" dirty="0" smtClean="0">
                <a:solidFill>
                  <a:schemeClr val="tx1">
                    <a:lumMod val="65000"/>
                    <a:lumOff val="35000"/>
                  </a:schemeClr>
                </a:solidFill>
                <a:latin typeface="Arial" pitchFamily="34" charset="0"/>
                <a:cs typeface="Arial" pitchFamily="34" charset="0"/>
              </a:rPr>
              <a:t> é MUITO </a:t>
            </a:r>
            <a:r>
              <a:rPr lang="en-US" sz="2600" b="1" dirty="0" err="1" smtClean="0">
                <a:solidFill>
                  <a:schemeClr val="tx1">
                    <a:lumMod val="65000"/>
                    <a:lumOff val="35000"/>
                  </a:schemeClr>
                </a:solidFill>
                <a:latin typeface="Arial" pitchFamily="34" charset="0"/>
                <a:cs typeface="Arial" pitchFamily="34" charset="0"/>
              </a:rPr>
              <a:t>importante</a:t>
            </a:r>
            <a:r>
              <a:rPr lang="en-US" sz="2600" dirty="0" smtClean="0">
                <a:solidFill>
                  <a:schemeClr val="tx1">
                    <a:lumMod val="65000"/>
                    <a:lumOff val="35000"/>
                  </a:schemeClr>
                </a:solidFill>
                <a:latin typeface="Arial" pitchFamily="34" charset="0"/>
                <a:cs typeface="Arial" pitchFamily="34" charset="0"/>
              </a:rPr>
              <a:t>!</a:t>
            </a:r>
          </a:p>
          <a:p>
            <a:pPr>
              <a:buNone/>
            </a:pPr>
            <a:endParaRPr lang="en-US" sz="2600" dirty="0" smtClean="0">
              <a:solidFill>
                <a:schemeClr val="tx1">
                  <a:lumMod val="65000"/>
                  <a:lumOff val="35000"/>
                </a:schemeClr>
              </a:solidFill>
              <a:latin typeface="Arial" pitchFamily="34" charset="0"/>
              <a:cs typeface="Arial" pitchFamily="34" charset="0"/>
            </a:endParaRPr>
          </a:p>
          <a:p>
            <a:r>
              <a:rPr lang="en-US" sz="2600" dirty="0" smtClean="0">
                <a:solidFill>
                  <a:schemeClr val="tx1">
                    <a:lumMod val="65000"/>
                    <a:lumOff val="35000"/>
                  </a:schemeClr>
                </a:solidFill>
                <a:latin typeface="Arial" pitchFamily="34" charset="0"/>
                <a:cs typeface="Arial" pitchFamily="34" charset="0"/>
              </a:rPr>
              <a:t>Link Building &gt; </a:t>
            </a:r>
            <a:r>
              <a:rPr lang="en-US" sz="2600" dirty="0" err="1" smtClean="0">
                <a:solidFill>
                  <a:schemeClr val="tx1">
                    <a:lumMod val="65000"/>
                    <a:lumOff val="35000"/>
                  </a:schemeClr>
                </a:solidFill>
                <a:latin typeface="Arial" pitchFamily="34" charset="0"/>
                <a:cs typeface="Arial" pitchFamily="34" charset="0"/>
              </a:rPr>
              <a:t>Visibilidade</a:t>
            </a:r>
            <a:endParaRPr lang="en-US" sz="2600" dirty="0" smtClean="0">
              <a:solidFill>
                <a:schemeClr val="tx1">
                  <a:lumMod val="65000"/>
                  <a:lumOff val="35000"/>
                </a:schemeClr>
              </a:solidFill>
              <a:latin typeface="Arial" pitchFamily="34" charset="0"/>
              <a:cs typeface="Arial" pitchFamily="34" charset="0"/>
            </a:endParaRPr>
          </a:p>
          <a:p>
            <a:pPr>
              <a:buNone/>
            </a:pPr>
            <a:endParaRPr lang="en-US" sz="2600" dirty="0" smtClean="0">
              <a:solidFill>
                <a:schemeClr val="tx1">
                  <a:lumMod val="65000"/>
                  <a:lumOff val="35000"/>
                </a:schemeClr>
              </a:solidFill>
              <a:latin typeface="Arial" pitchFamily="34" charset="0"/>
              <a:cs typeface="Arial" pitchFamily="34" charset="0"/>
            </a:endParaRPr>
          </a:p>
          <a:p>
            <a:r>
              <a:rPr lang="en-US" sz="2600" dirty="0" smtClean="0">
                <a:solidFill>
                  <a:schemeClr val="tx1">
                    <a:lumMod val="65000"/>
                    <a:lumOff val="35000"/>
                  </a:schemeClr>
                </a:solidFill>
                <a:latin typeface="Arial" pitchFamily="34" charset="0"/>
                <a:cs typeface="Arial" pitchFamily="34" charset="0"/>
              </a:rPr>
              <a:t>Link Building = "</a:t>
            </a:r>
            <a:r>
              <a:rPr lang="en-US" sz="2600" b="1" dirty="0" smtClean="0">
                <a:solidFill>
                  <a:schemeClr val="tx1">
                    <a:lumMod val="65000"/>
                    <a:lumOff val="35000"/>
                  </a:schemeClr>
                </a:solidFill>
                <a:latin typeface="Arial" pitchFamily="34" charset="0"/>
                <a:cs typeface="Arial" pitchFamily="34" charset="0"/>
              </a:rPr>
              <a:t>Links </a:t>
            </a:r>
            <a:r>
              <a:rPr lang="en-US" sz="2600" b="1" dirty="0" err="1" smtClean="0">
                <a:solidFill>
                  <a:schemeClr val="tx1">
                    <a:lumMod val="65000"/>
                    <a:lumOff val="35000"/>
                  </a:schemeClr>
                </a:solidFill>
                <a:latin typeface="Arial" pitchFamily="34" charset="0"/>
                <a:cs typeface="Arial" pitchFamily="34" charset="0"/>
              </a:rPr>
              <a:t>Naturais</a:t>
            </a:r>
            <a:r>
              <a:rPr lang="en-US" sz="2600" dirty="0" smtClean="0">
                <a:solidFill>
                  <a:schemeClr val="tx1">
                    <a:lumMod val="65000"/>
                    <a:lumOff val="35000"/>
                  </a:schemeClr>
                </a:solidFill>
                <a:latin typeface="Arial" pitchFamily="34" charset="0"/>
                <a:cs typeface="Arial" pitchFamily="34" charset="0"/>
              </a:rPr>
              <a:t>" + "</a:t>
            </a:r>
            <a:r>
              <a:rPr lang="en-US" sz="2600" b="1" dirty="0" smtClean="0">
                <a:solidFill>
                  <a:schemeClr val="tx1">
                    <a:lumMod val="65000"/>
                    <a:lumOff val="35000"/>
                  </a:schemeClr>
                </a:solidFill>
                <a:latin typeface="Arial" pitchFamily="34" charset="0"/>
                <a:cs typeface="Arial" pitchFamily="34" charset="0"/>
              </a:rPr>
              <a:t>Links </a:t>
            </a:r>
            <a:r>
              <a:rPr lang="en-US" sz="2600" b="1" dirty="0" err="1" smtClean="0">
                <a:solidFill>
                  <a:schemeClr val="tx1">
                    <a:lumMod val="65000"/>
                    <a:lumOff val="35000"/>
                  </a:schemeClr>
                </a:solidFill>
                <a:latin typeface="Arial" pitchFamily="34" charset="0"/>
                <a:cs typeface="Arial" pitchFamily="34" charset="0"/>
              </a:rPr>
              <a:t>Artificiais</a:t>
            </a:r>
            <a:r>
              <a:rPr lang="en-US" sz="2600" dirty="0" smtClean="0">
                <a:solidFill>
                  <a:schemeClr val="tx1">
                    <a:lumMod val="65000"/>
                    <a:lumOff val="35000"/>
                  </a:schemeClr>
                </a:solidFill>
                <a:latin typeface="Arial" pitchFamily="34" charset="0"/>
                <a:cs typeface="Arial" pitchFamily="34" charset="0"/>
              </a:rPr>
              <a:t>“</a:t>
            </a:r>
          </a:p>
          <a:p>
            <a:endParaRPr lang="pt-BR" sz="3500" dirty="0" smtClean="0">
              <a:solidFill>
                <a:srgbClr val="FF9900"/>
              </a:solidFill>
              <a:latin typeface="Arial" pitchFamily="34" charset="0"/>
              <a:cs typeface="Arial" pitchFamily="34" charset="0"/>
            </a:endParaRPr>
          </a:p>
          <a:p>
            <a:endParaRPr lang="en-US" sz="4000" dirty="0">
              <a:solidFill>
                <a:srgbClr val="FF9900"/>
              </a:solidFill>
              <a:latin typeface="Arial" pitchFamily="34" charset="0"/>
              <a:cs typeface="Arial" pitchFamily="34" charset="0"/>
            </a:endParaRPr>
          </a:p>
        </p:txBody>
      </p:sp>
      <p:pic>
        <p:nvPicPr>
          <p:cNvPr id="2055" name="Picture 7" descr="C:\Users\Brivin\Desktop\searchlabs\linkazul-02.png"/>
          <p:cNvPicPr>
            <a:picLocks noChangeAspect="1" noChangeArrowheads="1"/>
          </p:cNvPicPr>
          <p:nvPr/>
        </p:nvPicPr>
        <p:blipFill>
          <a:blip r:embed="rId2" cstate="print"/>
          <a:srcRect/>
          <a:stretch>
            <a:fillRect/>
          </a:stretch>
        </p:blipFill>
        <p:spPr bwMode="auto">
          <a:xfrm>
            <a:off x="-252536" y="6309320"/>
            <a:ext cx="3911600" cy="787400"/>
          </a:xfrm>
          <a:prstGeom prst="rect">
            <a:avLst/>
          </a:prstGeom>
          <a:noFill/>
        </p:spPr>
      </p:pic>
      <p:pic>
        <p:nvPicPr>
          <p:cNvPr id="2056" name="Picture 8" descr="C:\Users\Brivin\Desktop\searchlabs\linkazul-02.png"/>
          <p:cNvPicPr>
            <a:picLocks noChangeAspect="1" noChangeArrowheads="1"/>
          </p:cNvPicPr>
          <p:nvPr/>
        </p:nvPicPr>
        <p:blipFill>
          <a:blip r:embed="rId2" cstate="print"/>
          <a:srcRect/>
          <a:stretch>
            <a:fillRect/>
          </a:stretch>
        </p:blipFill>
        <p:spPr bwMode="auto">
          <a:xfrm>
            <a:off x="2627784" y="6309320"/>
            <a:ext cx="3911600" cy="787400"/>
          </a:xfrm>
          <a:prstGeom prst="rect">
            <a:avLst/>
          </a:prstGeom>
          <a:noFill/>
        </p:spPr>
      </p:pic>
      <p:pic>
        <p:nvPicPr>
          <p:cNvPr id="2057" name="Picture 9" descr="C:\Users\Brivin\Desktop\searchlabs\linkazul-02.png"/>
          <p:cNvPicPr>
            <a:picLocks noChangeAspect="1" noChangeArrowheads="1"/>
          </p:cNvPicPr>
          <p:nvPr/>
        </p:nvPicPr>
        <p:blipFill>
          <a:blip r:embed="rId2" cstate="print"/>
          <a:srcRect/>
          <a:stretch>
            <a:fillRect/>
          </a:stretch>
        </p:blipFill>
        <p:spPr bwMode="auto">
          <a:xfrm>
            <a:off x="5436096" y="6309320"/>
            <a:ext cx="3911600" cy="7874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FC9FF"/>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197768"/>
            <a:ext cx="8229600" cy="1143000"/>
          </a:xfrm>
        </p:spPr>
        <p:txBody>
          <a:bodyPr>
            <a:noAutofit/>
          </a:bodyPr>
          <a:lstStyle/>
          <a:p>
            <a:pPr algn="r"/>
            <a:r>
              <a:rPr lang="pt-BR" sz="6600" b="1" dirty="0" smtClean="0">
                <a:solidFill>
                  <a:schemeClr val="bg1"/>
                </a:solidFill>
                <a:latin typeface="Arial" pitchFamily="34" charset="0"/>
                <a:cs typeface="Arial" pitchFamily="34" charset="0"/>
              </a:rPr>
              <a:t>Link </a:t>
            </a:r>
            <a:r>
              <a:rPr lang="pt-BR" sz="6600" b="1" dirty="0" err="1" smtClean="0">
                <a:solidFill>
                  <a:schemeClr val="bg1"/>
                </a:solidFill>
                <a:latin typeface="Arial" pitchFamily="34" charset="0"/>
                <a:cs typeface="Arial" pitchFamily="34" charset="0"/>
              </a:rPr>
              <a:t>Bait</a:t>
            </a:r>
            <a:endParaRPr lang="en-US" sz="5400" b="1" dirty="0">
              <a:solidFill>
                <a:schemeClr val="bg1"/>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a:bodyPr>
          <a:lstStyle/>
          <a:p>
            <a:endParaRPr lang="pt-BR" sz="3500" b="1" dirty="0" smtClean="0">
              <a:solidFill>
                <a:schemeClr val="bg1"/>
              </a:solidFill>
              <a:latin typeface="Arial" pitchFamily="34" charset="0"/>
              <a:cs typeface="Arial" pitchFamily="34" charset="0"/>
            </a:endParaRPr>
          </a:p>
          <a:p>
            <a:pPr>
              <a:buNone/>
            </a:pPr>
            <a:endParaRPr lang="pt-BR" sz="3500" b="1" dirty="0" smtClean="0">
              <a:solidFill>
                <a:schemeClr val="bg1"/>
              </a:solidFill>
              <a:latin typeface="Arial" pitchFamily="34" charset="0"/>
              <a:cs typeface="Arial" pitchFamily="34" charset="0"/>
            </a:endParaRPr>
          </a:p>
          <a:p>
            <a:pPr algn="ctr">
              <a:buNone/>
            </a:pPr>
            <a:r>
              <a:rPr lang="pt-BR" sz="3500" b="1" dirty="0" smtClean="0">
                <a:solidFill>
                  <a:srgbClr val="FF0066"/>
                </a:solidFill>
                <a:latin typeface="Arial" pitchFamily="34" charset="0"/>
                <a:cs typeface="Arial" pitchFamily="34" charset="0"/>
              </a:rPr>
              <a:t>Conteúdo</a:t>
            </a:r>
            <a:r>
              <a:rPr lang="pt-BR" sz="3500" b="1" dirty="0" smtClean="0">
                <a:solidFill>
                  <a:schemeClr val="bg1"/>
                </a:solidFill>
                <a:latin typeface="Arial" pitchFamily="34" charset="0"/>
                <a:cs typeface="Arial" pitchFamily="34" charset="0"/>
              </a:rPr>
              <a:t> que </a:t>
            </a:r>
            <a:r>
              <a:rPr lang="pt-BR" sz="3500" b="1" dirty="0" smtClean="0">
                <a:solidFill>
                  <a:srgbClr val="FF0066"/>
                </a:solidFill>
                <a:latin typeface="Arial" pitchFamily="34" charset="0"/>
                <a:cs typeface="Arial" pitchFamily="34" charset="0"/>
              </a:rPr>
              <a:t>atrai links</a:t>
            </a:r>
          </a:p>
          <a:p>
            <a:pPr marL="0" indent="0" algn="ctr">
              <a:buNone/>
            </a:pPr>
            <a:r>
              <a:rPr lang="pt-BR" sz="1400" dirty="0" smtClean="0">
                <a:solidFill>
                  <a:schemeClr val="bg1"/>
                </a:solidFill>
                <a:latin typeface="Arial" pitchFamily="34" charset="0"/>
                <a:cs typeface="Arial" pitchFamily="34" charset="0"/>
              </a:rPr>
              <a:t>(</a:t>
            </a:r>
            <a:r>
              <a:rPr lang="pt-BR" sz="2000" dirty="0" smtClean="0">
                <a:solidFill>
                  <a:schemeClr val="bg1"/>
                </a:solidFill>
                <a:latin typeface="Arial" pitchFamily="34" charset="0"/>
                <a:cs typeface="Arial" pitchFamily="34" charset="0"/>
              </a:rPr>
              <a:t>Os 10 mais, 7 Maneiras de, Como Funciona, Como Instalar, </a:t>
            </a:r>
          </a:p>
          <a:p>
            <a:pPr marL="0" indent="0" algn="ctr">
              <a:buNone/>
            </a:pPr>
            <a:r>
              <a:rPr lang="pt-BR" sz="2000" dirty="0" smtClean="0">
                <a:solidFill>
                  <a:schemeClr val="bg1"/>
                </a:solidFill>
                <a:latin typeface="Arial" pitchFamily="34" charset="0"/>
                <a:cs typeface="Arial" pitchFamily="34" charset="0"/>
              </a:rPr>
              <a:t>Os 5 piores, 20 dicas sobre, o que é, etc.)</a:t>
            </a:r>
          </a:p>
          <a:p>
            <a:pPr algn="ctr">
              <a:buNone/>
            </a:pPr>
            <a:r>
              <a:rPr lang="pt-BR" sz="1400" dirty="0" smtClean="0">
                <a:solidFill>
                  <a:schemeClr val="bg1"/>
                </a:solidFill>
                <a:latin typeface="Arial" pitchFamily="34" charset="0"/>
                <a:cs typeface="Arial" pitchFamily="34" charset="0"/>
                <a:hlinkClick r:id="rId2"/>
              </a:rPr>
              <a:t>http://www.searchcast.com.br/searchcast-24-20-tecnicas-de-link-baiting/</a:t>
            </a:r>
            <a:endParaRPr lang="pt-BR" sz="1400" dirty="0" smtClean="0">
              <a:solidFill>
                <a:schemeClr val="bg1"/>
              </a:solidFill>
              <a:latin typeface="Arial" pitchFamily="34" charset="0"/>
              <a:cs typeface="Arial" pitchFamily="34" charset="0"/>
            </a:endParaRPr>
          </a:p>
          <a:p>
            <a:pPr algn="ctr">
              <a:buNone/>
            </a:pPr>
            <a:r>
              <a:rPr lang="pt-BR" sz="3500" dirty="0" smtClean="0">
                <a:solidFill>
                  <a:schemeClr val="bg1"/>
                </a:solidFill>
                <a:latin typeface="Arial" pitchFamily="34" charset="0"/>
                <a:cs typeface="Arial" pitchFamily="34" charset="0"/>
              </a:rPr>
              <a:t> </a:t>
            </a:r>
          </a:p>
        </p:txBody>
      </p:sp>
      <p:pic>
        <p:nvPicPr>
          <p:cNvPr id="4098" name="Picture 2" descr="C:\Users\Brivin\Desktop\searchlabs\linkbait-03-03.png"/>
          <p:cNvPicPr>
            <a:picLocks noChangeAspect="1" noChangeArrowheads="1"/>
          </p:cNvPicPr>
          <p:nvPr/>
        </p:nvPicPr>
        <p:blipFill>
          <a:blip r:embed="rId3" cstate="print"/>
          <a:srcRect/>
          <a:stretch>
            <a:fillRect/>
          </a:stretch>
        </p:blipFill>
        <p:spPr bwMode="auto">
          <a:xfrm>
            <a:off x="7588572" y="980728"/>
            <a:ext cx="1231900" cy="48514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FC9FF"/>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197768"/>
            <a:ext cx="8229600" cy="1143000"/>
          </a:xfrm>
        </p:spPr>
        <p:txBody>
          <a:bodyPr>
            <a:noAutofit/>
          </a:bodyPr>
          <a:lstStyle/>
          <a:p>
            <a:pPr algn="r"/>
            <a:r>
              <a:rPr lang="pt-BR" sz="6600" b="1" dirty="0" smtClean="0">
                <a:solidFill>
                  <a:schemeClr val="bg1"/>
                </a:solidFill>
                <a:latin typeface="Arial" pitchFamily="34" charset="0"/>
                <a:cs typeface="Arial" pitchFamily="34" charset="0"/>
              </a:rPr>
              <a:t>Link </a:t>
            </a:r>
            <a:r>
              <a:rPr lang="pt-BR" sz="6600" b="1" dirty="0" err="1" smtClean="0">
                <a:solidFill>
                  <a:schemeClr val="bg1"/>
                </a:solidFill>
                <a:latin typeface="Arial" pitchFamily="34" charset="0"/>
                <a:cs typeface="Arial" pitchFamily="34" charset="0"/>
              </a:rPr>
              <a:t>Bait</a:t>
            </a:r>
            <a:endParaRPr lang="en-US" sz="5400" b="1" dirty="0">
              <a:solidFill>
                <a:schemeClr val="bg1"/>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a:bodyPr>
          <a:lstStyle/>
          <a:p>
            <a:pPr>
              <a:buNone/>
            </a:pPr>
            <a:r>
              <a:rPr lang="pt-BR" sz="3500" dirty="0" smtClean="0">
                <a:solidFill>
                  <a:schemeClr val="bg1"/>
                </a:solidFill>
                <a:latin typeface="Arial" pitchFamily="34" charset="0"/>
                <a:cs typeface="Arial" pitchFamily="34" charset="0"/>
              </a:rPr>
              <a:t> </a:t>
            </a:r>
          </a:p>
          <a:p>
            <a:pPr>
              <a:buNone/>
            </a:pPr>
            <a:r>
              <a:rPr lang="pt-BR" sz="3500" b="1" dirty="0" smtClean="0">
                <a:solidFill>
                  <a:srgbClr val="FF0066"/>
                </a:solidFill>
                <a:latin typeface="Arial" pitchFamily="34" charset="0"/>
                <a:cs typeface="Arial" pitchFamily="34" charset="0"/>
              </a:rPr>
              <a:t>Análise</a:t>
            </a:r>
            <a:r>
              <a:rPr lang="pt-BR" sz="3500" b="1" dirty="0" smtClean="0">
                <a:solidFill>
                  <a:schemeClr val="bg1"/>
                </a:solidFill>
                <a:latin typeface="Arial" pitchFamily="34" charset="0"/>
                <a:cs typeface="Arial" pitchFamily="34" charset="0"/>
              </a:rPr>
              <a:t> em </a:t>
            </a:r>
            <a:r>
              <a:rPr lang="pt-BR" sz="3500" b="1" dirty="0" smtClean="0">
                <a:solidFill>
                  <a:srgbClr val="FF0066"/>
                </a:solidFill>
                <a:latin typeface="Arial" pitchFamily="34" charset="0"/>
                <a:cs typeface="Arial" pitchFamily="34" charset="0"/>
              </a:rPr>
              <a:t>redes sociais </a:t>
            </a:r>
            <a:r>
              <a:rPr lang="pt-BR" sz="3500" b="1" dirty="0" smtClean="0">
                <a:solidFill>
                  <a:schemeClr val="bg1"/>
                </a:solidFill>
                <a:latin typeface="Arial" pitchFamily="34" charset="0"/>
                <a:cs typeface="Arial" pitchFamily="34" charset="0"/>
              </a:rPr>
              <a:t>populares</a:t>
            </a:r>
          </a:p>
          <a:p>
            <a:pPr>
              <a:buNone/>
            </a:pPr>
            <a:r>
              <a:rPr lang="pt-BR" sz="1900" dirty="0" smtClean="0">
                <a:solidFill>
                  <a:srgbClr val="AFEAFF"/>
                </a:solidFill>
                <a:latin typeface="Arial" pitchFamily="34" charset="0"/>
                <a:cs typeface="Arial" pitchFamily="34" charset="0"/>
              </a:rPr>
              <a:t>Exemplo: </a:t>
            </a:r>
          </a:p>
          <a:p>
            <a:pPr>
              <a:buNone/>
            </a:pPr>
            <a:r>
              <a:rPr lang="pt-BR" sz="2000" dirty="0" smtClean="0">
                <a:solidFill>
                  <a:srgbClr val="AFEAFF"/>
                </a:solidFill>
                <a:latin typeface="Arial" pitchFamily="34" charset="0"/>
                <a:cs typeface="Arial" pitchFamily="34" charset="0"/>
              </a:rPr>
              <a:t>Análise na rede social </a:t>
            </a:r>
            <a:r>
              <a:rPr lang="pt-BR" sz="2000" dirty="0" smtClean="0">
                <a:solidFill>
                  <a:srgbClr val="FF0066"/>
                </a:solidFill>
                <a:latin typeface="Arial" pitchFamily="34" charset="0"/>
                <a:cs typeface="Arial" pitchFamily="34" charset="0"/>
              </a:rPr>
              <a:t>Ocioso</a:t>
            </a:r>
            <a:r>
              <a:rPr lang="pt-BR" sz="2000" dirty="0" smtClean="0">
                <a:solidFill>
                  <a:srgbClr val="AFEAFF"/>
                </a:solidFill>
                <a:latin typeface="Arial" pitchFamily="34" charset="0"/>
                <a:cs typeface="Arial" pitchFamily="34" charset="0"/>
              </a:rPr>
              <a:t> no mês de Junho de 2010 </a:t>
            </a:r>
          </a:p>
          <a:p>
            <a:pPr>
              <a:buNone/>
            </a:pPr>
            <a:r>
              <a:rPr lang="pt-BR" sz="2000" dirty="0" smtClean="0">
                <a:solidFill>
                  <a:srgbClr val="AFEAFF"/>
                </a:solidFill>
                <a:latin typeface="Arial" pitchFamily="34" charset="0"/>
                <a:cs typeface="Arial" pitchFamily="34" charset="0"/>
              </a:rPr>
              <a:t>(Pesquisa Levantada pela empresa Mestre SEO)</a:t>
            </a:r>
            <a:endParaRPr lang="pt-BR" sz="3500" dirty="0" smtClean="0">
              <a:solidFill>
                <a:srgbClr val="AFEAFF"/>
              </a:solidFill>
              <a:latin typeface="Arial" pitchFamily="34" charset="0"/>
              <a:cs typeface="Arial" pitchFamily="34" charset="0"/>
            </a:endParaRPr>
          </a:p>
          <a:p>
            <a:pPr>
              <a:buNone/>
            </a:pPr>
            <a:r>
              <a:rPr lang="pt-BR" sz="2200" dirty="0" smtClean="0">
                <a:solidFill>
                  <a:srgbClr val="AFEAFF"/>
                </a:solidFill>
                <a:latin typeface="Arial" pitchFamily="34" charset="0"/>
                <a:cs typeface="Arial" pitchFamily="34" charset="0"/>
              </a:rPr>
              <a:t>Esses foram 2 dos 5 artigos mais acessados:</a:t>
            </a:r>
          </a:p>
          <a:p>
            <a:pPr>
              <a:buNone/>
            </a:pPr>
            <a:endParaRPr lang="pt-BR" sz="2200" dirty="0" smtClean="0">
              <a:solidFill>
                <a:srgbClr val="AFEAFF"/>
              </a:solidFill>
              <a:latin typeface="Arial" pitchFamily="34" charset="0"/>
              <a:cs typeface="Arial" pitchFamily="34" charset="0"/>
            </a:endParaRPr>
          </a:p>
          <a:p>
            <a:pPr>
              <a:buNone/>
            </a:pPr>
            <a:endParaRPr lang="pt-BR" sz="3500" dirty="0" smtClean="0">
              <a:solidFill>
                <a:srgbClr val="AFEAFF"/>
              </a:solidFill>
              <a:latin typeface="Arial" pitchFamily="34" charset="0"/>
              <a:cs typeface="Arial" pitchFamily="34" charset="0"/>
            </a:endParaRPr>
          </a:p>
          <a:p>
            <a:pPr>
              <a:buNone/>
            </a:pPr>
            <a:r>
              <a:rPr lang="pt-BR" sz="2000" dirty="0" smtClean="0">
                <a:solidFill>
                  <a:srgbClr val="FF0066"/>
                </a:solidFill>
                <a:latin typeface="Arial" pitchFamily="34" charset="0"/>
                <a:cs typeface="Arial" pitchFamily="34" charset="0"/>
              </a:rPr>
              <a:t># 11960 </a:t>
            </a:r>
            <a:r>
              <a:rPr lang="pt-BR" sz="2000" dirty="0" err="1" smtClean="0">
                <a:solidFill>
                  <a:srgbClr val="FF0066"/>
                </a:solidFill>
                <a:latin typeface="Arial" pitchFamily="34" charset="0"/>
                <a:cs typeface="Arial" pitchFamily="34" charset="0"/>
              </a:rPr>
              <a:t>Clicks</a:t>
            </a:r>
            <a:r>
              <a:rPr lang="pt-BR" sz="2000" dirty="0" smtClean="0">
                <a:solidFill>
                  <a:srgbClr val="FF0066"/>
                </a:solidFill>
                <a:latin typeface="Arial" pitchFamily="34" charset="0"/>
                <a:cs typeface="Arial" pitchFamily="34" charset="0"/>
              </a:rPr>
              <a:t>:</a:t>
            </a:r>
            <a:r>
              <a:rPr lang="pt-BR" sz="2000" dirty="0" smtClean="0">
                <a:solidFill>
                  <a:srgbClr val="AFEAFF"/>
                </a:solidFill>
                <a:latin typeface="Arial" pitchFamily="34" charset="0"/>
                <a:cs typeface="Arial" pitchFamily="34" charset="0"/>
              </a:rPr>
              <a:t> </a:t>
            </a:r>
            <a:r>
              <a:rPr lang="pt-BR" sz="1900" b="1" dirty="0" smtClean="0">
                <a:solidFill>
                  <a:srgbClr val="AFEAFF"/>
                </a:solidFill>
                <a:latin typeface="Arial" pitchFamily="34" charset="0"/>
                <a:cs typeface="Arial" pitchFamily="34" charset="0"/>
              </a:rPr>
              <a:t>As 10 Transformações Físicas Mais Radicais do Cinema</a:t>
            </a:r>
          </a:p>
          <a:p>
            <a:pPr>
              <a:buNone/>
            </a:pPr>
            <a:r>
              <a:rPr lang="pt-BR" sz="2000" dirty="0" smtClean="0">
                <a:solidFill>
                  <a:srgbClr val="FF0066"/>
                </a:solidFill>
                <a:latin typeface="Arial" pitchFamily="34" charset="0"/>
                <a:cs typeface="Arial" pitchFamily="34" charset="0"/>
              </a:rPr>
              <a:t># 9829 </a:t>
            </a:r>
            <a:r>
              <a:rPr lang="pt-BR" sz="2000" dirty="0" err="1" smtClean="0">
                <a:solidFill>
                  <a:srgbClr val="FF0066"/>
                </a:solidFill>
                <a:latin typeface="Arial" pitchFamily="34" charset="0"/>
                <a:cs typeface="Arial" pitchFamily="34" charset="0"/>
              </a:rPr>
              <a:t>Clicks</a:t>
            </a:r>
            <a:r>
              <a:rPr lang="pt-BR" sz="2000" dirty="0" smtClean="0">
                <a:solidFill>
                  <a:srgbClr val="FF0066"/>
                </a:solidFill>
                <a:latin typeface="Arial" pitchFamily="34" charset="0"/>
                <a:cs typeface="Arial" pitchFamily="34" charset="0"/>
              </a:rPr>
              <a:t> :</a:t>
            </a:r>
            <a:r>
              <a:rPr lang="pt-BR" sz="1900" b="1" dirty="0" smtClean="0">
                <a:solidFill>
                  <a:srgbClr val="AFEAFF"/>
                </a:solidFill>
                <a:latin typeface="Arial" pitchFamily="34" charset="0"/>
                <a:cs typeface="Arial" pitchFamily="34" charset="0"/>
              </a:rPr>
              <a:t>10 coisas que um homem nunca deve fazer</a:t>
            </a:r>
            <a:endParaRPr lang="en-US" sz="1900" b="1" dirty="0">
              <a:solidFill>
                <a:srgbClr val="AFEAFF"/>
              </a:solidFill>
              <a:latin typeface="Arial" pitchFamily="34" charset="0"/>
              <a:cs typeface="Arial" pitchFamily="34" charset="0"/>
            </a:endParaRPr>
          </a:p>
        </p:txBody>
      </p:sp>
      <p:pic>
        <p:nvPicPr>
          <p:cNvPr id="3076" name="Picture 4" descr="C:\Users\Brivin\Desktop\searchlabs\linkbait-03-03.png"/>
          <p:cNvPicPr>
            <a:picLocks noChangeAspect="1" noChangeArrowheads="1"/>
          </p:cNvPicPr>
          <p:nvPr/>
        </p:nvPicPr>
        <p:blipFill>
          <a:blip r:embed="rId2" cstate="print"/>
          <a:srcRect/>
          <a:stretch>
            <a:fillRect/>
          </a:stretch>
        </p:blipFill>
        <p:spPr bwMode="auto">
          <a:xfrm>
            <a:off x="7437348" y="980728"/>
            <a:ext cx="1383124" cy="432048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FC9FF"/>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197768"/>
            <a:ext cx="8229600" cy="1143000"/>
          </a:xfrm>
        </p:spPr>
        <p:txBody>
          <a:bodyPr>
            <a:noAutofit/>
          </a:bodyPr>
          <a:lstStyle/>
          <a:p>
            <a:pPr algn="r"/>
            <a:r>
              <a:rPr lang="pt-BR" sz="6600" b="1" dirty="0" smtClean="0">
                <a:solidFill>
                  <a:schemeClr val="bg1"/>
                </a:solidFill>
                <a:latin typeface="Arial" pitchFamily="34" charset="0"/>
                <a:cs typeface="Arial" pitchFamily="34" charset="0"/>
              </a:rPr>
              <a:t>Link </a:t>
            </a:r>
            <a:r>
              <a:rPr lang="pt-BR" sz="6600" b="1" dirty="0" err="1" smtClean="0">
                <a:solidFill>
                  <a:schemeClr val="bg1"/>
                </a:solidFill>
                <a:latin typeface="Arial" pitchFamily="34" charset="0"/>
                <a:cs typeface="Arial" pitchFamily="34" charset="0"/>
              </a:rPr>
              <a:t>Bait</a:t>
            </a:r>
            <a:endParaRPr lang="en-US" sz="5400" b="1" dirty="0">
              <a:solidFill>
                <a:schemeClr val="bg1"/>
              </a:solidFill>
              <a:latin typeface="Arial" pitchFamily="34" charset="0"/>
              <a:cs typeface="Arial" pitchFamily="34" charset="0"/>
            </a:endParaRPr>
          </a:p>
        </p:txBody>
      </p:sp>
      <p:pic>
        <p:nvPicPr>
          <p:cNvPr id="3076" name="Picture 4" descr="C:\Users\Brivin\Desktop\searchlabs\linkbait-03-03.png"/>
          <p:cNvPicPr>
            <a:picLocks noChangeAspect="1" noChangeArrowheads="1"/>
          </p:cNvPicPr>
          <p:nvPr/>
        </p:nvPicPr>
        <p:blipFill>
          <a:blip r:embed="rId2" cstate="print"/>
          <a:srcRect/>
          <a:stretch>
            <a:fillRect/>
          </a:stretch>
        </p:blipFill>
        <p:spPr bwMode="auto">
          <a:xfrm>
            <a:off x="7437348" y="980728"/>
            <a:ext cx="1383124" cy="4320480"/>
          </a:xfrm>
          <a:prstGeom prst="rect">
            <a:avLst/>
          </a:prstGeom>
          <a:noFill/>
        </p:spPr>
      </p:pic>
      <p:sp>
        <p:nvSpPr>
          <p:cNvPr id="6" name="Espaço Reservado para Conteúdo 2"/>
          <p:cNvSpPr>
            <a:spLocks noGrp="1"/>
          </p:cNvSpPr>
          <p:nvPr>
            <p:ph idx="1"/>
          </p:nvPr>
        </p:nvSpPr>
        <p:spPr>
          <a:xfrm>
            <a:off x="251520" y="1600200"/>
            <a:ext cx="8640960" cy="5069160"/>
          </a:xfrm>
        </p:spPr>
        <p:txBody>
          <a:bodyPr>
            <a:normAutofit fontScale="92500" lnSpcReduction="10000"/>
          </a:bodyPr>
          <a:lstStyle/>
          <a:p>
            <a:pPr>
              <a:buNone/>
            </a:pPr>
            <a:endParaRPr lang="pt-BR" sz="3500" b="1" dirty="0" smtClean="0">
              <a:solidFill>
                <a:schemeClr val="bg1"/>
              </a:solidFill>
              <a:latin typeface="Arial" pitchFamily="34" charset="0"/>
              <a:cs typeface="Arial" pitchFamily="34" charset="0"/>
            </a:endParaRPr>
          </a:p>
          <a:p>
            <a:pPr>
              <a:buNone/>
            </a:pPr>
            <a:r>
              <a:rPr lang="pt-BR" sz="3500" b="1" dirty="0" smtClean="0">
                <a:solidFill>
                  <a:schemeClr val="bg1"/>
                </a:solidFill>
                <a:latin typeface="Arial" pitchFamily="34" charset="0"/>
                <a:cs typeface="Arial" pitchFamily="34" charset="0"/>
              </a:rPr>
              <a:t>Quais são as </a:t>
            </a:r>
            <a:r>
              <a:rPr lang="pt-BR" sz="3500" b="1" dirty="0" smtClean="0">
                <a:solidFill>
                  <a:srgbClr val="FF0066"/>
                </a:solidFill>
                <a:latin typeface="Arial" pitchFamily="34" charset="0"/>
                <a:cs typeface="Arial" pitchFamily="34" charset="0"/>
              </a:rPr>
              <a:t>dúvidas</a:t>
            </a:r>
            <a:r>
              <a:rPr lang="pt-BR" sz="3500" b="1" dirty="0" smtClean="0">
                <a:solidFill>
                  <a:schemeClr val="bg1"/>
                </a:solidFill>
                <a:latin typeface="Arial" pitchFamily="34" charset="0"/>
                <a:cs typeface="Arial" pitchFamily="34" charset="0"/>
              </a:rPr>
              <a:t> das pessoas </a:t>
            </a:r>
          </a:p>
          <a:p>
            <a:pPr>
              <a:buNone/>
            </a:pPr>
            <a:r>
              <a:rPr lang="pt-BR" sz="3500" b="1" dirty="0" smtClean="0">
                <a:solidFill>
                  <a:schemeClr val="bg1"/>
                </a:solidFill>
                <a:latin typeface="Arial" pitchFamily="34" charset="0"/>
                <a:cs typeface="Arial" pitchFamily="34" charset="0"/>
              </a:rPr>
              <a:t>no </a:t>
            </a:r>
            <a:r>
              <a:rPr lang="pt-BR" sz="3500" b="1" dirty="0" smtClean="0">
                <a:solidFill>
                  <a:srgbClr val="FF0066"/>
                </a:solidFill>
                <a:latin typeface="Arial" pitchFamily="34" charset="0"/>
                <a:cs typeface="Arial" pitchFamily="34" charset="0"/>
              </a:rPr>
              <a:t>seu</a:t>
            </a:r>
            <a:r>
              <a:rPr lang="pt-BR" sz="3500" b="1" dirty="0" smtClean="0">
                <a:solidFill>
                  <a:schemeClr val="bg1"/>
                </a:solidFill>
                <a:latin typeface="Arial" pitchFamily="34" charset="0"/>
                <a:cs typeface="Arial" pitchFamily="34" charset="0"/>
              </a:rPr>
              <a:t> Mercado?</a:t>
            </a:r>
          </a:p>
          <a:p>
            <a:pPr>
              <a:buNone/>
            </a:pPr>
            <a:endParaRPr lang="pt-BR" sz="3500" dirty="0" smtClean="0">
              <a:latin typeface="Arial" pitchFamily="34" charset="0"/>
              <a:cs typeface="Arial" pitchFamily="34" charset="0"/>
            </a:endParaRPr>
          </a:p>
          <a:p>
            <a:r>
              <a:rPr lang="pt-BR" sz="3500" dirty="0" smtClean="0">
                <a:solidFill>
                  <a:srgbClr val="FF0066"/>
                </a:solidFill>
                <a:latin typeface="Arial" pitchFamily="34" charset="0"/>
                <a:cs typeface="Arial" pitchFamily="34" charset="0"/>
              </a:rPr>
              <a:t>Yahoo! Respostas</a:t>
            </a:r>
          </a:p>
          <a:p>
            <a:r>
              <a:rPr lang="pt-BR" sz="3500" dirty="0" smtClean="0">
                <a:solidFill>
                  <a:srgbClr val="FF0066"/>
                </a:solidFill>
                <a:latin typeface="Arial" pitchFamily="34" charset="0"/>
                <a:cs typeface="Arial" pitchFamily="34" charset="0"/>
              </a:rPr>
              <a:t>Orkut</a:t>
            </a:r>
          </a:p>
          <a:p>
            <a:r>
              <a:rPr lang="pt-BR" sz="3500" dirty="0" err="1" smtClean="0">
                <a:solidFill>
                  <a:srgbClr val="FF0066"/>
                </a:solidFill>
                <a:latin typeface="Arial" pitchFamily="34" charset="0"/>
                <a:cs typeface="Arial" pitchFamily="34" charset="0"/>
              </a:rPr>
              <a:t>Twitter</a:t>
            </a:r>
            <a:endParaRPr lang="pt-BR" sz="3500" dirty="0" smtClean="0">
              <a:solidFill>
                <a:srgbClr val="FF0066"/>
              </a:solidFill>
              <a:latin typeface="Arial" pitchFamily="34" charset="0"/>
              <a:cs typeface="Arial" pitchFamily="34" charset="0"/>
            </a:endParaRPr>
          </a:p>
          <a:p>
            <a:r>
              <a:rPr lang="pt-BR" sz="3500" dirty="0" smtClean="0">
                <a:solidFill>
                  <a:srgbClr val="FF0066"/>
                </a:solidFill>
                <a:latin typeface="Arial" pitchFamily="34" charset="0"/>
                <a:cs typeface="Arial" pitchFamily="34" charset="0"/>
              </a:rPr>
              <a:t>Fóruns</a:t>
            </a:r>
          </a:p>
          <a:p>
            <a:r>
              <a:rPr lang="pt-BR" sz="3500" dirty="0" smtClean="0">
                <a:solidFill>
                  <a:srgbClr val="FF0066"/>
                </a:solidFill>
                <a:latin typeface="Arial" pitchFamily="34" charset="0"/>
                <a:cs typeface="Arial" pitchFamily="34" charset="0"/>
              </a:rPr>
              <a:t>World </a:t>
            </a:r>
            <a:r>
              <a:rPr lang="pt-BR" sz="3500" dirty="0" err="1" smtClean="0">
                <a:solidFill>
                  <a:srgbClr val="FF0066"/>
                </a:solidFill>
                <a:latin typeface="Arial" pitchFamily="34" charset="0"/>
                <a:cs typeface="Arial" pitchFamily="34" charset="0"/>
              </a:rPr>
              <a:t>Tracker</a:t>
            </a:r>
            <a:r>
              <a:rPr lang="pt-BR" sz="3500" dirty="0" smtClean="0">
                <a:solidFill>
                  <a:srgbClr val="FF0066"/>
                </a:solidFill>
                <a:latin typeface="Arial" pitchFamily="34" charset="0"/>
                <a:cs typeface="Arial" pitchFamily="34" charset="0"/>
              </a:rPr>
              <a:t> </a:t>
            </a:r>
            <a:r>
              <a:rPr lang="pt-BR" sz="3500" dirty="0" err="1" smtClean="0">
                <a:solidFill>
                  <a:srgbClr val="FF0066"/>
                </a:solidFill>
                <a:latin typeface="Arial" pitchFamily="34" charset="0"/>
                <a:cs typeface="Arial" pitchFamily="34" charset="0"/>
              </a:rPr>
              <a:t>Labs</a:t>
            </a:r>
            <a:r>
              <a:rPr lang="pt-BR" sz="3500" dirty="0" smtClean="0">
                <a:solidFill>
                  <a:srgbClr val="FF0066"/>
                </a:solidFill>
                <a:latin typeface="Arial" pitchFamily="34" charset="0"/>
                <a:cs typeface="Arial" pitchFamily="34" charset="0"/>
              </a:rPr>
              <a:t> </a:t>
            </a:r>
            <a:endParaRPr lang="en-US" sz="1900" b="1" dirty="0">
              <a:solidFill>
                <a:srgbClr val="FF0066"/>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FC9FF"/>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251520" y="44624"/>
            <a:ext cx="8589640" cy="1143000"/>
          </a:xfrm>
        </p:spPr>
        <p:txBody>
          <a:bodyPr>
            <a:noAutofit/>
          </a:bodyPr>
          <a:lstStyle/>
          <a:p>
            <a:r>
              <a:rPr lang="pt-BR" sz="3600" b="1" dirty="0" smtClean="0">
                <a:solidFill>
                  <a:schemeClr val="bg1"/>
                </a:solidFill>
                <a:latin typeface="Arial" pitchFamily="34" charset="0"/>
                <a:cs typeface="Arial" pitchFamily="34" charset="0"/>
              </a:rPr>
              <a:t>WORLD TRACKER LABS</a:t>
            </a:r>
            <a:endParaRPr lang="en-US" sz="3600" b="1" dirty="0">
              <a:solidFill>
                <a:schemeClr val="bg1"/>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a:bodyPr>
          <a:lstStyle/>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r">
              <a:buNone/>
            </a:pPr>
            <a:endParaRPr lang="pt-BR" sz="1000" dirty="0" smtClean="0">
              <a:latin typeface="Arial" pitchFamily="34" charset="0"/>
              <a:cs typeface="Arial" pitchFamily="34" charset="0"/>
              <a:hlinkClick r:id="rId2"/>
            </a:endParaRPr>
          </a:p>
          <a:p>
            <a:pPr algn="ctr">
              <a:buNone/>
            </a:pPr>
            <a:r>
              <a:rPr lang="pt-BR" sz="1000" dirty="0" smtClean="0">
                <a:latin typeface="Arial" pitchFamily="34" charset="0"/>
                <a:cs typeface="Arial" pitchFamily="34" charset="0"/>
                <a:hlinkClick r:id="rId2"/>
              </a:rPr>
              <a:t>http://labs.wordtracker.com/keyword-questions/</a:t>
            </a:r>
            <a:endParaRPr lang="en-US" sz="1000" b="1" dirty="0">
              <a:latin typeface="Arial" pitchFamily="34" charset="0"/>
              <a:cs typeface="Arial" pitchFamily="34" charset="0"/>
            </a:endParaRPr>
          </a:p>
        </p:txBody>
      </p:sp>
      <p:pic>
        <p:nvPicPr>
          <p:cNvPr id="5" name="Picture 4" descr="C:\Users\Brivin\Desktop\searchlabs\linkbait-03-03.png"/>
          <p:cNvPicPr>
            <a:picLocks noChangeAspect="1" noChangeArrowheads="1"/>
          </p:cNvPicPr>
          <p:nvPr/>
        </p:nvPicPr>
        <p:blipFill>
          <a:blip r:embed="rId3" cstate="print"/>
          <a:srcRect/>
          <a:stretch>
            <a:fillRect/>
          </a:stretch>
        </p:blipFill>
        <p:spPr bwMode="auto">
          <a:xfrm>
            <a:off x="179512" y="2348880"/>
            <a:ext cx="1383124" cy="4320480"/>
          </a:xfrm>
          <a:prstGeom prst="rect">
            <a:avLst/>
          </a:prstGeom>
          <a:noFill/>
        </p:spPr>
      </p:pic>
      <p:pic>
        <p:nvPicPr>
          <p:cNvPr id="1026" name="Picture 2" descr="C:\Users\Brivin\Desktop\searchlabs\slide6.jpg"/>
          <p:cNvPicPr>
            <a:picLocks noChangeAspect="1" noChangeArrowheads="1"/>
          </p:cNvPicPr>
          <p:nvPr/>
        </p:nvPicPr>
        <p:blipFill>
          <a:blip r:embed="rId4" cstate="print"/>
          <a:srcRect/>
          <a:stretch>
            <a:fillRect/>
          </a:stretch>
        </p:blipFill>
        <p:spPr bwMode="auto">
          <a:xfrm>
            <a:off x="1331640" y="1268760"/>
            <a:ext cx="6486525" cy="5019675"/>
          </a:xfrm>
          <a:prstGeom prst="rect">
            <a:avLst/>
          </a:prstGeom>
        </p:spPr>
        <p:style>
          <a:lnRef idx="3">
            <a:schemeClr val="lt1"/>
          </a:lnRef>
          <a:fillRef idx="1">
            <a:schemeClr val="accent1"/>
          </a:fillRef>
          <a:effectRef idx="1">
            <a:schemeClr val="accent1"/>
          </a:effectRef>
          <a:fontRef idx="minor">
            <a:schemeClr val="lt1"/>
          </a:fontRef>
        </p:style>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31765"/>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13792"/>
            <a:ext cx="8229600" cy="1143000"/>
          </a:xfrm>
        </p:spPr>
        <p:txBody>
          <a:bodyPr>
            <a:noAutofit/>
          </a:bodyPr>
          <a:lstStyle/>
          <a:p>
            <a:pPr algn="r"/>
            <a:r>
              <a:rPr lang="pt-BR" sz="6600" b="1" dirty="0" smtClean="0">
                <a:solidFill>
                  <a:schemeClr val="bg1"/>
                </a:solidFill>
                <a:latin typeface="Arial" pitchFamily="34" charset="0"/>
                <a:cs typeface="Arial" pitchFamily="34" charset="0"/>
              </a:rPr>
              <a:t>Link </a:t>
            </a:r>
            <a:r>
              <a:rPr lang="pt-BR" sz="6600" b="1" dirty="0" err="1" smtClean="0">
                <a:solidFill>
                  <a:schemeClr val="bg1"/>
                </a:solidFill>
                <a:latin typeface="Arial" pitchFamily="34" charset="0"/>
                <a:cs typeface="Arial" pitchFamily="34" charset="0"/>
              </a:rPr>
              <a:t>Building</a:t>
            </a:r>
            <a:r>
              <a:rPr lang="pt-BR" sz="6600" b="1" dirty="0" smtClean="0">
                <a:solidFill>
                  <a:schemeClr val="bg1"/>
                </a:solidFill>
                <a:latin typeface="Arial" pitchFamily="34" charset="0"/>
                <a:cs typeface="Arial" pitchFamily="34" charset="0"/>
              </a:rPr>
              <a:t>: </a:t>
            </a:r>
            <a:br>
              <a:rPr lang="pt-BR" sz="6600" b="1" dirty="0" smtClean="0">
                <a:solidFill>
                  <a:schemeClr val="bg1"/>
                </a:solidFill>
                <a:latin typeface="Arial" pitchFamily="34" charset="0"/>
                <a:cs typeface="Arial" pitchFamily="34" charset="0"/>
              </a:rPr>
            </a:br>
            <a:r>
              <a:rPr lang="pt-BR" sz="3600" dirty="0" smtClean="0">
                <a:solidFill>
                  <a:srgbClr val="FFCC00"/>
                </a:solidFill>
                <a:latin typeface="Arial" pitchFamily="34" charset="0"/>
                <a:cs typeface="Arial" pitchFamily="34" charset="0"/>
              </a:rPr>
              <a:t>Por onde começar?</a:t>
            </a:r>
            <a:endParaRPr lang="en-US" sz="3600" dirty="0">
              <a:solidFill>
                <a:srgbClr val="FFCC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7500" lnSpcReduction="20000"/>
          </a:bodyPr>
          <a:lstStyle/>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lgn="ctr">
              <a:buNone/>
            </a:pPr>
            <a:r>
              <a:rPr lang="pt-BR" sz="4700" b="1" dirty="0" smtClean="0">
                <a:solidFill>
                  <a:srgbClr val="FFCC00"/>
                </a:solidFill>
                <a:latin typeface="Arial" pitchFamily="34" charset="0"/>
                <a:cs typeface="Arial" pitchFamily="34" charset="0"/>
              </a:rPr>
              <a:t>Comece Analisando seus Concorrentes</a:t>
            </a:r>
          </a:p>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buNone/>
            </a:pPr>
            <a:endParaRPr lang="pt-BR" sz="3500" dirty="0" smtClean="0">
              <a:solidFill>
                <a:srgbClr val="7030A0"/>
              </a:solidFill>
              <a:latin typeface="Arial" pitchFamily="34" charset="0"/>
              <a:cs typeface="Arial" pitchFamily="34" charset="0"/>
            </a:endParaRPr>
          </a:p>
          <a:p>
            <a:r>
              <a:rPr lang="pt-BR" sz="3400" b="1" dirty="0" smtClean="0">
                <a:solidFill>
                  <a:srgbClr val="FFCC00"/>
                </a:solidFill>
                <a:latin typeface="Arial" pitchFamily="34" charset="0"/>
                <a:cs typeface="Arial" pitchFamily="34" charset="0"/>
              </a:rPr>
              <a:t>Quem</a:t>
            </a:r>
            <a:r>
              <a:rPr lang="pt-BR" sz="3400" dirty="0" smtClean="0">
                <a:solidFill>
                  <a:schemeClr val="bg1"/>
                </a:solidFill>
                <a:latin typeface="Arial" pitchFamily="34" charset="0"/>
                <a:cs typeface="Arial" pitchFamily="34" charset="0"/>
              </a:rPr>
              <a:t> </a:t>
            </a:r>
            <a:r>
              <a:rPr lang="pt-BR" sz="3400" dirty="0" err="1" smtClean="0">
                <a:solidFill>
                  <a:schemeClr val="bg1"/>
                </a:solidFill>
                <a:latin typeface="Arial" pitchFamily="34" charset="0"/>
                <a:cs typeface="Arial" pitchFamily="34" charset="0"/>
              </a:rPr>
              <a:t>Linka</a:t>
            </a:r>
            <a:r>
              <a:rPr lang="pt-BR" sz="3400" dirty="0" smtClean="0">
                <a:solidFill>
                  <a:schemeClr val="bg1"/>
                </a:solidFill>
                <a:latin typeface="Arial" pitchFamily="34" charset="0"/>
                <a:cs typeface="Arial" pitchFamily="34" charset="0"/>
              </a:rPr>
              <a:t> pra Eles?</a:t>
            </a:r>
          </a:p>
          <a:p>
            <a:r>
              <a:rPr lang="pt-BR" sz="3400" b="1" dirty="0" smtClean="0">
                <a:solidFill>
                  <a:srgbClr val="FFCC00"/>
                </a:solidFill>
                <a:latin typeface="Arial" pitchFamily="34" charset="0"/>
                <a:cs typeface="Arial" pitchFamily="34" charset="0"/>
              </a:rPr>
              <a:t>Quais</a:t>
            </a:r>
            <a:r>
              <a:rPr lang="pt-BR" sz="3400" dirty="0" smtClean="0">
                <a:solidFill>
                  <a:schemeClr val="bg1"/>
                </a:solidFill>
                <a:latin typeface="Arial" pitchFamily="34" charset="0"/>
                <a:cs typeface="Arial" pitchFamily="34" charset="0"/>
              </a:rPr>
              <a:t> textos </a:t>
            </a:r>
            <a:r>
              <a:rPr lang="pt-BR" sz="3400" b="1" dirty="0" smtClean="0">
                <a:solidFill>
                  <a:srgbClr val="FFCC00"/>
                </a:solidFill>
                <a:latin typeface="Arial" pitchFamily="34" charset="0"/>
                <a:cs typeface="Arial" pitchFamily="34" charset="0"/>
              </a:rPr>
              <a:t>âncora</a:t>
            </a:r>
            <a:r>
              <a:rPr lang="pt-BR" sz="3400" dirty="0" smtClean="0">
                <a:solidFill>
                  <a:schemeClr val="bg1"/>
                </a:solidFill>
                <a:latin typeface="Arial" pitchFamily="34" charset="0"/>
                <a:cs typeface="Arial" pitchFamily="34" charset="0"/>
              </a:rPr>
              <a:t> eles focam?</a:t>
            </a:r>
          </a:p>
          <a:p>
            <a:r>
              <a:rPr lang="pt-BR" sz="3400" dirty="0" smtClean="0">
                <a:solidFill>
                  <a:schemeClr val="bg1"/>
                </a:solidFill>
                <a:latin typeface="Arial" pitchFamily="34" charset="0"/>
                <a:cs typeface="Arial" pitchFamily="34" charset="0"/>
              </a:rPr>
              <a:t>Que </a:t>
            </a:r>
            <a:r>
              <a:rPr lang="pt-BR" sz="3400" b="1" dirty="0" smtClean="0">
                <a:solidFill>
                  <a:srgbClr val="FFCC00"/>
                </a:solidFill>
                <a:latin typeface="Arial" pitchFamily="34" charset="0"/>
                <a:cs typeface="Arial" pitchFamily="34" charset="0"/>
              </a:rPr>
              <a:t>links</a:t>
            </a:r>
            <a:r>
              <a:rPr lang="pt-BR" sz="3400" dirty="0" smtClean="0">
                <a:solidFill>
                  <a:schemeClr val="bg1"/>
                </a:solidFill>
                <a:latin typeface="Arial" pitchFamily="34" charset="0"/>
                <a:cs typeface="Arial" pitchFamily="34" charset="0"/>
              </a:rPr>
              <a:t> conseguirei facilmente?</a:t>
            </a:r>
            <a:endParaRPr lang="en-US" sz="3400" b="1" dirty="0">
              <a:solidFill>
                <a:schemeClr val="bg1"/>
              </a:solidFill>
              <a:latin typeface="Arial" pitchFamily="34" charset="0"/>
              <a:cs typeface="Arial" pitchFamily="34" charset="0"/>
            </a:endParaRPr>
          </a:p>
        </p:txBody>
      </p:sp>
      <p:pic>
        <p:nvPicPr>
          <p:cNvPr id="2050" name="Picture 2" descr="C:\Users\hp\Desktop\searchlabs\link-cinza copy.png"/>
          <p:cNvPicPr>
            <a:picLocks noChangeAspect="1" noChangeArrowheads="1"/>
          </p:cNvPicPr>
          <p:nvPr/>
        </p:nvPicPr>
        <p:blipFill>
          <a:blip r:embed="rId2" cstate="print"/>
          <a:srcRect/>
          <a:stretch>
            <a:fillRect/>
          </a:stretch>
        </p:blipFill>
        <p:spPr bwMode="auto">
          <a:xfrm rot="18900000">
            <a:off x="6139428" y="5406400"/>
            <a:ext cx="3911600" cy="787400"/>
          </a:xfrm>
          <a:prstGeom prst="rect">
            <a:avLst/>
          </a:prstGeom>
          <a:noFill/>
        </p:spPr>
      </p:pic>
      <p:pic>
        <p:nvPicPr>
          <p:cNvPr id="5" name="Picture 2" descr="C:\Users\hp\Desktop\searchlabs\link-cinza copy.png"/>
          <p:cNvPicPr>
            <a:picLocks noChangeAspect="1" noChangeArrowheads="1"/>
          </p:cNvPicPr>
          <p:nvPr/>
        </p:nvPicPr>
        <p:blipFill>
          <a:blip r:embed="rId2" cstate="print"/>
          <a:srcRect/>
          <a:stretch>
            <a:fillRect/>
          </a:stretch>
        </p:blipFill>
        <p:spPr bwMode="auto">
          <a:xfrm rot="18900000">
            <a:off x="-979036" y="880223"/>
            <a:ext cx="3911600" cy="7874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31765"/>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548680"/>
            <a:ext cx="8229600" cy="1143000"/>
          </a:xfrm>
        </p:spPr>
        <p:txBody>
          <a:bodyPr>
            <a:noAutofit/>
          </a:bodyPr>
          <a:lstStyle/>
          <a:p>
            <a:pPr algn="r"/>
            <a:r>
              <a:rPr lang="pt-BR" sz="6000" b="1" dirty="0" smtClean="0">
                <a:solidFill>
                  <a:schemeClr val="bg1"/>
                </a:solidFill>
                <a:latin typeface="Arial" pitchFamily="34" charset="0"/>
                <a:cs typeface="Arial" pitchFamily="34" charset="0"/>
              </a:rPr>
              <a:t>Ferramentas de </a:t>
            </a:r>
            <a:r>
              <a:rPr lang="pt-BR" sz="4800" b="1" dirty="0" smtClean="0">
                <a:solidFill>
                  <a:srgbClr val="FFCC00"/>
                </a:solidFill>
                <a:latin typeface="Arial" pitchFamily="34" charset="0"/>
                <a:cs typeface="Arial" pitchFamily="34" charset="0"/>
              </a:rPr>
              <a:t>Análise de </a:t>
            </a:r>
            <a:r>
              <a:rPr lang="pt-BR" sz="4800" b="1" dirty="0" err="1" smtClean="0">
                <a:solidFill>
                  <a:srgbClr val="FFCC00"/>
                </a:solidFill>
                <a:latin typeface="Arial" pitchFamily="34" charset="0"/>
                <a:cs typeface="Arial" pitchFamily="34" charset="0"/>
              </a:rPr>
              <a:t>BackLinks</a:t>
            </a:r>
            <a:endParaRPr lang="en-US" sz="4800" b="1" dirty="0">
              <a:solidFill>
                <a:srgbClr val="FFCC00"/>
              </a:solidFill>
              <a:latin typeface="Arial" pitchFamily="34" charset="0"/>
              <a:cs typeface="Arial" pitchFamily="34" charset="0"/>
            </a:endParaRPr>
          </a:p>
        </p:txBody>
      </p:sp>
      <p:sp>
        <p:nvSpPr>
          <p:cNvPr id="10" name="Retângulo 9"/>
          <p:cNvSpPr/>
          <p:nvPr/>
        </p:nvSpPr>
        <p:spPr>
          <a:xfrm>
            <a:off x="504056" y="3601616"/>
            <a:ext cx="6660232" cy="2708920"/>
          </a:xfrm>
          <a:prstGeom prst="rect">
            <a:avLst/>
          </a:prstGeom>
          <a:solidFill>
            <a:schemeClr val="bg1"/>
          </a:solidFill>
          <a:ln/>
        </p:spPr>
        <p:style>
          <a:lnRef idx="3">
            <a:schemeClr val="lt1"/>
          </a:lnRef>
          <a:fillRef idx="1">
            <a:schemeClr val="dk1"/>
          </a:fillRef>
          <a:effectRef idx="1">
            <a:schemeClr val="dk1"/>
          </a:effectRef>
          <a:fontRef idx="minor">
            <a:schemeClr val="lt1"/>
          </a:fontRef>
        </p:style>
        <p:txBody>
          <a:bodyPr rtlCol="0" anchor="ctr"/>
          <a:lstStyle/>
          <a:p>
            <a:pPr algn="ctr"/>
            <a:endParaRPr lang="en-US" dirty="0"/>
          </a:p>
        </p:txBody>
      </p:sp>
      <p:sp>
        <p:nvSpPr>
          <p:cNvPr id="9" name="Espaço Reservado para Conteúdo 2"/>
          <p:cNvSpPr>
            <a:spLocks noGrp="1"/>
          </p:cNvSpPr>
          <p:nvPr>
            <p:ph idx="1"/>
          </p:nvPr>
        </p:nvSpPr>
        <p:spPr>
          <a:xfrm>
            <a:off x="755576" y="1052736"/>
            <a:ext cx="8640960" cy="5069160"/>
          </a:xfrm>
        </p:spPr>
        <p:txBody>
          <a:bodyPr>
            <a:normAutofit fontScale="62500" lnSpcReduction="20000"/>
          </a:bodyPr>
          <a:lstStyle/>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buNone/>
            </a:pPr>
            <a:endParaRPr lang="pt-BR" sz="3500" dirty="0" smtClean="0">
              <a:latin typeface="Arial" pitchFamily="34" charset="0"/>
              <a:cs typeface="Arial" pitchFamily="34" charset="0"/>
            </a:endParaRPr>
          </a:p>
          <a:p>
            <a:pPr>
              <a:buNone/>
            </a:pPr>
            <a:endParaRPr lang="it-IT" sz="3500" dirty="0" smtClean="0">
              <a:solidFill>
                <a:schemeClr val="bg1"/>
              </a:solidFill>
              <a:latin typeface="Arial" pitchFamily="34" charset="0"/>
              <a:cs typeface="Arial" pitchFamily="34" charset="0"/>
              <a:hlinkClick r:id="rId2"/>
            </a:endParaRPr>
          </a:p>
          <a:p>
            <a:pPr>
              <a:buNone/>
            </a:pPr>
            <a:r>
              <a:rPr lang="it-IT" sz="3500" dirty="0" smtClean="0">
                <a:solidFill>
                  <a:schemeClr val="bg1"/>
                </a:solidFill>
                <a:latin typeface="Arial" pitchFamily="34" charset="0"/>
                <a:cs typeface="Arial" pitchFamily="34" charset="0"/>
                <a:hlinkClick r:id="rId2"/>
              </a:rPr>
              <a:t>http://www.opensiteexplorer.org/</a:t>
            </a:r>
            <a:endParaRPr lang="it-IT" sz="3500" dirty="0" smtClean="0">
              <a:solidFill>
                <a:schemeClr val="bg1"/>
              </a:solidFill>
              <a:latin typeface="Arial" pitchFamily="34" charset="0"/>
              <a:cs typeface="Arial" pitchFamily="34" charset="0"/>
            </a:endParaRPr>
          </a:p>
          <a:p>
            <a:pPr>
              <a:buNone/>
            </a:pPr>
            <a:r>
              <a:rPr lang="it-IT" sz="3500" dirty="0" smtClean="0">
                <a:solidFill>
                  <a:schemeClr val="bg1"/>
                </a:solidFill>
                <a:latin typeface="Arial" pitchFamily="34" charset="0"/>
                <a:cs typeface="Arial" pitchFamily="34" charset="0"/>
                <a:hlinkClick r:id="rId3"/>
              </a:rPr>
              <a:t>http://siteexplorer.search.yahoo.com</a:t>
            </a:r>
            <a:r>
              <a:rPr lang="it-IT" sz="3500" dirty="0" smtClean="0">
                <a:solidFill>
                  <a:srgbClr val="A927AA"/>
                </a:solidFill>
                <a:latin typeface="Arial" pitchFamily="34" charset="0"/>
                <a:cs typeface="Arial" pitchFamily="34" charset="0"/>
                <a:hlinkClick r:id="rId3"/>
              </a:rPr>
              <a:t>/ </a:t>
            </a:r>
            <a:r>
              <a:rPr lang="it-IT" sz="2400" dirty="0" smtClean="0">
                <a:solidFill>
                  <a:srgbClr val="A927AA"/>
                </a:solidFill>
                <a:latin typeface="Arial" pitchFamily="34" charset="0"/>
                <a:cs typeface="Arial" pitchFamily="34" charset="0"/>
              </a:rPr>
              <a:t>(Comando Link:)</a:t>
            </a:r>
          </a:p>
          <a:p>
            <a:pPr>
              <a:buNone/>
            </a:pPr>
            <a:r>
              <a:rPr lang="it-IT" sz="3500" dirty="0" smtClean="0">
                <a:solidFill>
                  <a:schemeClr val="bg1"/>
                </a:solidFill>
                <a:latin typeface="Arial" pitchFamily="34" charset="0"/>
                <a:cs typeface="Arial" pitchFamily="34" charset="0"/>
                <a:hlinkClick r:id="rId4"/>
              </a:rPr>
              <a:t>http://www.majesticseo.com/</a:t>
            </a:r>
            <a:endParaRPr lang="it-IT" sz="3500" dirty="0" smtClean="0">
              <a:solidFill>
                <a:schemeClr val="bg1"/>
              </a:solidFill>
              <a:latin typeface="Arial" pitchFamily="34" charset="0"/>
              <a:cs typeface="Arial" pitchFamily="34" charset="0"/>
            </a:endParaRPr>
          </a:p>
          <a:p>
            <a:pPr>
              <a:buNone/>
            </a:pPr>
            <a:r>
              <a:rPr lang="it-IT" sz="3500" dirty="0" smtClean="0">
                <a:solidFill>
                  <a:schemeClr val="bg1"/>
                </a:solidFill>
                <a:latin typeface="Arial" pitchFamily="34" charset="0"/>
                <a:cs typeface="Arial" pitchFamily="34" charset="0"/>
                <a:hlinkClick r:id="rId5"/>
              </a:rPr>
              <a:t>http://www.backlinkwatch.com/</a:t>
            </a:r>
            <a:endParaRPr lang="it-IT" sz="3500" dirty="0" smtClean="0">
              <a:solidFill>
                <a:schemeClr val="bg1"/>
              </a:solidFill>
              <a:latin typeface="Arial" pitchFamily="34" charset="0"/>
              <a:cs typeface="Arial" pitchFamily="34" charset="0"/>
            </a:endParaRPr>
          </a:p>
          <a:p>
            <a:pPr>
              <a:buNone/>
            </a:pPr>
            <a:r>
              <a:rPr lang="it-IT" sz="3500" dirty="0" smtClean="0">
                <a:solidFill>
                  <a:schemeClr val="bg1"/>
                </a:solidFill>
                <a:latin typeface="Arial" pitchFamily="34" charset="0"/>
                <a:cs typeface="Arial" pitchFamily="34" charset="0"/>
                <a:hlinkClick r:id="rId6"/>
              </a:rPr>
              <a:t>http://www.iwebtool.com/backlink_checker</a:t>
            </a:r>
            <a:endParaRPr lang="it-IT" sz="3500" dirty="0" smtClean="0">
              <a:solidFill>
                <a:schemeClr val="bg1"/>
              </a:solidFill>
              <a:latin typeface="Arial" pitchFamily="34" charset="0"/>
              <a:cs typeface="Arial" pitchFamily="34" charset="0"/>
            </a:endParaRPr>
          </a:p>
          <a:p>
            <a:pPr>
              <a:buNone/>
            </a:pPr>
            <a:r>
              <a:rPr lang="it-IT" sz="3500" dirty="0" smtClean="0">
                <a:solidFill>
                  <a:schemeClr val="bg1"/>
                </a:solidFill>
                <a:latin typeface="Arial" pitchFamily="34" charset="0"/>
                <a:cs typeface="Arial" pitchFamily="34" charset="0"/>
                <a:hlinkClick r:id="rId7"/>
              </a:rPr>
              <a:t>http://www.seomoz.org/labs/link-intersect</a:t>
            </a:r>
            <a:endParaRPr lang="it-IT" sz="3500" dirty="0" smtClean="0">
              <a:solidFill>
                <a:schemeClr val="bg1"/>
              </a:solidFill>
              <a:latin typeface="Arial" pitchFamily="34" charset="0"/>
              <a:cs typeface="Arial" pitchFamily="34" charset="0"/>
            </a:endParaRPr>
          </a:p>
          <a:p>
            <a:pPr>
              <a:buNone/>
            </a:pPr>
            <a:r>
              <a:rPr lang="it-IT" sz="3500" dirty="0" smtClean="0">
                <a:solidFill>
                  <a:schemeClr val="bg1"/>
                </a:solidFill>
                <a:latin typeface="Arial" pitchFamily="34" charset="0"/>
                <a:cs typeface="Arial" pitchFamily="34" charset="0"/>
                <a:hlinkClick r:id="rId8"/>
              </a:rPr>
              <a:t>http://tools.seobook.com/backlink-analyzer/</a:t>
            </a:r>
            <a:endParaRPr lang="en-US" sz="1900" b="1" dirty="0">
              <a:solidFill>
                <a:schemeClr val="bg1"/>
              </a:solidFill>
              <a:latin typeface="Arial" pitchFamily="34" charset="0"/>
              <a:cs typeface="Arial" pitchFamily="34" charset="0"/>
            </a:endParaRPr>
          </a:p>
        </p:txBody>
      </p:sp>
      <p:pic>
        <p:nvPicPr>
          <p:cNvPr id="5126" name="Picture 6" descr="C:\Users\Brivin\Desktop\searchlabs\lupa-03.png"/>
          <p:cNvPicPr>
            <a:picLocks noChangeAspect="1" noChangeArrowheads="1"/>
          </p:cNvPicPr>
          <p:nvPr/>
        </p:nvPicPr>
        <p:blipFill>
          <a:blip r:embed="rId9" cstate="print"/>
          <a:srcRect/>
          <a:stretch>
            <a:fillRect/>
          </a:stretch>
        </p:blipFill>
        <p:spPr bwMode="auto">
          <a:xfrm rot="16200000">
            <a:off x="6207315" y="2297741"/>
            <a:ext cx="3714144" cy="3240358"/>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31765"/>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251520" y="125760"/>
            <a:ext cx="8589640" cy="1143000"/>
          </a:xfrm>
        </p:spPr>
        <p:txBody>
          <a:bodyPr>
            <a:noAutofit/>
          </a:bodyPr>
          <a:lstStyle/>
          <a:p>
            <a:r>
              <a:rPr lang="pt-BR" sz="3600" b="1" dirty="0" smtClean="0">
                <a:solidFill>
                  <a:schemeClr val="bg1"/>
                </a:solidFill>
                <a:latin typeface="Arial" pitchFamily="34" charset="0"/>
                <a:cs typeface="Arial" pitchFamily="34" charset="0"/>
              </a:rPr>
              <a:t>Open Site Explorer</a:t>
            </a:r>
            <a:endParaRPr lang="en-US" sz="3600" b="1" dirty="0">
              <a:solidFill>
                <a:schemeClr val="bg1"/>
              </a:solidFill>
              <a:latin typeface="Arial" pitchFamily="34" charset="0"/>
              <a:cs typeface="Arial" pitchFamily="34" charset="0"/>
            </a:endParaRPr>
          </a:p>
        </p:txBody>
      </p:sp>
      <p:sp>
        <p:nvSpPr>
          <p:cNvPr id="9" name="Espaço Reservado para Conteúdo 2"/>
          <p:cNvSpPr>
            <a:spLocks noGrp="1"/>
          </p:cNvSpPr>
          <p:nvPr>
            <p:ph idx="1"/>
          </p:nvPr>
        </p:nvSpPr>
        <p:spPr>
          <a:xfrm>
            <a:off x="251520" y="1816224"/>
            <a:ext cx="8640960" cy="5069160"/>
          </a:xfrm>
        </p:spPr>
        <p:txBody>
          <a:bodyPr>
            <a:normAutofit fontScale="77500" lnSpcReduction="20000"/>
          </a:bodyPr>
          <a:lstStyle/>
          <a:p>
            <a:pPr algn="ctr">
              <a:buNone/>
            </a:pPr>
            <a:endParaRPr lang="pt-BR" sz="3500" dirty="0" smtClean="0">
              <a:latin typeface="Arial" pitchFamily="34" charset="0"/>
              <a:cs typeface="Arial" pitchFamily="34" charset="0"/>
            </a:endParaRPr>
          </a:p>
          <a:p>
            <a:pPr algn="ctr">
              <a:buNone/>
            </a:pPr>
            <a:endParaRPr lang="pt-BR" sz="3500" dirty="0" smtClean="0">
              <a:latin typeface="Arial" pitchFamily="34" charset="0"/>
              <a:cs typeface="Arial" pitchFamily="34" charset="0"/>
            </a:endParaRPr>
          </a:p>
          <a:p>
            <a:pPr algn="ctr">
              <a:buNone/>
            </a:pPr>
            <a:endParaRPr lang="pt-BR" sz="3500" dirty="0" smtClean="0">
              <a:latin typeface="Arial" pitchFamily="34" charset="0"/>
              <a:cs typeface="Arial" pitchFamily="34" charset="0"/>
            </a:endParaRPr>
          </a:p>
          <a:p>
            <a:pPr algn="ctr">
              <a:buNone/>
            </a:pPr>
            <a:endParaRPr lang="pt-BR" sz="3500" dirty="0" smtClean="0">
              <a:latin typeface="Arial" pitchFamily="34" charset="0"/>
              <a:cs typeface="Arial" pitchFamily="34" charset="0"/>
            </a:endParaRPr>
          </a:p>
          <a:p>
            <a:pPr algn="ctr"/>
            <a:r>
              <a:rPr lang="pt-BR" sz="2300" dirty="0" smtClean="0">
                <a:solidFill>
                  <a:schemeClr val="bg1"/>
                </a:solidFill>
                <a:latin typeface="Arial" pitchFamily="34" charset="0"/>
                <a:cs typeface="Arial" pitchFamily="34" charset="0"/>
              </a:rPr>
              <a:t>Coloque</a:t>
            </a:r>
            <a:r>
              <a:rPr lang="en-US" sz="2300" dirty="0" smtClean="0">
                <a:solidFill>
                  <a:schemeClr val="bg1"/>
                </a:solidFill>
                <a:latin typeface="Arial" pitchFamily="34" charset="0"/>
                <a:cs typeface="Arial" pitchFamily="34" charset="0"/>
              </a:rPr>
              <a:t> o </a:t>
            </a:r>
            <a:r>
              <a:rPr lang="pt-BR" sz="2300" dirty="0" smtClean="0">
                <a:solidFill>
                  <a:schemeClr val="bg1"/>
                </a:solidFill>
                <a:latin typeface="Arial" pitchFamily="34" charset="0"/>
                <a:cs typeface="Arial" pitchFamily="34" charset="0"/>
              </a:rPr>
              <a:t>domínio</a:t>
            </a:r>
            <a:r>
              <a:rPr lang="en-US" sz="2300" dirty="0" smtClean="0">
                <a:solidFill>
                  <a:schemeClr val="bg1"/>
                </a:solidFill>
                <a:latin typeface="Arial" pitchFamily="34" charset="0"/>
                <a:cs typeface="Arial" pitchFamily="34" charset="0"/>
              </a:rPr>
              <a:t> de um </a:t>
            </a:r>
            <a:r>
              <a:rPr lang="en-US" sz="2300" dirty="0" err="1" smtClean="0">
                <a:solidFill>
                  <a:srgbClr val="FFCC00"/>
                </a:solidFill>
                <a:latin typeface="Arial" pitchFamily="34" charset="0"/>
                <a:cs typeface="Arial" pitchFamily="34" charset="0"/>
              </a:rPr>
              <a:t>concorrente</a:t>
            </a:r>
            <a:r>
              <a:rPr lang="en-US" sz="2300" dirty="0" smtClean="0">
                <a:solidFill>
                  <a:schemeClr val="bg1"/>
                </a:solidFill>
                <a:latin typeface="Arial" pitchFamily="34" charset="0"/>
                <a:cs typeface="Arial" pitchFamily="34" charset="0"/>
              </a:rPr>
              <a:t>;</a:t>
            </a:r>
          </a:p>
          <a:p>
            <a:pPr algn="ctr"/>
            <a:r>
              <a:rPr lang="en-US" sz="2300" dirty="0" smtClean="0">
                <a:solidFill>
                  <a:schemeClr val="bg1"/>
                </a:solidFill>
                <a:latin typeface="Arial" pitchFamily="34" charset="0"/>
                <a:cs typeface="Arial" pitchFamily="34" charset="0"/>
              </a:rPr>
              <a:t>Get Link </a:t>
            </a:r>
            <a:r>
              <a:rPr lang="en-US" sz="2300" dirty="0" smtClean="0">
                <a:solidFill>
                  <a:srgbClr val="FFCC00"/>
                </a:solidFill>
                <a:latin typeface="Arial" pitchFamily="34" charset="0"/>
                <a:cs typeface="Arial" pitchFamily="34" charset="0"/>
              </a:rPr>
              <a:t>Data</a:t>
            </a:r>
            <a:r>
              <a:rPr lang="en-US" sz="2300" dirty="0" smtClean="0">
                <a:solidFill>
                  <a:schemeClr val="bg1"/>
                </a:solidFill>
                <a:latin typeface="Arial" pitchFamily="34" charset="0"/>
                <a:cs typeface="Arial" pitchFamily="34" charset="0"/>
              </a:rPr>
              <a:t>;</a:t>
            </a:r>
          </a:p>
          <a:p>
            <a:pPr algn="ctr"/>
            <a:endParaRPr lang="en-US" sz="2300" dirty="0" smtClean="0">
              <a:solidFill>
                <a:schemeClr val="bg1"/>
              </a:solidFill>
              <a:latin typeface="Arial" pitchFamily="34" charset="0"/>
              <a:cs typeface="Arial" pitchFamily="34" charset="0"/>
            </a:endParaRPr>
          </a:p>
          <a:p>
            <a:pPr algn="ctr"/>
            <a:endParaRPr lang="pt-BR" sz="2300" dirty="0" smtClean="0">
              <a:solidFill>
                <a:schemeClr val="bg1"/>
              </a:solidFill>
              <a:latin typeface="Arial" pitchFamily="34" charset="0"/>
              <a:cs typeface="Arial" pitchFamily="34" charset="0"/>
            </a:endParaRPr>
          </a:p>
          <a:p>
            <a:pPr algn="ctr"/>
            <a:endParaRPr lang="pt-BR" sz="2300" dirty="0" smtClean="0">
              <a:solidFill>
                <a:schemeClr val="bg1"/>
              </a:solidFill>
              <a:latin typeface="Arial" pitchFamily="34" charset="0"/>
              <a:cs typeface="Arial" pitchFamily="34" charset="0"/>
            </a:endParaRPr>
          </a:p>
          <a:p>
            <a:pPr algn="ctr"/>
            <a:endParaRPr lang="pt-BR" sz="2300" dirty="0" smtClean="0">
              <a:solidFill>
                <a:schemeClr val="bg1"/>
              </a:solidFill>
              <a:latin typeface="Arial" pitchFamily="34" charset="0"/>
              <a:cs typeface="Arial" pitchFamily="34" charset="0"/>
            </a:endParaRPr>
          </a:p>
          <a:p>
            <a:pPr algn="ctr"/>
            <a:endParaRPr lang="pt-BR" sz="2300" dirty="0" smtClean="0">
              <a:solidFill>
                <a:schemeClr val="bg1"/>
              </a:solidFill>
              <a:latin typeface="Arial" pitchFamily="34" charset="0"/>
              <a:cs typeface="Arial" pitchFamily="34" charset="0"/>
            </a:endParaRPr>
          </a:p>
          <a:p>
            <a:pPr algn="ctr"/>
            <a:endParaRPr lang="pt-BR" sz="2300" dirty="0" smtClean="0">
              <a:solidFill>
                <a:schemeClr val="bg1"/>
              </a:solidFill>
              <a:latin typeface="Arial" pitchFamily="34" charset="0"/>
              <a:cs typeface="Arial" pitchFamily="34" charset="0"/>
            </a:endParaRPr>
          </a:p>
          <a:p>
            <a:pPr algn="ctr"/>
            <a:endParaRPr lang="en-US" sz="2300" dirty="0" smtClean="0">
              <a:solidFill>
                <a:schemeClr val="bg1"/>
              </a:solidFill>
              <a:latin typeface="Arial" pitchFamily="34" charset="0"/>
              <a:cs typeface="Arial" pitchFamily="34" charset="0"/>
            </a:endParaRPr>
          </a:p>
          <a:p>
            <a:pPr algn="ctr"/>
            <a:r>
              <a:rPr lang="en-US" sz="2300" dirty="0" smtClean="0">
                <a:solidFill>
                  <a:schemeClr val="bg1"/>
                </a:solidFill>
                <a:latin typeface="Arial" pitchFamily="34" charset="0"/>
                <a:cs typeface="Arial" pitchFamily="34" charset="0"/>
              </a:rPr>
              <a:t>Followed + </a:t>
            </a:r>
            <a:r>
              <a:rPr lang="en-US" sz="2300" dirty="0" smtClean="0">
                <a:solidFill>
                  <a:srgbClr val="FFCC00"/>
                </a:solidFill>
                <a:latin typeface="Arial" pitchFamily="34" charset="0"/>
                <a:cs typeface="Arial" pitchFamily="34" charset="0"/>
              </a:rPr>
              <a:t>301</a:t>
            </a:r>
            <a:r>
              <a:rPr lang="en-US" sz="2300" dirty="0" smtClean="0">
                <a:solidFill>
                  <a:schemeClr val="bg1"/>
                </a:solidFill>
                <a:latin typeface="Arial" pitchFamily="34" charset="0"/>
                <a:cs typeface="Arial" pitchFamily="34" charset="0"/>
              </a:rPr>
              <a:t>;</a:t>
            </a:r>
          </a:p>
          <a:p>
            <a:pPr algn="ctr"/>
            <a:r>
              <a:rPr lang="en-US" sz="2300" dirty="0" smtClean="0">
                <a:solidFill>
                  <a:schemeClr val="bg1"/>
                </a:solidFill>
                <a:latin typeface="Arial" pitchFamily="34" charset="0"/>
                <a:cs typeface="Arial" pitchFamily="34" charset="0"/>
              </a:rPr>
              <a:t>External Pages Only;</a:t>
            </a:r>
          </a:p>
          <a:p>
            <a:pPr algn="ctr"/>
            <a:r>
              <a:rPr lang="en-US" sz="2300" dirty="0" smtClean="0">
                <a:solidFill>
                  <a:schemeClr val="bg1"/>
                </a:solidFill>
                <a:latin typeface="Arial" pitchFamily="34" charset="0"/>
                <a:cs typeface="Arial" pitchFamily="34" charset="0"/>
              </a:rPr>
              <a:t>All pages in the root domain.</a:t>
            </a:r>
            <a:endParaRPr lang="en-US" sz="2300" dirty="0">
              <a:solidFill>
                <a:schemeClr val="bg1"/>
              </a:solidFill>
              <a:latin typeface="Arial" pitchFamily="34" charset="0"/>
              <a:cs typeface="Arial" pitchFamily="34" charset="0"/>
            </a:endParaRPr>
          </a:p>
        </p:txBody>
      </p:sp>
      <p:pic>
        <p:nvPicPr>
          <p:cNvPr id="2050" name="Picture 2" descr="C:\Users\Brivin\Desktop\searchlabs\slide9a.jpg"/>
          <p:cNvPicPr>
            <a:picLocks noChangeAspect="1" noChangeArrowheads="1"/>
          </p:cNvPicPr>
          <p:nvPr/>
        </p:nvPicPr>
        <p:blipFill>
          <a:blip r:embed="rId2" cstate="print"/>
          <a:srcRect/>
          <a:stretch>
            <a:fillRect/>
          </a:stretch>
        </p:blipFill>
        <p:spPr bwMode="auto">
          <a:xfrm>
            <a:off x="107504" y="1405701"/>
            <a:ext cx="8892480" cy="1763797"/>
          </a:xfrm>
          <a:prstGeom prst="rect">
            <a:avLst/>
          </a:prstGeom>
        </p:spPr>
        <p:style>
          <a:lnRef idx="3">
            <a:schemeClr val="lt1"/>
          </a:lnRef>
          <a:fillRef idx="1">
            <a:schemeClr val="accent1"/>
          </a:fillRef>
          <a:effectRef idx="1">
            <a:schemeClr val="accent1"/>
          </a:effectRef>
          <a:fontRef idx="minor">
            <a:schemeClr val="lt1"/>
          </a:fontRef>
        </p:style>
      </p:pic>
      <p:pic>
        <p:nvPicPr>
          <p:cNvPr id="2051" name="Picture 3" descr="C:\Users\Brivin\Desktop\searchlabs\slide9b.jpg"/>
          <p:cNvPicPr>
            <a:picLocks noChangeAspect="1" noChangeArrowheads="1"/>
          </p:cNvPicPr>
          <p:nvPr/>
        </p:nvPicPr>
        <p:blipFill>
          <a:blip r:embed="rId3" cstate="print"/>
          <a:srcRect/>
          <a:stretch>
            <a:fillRect/>
          </a:stretch>
        </p:blipFill>
        <p:spPr bwMode="auto">
          <a:xfrm>
            <a:off x="107503" y="4316009"/>
            <a:ext cx="8908415" cy="1417247"/>
          </a:xfrm>
          <a:prstGeom prst="rect">
            <a:avLst/>
          </a:prstGeom>
        </p:spPr>
        <p:style>
          <a:lnRef idx="3">
            <a:schemeClr val="lt1"/>
          </a:lnRef>
          <a:fillRef idx="1">
            <a:schemeClr val="dk1"/>
          </a:fillRef>
          <a:effectRef idx="1">
            <a:schemeClr val="dk1"/>
          </a:effectRef>
          <a:fontRef idx="minor">
            <a:schemeClr val="lt1"/>
          </a:fontRef>
        </p:style>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31765"/>
        </a:solidFill>
        <a:effectLst/>
      </p:bgPr>
    </p:bg>
    <p:spTree>
      <p:nvGrpSpPr>
        <p:cNvPr id="1" name=""/>
        <p:cNvGrpSpPr/>
        <p:nvPr/>
      </p:nvGrpSpPr>
      <p:grpSpPr>
        <a:xfrm>
          <a:off x="0" y="0"/>
          <a:ext cx="0" cy="0"/>
          <a:chOff x="0" y="0"/>
          <a:chExt cx="0" cy="0"/>
        </a:xfrm>
      </p:grpSpPr>
      <p:sp>
        <p:nvSpPr>
          <p:cNvPr id="9" name="Espaço Reservado para Conteúdo 2"/>
          <p:cNvSpPr>
            <a:spLocks noGrp="1"/>
          </p:cNvSpPr>
          <p:nvPr>
            <p:ph idx="1"/>
          </p:nvPr>
        </p:nvSpPr>
        <p:spPr>
          <a:xfrm>
            <a:off x="251520" y="1556792"/>
            <a:ext cx="8640960" cy="5069160"/>
          </a:xfrm>
        </p:spPr>
        <p:txBody>
          <a:bodyPr>
            <a:normAutofit/>
          </a:bodyPr>
          <a:lstStyle/>
          <a:p>
            <a:pPr algn="ctr">
              <a:buNone/>
            </a:pPr>
            <a:endParaRPr lang="pt-BR" sz="3500" dirty="0" smtClean="0">
              <a:latin typeface="HelveticaNeueLT Std" pitchFamily="34" charset="0"/>
            </a:endParaRPr>
          </a:p>
          <a:p>
            <a:pPr algn="ctr">
              <a:buNone/>
            </a:pPr>
            <a:endParaRPr lang="pt-BR" sz="3500" dirty="0" smtClean="0">
              <a:latin typeface="HelveticaNeueLT Std" pitchFamily="34" charset="0"/>
            </a:endParaRPr>
          </a:p>
          <a:p>
            <a:pPr algn="ctr">
              <a:buNone/>
            </a:pPr>
            <a:endParaRPr lang="pt-BR" sz="3500" dirty="0" smtClean="0">
              <a:latin typeface="HelveticaNeueLT Std" pitchFamily="34" charset="0"/>
            </a:endParaRPr>
          </a:p>
          <a:p>
            <a:pPr algn="ctr">
              <a:buNone/>
            </a:pPr>
            <a:endParaRPr lang="pt-BR" sz="3500" dirty="0" smtClean="0">
              <a:latin typeface="HelveticaNeueLT Std" pitchFamily="34" charset="0"/>
            </a:endParaRPr>
          </a:p>
        </p:txBody>
      </p:sp>
      <p:sp>
        <p:nvSpPr>
          <p:cNvPr id="6" name="Título 5"/>
          <p:cNvSpPr>
            <a:spLocks noGrp="1"/>
          </p:cNvSpPr>
          <p:nvPr>
            <p:ph type="title"/>
          </p:nvPr>
        </p:nvSpPr>
        <p:spPr/>
        <p:txBody>
          <a:bodyPr/>
          <a:lstStyle/>
          <a:p>
            <a:endParaRPr lang="en-US"/>
          </a:p>
        </p:txBody>
      </p:sp>
      <p:pic>
        <p:nvPicPr>
          <p:cNvPr id="7" name="Picture 2" descr="C:\Users\Brivin\Desktop\searchlabs\slide10.jpg"/>
          <p:cNvPicPr>
            <a:picLocks noChangeAspect="1" noChangeArrowheads="1"/>
          </p:cNvPicPr>
          <p:nvPr/>
        </p:nvPicPr>
        <p:blipFill>
          <a:blip r:embed="rId2" cstate="print"/>
          <a:srcRect/>
          <a:stretch>
            <a:fillRect/>
          </a:stretch>
        </p:blipFill>
        <p:spPr bwMode="auto">
          <a:xfrm>
            <a:off x="119904" y="404664"/>
            <a:ext cx="8844584" cy="6006046"/>
          </a:xfrm>
          <a:prstGeom prst="rect">
            <a:avLst/>
          </a:prstGeom>
        </p:spPr>
        <p:style>
          <a:lnRef idx="3">
            <a:schemeClr val="lt1"/>
          </a:lnRef>
          <a:fillRef idx="1">
            <a:schemeClr val="dk1"/>
          </a:fillRef>
          <a:effectRef idx="1">
            <a:schemeClr val="dk1"/>
          </a:effectRef>
          <a:fontRef idx="minor">
            <a:schemeClr val="lt1"/>
          </a:fontRef>
        </p:style>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31765"/>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125760"/>
            <a:ext cx="8229600" cy="1143000"/>
          </a:xfrm>
        </p:spPr>
        <p:txBody>
          <a:bodyPr>
            <a:noAutofit/>
          </a:bodyPr>
          <a:lstStyle/>
          <a:p>
            <a:pPr algn="r"/>
            <a:r>
              <a:rPr lang="pt-BR" sz="6600" b="1" dirty="0" smtClean="0">
                <a:solidFill>
                  <a:schemeClr val="bg1"/>
                </a:solidFill>
                <a:latin typeface="Arial" pitchFamily="34" charset="0"/>
                <a:cs typeface="Arial" pitchFamily="34" charset="0"/>
              </a:rPr>
              <a:t>Open Site Explorer</a:t>
            </a:r>
            <a:endParaRPr lang="en-US" sz="6000" b="1" dirty="0">
              <a:solidFill>
                <a:schemeClr val="bg1"/>
              </a:solidFill>
              <a:latin typeface="Arial" pitchFamily="34" charset="0"/>
              <a:cs typeface="Arial" pitchFamily="34" charset="0"/>
            </a:endParaRPr>
          </a:p>
        </p:txBody>
      </p:sp>
      <p:sp>
        <p:nvSpPr>
          <p:cNvPr id="9" name="Espaço Reservado para Conteúdo 2"/>
          <p:cNvSpPr>
            <a:spLocks noGrp="1"/>
          </p:cNvSpPr>
          <p:nvPr>
            <p:ph idx="1"/>
          </p:nvPr>
        </p:nvSpPr>
        <p:spPr>
          <a:xfrm>
            <a:off x="251520" y="1556792"/>
            <a:ext cx="8640960" cy="5069160"/>
          </a:xfrm>
        </p:spPr>
        <p:txBody>
          <a:bodyPr>
            <a:normAutofit lnSpcReduction="10000"/>
          </a:bodyPr>
          <a:lstStyle/>
          <a:p>
            <a:pPr>
              <a:buNone/>
            </a:pPr>
            <a:endParaRPr lang="pt-BR" sz="2400" b="1" dirty="0" smtClean="0">
              <a:latin typeface="Arial" pitchFamily="34" charset="0"/>
              <a:cs typeface="Arial" pitchFamily="34" charset="0"/>
            </a:endParaRPr>
          </a:p>
          <a:p>
            <a:pPr>
              <a:buNone/>
            </a:pPr>
            <a:r>
              <a:rPr lang="pt-BR" sz="3000" b="1" dirty="0" smtClean="0">
                <a:solidFill>
                  <a:srgbClr val="FFCC00"/>
                </a:solidFill>
                <a:latin typeface="Arial" pitchFamily="34" charset="0"/>
                <a:cs typeface="Arial" pitchFamily="34" charset="0"/>
              </a:rPr>
              <a:t>Organizando a informação</a:t>
            </a:r>
          </a:p>
          <a:p>
            <a:pPr>
              <a:buNone/>
            </a:pPr>
            <a:endParaRPr lang="pt-BR" sz="2400" dirty="0" smtClean="0">
              <a:solidFill>
                <a:schemeClr val="bg1"/>
              </a:solidFill>
              <a:latin typeface="Arial" pitchFamily="34" charset="0"/>
              <a:cs typeface="Arial" pitchFamily="34" charset="0"/>
            </a:endParaRPr>
          </a:p>
          <a:p>
            <a:pPr>
              <a:buNone/>
            </a:pPr>
            <a:endParaRPr lang="pt-BR" sz="2400" dirty="0" smtClean="0">
              <a:solidFill>
                <a:schemeClr val="bg1"/>
              </a:solidFill>
              <a:latin typeface="Arial" pitchFamily="34" charset="0"/>
              <a:cs typeface="Arial" pitchFamily="34" charset="0"/>
            </a:endParaRPr>
          </a:p>
          <a:p>
            <a:r>
              <a:rPr lang="pt-BR" sz="2400" dirty="0" smtClean="0">
                <a:solidFill>
                  <a:schemeClr val="bg1"/>
                </a:solidFill>
                <a:latin typeface="Arial" pitchFamily="34" charset="0"/>
                <a:cs typeface="Arial" pitchFamily="34" charset="0"/>
              </a:rPr>
              <a:t>Exporte a Informação para </a:t>
            </a:r>
            <a:r>
              <a:rPr lang="pt-BR" sz="2400" b="1" dirty="0" smtClean="0">
                <a:solidFill>
                  <a:srgbClr val="FFCC00"/>
                </a:solidFill>
                <a:latin typeface="Arial" pitchFamily="34" charset="0"/>
                <a:cs typeface="Arial" pitchFamily="34" charset="0"/>
              </a:rPr>
              <a:t>CSV</a:t>
            </a:r>
            <a:r>
              <a:rPr lang="pt-BR" sz="2400" dirty="0" smtClean="0">
                <a:solidFill>
                  <a:schemeClr val="bg1"/>
                </a:solidFill>
                <a:latin typeface="Arial" pitchFamily="34" charset="0"/>
                <a:cs typeface="Arial" pitchFamily="34" charset="0"/>
              </a:rPr>
              <a:t>;</a:t>
            </a:r>
          </a:p>
          <a:p>
            <a:r>
              <a:rPr lang="pt-BR" sz="2400" dirty="0" smtClean="0">
                <a:solidFill>
                  <a:schemeClr val="bg1"/>
                </a:solidFill>
                <a:latin typeface="Arial" pitchFamily="34" charset="0"/>
                <a:cs typeface="Arial" pitchFamily="34" charset="0"/>
              </a:rPr>
              <a:t>As 6 primeiras linhas são comentários, </a:t>
            </a:r>
            <a:r>
              <a:rPr lang="pt-BR" sz="2400" dirty="0" smtClean="0">
                <a:solidFill>
                  <a:srgbClr val="FFCC00"/>
                </a:solidFill>
                <a:latin typeface="Arial" pitchFamily="34" charset="0"/>
                <a:cs typeface="Arial" pitchFamily="34" charset="0"/>
              </a:rPr>
              <a:t>delete-as</a:t>
            </a:r>
            <a:r>
              <a:rPr lang="pt-BR" sz="2400" dirty="0" smtClean="0">
                <a:solidFill>
                  <a:schemeClr val="bg1"/>
                </a:solidFill>
                <a:latin typeface="Arial" pitchFamily="34" charset="0"/>
                <a:cs typeface="Arial" pitchFamily="34" charset="0"/>
              </a:rPr>
              <a:t>;</a:t>
            </a:r>
          </a:p>
          <a:p>
            <a:r>
              <a:rPr lang="pt-BR" sz="2400" dirty="0" smtClean="0">
                <a:solidFill>
                  <a:schemeClr val="bg1"/>
                </a:solidFill>
                <a:latin typeface="Arial" pitchFamily="34" charset="0"/>
                <a:cs typeface="Arial" pitchFamily="34" charset="0"/>
              </a:rPr>
              <a:t>Clique na aba </a:t>
            </a:r>
            <a:r>
              <a:rPr lang="pt-BR" sz="2400" b="1" dirty="0" smtClean="0">
                <a:solidFill>
                  <a:srgbClr val="FFCC00"/>
                </a:solidFill>
                <a:latin typeface="Arial" pitchFamily="34" charset="0"/>
                <a:cs typeface="Arial" pitchFamily="34" charset="0"/>
              </a:rPr>
              <a:t>DATA</a:t>
            </a:r>
            <a:r>
              <a:rPr lang="pt-BR" sz="2400" dirty="0" smtClean="0">
                <a:solidFill>
                  <a:schemeClr val="bg1"/>
                </a:solidFill>
                <a:latin typeface="Arial" pitchFamily="34" charset="0"/>
                <a:cs typeface="Arial" pitchFamily="34" charset="0"/>
              </a:rPr>
              <a:t>;</a:t>
            </a:r>
          </a:p>
          <a:p>
            <a:r>
              <a:rPr lang="pt-BR" sz="2400" dirty="0" smtClean="0">
                <a:solidFill>
                  <a:schemeClr val="bg1"/>
                </a:solidFill>
                <a:latin typeface="Arial" pitchFamily="34" charset="0"/>
                <a:cs typeface="Arial" pitchFamily="34" charset="0"/>
              </a:rPr>
              <a:t>Selecione </a:t>
            </a:r>
            <a:r>
              <a:rPr lang="pt-BR" sz="2400" b="1" dirty="0" err="1" smtClean="0">
                <a:solidFill>
                  <a:srgbClr val="FFCC00"/>
                </a:solidFill>
                <a:latin typeface="Arial" pitchFamily="34" charset="0"/>
                <a:cs typeface="Arial" pitchFamily="34" charset="0"/>
              </a:rPr>
              <a:t>Filter</a:t>
            </a:r>
            <a:r>
              <a:rPr lang="pt-BR" sz="2400" dirty="0" smtClean="0">
                <a:solidFill>
                  <a:schemeClr val="bg1"/>
                </a:solidFill>
                <a:latin typeface="Arial" pitchFamily="34" charset="0"/>
                <a:cs typeface="Arial" pitchFamily="34" charset="0"/>
              </a:rPr>
              <a:t>;</a:t>
            </a:r>
          </a:p>
          <a:p>
            <a:r>
              <a:rPr lang="pt-BR" sz="2400" dirty="0" smtClean="0">
                <a:solidFill>
                  <a:schemeClr val="bg1"/>
                </a:solidFill>
                <a:latin typeface="Arial" pitchFamily="34" charset="0"/>
                <a:cs typeface="Arial" pitchFamily="34" charset="0"/>
              </a:rPr>
              <a:t>Consultas baseadas em </a:t>
            </a:r>
            <a:r>
              <a:rPr lang="pt-BR" sz="2400" b="1" dirty="0" smtClean="0">
                <a:solidFill>
                  <a:srgbClr val="FFCC00"/>
                </a:solidFill>
                <a:latin typeface="Arial" pitchFamily="34" charset="0"/>
                <a:cs typeface="Arial" pitchFamily="34" charset="0"/>
              </a:rPr>
              <a:t>URL e título</a:t>
            </a:r>
            <a:r>
              <a:rPr lang="pt-BR" sz="2400" dirty="0" smtClean="0">
                <a:solidFill>
                  <a:schemeClr val="bg1"/>
                </a:solidFill>
                <a:latin typeface="Arial" pitchFamily="34" charset="0"/>
                <a:cs typeface="Arial" pitchFamily="34" charset="0"/>
              </a:rPr>
              <a:t>.</a:t>
            </a:r>
          </a:p>
          <a:p>
            <a:pPr>
              <a:buNone/>
            </a:pPr>
            <a:endParaRPr lang="pt-BR" sz="2400" dirty="0" smtClean="0">
              <a:solidFill>
                <a:schemeClr val="bg1"/>
              </a:solidFill>
              <a:latin typeface="Arial" pitchFamily="34" charset="0"/>
              <a:cs typeface="Arial" pitchFamily="34" charset="0"/>
            </a:endParaRPr>
          </a:p>
          <a:p>
            <a:pPr>
              <a:buNone/>
            </a:pPr>
            <a:endParaRPr lang="pt-BR" sz="2400" dirty="0" smtClean="0">
              <a:solidFill>
                <a:schemeClr val="bg1"/>
              </a:solidFill>
              <a:latin typeface="Arial" pitchFamily="34" charset="0"/>
              <a:cs typeface="Arial" pitchFamily="34" charset="0"/>
            </a:endParaRPr>
          </a:p>
          <a:p>
            <a:pPr marL="0" indent="0">
              <a:buNone/>
            </a:pPr>
            <a:r>
              <a:rPr lang="pt-BR" sz="1900" dirty="0" smtClean="0">
                <a:solidFill>
                  <a:srgbClr val="FFCC00"/>
                </a:solidFill>
                <a:latin typeface="Arial" pitchFamily="34" charset="0"/>
                <a:cs typeface="Arial" pitchFamily="34" charset="0"/>
              </a:rPr>
              <a:t>Encontre Diretórios, Fóruns, </a:t>
            </a:r>
            <a:r>
              <a:rPr lang="pt-BR" sz="1900" dirty="0" err="1" smtClean="0">
                <a:solidFill>
                  <a:srgbClr val="FFCC00"/>
                </a:solidFill>
                <a:latin typeface="Arial" pitchFamily="34" charset="0"/>
                <a:cs typeface="Arial" pitchFamily="34" charset="0"/>
              </a:rPr>
              <a:t>User</a:t>
            </a:r>
            <a:r>
              <a:rPr lang="pt-BR" sz="1900" dirty="0" smtClean="0">
                <a:solidFill>
                  <a:srgbClr val="FFCC00"/>
                </a:solidFill>
                <a:latin typeface="Arial" pitchFamily="34" charset="0"/>
                <a:cs typeface="Arial" pitchFamily="34" charset="0"/>
              </a:rPr>
              <a:t> </a:t>
            </a:r>
            <a:r>
              <a:rPr lang="pt-BR" sz="1900" dirty="0" err="1" smtClean="0">
                <a:solidFill>
                  <a:srgbClr val="FFCC00"/>
                </a:solidFill>
                <a:latin typeface="Arial" pitchFamily="34" charset="0"/>
                <a:cs typeface="Arial" pitchFamily="34" charset="0"/>
              </a:rPr>
              <a:t>Profiles</a:t>
            </a:r>
            <a:r>
              <a:rPr lang="pt-BR" sz="1900" dirty="0" smtClean="0">
                <a:solidFill>
                  <a:srgbClr val="FFCC00"/>
                </a:solidFill>
                <a:latin typeface="Arial" pitchFamily="34" charset="0"/>
                <a:cs typeface="Arial" pitchFamily="34" charset="0"/>
              </a:rPr>
              <a:t>, </a:t>
            </a:r>
            <a:r>
              <a:rPr lang="pt-BR" sz="1900" dirty="0" err="1" smtClean="0">
                <a:solidFill>
                  <a:srgbClr val="FFCC00"/>
                </a:solidFill>
                <a:latin typeface="Arial" pitchFamily="34" charset="0"/>
                <a:cs typeface="Arial" pitchFamily="34" charset="0"/>
              </a:rPr>
              <a:t>Bookmarking</a:t>
            </a:r>
            <a:r>
              <a:rPr lang="pt-BR" sz="1900" dirty="0" smtClean="0">
                <a:solidFill>
                  <a:srgbClr val="FFCC00"/>
                </a:solidFill>
                <a:latin typeface="Arial" pitchFamily="34" charset="0"/>
                <a:cs typeface="Arial" pitchFamily="34" charset="0"/>
              </a:rPr>
              <a:t> sites, .</a:t>
            </a:r>
            <a:r>
              <a:rPr lang="pt-BR" sz="1900" dirty="0" err="1" smtClean="0">
                <a:solidFill>
                  <a:srgbClr val="FFCC00"/>
                </a:solidFill>
                <a:latin typeface="Arial" pitchFamily="34" charset="0"/>
                <a:cs typeface="Arial" pitchFamily="34" charset="0"/>
              </a:rPr>
              <a:t>edu</a:t>
            </a:r>
            <a:r>
              <a:rPr lang="pt-BR" sz="1900" dirty="0" smtClean="0">
                <a:solidFill>
                  <a:srgbClr val="FFCC00"/>
                </a:solidFill>
                <a:latin typeface="Arial" pitchFamily="34" charset="0"/>
                <a:cs typeface="Arial" pitchFamily="34" charset="0"/>
              </a:rPr>
              <a:t>, .</a:t>
            </a:r>
            <a:r>
              <a:rPr lang="pt-BR" sz="1900" dirty="0" err="1" smtClean="0">
                <a:solidFill>
                  <a:srgbClr val="FFCC00"/>
                </a:solidFill>
                <a:latin typeface="Arial" pitchFamily="34" charset="0"/>
                <a:cs typeface="Arial" pitchFamily="34" charset="0"/>
              </a:rPr>
              <a:t>gov</a:t>
            </a:r>
            <a:r>
              <a:rPr lang="pt-BR" sz="1900" dirty="0" smtClean="0">
                <a:solidFill>
                  <a:srgbClr val="FFCC00"/>
                </a:solidFill>
                <a:latin typeface="Arial" pitchFamily="34" charset="0"/>
                <a:cs typeface="Arial" pitchFamily="34" charset="0"/>
              </a:rPr>
              <a:t>, etc...</a:t>
            </a:r>
            <a:endParaRPr lang="en-US" sz="1900" dirty="0">
              <a:solidFill>
                <a:srgbClr val="FFCC00"/>
              </a:solidFill>
              <a:latin typeface="Arial" pitchFamily="34" charset="0"/>
              <a:cs typeface="Arial" pitchFamily="34" charset="0"/>
            </a:endParaRPr>
          </a:p>
        </p:txBody>
      </p:sp>
      <p:pic>
        <p:nvPicPr>
          <p:cNvPr id="6" name="Picture 6" descr="C:\Users\Brivin\Desktop\searchlabs\lupa-03.png"/>
          <p:cNvPicPr>
            <a:picLocks noChangeAspect="1" noChangeArrowheads="1"/>
          </p:cNvPicPr>
          <p:nvPr/>
        </p:nvPicPr>
        <p:blipFill>
          <a:blip r:embed="rId2" cstate="print"/>
          <a:srcRect/>
          <a:stretch>
            <a:fillRect/>
          </a:stretch>
        </p:blipFill>
        <p:spPr bwMode="auto">
          <a:xfrm rot="18349802">
            <a:off x="7059813" y="3182760"/>
            <a:ext cx="3714144" cy="3240358"/>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31765"/>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773832"/>
            <a:ext cx="8229600" cy="1143000"/>
          </a:xfrm>
        </p:spPr>
        <p:txBody>
          <a:bodyPr>
            <a:noAutofit/>
          </a:bodyPr>
          <a:lstStyle/>
          <a:p>
            <a:pPr algn="r"/>
            <a:r>
              <a:rPr lang="en-US" sz="5400" b="1" dirty="0" smtClean="0">
                <a:solidFill>
                  <a:schemeClr val="bg1"/>
                </a:solidFill>
                <a:latin typeface="Arial" pitchFamily="34" charset="0"/>
                <a:cs typeface="Arial" pitchFamily="34" charset="0"/>
              </a:rPr>
              <a:t>Competitive Link Finder</a:t>
            </a:r>
            <a:r>
              <a:rPr lang="en-US" sz="6000" b="1" dirty="0" smtClean="0">
                <a:solidFill>
                  <a:schemeClr val="bg1"/>
                </a:solidFill>
                <a:latin typeface="Arial" pitchFamily="34" charset="0"/>
                <a:cs typeface="Arial" pitchFamily="34" charset="0"/>
              </a:rPr>
              <a:t/>
            </a:r>
            <a:br>
              <a:rPr lang="en-US" sz="6000" b="1" dirty="0" smtClean="0">
                <a:solidFill>
                  <a:schemeClr val="bg1"/>
                </a:solidFill>
                <a:latin typeface="Arial" pitchFamily="34" charset="0"/>
                <a:cs typeface="Arial" pitchFamily="34" charset="0"/>
              </a:rPr>
            </a:br>
            <a:r>
              <a:rPr lang="en-US" sz="4800" b="1" dirty="0" smtClean="0">
                <a:solidFill>
                  <a:srgbClr val="FFCC00"/>
                </a:solidFill>
                <a:latin typeface="Arial" pitchFamily="34" charset="0"/>
                <a:cs typeface="Arial" pitchFamily="34" charset="0"/>
              </a:rPr>
              <a:t>Link Intersect</a:t>
            </a:r>
            <a:r>
              <a:rPr lang="en-US" sz="4800" b="1" dirty="0" smtClean="0">
                <a:latin typeface="Arial" pitchFamily="34" charset="0"/>
                <a:cs typeface="Arial" pitchFamily="34" charset="0"/>
              </a:rPr>
              <a:t/>
            </a:r>
            <a:br>
              <a:rPr lang="en-US" sz="4800" b="1" dirty="0" smtClean="0">
                <a:latin typeface="Arial" pitchFamily="34" charset="0"/>
                <a:cs typeface="Arial" pitchFamily="34" charset="0"/>
              </a:rPr>
            </a:br>
            <a:endParaRPr lang="en-US" sz="4800" b="1" dirty="0">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a:bodyPr>
          <a:lstStyle/>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solidFill>
                <a:srgbClr val="EAA6EC"/>
              </a:solidFill>
              <a:latin typeface="Arial" pitchFamily="34" charset="0"/>
              <a:cs typeface="Arial" pitchFamily="34" charset="0"/>
            </a:endParaRPr>
          </a:p>
          <a:p>
            <a:pPr>
              <a:buNone/>
            </a:pPr>
            <a:endParaRPr lang="pt-BR" dirty="0" smtClean="0">
              <a:solidFill>
                <a:srgbClr val="EAA6EC"/>
              </a:solidFill>
              <a:latin typeface="Arial" pitchFamily="34" charset="0"/>
              <a:cs typeface="Arial" pitchFamily="34" charset="0"/>
            </a:endParaRPr>
          </a:p>
          <a:p>
            <a:r>
              <a:rPr lang="pt-BR" dirty="0" smtClean="0">
                <a:solidFill>
                  <a:schemeClr val="bg1"/>
                </a:solidFill>
                <a:latin typeface="Arial" pitchFamily="34" charset="0"/>
                <a:cs typeface="Arial" pitchFamily="34" charset="0"/>
              </a:rPr>
              <a:t>Cruzar </a:t>
            </a:r>
            <a:r>
              <a:rPr lang="pt-BR" dirty="0" smtClean="0">
                <a:solidFill>
                  <a:srgbClr val="FFCC00"/>
                </a:solidFill>
                <a:latin typeface="Arial" pitchFamily="34" charset="0"/>
                <a:cs typeface="Arial" pitchFamily="34" charset="0"/>
              </a:rPr>
              <a:t>3</a:t>
            </a:r>
            <a:r>
              <a:rPr lang="pt-BR" dirty="0" smtClean="0">
                <a:solidFill>
                  <a:schemeClr val="bg1"/>
                </a:solidFill>
                <a:latin typeface="Arial" pitchFamily="34" charset="0"/>
                <a:cs typeface="Arial" pitchFamily="34" charset="0"/>
              </a:rPr>
              <a:t> </a:t>
            </a:r>
            <a:r>
              <a:rPr lang="pt-BR" dirty="0" smtClean="0">
                <a:solidFill>
                  <a:srgbClr val="FFCC00"/>
                </a:solidFill>
                <a:latin typeface="Arial" pitchFamily="34" charset="0"/>
                <a:cs typeface="Arial" pitchFamily="34" charset="0"/>
              </a:rPr>
              <a:t>concorrentes</a:t>
            </a:r>
            <a:r>
              <a:rPr lang="pt-BR" dirty="0" smtClean="0">
                <a:solidFill>
                  <a:schemeClr val="bg1"/>
                </a:solidFill>
                <a:latin typeface="Arial" pitchFamily="34" charset="0"/>
                <a:cs typeface="Arial" pitchFamily="34" charset="0"/>
              </a:rPr>
              <a:t> com seu site;</a:t>
            </a:r>
          </a:p>
          <a:p>
            <a:r>
              <a:rPr lang="pt-BR" dirty="0" smtClean="0">
                <a:solidFill>
                  <a:schemeClr val="bg1"/>
                </a:solidFill>
                <a:latin typeface="Arial" pitchFamily="34" charset="0"/>
                <a:cs typeface="Arial" pitchFamily="34" charset="0"/>
              </a:rPr>
              <a:t>Cruzar </a:t>
            </a:r>
            <a:r>
              <a:rPr lang="pt-BR" dirty="0" smtClean="0">
                <a:solidFill>
                  <a:srgbClr val="FFCC00"/>
                </a:solidFill>
                <a:latin typeface="Arial" pitchFamily="34" charset="0"/>
                <a:cs typeface="Arial" pitchFamily="34" charset="0"/>
              </a:rPr>
              <a:t>2</a:t>
            </a:r>
            <a:r>
              <a:rPr lang="pt-BR" dirty="0" smtClean="0">
                <a:solidFill>
                  <a:schemeClr val="bg1"/>
                </a:solidFill>
                <a:latin typeface="Arial" pitchFamily="34" charset="0"/>
                <a:cs typeface="Arial" pitchFamily="34" charset="0"/>
              </a:rPr>
              <a:t> </a:t>
            </a:r>
            <a:r>
              <a:rPr lang="pt-BR" dirty="0" smtClean="0">
                <a:solidFill>
                  <a:srgbClr val="FFCC00"/>
                </a:solidFill>
                <a:latin typeface="Arial" pitchFamily="34" charset="0"/>
                <a:cs typeface="Arial" pitchFamily="34" charset="0"/>
              </a:rPr>
              <a:t>concorrentes</a:t>
            </a:r>
            <a:r>
              <a:rPr lang="pt-BR" dirty="0" smtClean="0">
                <a:solidFill>
                  <a:schemeClr val="bg1"/>
                </a:solidFill>
                <a:latin typeface="Arial" pitchFamily="34" charset="0"/>
                <a:cs typeface="Arial" pitchFamily="34" charset="0"/>
              </a:rPr>
              <a:t> com seu site;</a:t>
            </a:r>
          </a:p>
          <a:p>
            <a:r>
              <a:rPr lang="pt-BR" dirty="0" smtClean="0">
                <a:solidFill>
                  <a:schemeClr val="bg1"/>
                </a:solidFill>
                <a:latin typeface="Arial" pitchFamily="34" charset="0"/>
                <a:cs typeface="Arial" pitchFamily="34" charset="0"/>
              </a:rPr>
              <a:t>Mudar os testes com </a:t>
            </a:r>
            <a:r>
              <a:rPr lang="pt-BR" dirty="0" smtClean="0">
                <a:solidFill>
                  <a:srgbClr val="FFCC00"/>
                </a:solidFill>
                <a:latin typeface="Arial" pitchFamily="34" charset="0"/>
                <a:cs typeface="Arial" pitchFamily="34" charset="0"/>
              </a:rPr>
              <a:t>outros concorrentes</a:t>
            </a:r>
            <a:r>
              <a:rPr lang="pt-BR" dirty="0" smtClean="0">
                <a:solidFill>
                  <a:schemeClr val="bg1"/>
                </a:solidFill>
                <a:latin typeface="Arial" pitchFamily="34" charset="0"/>
                <a:cs typeface="Arial" pitchFamily="34" charset="0"/>
              </a:rPr>
              <a:t>;</a:t>
            </a:r>
            <a:endParaRPr lang="en-US" sz="1800" b="1" dirty="0" smtClean="0">
              <a:solidFill>
                <a:schemeClr val="bg1"/>
              </a:solidFill>
              <a:latin typeface="Arial" pitchFamily="34" charset="0"/>
              <a:cs typeface="Arial" pitchFamily="34" charset="0"/>
            </a:endParaRPr>
          </a:p>
          <a:p>
            <a:pPr>
              <a:buNone/>
            </a:pPr>
            <a:endParaRPr lang="pt-BR" b="1" dirty="0" smtClean="0">
              <a:latin typeface="Arial" pitchFamily="34" charset="0"/>
              <a:cs typeface="Arial" pitchFamily="34" charset="0"/>
            </a:endParaRPr>
          </a:p>
        </p:txBody>
      </p:sp>
      <p:pic>
        <p:nvPicPr>
          <p:cNvPr id="6" name="Picture 6" descr="C:\Users\Brivin\Desktop\searchlabs\lupa-03.png"/>
          <p:cNvPicPr>
            <a:picLocks noChangeAspect="1" noChangeArrowheads="1"/>
          </p:cNvPicPr>
          <p:nvPr/>
        </p:nvPicPr>
        <p:blipFill>
          <a:blip r:embed="rId2" cstate="print"/>
          <a:srcRect/>
          <a:stretch>
            <a:fillRect/>
          </a:stretch>
        </p:blipFill>
        <p:spPr bwMode="auto">
          <a:xfrm rot="19392053" flipV="1">
            <a:off x="-881028" y="1727319"/>
            <a:ext cx="3186502" cy="2808312"/>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31765"/>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467544" y="0"/>
            <a:ext cx="8229600" cy="1143000"/>
          </a:xfrm>
        </p:spPr>
        <p:txBody>
          <a:bodyPr>
            <a:noAutofit/>
          </a:bodyPr>
          <a:lstStyle/>
          <a:p>
            <a:r>
              <a:rPr lang="en-US" sz="6000" b="1" dirty="0" smtClean="0">
                <a:solidFill>
                  <a:schemeClr val="bg1"/>
                </a:solidFill>
                <a:latin typeface="Arial" pitchFamily="34" charset="0"/>
                <a:cs typeface="Arial" pitchFamily="34" charset="0"/>
              </a:rPr>
              <a:t/>
            </a:r>
            <a:br>
              <a:rPr lang="en-US" sz="6000" b="1" dirty="0" smtClean="0">
                <a:solidFill>
                  <a:schemeClr val="bg1"/>
                </a:solidFill>
                <a:latin typeface="Arial" pitchFamily="34" charset="0"/>
                <a:cs typeface="Arial" pitchFamily="34" charset="0"/>
              </a:rPr>
            </a:br>
            <a:r>
              <a:rPr lang="en-US" sz="4800" b="1" dirty="0" smtClean="0">
                <a:solidFill>
                  <a:schemeClr val="bg1"/>
                </a:solidFill>
                <a:latin typeface="Arial" pitchFamily="34" charset="0"/>
                <a:cs typeface="Arial" pitchFamily="34" charset="0"/>
              </a:rPr>
              <a:t>Link Intersect</a:t>
            </a:r>
            <a:r>
              <a:rPr lang="en-US" sz="4800" b="1" dirty="0" smtClean="0">
                <a:latin typeface="Arial" pitchFamily="34" charset="0"/>
                <a:cs typeface="Arial" pitchFamily="34" charset="0"/>
              </a:rPr>
              <a:t/>
            </a:r>
            <a:br>
              <a:rPr lang="en-US" sz="4800" b="1" dirty="0" smtClean="0">
                <a:latin typeface="Arial" pitchFamily="34" charset="0"/>
                <a:cs typeface="Arial" pitchFamily="34" charset="0"/>
              </a:rPr>
            </a:br>
            <a:endParaRPr lang="en-US" sz="4800" b="1" dirty="0">
              <a:latin typeface="Arial" pitchFamily="34" charset="0"/>
              <a:cs typeface="Arial" pitchFamily="34" charset="0"/>
            </a:endParaRPr>
          </a:p>
        </p:txBody>
      </p:sp>
      <p:pic>
        <p:nvPicPr>
          <p:cNvPr id="7" name="Espaço Reservado para Conteúdo 6" descr="slide12.gif"/>
          <p:cNvPicPr>
            <a:picLocks noGrp="1" noChangeAspect="1"/>
          </p:cNvPicPr>
          <p:nvPr>
            <p:ph idx="1"/>
          </p:nvPr>
        </p:nvPicPr>
        <p:blipFill>
          <a:blip r:embed="rId2" cstate="print"/>
          <a:stretch>
            <a:fillRect/>
          </a:stretch>
        </p:blipFill>
        <p:spPr>
          <a:xfrm>
            <a:off x="899592" y="1772816"/>
            <a:ext cx="7261152" cy="41630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582A04"/>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76672"/>
            <a:ext cx="8229600" cy="1143000"/>
          </a:xfrm>
        </p:spPr>
        <p:txBody>
          <a:bodyPr>
            <a:noAutofit/>
          </a:bodyPr>
          <a:lstStyle/>
          <a:p>
            <a:pPr algn="r"/>
            <a:r>
              <a:rPr lang="en-US" sz="5400" b="1" dirty="0" err="1" smtClean="0">
                <a:solidFill>
                  <a:srgbClr val="FF9900"/>
                </a:solidFill>
                <a:latin typeface="Arial" pitchFamily="34" charset="0"/>
                <a:cs typeface="Arial" pitchFamily="34" charset="0"/>
              </a:rPr>
              <a:t>Diretórios</a:t>
            </a:r>
            <a:r>
              <a:rPr lang="en-US" sz="4800" b="1" dirty="0" smtClean="0">
                <a:solidFill>
                  <a:srgbClr val="FF9900"/>
                </a:solidFill>
                <a:latin typeface="Arial" pitchFamily="34" charset="0"/>
                <a:cs typeface="Arial" pitchFamily="34" charset="0"/>
              </a:rPr>
              <a:t/>
            </a:r>
            <a:br>
              <a:rPr lang="en-US" sz="4800" b="1" dirty="0" smtClean="0">
                <a:solidFill>
                  <a:srgbClr val="FF9900"/>
                </a:solidFill>
                <a:latin typeface="Arial" pitchFamily="34" charset="0"/>
                <a:cs typeface="Arial" pitchFamily="34" charset="0"/>
              </a:rPr>
            </a:br>
            <a:endParaRPr lang="en-US" sz="4800" b="1" dirty="0">
              <a:solidFill>
                <a:srgbClr val="FF9900"/>
              </a:solidFill>
              <a:latin typeface="Arial" pitchFamily="34" charset="0"/>
              <a:cs typeface="Arial" pitchFamily="34" charset="0"/>
            </a:endParaRPr>
          </a:p>
        </p:txBody>
      </p:sp>
      <p:sp>
        <p:nvSpPr>
          <p:cNvPr id="9" name="Espaço Reservado para Conteúdo 2"/>
          <p:cNvSpPr>
            <a:spLocks noGrp="1"/>
          </p:cNvSpPr>
          <p:nvPr>
            <p:ph idx="1"/>
          </p:nvPr>
        </p:nvSpPr>
        <p:spPr>
          <a:xfrm>
            <a:off x="251520" y="1240160"/>
            <a:ext cx="8640960" cy="5069160"/>
          </a:xfrm>
        </p:spPr>
        <p:txBody>
          <a:bodyPr>
            <a:normAutofit fontScale="70000" lnSpcReduction="20000"/>
          </a:bodyPr>
          <a:lstStyle/>
          <a:p>
            <a:pPr>
              <a:buNone/>
            </a:pPr>
            <a:endParaRPr lang="pt-BR" dirty="0" smtClean="0">
              <a:latin typeface="Arial" pitchFamily="34" charset="0"/>
              <a:cs typeface="Arial" pitchFamily="34" charset="0"/>
            </a:endParaRPr>
          </a:p>
          <a:p>
            <a:pPr>
              <a:buNone/>
            </a:pPr>
            <a:endParaRPr lang="pt-BR" dirty="0" smtClean="0">
              <a:solidFill>
                <a:srgbClr val="E3C39D"/>
              </a:solidFill>
              <a:latin typeface="Arial" pitchFamily="34" charset="0"/>
              <a:cs typeface="Arial" pitchFamily="34" charset="0"/>
            </a:endParaRPr>
          </a:p>
          <a:p>
            <a:pPr>
              <a:buNone/>
            </a:pPr>
            <a:endParaRPr lang="pt-BR" dirty="0" smtClean="0">
              <a:solidFill>
                <a:srgbClr val="E3C39D"/>
              </a:solidFill>
              <a:latin typeface="Arial" pitchFamily="34" charset="0"/>
              <a:cs typeface="Arial" pitchFamily="34" charset="0"/>
            </a:endParaRPr>
          </a:p>
          <a:p>
            <a:r>
              <a:rPr lang="pt-BR" dirty="0" smtClean="0">
                <a:solidFill>
                  <a:srgbClr val="996633"/>
                </a:solidFill>
                <a:latin typeface="Arial" pitchFamily="34" charset="0"/>
                <a:cs typeface="Arial" pitchFamily="34" charset="0"/>
              </a:rPr>
              <a:t>O diretório é </a:t>
            </a:r>
            <a:r>
              <a:rPr lang="pt-BR" b="1" dirty="0" smtClean="0">
                <a:solidFill>
                  <a:srgbClr val="FF9900"/>
                </a:solidFill>
                <a:latin typeface="Arial" pitchFamily="34" charset="0"/>
                <a:cs typeface="Arial" pitchFamily="34" charset="0"/>
              </a:rPr>
              <a:t>indexado</a:t>
            </a:r>
            <a:r>
              <a:rPr lang="pt-BR" dirty="0" smtClean="0">
                <a:solidFill>
                  <a:srgbClr val="996633"/>
                </a:solidFill>
                <a:latin typeface="Arial" pitchFamily="34" charset="0"/>
                <a:cs typeface="Arial" pitchFamily="34" charset="0"/>
              </a:rPr>
              <a:t>?</a:t>
            </a:r>
          </a:p>
          <a:p>
            <a:r>
              <a:rPr lang="pt-BR" dirty="0" smtClean="0">
                <a:solidFill>
                  <a:srgbClr val="996633"/>
                </a:solidFill>
                <a:latin typeface="Arial" pitchFamily="34" charset="0"/>
                <a:cs typeface="Arial" pitchFamily="34" charset="0"/>
              </a:rPr>
              <a:t>Qual o </a:t>
            </a:r>
            <a:r>
              <a:rPr lang="pt-BR" b="1" dirty="0" err="1" smtClean="0">
                <a:solidFill>
                  <a:srgbClr val="FF9900"/>
                </a:solidFill>
                <a:latin typeface="Arial" pitchFamily="34" charset="0"/>
                <a:cs typeface="Arial" pitchFamily="34" charset="0"/>
              </a:rPr>
              <a:t>PageRank</a:t>
            </a:r>
            <a:r>
              <a:rPr lang="pt-BR" dirty="0" smtClean="0">
                <a:solidFill>
                  <a:srgbClr val="996633"/>
                </a:solidFill>
                <a:latin typeface="Arial" pitchFamily="34" charset="0"/>
                <a:cs typeface="Arial" pitchFamily="34" charset="0"/>
              </a:rPr>
              <a:t> do diretório?</a:t>
            </a:r>
          </a:p>
          <a:p>
            <a:pPr>
              <a:buNone/>
            </a:pPr>
            <a:endParaRPr lang="pt-BR" dirty="0" smtClean="0">
              <a:solidFill>
                <a:srgbClr val="996633"/>
              </a:solidFill>
              <a:latin typeface="Arial" pitchFamily="34" charset="0"/>
              <a:cs typeface="Arial" pitchFamily="34" charset="0"/>
            </a:endParaRPr>
          </a:p>
          <a:p>
            <a:r>
              <a:rPr lang="pt-BR" dirty="0" smtClean="0">
                <a:solidFill>
                  <a:srgbClr val="996633"/>
                </a:solidFill>
                <a:latin typeface="Arial" pitchFamily="34" charset="0"/>
                <a:cs typeface="Arial" pitchFamily="34" charset="0"/>
              </a:rPr>
              <a:t>A </a:t>
            </a:r>
            <a:r>
              <a:rPr lang="pt-BR" b="1" dirty="0" smtClean="0">
                <a:solidFill>
                  <a:srgbClr val="FF9900"/>
                </a:solidFill>
                <a:latin typeface="Arial" pitchFamily="34" charset="0"/>
                <a:cs typeface="Arial" pitchFamily="34" charset="0"/>
              </a:rPr>
              <a:t>categoria</a:t>
            </a:r>
            <a:r>
              <a:rPr lang="pt-BR" dirty="0" smtClean="0">
                <a:solidFill>
                  <a:srgbClr val="996633"/>
                </a:solidFill>
                <a:latin typeface="Arial" pitchFamily="34" charset="0"/>
                <a:cs typeface="Arial" pitchFamily="34" charset="0"/>
              </a:rPr>
              <a:t> está indexada?</a:t>
            </a:r>
          </a:p>
          <a:p>
            <a:r>
              <a:rPr lang="pt-BR" dirty="0" smtClean="0">
                <a:solidFill>
                  <a:srgbClr val="996633"/>
                </a:solidFill>
                <a:latin typeface="Arial" pitchFamily="34" charset="0"/>
                <a:cs typeface="Arial" pitchFamily="34" charset="0"/>
              </a:rPr>
              <a:t>Qual o </a:t>
            </a:r>
            <a:r>
              <a:rPr lang="pt-BR" dirty="0" err="1" smtClean="0">
                <a:solidFill>
                  <a:srgbClr val="996633"/>
                </a:solidFill>
                <a:latin typeface="Arial" pitchFamily="34" charset="0"/>
                <a:cs typeface="Arial" pitchFamily="34" charset="0"/>
              </a:rPr>
              <a:t>PageRank</a:t>
            </a:r>
            <a:r>
              <a:rPr lang="pt-BR" dirty="0" smtClean="0">
                <a:solidFill>
                  <a:srgbClr val="996633"/>
                </a:solidFill>
                <a:latin typeface="Arial" pitchFamily="34" charset="0"/>
                <a:cs typeface="Arial" pitchFamily="34" charset="0"/>
              </a:rPr>
              <a:t> da </a:t>
            </a:r>
            <a:r>
              <a:rPr lang="pt-BR" b="1" dirty="0" smtClean="0">
                <a:solidFill>
                  <a:srgbClr val="FF9900"/>
                </a:solidFill>
                <a:latin typeface="Arial" pitchFamily="34" charset="0"/>
                <a:cs typeface="Arial" pitchFamily="34" charset="0"/>
              </a:rPr>
              <a:t>categoria</a:t>
            </a:r>
            <a:r>
              <a:rPr lang="pt-BR" dirty="0" smtClean="0">
                <a:solidFill>
                  <a:srgbClr val="996633"/>
                </a:solidFill>
                <a:latin typeface="Arial" pitchFamily="34" charset="0"/>
                <a:cs typeface="Arial" pitchFamily="34" charset="0"/>
              </a:rPr>
              <a:t>?</a:t>
            </a:r>
          </a:p>
          <a:p>
            <a:r>
              <a:rPr lang="pt-BR" dirty="0" smtClean="0">
                <a:solidFill>
                  <a:srgbClr val="996633"/>
                </a:solidFill>
                <a:latin typeface="Arial" pitchFamily="34" charset="0"/>
                <a:cs typeface="Arial" pitchFamily="34" charset="0"/>
              </a:rPr>
              <a:t>Qual foi a última vez que a </a:t>
            </a:r>
            <a:r>
              <a:rPr lang="pt-BR" b="1" dirty="0" smtClean="0">
                <a:solidFill>
                  <a:srgbClr val="FF9900"/>
                </a:solidFill>
                <a:latin typeface="Arial" pitchFamily="34" charset="0"/>
                <a:cs typeface="Arial" pitchFamily="34" charset="0"/>
              </a:rPr>
              <a:t>categoria</a:t>
            </a:r>
            <a:r>
              <a:rPr lang="pt-BR" b="1" dirty="0" smtClean="0">
                <a:solidFill>
                  <a:srgbClr val="996633"/>
                </a:solidFill>
                <a:latin typeface="Arial" pitchFamily="34" charset="0"/>
                <a:cs typeface="Arial" pitchFamily="34" charset="0"/>
              </a:rPr>
              <a:t> </a:t>
            </a:r>
            <a:r>
              <a:rPr lang="pt-BR" dirty="0" smtClean="0">
                <a:solidFill>
                  <a:srgbClr val="996633"/>
                </a:solidFill>
                <a:latin typeface="Arial" pitchFamily="34" charset="0"/>
                <a:cs typeface="Arial" pitchFamily="34" charset="0"/>
              </a:rPr>
              <a:t>foi indexada?</a:t>
            </a:r>
          </a:p>
          <a:p>
            <a:endParaRPr lang="pt-BR" dirty="0" smtClean="0">
              <a:solidFill>
                <a:srgbClr val="996633"/>
              </a:solidFill>
              <a:latin typeface="Arial" pitchFamily="34" charset="0"/>
              <a:cs typeface="Arial" pitchFamily="34" charset="0"/>
            </a:endParaRPr>
          </a:p>
          <a:p>
            <a:r>
              <a:rPr lang="pt-BR" dirty="0" smtClean="0">
                <a:solidFill>
                  <a:srgbClr val="996633"/>
                </a:solidFill>
                <a:latin typeface="Arial" pitchFamily="34" charset="0"/>
                <a:cs typeface="Arial" pitchFamily="34" charset="0"/>
              </a:rPr>
              <a:t>O diretório possui </a:t>
            </a:r>
            <a:r>
              <a:rPr lang="pt-BR" b="1" dirty="0" smtClean="0">
                <a:solidFill>
                  <a:srgbClr val="FF9900"/>
                </a:solidFill>
                <a:latin typeface="Arial" pitchFamily="34" charset="0"/>
                <a:cs typeface="Arial" pitchFamily="34" charset="0"/>
              </a:rPr>
              <a:t>revisão manual</a:t>
            </a:r>
            <a:r>
              <a:rPr lang="pt-BR" dirty="0" smtClean="0">
                <a:solidFill>
                  <a:srgbClr val="996633"/>
                </a:solidFill>
                <a:latin typeface="Arial" pitchFamily="34" charset="0"/>
                <a:cs typeface="Arial" pitchFamily="34" charset="0"/>
              </a:rPr>
              <a:t>?</a:t>
            </a:r>
          </a:p>
          <a:p>
            <a:r>
              <a:rPr lang="pt-BR" dirty="0" smtClean="0">
                <a:solidFill>
                  <a:srgbClr val="996633"/>
                </a:solidFill>
                <a:latin typeface="Arial" pitchFamily="34" charset="0"/>
                <a:cs typeface="Arial" pitchFamily="34" charset="0"/>
              </a:rPr>
              <a:t>Sites ruins são </a:t>
            </a:r>
            <a:r>
              <a:rPr lang="pt-BR" b="1" dirty="0" smtClean="0">
                <a:solidFill>
                  <a:srgbClr val="FF9900"/>
                </a:solidFill>
                <a:latin typeface="Arial" pitchFamily="34" charset="0"/>
                <a:cs typeface="Arial" pitchFamily="34" charset="0"/>
              </a:rPr>
              <a:t>rejeitados</a:t>
            </a:r>
            <a:r>
              <a:rPr lang="pt-BR" dirty="0" smtClean="0">
                <a:solidFill>
                  <a:srgbClr val="996633"/>
                </a:solidFill>
                <a:latin typeface="Arial" pitchFamily="34" charset="0"/>
                <a:cs typeface="Arial" pitchFamily="34" charset="0"/>
              </a:rPr>
              <a:t>? </a:t>
            </a:r>
          </a:p>
          <a:p>
            <a:r>
              <a:rPr lang="pt-BR" b="1" dirty="0" err="1" smtClean="0">
                <a:solidFill>
                  <a:srgbClr val="FF9900"/>
                </a:solidFill>
                <a:latin typeface="Arial" pitchFamily="34" charset="0"/>
                <a:cs typeface="Arial" pitchFamily="34" charset="0"/>
              </a:rPr>
              <a:t>Free</a:t>
            </a:r>
            <a:r>
              <a:rPr lang="pt-BR" dirty="0" smtClean="0">
                <a:solidFill>
                  <a:srgbClr val="996633"/>
                </a:solidFill>
                <a:latin typeface="Arial" pitchFamily="34" charset="0"/>
                <a:cs typeface="Arial" pitchFamily="34" charset="0"/>
              </a:rPr>
              <a:t>, </a:t>
            </a:r>
            <a:r>
              <a:rPr lang="pt-BR" b="1" dirty="0" smtClean="0">
                <a:solidFill>
                  <a:srgbClr val="FF9900"/>
                </a:solidFill>
                <a:latin typeface="Arial" pitchFamily="34" charset="0"/>
                <a:cs typeface="Arial" pitchFamily="34" charset="0"/>
              </a:rPr>
              <a:t>Pago</a:t>
            </a:r>
            <a:r>
              <a:rPr lang="pt-BR" dirty="0" smtClean="0">
                <a:solidFill>
                  <a:srgbClr val="996633"/>
                </a:solidFill>
                <a:latin typeface="Arial" pitchFamily="34" charset="0"/>
                <a:cs typeface="Arial" pitchFamily="34" charset="0"/>
              </a:rPr>
              <a:t> ou </a:t>
            </a:r>
            <a:r>
              <a:rPr lang="pt-BR" b="1" dirty="0" err="1" smtClean="0">
                <a:solidFill>
                  <a:srgbClr val="FF9900"/>
                </a:solidFill>
                <a:latin typeface="Arial" pitchFamily="34" charset="0"/>
                <a:cs typeface="Arial" pitchFamily="34" charset="0"/>
              </a:rPr>
              <a:t>Reciprocal</a:t>
            </a:r>
            <a:r>
              <a:rPr lang="pt-BR" b="1" dirty="0" smtClean="0">
                <a:solidFill>
                  <a:srgbClr val="FF9900"/>
                </a:solidFill>
                <a:latin typeface="Arial" pitchFamily="34" charset="0"/>
                <a:cs typeface="Arial" pitchFamily="34" charset="0"/>
              </a:rPr>
              <a:t> Link</a:t>
            </a:r>
            <a:r>
              <a:rPr lang="pt-BR" dirty="0" smtClean="0">
                <a:solidFill>
                  <a:srgbClr val="996633"/>
                </a:solidFill>
                <a:latin typeface="Arial" pitchFamily="34" charset="0"/>
                <a:cs typeface="Arial" pitchFamily="34" charset="0"/>
              </a:rPr>
              <a:t>?</a:t>
            </a:r>
          </a:p>
          <a:p>
            <a:r>
              <a:rPr lang="pt-BR" dirty="0" smtClean="0">
                <a:solidFill>
                  <a:srgbClr val="996633"/>
                </a:solidFill>
                <a:latin typeface="Arial" pitchFamily="34" charset="0"/>
                <a:cs typeface="Arial" pitchFamily="34" charset="0"/>
              </a:rPr>
              <a:t>O Diretório é específico no seu </a:t>
            </a:r>
            <a:r>
              <a:rPr lang="pt-BR" b="1" dirty="0" smtClean="0">
                <a:solidFill>
                  <a:srgbClr val="FF9900"/>
                </a:solidFill>
                <a:latin typeface="Arial" pitchFamily="34" charset="0"/>
                <a:cs typeface="Arial" pitchFamily="34" charset="0"/>
              </a:rPr>
              <a:t>nicho</a:t>
            </a:r>
            <a:r>
              <a:rPr lang="pt-BR" dirty="0" smtClean="0">
                <a:solidFill>
                  <a:srgbClr val="996633"/>
                </a:solidFill>
                <a:latin typeface="Arial" pitchFamily="34" charset="0"/>
                <a:cs typeface="Arial" pitchFamily="34" charset="0"/>
              </a:rPr>
              <a:t>?</a:t>
            </a:r>
            <a:endParaRPr lang="pt-BR" b="1" dirty="0" smtClean="0">
              <a:solidFill>
                <a:srgbClr val="996633"/>
              </a:solidFill>
              <a:latin typeface="Arial" pitchFamily="34" charset="0"/>
              <a:cs typeface="Arial" pitchFamily="34" charset="0"/>
            </a:endParaRPr>
          </a:p>
        </p:txBody>
      </p:sp>
      <p:pic>
        <p:nvPicPr>
          <p:cNvPr id="6" name="Picture 5" descr="C:\Users\Brivin\Desktop\searchlabs\diretorios-02-02.png"/>
          <p:cNvPicPr>
            <a:picLocks noChangeAspect="1" noChangeArrowheads="1"/>
          </p:cNvPicPr>
          <p:nvPr/>
        </p:nvPicPr>
        <p:blipFill>
          <a:blip r:embed="rId2" cstate="print"/>
          <a:srcRect/>
          <a:stretch>
            <a:fillRect/>
          </a:stretch>
        </p:blipFill>
        <p:spPr bwMode="auto">
          <a:xfrm>
            <a:off x="0" y="6231904"/>
            <a:ext cx="9477376" cy="53340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582A04"/>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76672"/>
            <a:ext cx="8229600" cy="1143000"/>
          </a:xfrm>
        </p:spPr>
        <p:txBody>
          <a:bodyPr>
            <a:noAutofit/>
          </a:bodyPr>
          <a:lstStyle/>
          <a:p>
            <a:pPr algn="r"/>
            <a:r>
              <a:rPr lang="en-US" sz="5400" b="1" dirty="0" err="1" smtClean="0">
                <a:solidFill>
                  <a:srgbClr val="FF9900"/>
                </a:solidFill>
                <a:latin typeface="Arial" pitchFamily="34" charset="0"/>
                <a:cs typeface="Arial" pitchFamily="34" charset="0"/>
              </a:rPr>
              <a:t>Diretórios</a:t>
            </a:r>
            <a:r>
              <a:rPr lang="en-US" sz="4800" b="1" dirty="0" smtClean="0">
                <a:solidFill>
                  <a:srgbClr val="AC7531"/>
                </a:solidFill>
                <a:latin typeface="Arial" pitchFamily="34" charset="0"/>
                <a:cs typeface="Arial" pitchFamily="34" charset="0"/>
              </a:rPr>
              <a:t/>
            </a:r>
            <a:br>
              <a:rPr lang="en-US" sz="4800" b="1" dirty="0" smtClean="0">
                <a:solidFill>
                  <a:srgbClr val="AC7531"/>
                </a:solidFill>
                <a:latin typeface="Arial" pitchFamily="34" charset="0"/>
                <a:cs typeface="Arial" pitchFamily="34" charset="0"/>
              </a:rPr>
            </a:br>
            <a:endParaRPr lang="en-US" sz="4800" b="1" dirty="0">
              <a:solidFill>
                <a:srgbClr val="AC7531"/>
              </a:solidFill>
              <a:latin typeface="Arial" pitchFamily="34" charset="0"/>
              <a:cs typeface="Arial" pitchFamily="34" charset="0"/>
            </a:endParaRPr>
          </a:p>
        </p:txBody>
      </p:sp>
      <p:pic>
        <p:nvPicPr>
          <p:cNvPr id="6" name="Picture 5" descr="C:\Users\Brivin\Desktop\searchlabs\diretorios-02-02.png"/>
          <p:cNvPicPr>
            <a:picLocks noChangeAspect="1" noChangeArrowheads="1"/>
          </p:cNvPicPr>
          <p:nvPr/>
        </p:nvPicPr>
        <p:blipFill>
          <a:blip r:embed="rId2" cstate="print"/>
          <a:srcRect/>
          <a:stretch>
            <a:fillRect/>
          </a:stretch>
        </p:blipFill>
        <p:spPr bwMode="auto">
          <a:xfrm>
            <a:off x="0" y="6231904"/>
            <a:ext cx="9477376" cy="5334000"/>
          </a:xfrm>
          <a:prstGeom prst="rect">
            <a:avLst/>
          </a:prstGeom>
          <a:noFill/>
        </p:spPr>
      </p:pic>
      <p:sp>
        <p:nvSpPr>
          <p:cNvPr id="9" name="Espaço Reservado para Conteúdo 2"/>
          <p:cNvSpPr>
            <a:spLocks noGrp="1"/>
          </p:cNvSpPr>
          <p:nvPr>
            <p:ph idx="1"/>
          </p:nvPr>
        </p:nvSpPr>
        <p:spPr>
          <a:xfrm>
            <a:off x="251520" y="1600200"/>
            <a:ext cx="8640960" cy="4493096"/>
          </a:xfrm>
        </p:spPr>
        <p:txBody>
          <a:bodyPr>
            <a:normAutofit fontScale="77500" lnSpcReduction="20000"/>
          </a:bodyPr>
          <a:lstStyle/>
          <a:p>
            <a:pPr>
              <a:buNone/>
            </a:pPr>
            <a:endParaRPr lang="pt-BR" dirty="0" smtClean="0">
              <a:latin typeface="Arial" pitchFamily="34" charset="0"/>
              <a:cs typeface="Arial" pitchFamily="34" charset="0"/>
            </a:endParaRPr>
          </a:p>
          <a:p>
            <a:pPr>
              <a:buNone/>
            </a:pPr>
            <a:endParaRPr lang="pt-BR" b="1" dirty="0" smtClean="0">
              <a:solidFill>
                <a:srgbClr val="FF9900"/>
              </a:solidFill>
              <a:latin typeface="Arial" pitchFamily="34" charset="0"/>
              <a:cs typeface="Arial" pitchFamily="34" charset="0"/>
            </a:endParaRPr>
          </a:p>
          <a:p>
            <a:pPr>
              <a:buNone/>
            </a:pPr>
            <a:r>
              <a:rPr lang="pt-BR" sz="4600" b="1" dirty="0" smtClean="0">
                <a:solidFill>
                  <a:srgbClr val="FF9900"/>
                </a:solidFill>
                <a:latin typeface="Arial" pitchFamily="34" charset="0"/>
                <a:cs typeface="Arial" pitchFamily="34" charset="0"/>
              </a:rPr>
              <a:t>Algumas Vantagens:</a:t>
            </a:r>
          </a:p>
          <a:p>
            <a:pPr>
              <a:buNone/>
            </a:pPr>
            <a:endParaRPr lang="pt-BR" dirty="0" smtClean="0">
              <a:solidFill>
                <a:srgbClr val="753805"/>
              </a:solidFill>
              <a:latin typeface="Arial" pitchFamily="34" charset="0"/>
              <a:cs typeface="Arial" pitchFamily="34" charset="0"/>
            </a:endParaRPr>
          </a:p>
          <a:p>
            <a:pPr>
              <a:buNone/>
            </a:pPr>
            <a:endParaRPr lang="pt-BR" dirty="0" smtClean="0">
              <a:solidFill>
                <a:srgbClr val="753805"/>
              </a:solidFill>
              <a:latin typeface="Arial" pitchFamily="34" charset="0"/>
              <a:cs typeface="Arial" pitchFamily="34" charset="0"/>
            </a:endParaRPr>
          </a:p>
          <a:p>
            <a:pPr>
              <a:buNone/>
            </a:pPr>
            <a:endParaRPr lang="pt-BR" dirty="0" smtClean="0">
              <a:solidFill>
                <a:srgbClr val="753805"/>
              </a:solidFill>
              <a:latin typeface="Arial" pitchFamily="34" charset="0"/>
              <a:cs typeface="Arial" pitchFamily="34" charset="0"/>
            </a:endParaRPr>
          </a:p>
          <a:p>
            <a:pPr>
              <a:buNone/>
            </a:pPr>
            <a:endParaRPr lang="pt-BR" dirty="0" smtClean="0">
              <a:solidFill>
                <a:srgbClr val="753805"/>
              </a:solidFill>
              <a:latin typeface="Arial" pitchFamily="34" charset="0"/>
              <a:cs typeface="Arial" pitchFamily="34" charset="0"/>
            </a:endParaRPr>
          </a:p>
          <a:p>
            <a:pPr>
              <a:buNone/>
            </a:pPr>
            <a:endParaRPr lang="pt-BR" dirty="0" smtClean="0">
              <a:solidFill>
                <a:srgbClr val="753805"/>
              </a:solidFill>
              <a:latin typeface="Arial" pitchFamily="34" charset="0"/>
              <a:cs typeface="Arial" pitchFamily="34" charset="0"/>
            </a:endParaRPr>
          </a:p>
          <a:p>
            <a:r>
              <a:rPr lang="pt-BR" dirty="0" smtClean="0">
                <a:solidFill>
                  <a:srgbClr val="996633"/>
                </a:solidFill>
                <a:latin typeface="Arial" pitchFamily="34" charset="0"/>
                <a:cs typeface="Arial" pitchFamily="34" charset="0"/>
              </a:rPr>
              <a:t>Possibilidade da escolha do texto </a:t>
            </a:r>
            <a:r>
              <a:rPr lang="pt-BR" b="1" dirty="0" smtClean="0">
                <a:solidFill>
                  <a:srgbClr val="FF9900"/>
                </a:solidFill>
                <a:latin typeface="Arial" pitchFamily="34" charset="0"/>
                <a:cs typeface="Arial" pitchFamily="34" charset="0"/>
              </a:rPr>
              <a:t>âncora</a:t>
            </a:r>
            <a:r>
              <a:rPr lang="pt-BR" dirty="0" smtClean="0">
                <a:solidFill>
                  <a:srgbClr val="996633"/>
                </a:solidFill>
                <a:latin typeface="Arial" pitchFamily="34" charset="0"/>
                <a:cs typeface="Arial" pitchFamily="34" charset="0"/>
              </a:rPr>
              <a:t> (alguns);</a:t>
            </a:r>
          </a:p>
          <a:p>
            <a:r>
              <a:rPr lang="pt-BR" b="1" dirty="0" smtClean="0">
                <a:solidFill>
                  <a:srgbClr val="FF9900"/>
                </a:solidFill>
                <a:latin typeface="Arial" pitchFamily="34" charset="0"/>
                <a:cs typeface="Arial" pitchFamily="34" charset="0"/>
              </a:rPr>
              <a:t>Tráfego</a:t>
            </a:r>
            <a:r>
              <a:rPr lang="pt-BR" dirty="0" smtClean="0">
                <a:solidFill>
                  <a:srgbClr val="996633"/>
                </a:solidFill>
                <a:latin typeface="Arial" pitchFamily="34" charset="0"/>
                <a:cs typeface="Arial" pitchFamily="34" charset="0"/>
              </a:rPr>
              <a:t> do diretório (pouco, mas tem);</a:t>
            </a:r>
          </a:p>
          <a:p>
            <a:r>
              <a:rPr lang="pt-BR" b="1" dirty="0" smtClean="0">
                <a:solidFill>
                  <a:srgbClr val="FF9900"/>
                </a:solidFill>
                <a:latin typeface="Arial" pitchFamily="34" charset="0"/>
                <a:cs typeface="Arial" pitchFamily="34" charset="0"/>
              </a:rPr>
              <a:t>Link</a:t>
            </a:r>
            <a:r>
              <a:rPr lang="pt-BR" dirty="0" smtClean="0">
                <a:solidFill>
                  <a:srgbClr val="996633"/>
                </a:solidFill>
                <a:latin typeface="Arial" pitchFamily="34" charset="0"/>
                <a:cs typeface="Arial" pitchFamily="34" charset="0"/>
              </a:rPr>
              <a:t> muito </a:t>
            </a:r>
            <a:r>
              <a:rPr lang="pt-BR" b="1" dirty="0" smtClean="0">
                <a:solidFill>
                  <a:srgbClr val="FF9900"/>
                </a:solidFill>
                <a:latin typeface="Arial" pitchFamily="34" charset="0"/>
                <a:cs typeface="Arial" pitchFamily="34" charset="0"/>
              </a:rPr>
              <a:t>fácil</a:t>
            </a:r>
            <a:r>
              <a:rPr lang="pt-BR" dirty="0" smtClean="0">
                <a:solidFill>
                  <a:srgbClr val="996633"/>
                </a:solidFill>
                <a:latin typeface="Arial" pitchFamily="34" charset="0"/>
                <a:cs typeface="Arial" pitchFamily="34" charset="0"/>
              </a:rPr>
              <a:t> de conseguir; </a:t>
            </a:r>
            <a:endParaRPr lang="pt-BR" b="1" dirty="0" smtClean="0">
              <a:solidFill>
                <a:srgbClr val="996633"/>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582A04"/>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76672"/>
            <a:ext cx="8229600" cy="1143000"/>
          </a:xfrm>
        </p:spPr>
        <p:txBody>
          <a:bodyPr>
            <a:noAutofit/>
          </a:bodyPr>
          <a:lstStyle/>
          <a:p>
            <a:pPr algn="r"/>
            <a:r>
              <a:rPr lang="en-US" sz="5400" b="1" dirty="0" err="1" smtClean="0">
                <a:solidFill>
                  <a:srgbClr val="FF9900"/>
                </a:solidFill>
                <a:latin typeface="Arial" pitchFamily="34" charset="0"/>
                <a:cs typeface="Arial" pitchFamily="34" charset="0"/>
              </a:rPr>
              <a:t>Diretórios</a:t>
            </a:r>
            <a:r>
              <a:rPr lang="en-US" sz="4800" b="1" dirty="0" smtClean="0">
                <a:solidFill>
                  <a:srgbClr val="AC7531"/>
                </a:solidFill>
                <a:latin typeface="Arial" pitchFamily="34" charset="0"/>
                <a:cs typeface="Arial" pitchFamily="34" charset="0"/>
              </a:rPr>
              <a:t/>
            </a:r>
            <a:br>
              <a:rPr lang="en-US" sz="4800" b="1" dirty="0" smtClean="0">
                <a:solidFill>
                  <a:srgbClr val="AC7531"/>
                </a:solidFill>
                <a:latin typeface="Arial" pitchFamily="34" charset="0"/>
                <a:cs typeface="Arial" pitchFamily="34" charset="0"/>
              </a:rPr>
            </a:br>
            <a:endParaRPr lang="en-US" sz="4800" b="1" dirty="0">
              <a:solidFill>
                <a:srgbClr val="AC7531"/>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4493096"/>
          </a:xfrm>
        </p:spPr>
        <p:txBody>
          <a:bodyPr>
            <a:normAutofit fontScale="77500" lnSpcReduction="20000"/>
          </a:bodyPr>
          <a:lstStyle/>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r>
              <a:rPr lang="pt-BR" sz="4100" b="1" dirty="0" smtClean="0">
                <a:solidFill>
                  <a:srgbClr val="FF9900"/>
                </a:solidFill>
                <a:latin typeface="Arial" pitchFamily="34" charset="0"/>
                <a:cs typeface="Arial" pitchFamily="34" charset="0"/>
              </a:rPr>
              <a:t>Alguns Diretórios Interessantes...</a:t>
            </a:r>
          </a:p>
          <a:p>
            <a:pPr>
              <a:buNone/>
            </a:pPr>
            <a:endParaRPr lang="pt-BR" dirty="0" smtClean="0">
              <a:solidFill>
                <a:srgbClr val="996633"/>
              </a:solidFill>
              <a:latin typeface="Arial" pitchFamily="34" charset="0"/>
              <a:cs typeface="Arial" pitchFamily="34" charset="0"/>
            </a:endParaRPr>
          </a:p>
          <a:p>
            <a:pPr>
              <a:buNone/>
            </a:pPr>
            <a:endParaRPr lang="pt-BR" dirty="0" smtClean="0">
              <a:solidFill>
                <a:srgbClr val="996633"/>
              </a:solidFill>
              <a:latin typeface="Arial" pitchFamily="34" charset="0"/>
              <a:cs typeface="Arial" pitchFamily="34" charset="0"/>
            </a:endParaRPr>
          </a:p>
          <a:p>
            <a:pPr>
              <a:buNone/>
            </a:pPr>
            <a:endParaRPr lang="pt-BR" dirty="0" smtClean="0">
              <a:solidFill>
                <a:srgbClr val="996633"/>
              </a:solidFill>
              <a:latin typeface="Arial" pitchFamily="34" charset="0"/>
              <a:cs typeface="Arial" pitchFamily="34" charset="0"/>
            </a:endParaRPr>
          </a:p>
          <a:p>
            <a:pPr>
              <a:buNone/>
            </a:pPr>
            <a:endParaRPr lang="pt-BR" dirty="0" smtClean="0">
              <a:solidFill>
                <a:srgbClr val="996633"/>
              </a:solidFill>
              <a:latin typeface="Arial" pitchFamily="34" charset="0"/>
              <a:cs typeface="Arial" pitchFamily="34" charset="0"/>
            </a:endParaRPr>
          </a:p>
          <a:p>
            <a:pPr>
              <a:buNone/>
            </a:pPr>
            <a:endParaRPr lang="pt-BR" dirty="0" smtClean="0">
              <a:solidFill>
                <a:srgbClr val="996633"/>
              </a:solidFill>
              <a:latin typeface="Arial" pitchFamily="34" charset="0"/>
              <a:cs typeface="Arial" pitchFamily="34" charset="0"/>
            </a:endParaRPr>
          </a:p>
          <a:p>
            <a:pPr algn="ctr">
              <a:buNone/>
            </a:pPr>
            <a:r>
              <a:rPr lang="pt-BR" dirty="0" err="1" smtClean="0">
                <a:solidFill>
                  <a:srgbClr val="996633"/>
                </a:solidFill>
                <a:latin typeface="Arial" pitchFamily="34" charset="0"/>
                <a:cs typeface="Arial" pitchFamily="34" charset="0"/>
              </a:rPr>
              <a:t>Dmoz</a:t>
            </a:r>
            <a:r>
              <a:rPr lang="pt-BR" dirty="0" smtClean="0">
                <a:solidFill>
                  <a:srgbClr val="996633"/>
                </a:solidFill>
                <a:latin typeface="Arial" pitchFamily="34" charset="0"/>
                <a:cs typeface="Arial" pitchFamily="34" charset="0"/>
              </a:rPr>
              <a:t> - Yahoo </a:t>
            </a:r>
            <a:r>
              <a:rPr lang="pt-BR" dirty="0" err="1" smtClean="0">
                <a:solidFill>
                  <a:srgbClr val="996633"/>
                </a:solidFill>
                <a:latin typeface="Arial" pitchFamily="34" charset="0"/>
                <a:cs typeface="Arial" pitchFamily="34" charset="0"/>
              </a:rPr>
              <a:t>Directory</a:t>
            </a:r>
            <a:r>
              <a:rPr lang="pt-BR" dirty="0" smtClean="0">
                <a:solidFill>
                  <a:srgbClr val="996633"/>
                </a:solidFill>
                <a:latin typeface="Arial" pitchFamily="34" charset="0"/>
                <a:cs typeface="Arial" pitchFamily="34" charset="0"/>
              </a:rPr>
              <a:t> - Business - BOTW - Aviva - </a:t>
            </a:r>
            <a:r>
              <a:rPr lang="pt-BR" dirty="0" err="1" smtClean="0">
                <a:solidFill>
                  <a:srgbClr val="996633"/>
                </a:solidFill>
                <a:latin typeface="Arial" pitchFamily="34" charset="0"/>
                <a:cs typeface="Arial" pitchFamily="34" charset="0"/>
              </a:rPr>
              <a:t>Directory</a:t>
            </a:r>
            <a:r>
              <a:rPr lang="pt-BR" dirty="0" smtClean="0">
                <a:solidFill>
                  <a:srgbClr val="996633"/>
                </a:solidFill>
                <a:latin typeface="Arial" pitchFamily="34" charset="0"/>
                <a:cs typeface="Arial" pitchFamily="34" charset="0"/>
              </a:rPr>
              <a:t> </a:t>
            </a:r>
            <a:r>
              <a:rPr lang="pt-BR" dirty="0" err="1" smtClean="0">
                <a:solidFill>
                  <a:srgbClr val="996633"/>
                </a:solidFill>
                <a:latin typeface="Arial" pitchFamily="34" charset="0"/>
                <a:cs typeface="Arial" pitchFamily="34" charset="0"/>
              </a:rPr>
              <a:t>Journal</a:t>
            </a:r>
            <a:r>
              <a:rPr lang="pt-BR" dirty="0" smtClean="0">
                <a:solidFill>
                  <a:srgbClr val="996633"/>
                </a:solidFill>
                <a:latin typeface="Arial" pitchFamily="34" charset="0"/>
                <a:cs typeface="Arial" pitchFamily="34" charset="0"/>
              </a:rPr>
              <a:t> - </a:t>
            </a:r>
            <a:r>
              <a:rPr lang="pt-BR" dirty="0" err="1" smtClean="0">
                <a:solidFill>
                  <a:srgbClr val="996633"/>
                </a:solidFill>
                <a:latin typeface="Arial" pitchFamily="34" charset="0"/>
                <a:cs typeface="Arial" pitchFamily="34" charset="0"/>
              </a:rPr>
              <a:t>Gimpsy</a:t>
            </a:r>
            <a:r>
              <a:rPr lang="pt-BR" dirty="0" smtClean="0">
                <a:solidFill>
                  <a:srgbClr val="996633"/>
                </a:solidFill>
                <a:latin typeface="Arial" pitchFamily="34" charset="0"/>
                <a:cs typeface="Arial" pitchFamily="34" charset="0"/>
              </a:rPr>
              <a:t> - </a:t>
            </a:r>
            <a:r>
              <a:rPr lang="pt-BR" dirty="0" err="1" smtClean="0">
                <a:solidFill>
                  <a:srgbClr val="996633"/>
                </a:solidFill>
                <a:latin typeface="Arial" pitchFamily="34" charset="0"/>
                <a:cs typeface="Arial" pitchFamily="34" charset="0"/>
              </a:rPr>
              <a:t>GoGuides</a:t>
            </a:r>
            <a:r>
              <a:rPr lang="pt-BR" dirty="0" smtClean="0">
                <a:solidFill>
                  <a:srgbClr val="996633"/>
                </a:solidFill>
                <a:latin typeface="Arial" pitchFamily="34" charset="0"/>
                <a:cs typeface="Arial" pitchFamily="34" charset="0"/>
              </a:rPr>
              <a:t> - </a:t>
            </a:r>
            <a:r>
              <a:rPr lang="pt-BR" dirty="0" err="1" smtClean="0">
                <a:solidFill>
                  <a:srgbClr val="996633"/>
                </a:solidFill>
                <a:latin typeface="Arial" pitchFamily="34" charset="0"/>
                <a:cs typeface="Arial" pitchFamily="34" charset="0"/>
              </a:rPr>
              <a:t>Jayde</a:t>
            </a:r>
            <a:r>
              <a:rPr lang="pt-BR" dirty="0" smtClean="0">
                <a:solidFill>
                  <a:srgbClr val="996633"/>
                </a:solidFill>
                <a:latin typeface="Arial" pitchFamily="34" charset="0"/>
                <a:cs typeface="Arial" pitchFamily="34" charset="0"/>
              </a:rPr>
              <a:t> - </a:t>
            </a:r>
            <a:r>
              <a:rPr lang="pt-BR" dirty="0" err="1" smtClean="0">
                <a:solidFill>
                  <a:srgbClr val="996633"/>
                </a:solidFill>
                <a:latin typeface="Arial" pitchFamily="34" charset="0"/>
                <a:cs typeface="Arial" pitchFamily="34" charset="0"/>
              </a:rPr>
              <a:t>JoeANT</a:t>
            </a:r>
            <a:r>
              <a:rPr lang="pt-BR" dirty="0" smtClean="0">
                <a:solidFill>
                  <a:srgbClr val="996633"/>
                </a:solidFill>
                <a:latin typeface="Arial" pitchFamily="34" charset="0"/>
                <a:cs typeface="Arial" pitchFamily="34" charset="0"/>
              </a:rPr>
              <a:t> - </a:t>
            </a:r>
            <a:r>
              <a:rPr lang="pt-BR" dirty="0" err="1" smtClean="0">
                <a:solidFill>
                  <a:srgbClr val="996633"/>
                </a:solidFill>
                <a:latin typeface="Arial" pitchFamily="34" charset="0"/>
                <a:cs typeface="Arial" pitchFamily="34" charset="0"/>
              </a:rPr>
              <a:t>RubberStampped</a:t>
            </a:r>
            <a:r>
              <a:rPr lang="pt-BR" dirty="0" smtClean="0">
                <a:solidFill>
                  <a:srgbClr val="996633"/>
                </a:solidFill>
                <a:latin typeface="Arial" pitchFamily="34" charset="0"/>
                <a:cs typeface="Arial" pitchFamily="34" charset="0"/>
              </a:rPr>
              <a:t> - </a:t>
            </a:r>
            <a:r>
              <a:rPr lang="pt-BR" dirty="0" err="1" smtClean="0">
                <a:solidFill>
                  <a:srgbClr val="996633"/>
                </a:solidFill>
                <a:latin typeface="Arial" pitchFamily="34" charset="0"/>
                <a:cs typeface="Arial" pitchFamily="34" charset="0"/>
              </a:rPr>
              <a:t>Skaffe</a:t>
            </a:r>
            <a:r>
              <a:rPr lang="pt-BR" dirty="0" smtClean="0">
                <a:solidFill>
                  <a:srgbClr val="996633"/>
                </a:solidFill>
                <a:latin typeface="Arial" pitchFamily="34" charset="0"/>
                <a:cs typeface="Arial" pitchFamily="34" charset="0"/>
              </a:rPr>
              <a:t> - </a:t>
            </a:r>
            <a:r>
              <a:rPr lang="pt-BR" dirty="0" err="1" smtClean="0">
                <a:solidFill>
                  <a:srgbClr val="996633"/>
                </a:solidFill>
                <a:latin typeface="Arial" pitchFamily="34" charset="0"/>
                <a:cs typeface="Arial" pitchFamily="34" charset="0"/>
              </a:rPr>
              <a:t>Uncover</a:t>
            </a:r>
            <a:r>
              <a:rPr lang="pt-BR" dirty="0" smtClean="0">
                <a:solidFill>
                  <a:srgbClr val="996633"/>
                </a:solidFill>
                <a:latin typeface="Arial" pitchFamily="34" charset="0"/>
                <a:cs typeface="Arial" pitchFamily="34" charset="0"/>
              </a:rPr>
              <a:t> </a:t>
            </a:r>
            <a:r>
              <a:rPr lang="pt-BR" dirty="0" err="1" smtClean="0">
                <a:solidFill>
                  <a:srgbClr val="996633"/>
                </a:solidFill>
                <a:latin typeface="Arial" pitchFamily="34" charset="0"/>
                <a:cs typeface="Arial" pitchFamily="34" charset="0"/>
              </a:rPr>
              <a:t>the</a:t>
            </a:r>
            <a:r>
              <a:rPr lang="pt-BR" dirty="0" smtClean="0">
                <a:solidFill>
                  <a:srgbClr val="996633"/>
                </a:solidFill>
                <a:latin typeface="Arial" pitchFamily="34" charset="0"/>
                <a:cs typeface="Arial" pitchFamily="34" charset="0"/>
              </a:rPr>
              <a:t> Net - Web </a:t>
            </a:r>
            <a:r>
              <a:rPr lang="pt-BR" dirty="0" err="1" smtClean="0">
                <a:solidFill>
                  <a:srgbClr val="996633"/>
                </a:solidFill>
                <a:latin typeface="Arial" pitchFamily="34" charset="0"/>
                <a:cs typeface="Arial" pitchFamily="34" charset="0"/>
              </a:rPr>
              <a:t>Beacon</a:t>
            </a:r>
            <a:r>
              <a:rPr lang="pt-BR" dirty="0" smtClean="0">
                <a:solidFill>
                  <a:srgbClr val="996633"/>
                </a:solidFill>
                <a:latin typeface="Arial" pitchFamily="34" charset="0"/>
                <a:cs typeface="Arial" pitchFamily="34" charset="0"/>
              </a:rPr>
              <a:t> - </a:t>
            </a:r>
            <a:r>
              <a:rPr lang="pt-BR" dirty="0" err="1" smtClean="0">
                <a:solidFill>
                  <a:srgbClr val="996633"/>
                </a:solidFill>
                <a:latin typeface="Arial" pitchFamily="34" charset="0"/>
                <a:cs typeface="Arial" pitchFamily="34" charset="0"/>
              </a:rPr>
              <a:t>Wow</a:t>
            </a:r>
            <a:r>
              <a:rPr lang="pt-BR" dirty="0" smtClean="0">
                <a:solidFill>
                  <a:srgbClr val="996633"/>
                </a:solidFill>
                <a:latin typeface="Arial" pitchFamily="34" charset="0"/>
                <a:cs typeface="Arial" pitchFamily="34" charset="0"/>
              </a:rPr>
              <a:t> </a:t>
            </a:r>
            <a:r>
              <a:rPr lang="pt-BR" dirty="0" err="1" smtClean="0">
                <a:solidFill>
                  <a:srgbClr val="996633"/>
                </a:solidFill>
                <a:latin typeface="Arial" pitchFamily="34" charset="0"/>
                <a:cs typeface="Arial" pitchFamily="34" charset="0"/>
              </a:rPr>
              <a:t>Directory</a:t>
            </a:r>
            <a:r>
              <a:rPr lang="pt-BR" dirty="0" smtClean="0">
                <a:solidFill>
                  <a:srgbClr val="996633"/>
                </a:solidFill>
                <a:latin typeface="Arial" pitchFamily="34" charset="0"/>
                <a:cs typeface="Arial" pitchFamily="34" charset="0"/>
              </a:rPr>
              <a:t> - NOVO BR, etc...</a:t>
            </a:r>
          </a:p>
        </p:txBody>
      </p:sp>
      <p:pic>
        <p:nvPicPr>
          <p:cNvPr id="7" name="Picture 6" descr="C:\Users\Brivin\Desktop\searchlabs\diretorios-02-02.png"/>
          <p:cNvPicPr>
            <a:picLocks noChangeAspect="1" noChangeArrowheads="1"/>
          </p:cNvPicPr>
          <p:nvPr/>
        </p:nvPicPr>
        <p:blipFill>
          <a:blip r:embed="rId2" cstate="print"/>
          <a:srcRect/>
          <a:stretch>
            <a:fillRect/>
          </a:stretch>
        </p:blipFill>
        <p:spPr bwMode="auto">
          <a:xfrm>
            <a:off x="0" y="6231904"/>
            <a:ext cx="9477376" cy="533400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582A04"/>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76672"/>
            <a:ext cx="8229600" cy="1143000"/>
          </a:xfrm>
        </p:spPr>
        <p:txBody>
          <a:bodyPr>
            <a:noAutofit/>
          </a:bodyPr>
          <a:lstStyle/>
          <a:p>
            <a:pPr algn="r"/>
            <a:r>
              <a:rPr lang="en-US" sz="5400" b="1" dirty="0" err="1" smtClean="0">
                <a:solidFill>
                  <a:srgbClr val="FF9900"/>
                </a:solidFill>
                <a:latin typeface="Arial" pitchFamily="34" charset="0"/>
                <a:cs typeface="Arial" pitchFamily="34" charset="0"/>
              </a:rPr>
              <a:t>Diretórios</a:t>
            </a:r>
            <a:r>
              <a:rPr lang="en-US" sz="4800" b="1" dirty="0" smtClean="0">
                <a:solidFill>
                  <a:srgbClr val="FF9900"/>
                </a:solidFill>
                <a:latin typeface="Arial" pitchFamily="34" charset="0"/>
                <a:cs typeface="Arial" pitchFamily="34" charset="0"/>
              </a:rPr>
              <a:t/>
            </a:r>
            <a:br>
              <a:rPr lang="en-US" sz="4800" b="1" dirty="0" smtClean="0">
                <a:solidFill>
                  <a:srgbClr val="FF9900"/>
                </a:solidFill>
                <a:latin typeface="Arial" pitchFamily="34" charset="0"/>
                <a:cs typeface="Arial" pitchFamily="34" charset="0"/>
              </a:rPr>
            </a:br>
            <a:endParaRPr lang="en-US" sz="4800" b="1" dirty="0">
              <a:solidFill>
                <a:srgbClr val="FF9900"/>
              </a:solidFill>
              <a:latin typeface="Arial" pitchFamily="34" charset="0"/>
              <a:cs typeface="Arial" pitchFamily="34" charset="0"/>
            </a:endParaRPr>
          </a:p>
        </p:txBody>
      </p:sp>
      <p:sp>
        <p:nvSpPr>
          <p:cNvPr id="9" name="Espaço Reservado para Conteúdo 2"/>
          <p:cNvSpPr>
            <a:spLocks noGrp="1"/>
          </p:cNvSpPr>
          <p:nvPr>
            <p:ph idx="1"/>
          </p:nvPr>
        </p:nvSpPr>
        <p:spPr>
          <a:xfrm>
            <a:off x="251520" y="836712"/>
            <a:ext cx="8640960" cy="5069160"/>
          </a:xfrm>
        </p:spPr>
        <p:txBody>
          <a:bodyPr>
            <a:normAutofit fontScale="85000" lnSpcReduction="20000"/>
          </a:bodyPr>
          <a:lstStyle/>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r>
              <a:rPr lang="pt-BR" dirty="0" smtClean="0">
                <a:solidFill>
                  <a:srgbClr val="996633"/>
                </a:solidFill>
                <a:latin typeface="Arial" pitchFamily="34" charset="0"/>
                <a:cs typeface="Arial" pitchFamily="34" charset="0"/>
              </a:rPr>
              <a:t>Use o </a:t>
            </a:r>
            <a:r>
              <a:rPr lang="pt-BR" b="1" dirty="0" smtClean="0">
                <a:solidFill>
                  <a:srgbClr val="FF9900"/>
                </a:solidFill>
                <a:latin typeface="Arial" pitchFamily="34" charset="0"/>
                <a:cs typeface="Arial" pitchFamily="34" charset="0"/>
              </a:rPr>
              <a:t>google</a:t>
            </a:r>
            <a:r>
              <a:rPr lang="pt-BR" dirty="0" smtClean="0">
                <a:solidFill>
                  <a:srgbClr val="996633"/>
                </a:solidFill>
                <a:latin typeface="Arial" pitchFamily="34" charset="0"/>
                <a:cs typeface="Arial" pitchFamily="34" charset="0"/>
              </a:rPr>
              <a:t> para encontrá-los:</a:t>
            </a:r>
          </a:p>
          <a:p>
            <a:pPr>
              <a:buNone/>
            </a:pPr>
            <a:endParaRPr lang="pt-BR" dirty="0" smtClean="0">
              <a:solidFill>
                <a:srgbClr val="996633"/>
              </a:solidFill>
              <a:latin typeface="Arial" pitchFamily="34" charset="0"/>
              <a:cs typeface="Arial" pitchFamily="34" charset="0"/>
            </a:endParaRPr>
          </a:p>
          <a:p>
            <a:pPr>
              <a:buNone/>
            </a:pPr>
            <a:endParaRPr lang="pt-BR" dirty="0" smtClean="0">
              <a:solidFill>
                <a:srgbClr val="996633"/>
              </a:solidFill>
              <a:latin typeface="Arial" pitchFamily="34" charset="0"/>
              <a:cs typeface="Arial" pitchFamily="34" charset="0"/>
            </a:endParaRPr>
          </a:p>
          <a:p>
            <a:pPr>
              <a:buNone/>
            </a:pPr>
            <a:endParaRPr lang="pt-BR" dirty="0" smtClean="0">
              <a:solidFill>
                <a:srgbClr val="996633"/>
              </a:solidFill>
              <a:latin typeface="Arial" pitchFamily="34" charset="0"/>
              <a:cs typeface="Arial" pitchFamily="34" charset="0"/>
            </a:endParaRPr>
          </a:p>
          <a:p>
            <a:pPr>
              <a:buNone/>
            </a:pPr>
            <a:r>
              <a:rPr lang="pt-BR" dirty="0" err="1" smtClean="0">
                <a:solidFill>
                  <a:srgbClr val="FF9900"/>
                </a:solidFill>
                <a:latin typeface="Arial" pitchFamily="34" charset="0"/>
                <a:cs typeface="Arial" pitchFamily="34" charset="0"/>
              </a:rPr>
              <a:t>keyword</a:t>
            </a:r>
            <a:r>
              <a:rPr lang="pt-BR" dirty="0" smtClean="0">
                <a:solidFill>
                  <a:srgbClr val="FF9900"/>
                </a:solidFill>
                <a:latin typeface="Arial" pitchFamily="34" charset="0"/>
                <a:cs typeface="Arial" pitchFamily="34" charset="0"/>
              </a:rPr>
              <a:t> + “adicionar site” </a:t>
            </a:r>
          </a:p>
          <a:p>
            <a:pPr>
              <a:buNone/>
            </a:pPr>
            <a:r>
              <a:rPr lang="pt-BR" dirty="0" err="1" smtClean="0">
                <a:solidFill>
                  <a:srgbClr val="FF9900"/>
                </a:solidFill>
                <a:latin typeface="Arial" pitchFamily="34" charset="0"/>
                <a:cs typeface="Arial" pitchFamily="34" charset="0"/>
              </a:rPr>
              <a:t>keyword</a:t>
            </a:r>
            <a:r>
              <a:rPr lang="pt-BR" dirty="0" smtClean="0">
                <a:solidFill>
                  <a:srgbClr val="FF9900"/>
                </a:solidFill>
                <a:latin typeface="Arial" pitchFamily="34" charset="0"/>
                <a:cs typeface="Arial" pitchFamily="34" charset="0"/>
              </a:rPr>
              <a:t> + “enviar url” </a:t>
            </a:r>
          </a:p>
          <a:p>
            <a:pPr>
              <a:buNone/>
            </a:pPr>
            <a:r>
              <a:rPr lang="pt-BR" dirty="0" err="1" smtClean="0">
                <a:solidFill>
                  <a:srgbClr val="FF9900"/>
                </a:solidFill>
                <a:latin typeface="Arial" pitchFamily="34" charset="0"/>
                <a:cs typeface="Arial" pitchFamily="34" charset="0"/>
              </a:rPr>
              <a:t>keyword</a:t>
            </a:r>
            <a:r>
              <a:rPr lang="pt-BR" dirty="0" smtClean="0">
                <a:solidFill>
                  <a:srgbClr val="FF9900"/>
                </a:solidFill>
                <a:latin typeface="Arial" pitchFamily="34" charset="0"/>
                <a:cs typeface="Arial" pitchFamily="34" charset="0"/>
              </a:rPr>
              <a:t> + "</a:t>
            </a:r>
            <a:r>
              <a:rPr lang="pt-BR" dirty="0" err="1" smtClean="0">
                <a:solidFill>
                  <a:srgbClr val="FF9900"/>
                </a:solidFill>
                <a:latin typeface="Arial" pitchFamily="34" charset="0"/>
                <a:cs typeface="Arial" pitchFamily="34" charset="0"/>
              </a:rPr>
              <a:t>Diretorio</a:t>
            </a:r>
            <a:r>
              <a:rPr lang="pt-BR" dirty="0" smtClean="0">
                <a:solidFill>
                  <a:srgbClr val="FF9900"/>
                </a:solidFill>
                <a:latin typeface="Arial" pitchFamily="34" charset="0"/>
                <a:cs typeface="Arial" pitchFamily="34" charset="0"/>
              </a:rPr>
              <a:t>"</a:t>
            </a:r>
          </a:p>
          <a:p>
            <a:pPr>
              <a:buNone/>
            </a:pPr>
            <a:r>
              <a:rPr lang="pt-BR" dirty="0" err="1" smtClean="0">
                <a:solidFill>
                  <a:srgbClr val="FF9900"/>
                </a:solidFill>
                <a:latin typeface="Arial" pitchFamily="34" charset="0"/>
                <a:cs typeface="Arial" pitchFamily="34" charset="0"/>
              </a:rPr>
              <a:t>Keyword</a:t>
            </a:r>
            <a:r>
              <a:rPr lang="pt-BR" dirty="0" smtClean="0">
                <a:solidFill>
                  <a:srgbClr val="FF9900"/>
                </a:solidFill>
                <a:latin typeface="Arial" pitchFamily="34" charset="0"/>
                <a:cs typeface="Arial" pitchFamily="34" charset="0"/>
              </a:rPr>
              <a:t> + "Submeter url"</a:t>
            </a:r>
          </a:p>
          <a:p>
            <a:pPr>
              <a:buNone/>
            </a:pPr>
            <a:r>
              <a:rPr lang="pt-BR" dirty="0" err="1" smtClean="0">
                <a:solidFill>
                  <a:srgbClr val="FF9900"/>
                </a:solidFill>
                <a:latin typeface="Arial" pitchFamily="34" charset="0"/>
                <a:cs typeface="Arial" pitchFamily="34" charset="0"/>
              </a:rPr>
              <a:t>Keyword</a:t>
            </a:r>
            <a:r>
              <a:rPr lang="pt-BR" dirty="0" smtClean="0">
                <a:solidFill>
                  <a:srgbClr val="FF9900"/>
                </a:solidFill>
                <a:latin typeface="Arial" pitchFamily="34" charset="0"/>
                <a:cs typeface="Arial" pitchFamily="34" charset="0"/>
              </a:rPr>
              <a:t> + "Cadastrar Site"</a:t>
            </a:r>
          </a:p>
        </p:txBody>
      </p:sp>
      <p:pic>
        <p:nvPicPr>
          <p:cNvPr id="7" name="Picture 6" descr="C:\Users\Brivin\Desktop\searchlabs\diretorios-02-02.png"/>
          <p:cNvPicPr>
            <a:picLocks noChangeAspect="1" noChangeArrowheads="1"/>
          </p:cNvPicPr>
          <p:nvPr/>
        </p:nvPicPr>
        <p:blipFill>
          <a:blip r:embed="rId2" cstate="print"/>
          <a:srcRect/>
          <a:stretch>
            <a:fillRect/>
          </a:stretch>
        </p:blipFill>
        <p:spPr bwMode="auto">
          <a:xfrm>
            <a:off x="0" y="6231904"/>
            <a:ext cx="9477376" cy="53340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76672"/>
            <a:ext cx="8229600" cy="1143000"/>
          </a:xfrm>
        </p:spPr>
        <p:txBody>
          <a:bodyPr>
            <a:noAutofit/>
          </a:bodyPr>
          <a:lstStyle/>
          <a:p>
            <a:pPr algn="r"/>
            <a:r>
              <a:rPr lang="en-US" sz="4800" b="1" dirty="0" smtClean="0">
                <a:solidFill>
                  <a:schemeClr val="bg1"/>
                </a:solidFill>
                <a:latin typeface="HelveticaNeueLT Std" pitchFamily="34" charset="0"/>
              </a:rPr>
              <a:t/>
            </a:r>
            <a:br>
              <a:rPr lang="en-US" sz="4800" b="1" dirty="0" smtClean="0">
                <a:solidFill>
                  <a:schemeClr val="bg1"/>
                </a:solidFill>
                <a:latin typeface="HelveticaNeueLT Std" pitchFamily="34" charset="0"/>
              </a:rPr>
            </a:br>
            <a:endParaRPr lang="en-US" sz="4800" b="1" dirty="0">
              <a:solidFill>
                <a:schemeClr val="bg1"/>
              </a:solidFill>
              <a:latin typeface="HelveticaNeueLT Std" pitchFamily="34" charset="0"/>
            </a:endParaRPr>
          </a:p>
        </p:txBody>
      </p:sp>
      <p:pic>
        <p:nvPicPr>
          <p:cNvPr id="3076" name="Picture 4" descr="C:\Users\hp\Desktop\searchlabs\RocknRoll_Pattern_CS4.jpg"/>
          <p:cNvPicPr>
            <a:picLocks noChangeAspect="1" noChangeArrowheads="1"/>
          </p:cNvPicPr>
          <p:nvPr/>
        </p:nvPicPr>
        <p:blipFill>
          <a:blip r:embed="rId2" cstate="print"/>
          <a:srcRect/>
          <a:stretch>
            <a:fillRect/>
          </a:stretch>
        </p:blipFill>
        <p:spPr bwMode="auto">
          <a:xfrm>
            <a:off x="-394854" y="-142486"/>
            <a:ext cx="9754632" cy="9766086"/>
          </a:xfrm>
          <a:prstGeom prst="rect">
            <a:avLst/>
          </a:prstGeom>
          <a:noFill/>
        </p:spPr>
      </p:pic>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buNone/>
            </a:pPr>
            <a:endParaRPr lang="pt-BR" dirty="0" smtClean="0">
              <a:solidFill>
                <a:schemeClr val="bg1"/>
              </a:solidFill>
              <a:latin typeface="Arial" pitchFamily="34" charset="0"/>
              <a:cs typeface="Arial" pitchFamily="34" charset="0"/>
            </a:endParaRPr>
          </a:p>
          <a:p>
            <a:pPr>
              <a:buNone/>
            </a:pPr>
            <a:endParaRPr lang="pt-BR" dirty="0" smtClean="0">
              <a:solidFill>
                <a:schemeClr val="bg1"/>
              </a:solidFill>
              <a:latin typeface="Arial" pitchFamily="34" charset="0"/>
              <a:cs typeface="Arial" pitchFamily="34" charset="0"/>
            </a:endParaRPr>
          </a:p>
          <a:p>
            <a:pPr algn="ctr">
              <a:buNone/>
            </a:pPr>
            <a:r>
              <a:rPr lang="pt-BR" sz="5200" b="1" dirty="0" smtClean="0">
                <a:solidFill>
                  <a:srgbClr val="FF9900"/>
                </a:solidFill>
                <a:latin typeface="Arial" pitchFamily="34" charset="0"/>
                <a:cs typeface="Arial" pitchFamily="34" charset="0"/>
              </a:rPr>
              <a:t>Dicas do Mal</a:t>
            </a:r>
          </a:p>
          <a:p>
            <a:pPr>
              <a:buNone/>
            </a:pPr>
            <a:endParaRPr lang="pt-BR" dirty="0" smtClean="0">
              <a:solidFill>
                <a:srgbClr val="FF9900"/>
              </a:solidFill>
              <a:latin typeface="Arial" pitchFamily="34" charset="0"/>
              <a:cs typeface="Arial" pitchFamily="34" charset="0"/>
            </a:endParaRPr>
          </a:p>
          <a:p>
            <a:pPr>
              <a:buNone/>
            </a:pPr>
            <a:endParaRPr lang="pt-BR" dirty="0" smtClean="0">
              <a:solidFill>
                <a:srgbClr val="FF9900"/>
              </a:solidFill>
              <a:latin typeface="Arial" pitchFamily="34" charset="0"/>
              <a:cs typeface="Arial" pitchFamily="34" charset="0"/>
            </a:endParaRPr>
          </a:p>
          <a:p>
            <a:pPr>
              <a:buNone/>
            </a:pPr>
            <a:endParaRPr lang="pt-BR" dirty="0" smtClean="0">
              <a:solidFill>
                <a:srgbClr val="FF9900"/>
              </a:solidFill>
              <a:latin typeface="Arial" pitchFamily="34" charset="0"/>
              <a:cs typeface="Arial" pitchFamily="34" charset="0"/>
            </a:endParaRPr>
          </a:p>
          <a:p>
            <a:pPr>
              <a:buNone/>
            </a:pPr>
            <a:endParaRPr lang="pt-BR" dirty="0" smtClean="0">
              <a:solidFill>
                <a:srgbClr val="FF9900"/>
              </a:solidFill>
              <a:latin typeface="Arial" pitchFamily="34" charset="0"/>
              <a:cs typeface="Arial" pitchFamily="34" charset="0"/>
            </a:endParaRPr>
          </a:p>
          <a:p>
            <a:r>
              <a:rPr lang="pt-BR" dirty="0" smtClean="0">
                <a:solidFill>
                  <a:srgbClr val="FF9900"/>
                </a:solidFill>
                <a:latin typeface="Arial" pitchFamily="34" charset="0"/>
                <a:cs typeface="Arial" pitchFamily="34" charset="0"/>
              </a:rPr>
              <a:t>Não Recomendo;</a:t>
            </a:r>
          </a:p>
          <a:p>
            <a:r>
              <a:rPr lang="pt-BR" dirty="0" smtClean="0">
                <a:solidFill>
                  <a:srgbClr val="FF9900"/>
                </a:solidFill>
                <a:latin typeface="Arial" pitchFamily="34" charset="0"/>
                <a:cs typeface="Arial" pitchFamily="34" charset="0"/>
              </a:rPr>
              <a:t>Apenas sei que fazem por aí;</a:t>
            </a:r>
          </a:p>
          <a:p>
            <a:r>
              <a:rPr lang="pt-BR" dirty="0" smtClean="0">
                <a:solidFill>
                  <a:srgbClr val="FF9900"/>
                </a:solidFill>
                <a:latin typeface="Arial" pitchFamily="34" charset="0"/>
                <a:cs typeface="Arial" pitchFamily="34" charset="0"/>
              </a:rPr>
              <a:t>Agregam pouco valor;</a:t>
            </a:r>
          </a:p>
          <a:p>
            <a:r>
              <a:rPr lang="pt-BR" dirty="0" smtClean="0">
                <a:solidFill>
                  <a:srgbClr val="FF9900"/>
                </a:solidFill>
                <a:latin typeface="Arial" pitchFamily="34" charset="0"/>
                <a:cs typeface="Arial" pitchFamily="34" charset="0"/>
              </a:rPr>
              <a:t>Sem garantias;</a:t>
            </a:r>
          </a:p>
          <a:p>
            <a:r>
              <a:rPr lang="pt-BR" dirty="0" smtClean="0">
                <a:solidFill>
                  <a:srgbClr val="FF9900"/>
                </a:solidFill>
                <a:latin typeface="Arial" pitchFamily="34" charset="0"/>
                <a:cs typeface="Arial" pitchFamily="34" charset="0"/>
              </a:rPr>
              <a:t>Use com moderação;</a:t>
            </a:r>
          </a:p>
          <a:p>
            <a:r>
              <a:rPr lang="pt-BR" dirty="0" smtClean="0">
                <a:solidFill>
                  <a:srgbClr val="FF9900"/>
                </a:solidFill>
                <a:latin typeface="Arial" pitchFamily="34" charset="0"/>
                <a:cs typeface="Arial" pitchFamily="34" charset="0"/>
              </a:rPr>
              <a:t>O Google está de olho.</a:t>
            </a:r>
          </a:p>
        </p:txBody>
      </p:sp>
      <p:pic>
        <p:nvPicPr>
          <p:cNvPr id="3077" name="Picture 5" descr="C:\Users\hp\Desktop\searchlabs\dicas-do-mal.png"/>
          <p:cNvPicPr>
            <a:picLocks noChangeAspect="1" noChangeArrowheads="1"/>
          </p:cNvPicPr>
          <p:nvPr/>
        </p:nvPicPr>
        <p:blipFill>
          <a:blip r:embed="rId3" cstate="print"/>
          <a:srcRect/>
          <a:stretch>
            <a:fillRect/>
          </a:stretch>
        </p:blipFill>
        <p:spPr bwMode="auto">
          <a:xfrm>
            <a:off x="3851920" y="620688"/>
            <a:ext cx="1460500" cy="1219200"/>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4" descr="C:\Users\hp\Desktop\searchlabs\RocknRoll_Pattern_CS4.jpg"/>
          <p:cNvPicPr>
            <a:picLocks noChangeAspect="1" noChangeArrowheads="1"/>
          </p:cNvPicPr>
          <p:nvPr/>
        </p:nvPicPr>
        <p:blipFill>
          <a:blip r:embed="rId2" cstate="print"/>
          <a:srcRect/>
          <a:stretch>
            <a:fillRect/>
          </a:stretch>
        </p:blipFill>
        <p:spPr bwMode="auto">
          <a:xfrm>
            <a:off x="-394854" y="-142486"/>
            <a:ext cx="9754632" cy="9766086"/>
          </a:xfrm>
          <a:prstGeom prst="rect">
            <a:avLst/>
          </a:prstGeom>
          <a:noFill/>
        </p:spPr>
      </p:pic>
      <p:sp>
        <p:nvSpPr>
          <p:cNvPr id="8" name="Título 1"/>
          <p:cNvSpPr>
            <a:spLocks noGrp="1"/>
          </p:cNvSpPr>
          <p:nvPr>
            <p:ph type="title"/>
          </p:nvPr>
        </p:nvSpPr>
        <p:spPr>
          <a:xfrm>
            <a:off x="611560" y="476672"/>
            <a:ext cx="8229600" cy="1143000"/>
          </a:xfrm>
        </p:spPr>
        <p:txBody>
          <a:bodyPr>
            <a:noAutofit/>
          </a:bodyPr>
          <a:lstStyle/>
          <a:p>
            <a:pPr algn="r"/>
            <a:r>
              <a:rPr lang="en-US" sz="5400" b="1" dirty="0" err="1" smtClean="0">
                <a:solidFill>
                  <a:srgbClr val="FF9900"/>
                </a:solidFill>
                <a:latin typeface="Arial" pitchFamily="34" charset="0"/>
                <a:cs typeface="Arial" pitchFamily="34" charset="0"/>
              </a:rPr>
              <a:t>Diretórios</a:t>
            </a:r>
            <a:r>
              <a:rPr lang="en-US" sz="4800" b="1" dirty="0" smtClean="0">
                <a:solidFill>
                  <a:srgbClr val="FF9900"/>
                </a:solidFill>
                <a:latin typeface="Arial" pitchFamily="34" charset="0"/>
                <a:cs typeface="Arial" pitchFamily="34" charset="0"/>
              </a:rPr>
              <a:t/>
            </a:r>
            <a:br>
              <a:rPr lang="en-US" sz="4800" b="1" dirty="0" smtClean="0">
                <a:solidFill>
                  <a:srgbClr val="FF9900"/>
                </a:solidFill>
                <a:latin typeface="Arial" pitchFamily="34" charset="0"/>
                <a:cs typeface="Arial" pitchFamily="34" charset="0"/>
              </a:rPr>
            </a:br>
            <a:endParaRPr lang="en-US" sz="4800" b="1" dirty="0">
              <a:solidFill>
                <a:srgbClr val="FF99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buNone/>
            </a:pPr>
            <a:endParaRPr lang="pt-BR" dirty="0" smtClean="0">
              <a:solidFill>
                <a:schemeClr val="bg1"/>
              </a:solidFill>
              <a:latin typeface="Arial" pitchFamily="34" charset="0"/>
              <a:cs typeface="Arial" pitchFamily="34" charset="0"/>
            </a:endParaRPr>
          </a:p>
          <a:p>
            <a:pPr>
              <a:buNone/>
            </a:pPr>
            <a:endParaRPr lang="pt-BR" dirty="0" smtClean="0">
              <a:solidFill>
                <a:schemeClr val="bg1"/>
              </a:solidFill>
              <a:latin typeface="Arial" pitchFamily="34" charset="0"/>
              <a:cs typeface="Arial" pitchFamily="34" charset="0"/>
            </a:endParaRPr>
          </a:p>
          <a:p>
            <a:pPr>
              <a:buNone/>
            </a:pPr>
            <a:r>
              <a:rPr lang="pt-BR" b="1" dirty="0" smtClean="0">
                <a:solidFill>
                  <a:srgbClr val="FF9900"/>
                </a:solidFill>
                <a:latin typeface="Arial" pitchFamily="34" charset="0"/>
                <a:cs typeface="Arial" pitchFamily="34" charset="0"/>
              </a:rPr>
              <a:t>DICA DO MAL 1:</a:t>
            </a:r>
          </a:p>
          <a:p>
            <a:pPr>
              <a:buNone/>
            </a:pPr>
            <a:endParaRPr lang="pt-BR" b="1" dirty="0" smtClean="0">
              <a:solidFill>
                <a:srgbClr val="996633"/>
              </a:solidFill>
              <a:latin typeface="Arial" pitchFamily="34" charset="0"/>
              <a:cs typeface="Arial" pitchFamily="34" charset="0"/>
            </a:endParaRPr>
          </a:p>
          <a:p>
            <a:pPr>
              <a:buNone/>
            </a:pPr>
            <a:endParaRPr lang="pt-BR" dirty="0" smtClean="0">
              <a:solidFill>
                <a:srgbClr val="996633"/>
              </a:solidFill>
              <a:latin typeface="Arial" pitchFamily="34" charset="0"/>
              <a:cs typeface="Arial" pitchFamily="34" charset="0"/>
            </a:endParaRPr>
          </a:p>
          <a:p>
            <a:pPr>
              <a:buNone/>
            </a:pPr>
            <a:r>
              <a:rPr lang="pt-BR" dirty="0" smtClean="0">
                <a:solidFill>
                  <a:schemeClr val="bg1">
                    <a:lumMod val="75000"/>
                  </a:schemeClr>
                </a:solidFill>
                <a:latin typeface="Arial" pitchFamily="34" charset="0"/>
                <a:cs typeface="Arial" pitchFamily="34" charset="0"/>
              </a:rPr>
              <a:t>Diretórios que Pedem </a:t>
            </a:r>
            <a:r>
              <a:rPr lang="pt-BR" dirty="0" smtClean="0">
                <a:solidFill>
                  <a:srgbClr val="FF9900"/>
                </a:solidFill>
                <a:latin typeface="Arial" pitchFamily="34" charset="0"/>
                <a:cs typeface="Arial" pitchFamily="34" charset="0"/>
              </a:rPr>
              <a:t>Links Recíprocos</a:t>
            </a:r>
          </a:p>
          <a:p>
            <a:pPr>
              <a:buNone/>
            </a:pPr>
            <a:endParaRPr lang="pt-BR" dirty="0" smtClean="0">
              <a:solidFill>
                <a:srgbClr val="996633"/>
              </a:solidFill>
              <a:latin typeface="Arial" pitchFamily="34" charset="0"/>
              <a:cs typeface="Arial" pitchFamily="34" charset="0"/>
            </a:endParaRPr>
          </a:p>
          <a:p>
            <a:pPr>
              <a:buNone/>
            </a:pPr>
            <a:endParaRPr lang="pt-BR" dirty="0" smtClean="0">
              <a:solidFill>
                <a:schemeClr val="bg1">
                  <a:lumMod val="75000"/>
                </a:schemeClr>
              </a:solidFill>
              <a:latin typeface="Arial" pitchFamily="34" charset="0"/>
              <a:cs typeface="Arial" pitchFamily="34" charset="0"/>
            </a:endParaRPr>
          </a:p>
          <a:p>
            <a:r>
              <a:rPr lang="pt-BR" dirty="0" smtClean="0">
                <a:solidFill>
                  <a:schemeClr val="bg1">
                    <a:lumMod val="75000"/>
                  </a:schemeClr>
                </a:solidFill>
                <a:latin typeface="Arial" pitchFamily="34" charset="0"/>
                <a:cs typeface="Arial" pitchFamily="34" charset="0"/>
              </a:rPr>
              <a:t>Crie uma página nova no site;</a:t>
            </a:r>
          </a:p>
          <a:p>
            <a:r>
              <a:rPr lang="pt-BR" dirty="0" smtClean="0">
                <a:solidFill>
                  <a:schemeClr val="bg1">
                    <a:lumMod val="75000"/>
                  </a:schemeClr>
                </a:solidFill>
                <a:latin typeface="Arial" pitchFamily="34" charset="0"/>
                <a:cs typeface="Arial" pitchFamily="34" charset="0"/>
              </a:rPr>
              <a:t>Não linke essa página de nenhuma página sua;</a:t>
            </a:r>
          </a:p>
          <a:p>
            <a:r>
              <a:rPr lang="pt-BR" dirty="0" smtClean="0">
                <a:solidFill>
                  <a:schemeClr val="bg1">
                    <a:lumMod val="75000"/>
                  </a:schemeClr>
                </a:solidFill>
                <a:latin typeface="Arial" pitchFamily="34" charset="0"/>
                <a:cs typeface="Arial" pitchFamily="34" charset="0"/>
              </a:rPr>
              <a:t>Bloqueie a página no Robots.txt ou use meta </a:t>
            </a:r>
            <a:r>
              <a:rPr lang="pt-BR" dirty="0" err="1" smtClean="0">
                <a:solidFill>
                  <a:schemeClr val="bg1">
                    <a:lumMod val="75000"/>
                  </a:schemeClr>
                </a:solidFill>
                <a:latin typeface="Arial" pitchFamily="34" charset="0"/>
                <a:cs typeface="Arial" pitchFamily="34" charset="0"/>
              </a:rPr>
              <a:t>noindex</a:t>
            </a:r>
            <a:r>
              <a:rPr lang="pt-BR" dirty="0" smtClean="0">
                <a:solidFill>
                  <a:schemeClr val="bg1">
                    <a:lumMod val="75000"/>
                  </a:schemeClr>
                </a:solidFill>
                <a:latin typeface="Arial" pitchFamily="34" charset="0"/>
                <a:cs typeface="Arial" pitchFamily="34" charset="0"/>
              </a:rPr>
              <a:t>;</a:t>
            </a:r>
          </a:p>
          <a:p>
            <a:r>
              <a:rPr lang="pt-BR" dirty="0" smtClean="0">
                <a:solidFill>
                  <a:schemeClr val="bg1">
                    <a:lumMod val="75000"/>
                  </a:schemeClr>
                </a:solidFill>
                <a:latin typeface="Arial" pitchFamily="34" charset="0"/>
                <a:cs typeface="Arial" pitchFamily="34" charset="0"/>
              </a:rPr>
              <a:t>Linke para o Diretório nessa página;</a:t>
            </a:r>
          </a:p>
          <a:p>
            <a:r>
              <a:rPr lang="pt-BR" dirty="0" smtClean="0">
                <a:solidFill>
                  <a:schemeClr val="bg1">
                    <a:lumMod val="75000"/>
                  </a:schemeClr>
                </a:solidFill>
                <a:latin typeface="Arial" pitchFamily="34" charset="0"/>
                <a:cs typeface="Arial" pitchFamily="34" charset="0"/>
              </a:rPr>
              <a:t>Cadastre no Diretório;</a:t>
            </a:r>
          </a:p>
          <a:p>
            <a:r>
              <a:rPr lang="pt-BR" dirty="0" smtClean="0">
                <a:solidFill>
                  <a:schemeClr val="bg1">
                    <a:lumMod val="75000"/>
                  </a:schemeClr>
                </a:solidFill>
                <a:latin typeface="Arial" pitchFamily="34" charset="0"/>
                <a:cs typeface="Arial" pitchFamily="34" charset="0"/>
              </a:rPr>
              <a:t>Quando pedir o local do link recíproco, envie essa URL.</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4" descr="C:\Users\hp\Desktop\searchlabs\RocknRoll_Pattern_CS4.jpg"/>
          <p:cNvPicPr>
            <a:picLocks noChangeAspect="1" noChangeArrowheads="1"/>
          </p:cNvPicPr>
          <p:nvPr/>
        </p:nvPicPr>
        <p:blipFill>
          <a:blip r:embed="rId2" cstate="print"/>
          <a:srcRect/>
          <a:stretch>
            <a:fillRect/>
          </a:stretch>
        </p:blipFill>
        <p:spPr bwMode="auto">
          <a:xfrm>
            <a:off x="-394854" y="-142486"/>
            <a:ext cx="9754632" cy="9766086"/>
          </a:xfrm>
          <a:prstGeom prst="rect">
            <a:avLst/>
          </a:prstGeom>
          <a:noFill/>
        </p:spPr>
      </p:pic>
      <p:sp>
        <p:nvSpPr>
          <p:cNvPr id="8" name="Título 1"/>
          <p:cNvSpPr>
            <a:spLocks noGrp="1"/>
          </p:cNvSpPr>
          <p:nvPr>
            <p:ph type="title"/>
          </p:nvPr>
        </p:nvSpPr>
        <p:spPr>
          <a:xfrm>
            <a:off x="611560" y="476672"/>
            <a:ext cx="8229600" cy="1143000"/>
          </a:xfrm>
        </p:spPr>
        <p:txBody>
          <a:bodyPr>
            <a:noAutofit/>
          </a:bodyPr>
          <a:lstStyle/>
          <a:p>
            <a:pPr algn="r"/>
            <a:r>
              <a:rPr lang="en-US" sz="5400" b="1" dirty="0" err="1" smtClean="0">
                <a:solidFill>
                  <a:srgbClr val="FF9900"/>
                </a:solidFill>
                <a:latin typeface="Arial" pitchFamily="34" charset="0"/>
                <a:cs typeface="Arial" pitchFamily="34" charset="0"/>
              </a:rPr>
              <a:t>Diretórios</a:t>
            </a:r>
            <a:r>
              <a:rPr lang="en-US" sz="4800" b="1" dirty="0" smtClean="0">
                <a:solidFill>
                  <a:srgbClr val="AC7531"/>
                </a:solidFill>
                <a:latin typeface="Arial" pitchFamily="34" charset="0"/>
                <a:cs typeface="Arial" pitchFamily="34" charset="0"/>
              </a:rPr>
              <a:t/>
            </a:r>
            <a:br>
              <a:rPr lang="en-US" sz="4800" b="1" dirty="0" smtClean="0">
                <a:solidFill>
                  <a:srgbClr val="AC7531"/>
                </a:solidFill>
                <a:latin typeface="Arial" pitchFamily="34" charset="0"/>
                <a:cs typeface="Arial" pitchFamily="34" charset="0"/>
              </a:rPr>
            </a:br>
            <a:endParaRPr lang="en-US" sz="4800" b="1" dirty="0">
              <a:solidFill>
                <a:srgbClr val="AC7531"/>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buNone/>
            </a:pPr>
            <a:r>
              <a:rPr lang="pt-BR" b="1" dirty="0" smtClean="0">
                <a:solidFill>
                  <a:srgbClr val="FF9900"/>
                </a:solidFill>
                <a:latin typeface="Arial" pitchFamily="34" charset="0"/>
                <a:cs typeface="Arial" pitchFamily="34" charset="0"/>
              </a:rPr>
              <a:t>DICA DO MAL 2:</a:t>
            </a:r>
          </a:p>
          <a:p>
            <a:pPr>
              <a:buNone/>
            </a:pPr>
            <a:endParaRPr lang="pt-BR" b="1" dirty="0" smtClean="0">
              <a:solidFill>
                <a:srgbClr val="AC7531"/>
              </a:solidFill>
              <a:latin typeface="Arial" pitchFamily="34" charset="0"/>
              <a:cs typeface="Arial" pitchFamily="34" charset="0"/>
            </a:endParaRPr>
          </a:p>
          <a:p>
            <a:pPr>
              <a:buNone/>
            </a:pPr>
            <a:endParaRPr lang="pt-BR" b="1" dirty="0" smtClean="0">
              <a:solidFill>
                <a:srgbClr val="AC7531"/>
              </a:solidFill>
              <a:latin typeface="Arial" pitchFamily="34" charset="0"/>
              <a:cs typeface="Arial" pitchFamily="34" charset="0"/>
            </a:endParaRPr>
          </a:p>
          <a:p>
            <a:pPr>
              <a:buNone/>
            </a:pPr>
            <a:r>
              <a:rPr lang="pt-BR" dirty="0" smtClean="0">
                <a:solidFill>
                  <a:schemeClr val="bg1">
                    <a:lumMod val="75000"/>
                  </a:schemeClr>
                </a:solidFill>
                <a:latin typeface="Arial" pitchFamily="34" charset="0"/>
                <a:cs typeface="Arial" pitchFamily="34" charset="0"/>
              </a:rPr>
              <a:t>Cadastro em</a:t>
            </a:r>
            <a:r>
              <a:rPr lang="pt-BR" dirty="0" smtClean="0">
                <a:solidFill>
                  <a:srgbClr val="AC7531"/>
                </a:solidFill>
                <a:latin typeface="Arial" pitchFamily="34" charset="0"/>
                <a:cs typeface="Arial" pitchFamily="34" charset="0"/>
              </a:rPr>
              <a:t> </a:t>
            </a:r>
            <a:r>
              <a:rPr lang="pt-BR" dirty="0" smtClean="0">
                <a:solidFill>
                  <a:srgbClr val="FF9900"/>
                </a:solidFill>
                <a:latin typeface="Arial" pitchFamily="34" charset="0"/>
                <a:cs typeface="Arial" pitchFamily="34" charset="0"/>
              </a:rPr>
              <a:t>Diretórios de Baixa Qualidade</a:t>
            </a:r>
          </a:p>
          <a:p>
            <a:pPr>
              <a:buNone/>
            </a:pPr>
            <a:endParaRPr lang="pt-BR" dirty="0" smtClean="0">
              <a:solidFill>
                <a:srgbClr val="AC7531"/>
              </a:solidFill>
              <a:latin typeface="Arial" pitchFamily="34" charset="0"/>
              <a:cs typeface="Arial" pitchFamily="34" charset="0"/>
            </a:endParaRPr>
          </a:p>
          <a:p>
            <a:pPr>
              <a:buNone/>
            </a:pPr>
            <a:endParaRPr lang="pt-BR" dirty="0" smtClean="0">
              <a:solidFill>
                <a:srgbClr val="AC7531"/>
              </a:solidFill>
              <a:latin typeface="Arial" pitchFamily="34" charset="0"/>
              <a:cs typeface="Arial" pitchFamily="34" charset="0"/>
            </a:endParaRPr>
          </a:p>
          <a:p>
            <a:r>
              <a:rPr lang="pt-BR" sz="3800" dirty="0" smtClean="0">
                <a:solidFill>
                  <a:srgbClr val="FF9900"/>
                </a:solidFill>
                <a:latin typeface="Arial" pitchFamily="34" charset="0"/>
                <a:cs typeface="Arial" pitchFamily="34" charset="0"/>
              </a:rPr>
              <a:t>Selecione categorias indexadas no </a:t>
            </a:r>
            <a:r>
              <a:rPr lang="pt-BR" sz="3800" dirty="0" err="1" smtClean="0">
                <a:solidFill>
                  <a:srgbClr val="FF9900"/>
                </a:solidFill>
                <a:latin typeface="Arial" pitchFamily="34" charset="0"/>
                <a:cs typeface="Arial" pitchFamily="34" charset="0"/>
              </a:rPr>
              <a:t>google</a:t>
            </a:r>
            <a:r>
              <a:rPr lang="pt-BR" sz="3800" dirty="0" smtClean="0">
                <a:solidFill>
                  <a:srgbClr val="FF9900"/>
                </a:solidFill>
                <a:latin typeface="Arial" pitchFamily="34" charset="0"/>
                <a:cs typeface="Arial" pitchFamily="34" charset="0"/>
              </a:rPr>
              <a:t>, mesmo com pouca força;</a:t>
            </a:r>
          </a:p>
          <a:p>
            <a:r>
              <a:rPr lang="pt-BR" sz="3800" dirty="0" smtClean="0">
                <a:solidFill>
                  <a:srgbClr val="FF9900"/>
                </a:solidFill>
                <a:latin typeface="Arial" pitchFamily="34" charset="0"/>
                <a:cs typeface="Arial" pitchFamily="34" charset="0"/>
              </a:rPr>
              <a:t>Use variações de </a:t>
            </a:r>
            <a:r>
              <a:rPr lang="pt-BR" sz="3800" dirty="0" err="1" smtClean="0">
                <a:solidFill>
                  <a:srgbClr val="FF9900"/>
                </a:solidFill>
                <a:latin typeface="Arial" pitchFamily="34" charset="0"/>
                <a:cs typeface="Arial" pitchFamily="34" charset="0"/>
              </a:rPr>
              <a:t>long</a:t>
            </a:r>
            <a:r>
              <a:rPr lang="pt-BR" sz="3800" dirty="0" smtClean="0">
                <a:solidFill>
                  <a:srgbClr val="FF9900"/>
                </a:solidFill>
                <a:latin typeface="Arial" pitchFamily="34" charset="0"/>
                <a:cs typeface="Arial" pitchFamily="34" charset="0"/>
              </a:rPr>
              <a:t> </a:t>
            </a:r>
            <a:r>
              <a:rPr lang="pt-BR" sz="3800" dirty="0" err="1" smtClean="0">
                <a:solidFill>
                  <a:srgbClr val="FF9900"/>
                </a:solidFill>
                <a:latin typeface="Arial" pitchFamily="34" charset="0"/>
                <a:cs typeface="Arial" pitchFamily="34" charset="0"/>
              </a:rPr>
              <a:t>tails</a:t>
            </a:r>
            <a:r>
              <a:rPr lang="pt-BR" sz="3800" dirty="0" smtClean="0">
                <a:solidFill>
                  <a:srgbClr val="FF9900"/>
                </a:solidFill>
                <a:latin typeface="Arial" pitchFamily="34" charset="0"/>
                <a:cs typeface="Arial" pitchFamily="34" charset="0"/>
              </a:rPr>
              <a:t> em cada diretório;</a:t>
            </a:r>
          </a:p>
          <a:p>
            <a:r>
              <a:rPr lang="pt-BR" sz="3800" dirty="0" smtClean="0">
                <a:solidFill>
                  <a:srgbClr val="FF9900"/>
                </a:solidFill>
                <a:latin typeface="Arial" pitchFamily="34" charset="0"/>
                <a:cs typeface="Arial" pitchFamily="34" charset="0"/>
              </a:rPr>
              <a:t>Analise seus resultados para essas </a:t>
            </a:r>
            <a:r>
              <a:rPr lang="pt-BR" sz="3800" dirty="0" err="1" smtClean="0">
                <a:solidFill>
                  <a:srgbClr val="FF9900"/>
                </a:solidFill>
                <a:latin typeface="Arial" pitchFamily="34" charset="0"/>
                <a:cs typeface="Arial" pitchFamily="34" charset="0"/>
              </a:rPr>
              <a:t>long</a:t>
            </a:r>
            <a:r>
              <a:rPr lang="pt-BR" sz="3800" dirty="0" smtClean="0">
                <a:solidFill>
                  <a:srgbClr val="FF9900"/>
                </a:solidFill>
                <a:latin typeface="Arial" pitchFamily="34" charset="0"/>
                <a:cs typeface="Arial" pitchFamily="34" charset="0"/>
              </a:rPr>
              <a:t> </a:t>
            </a:r>
            <a:r>
              <a:rPr lang="pt-BR" sz="3800" dirty="0" err="1" smtClean="0">
                <a:solidFill>
                  <a:srgbClr val="FF9900"/>
                </a:solidFill>
                <a:latin typeface="Arial" pitchFamily="34" charset="0"/>
                <a:cs typeface="Arial" pitchFamily="34" charset="0"/>
              </a:rPr>
              <a:t>tails</a:t>
            </a:r>
            <a:r>
              <a:rPr lang="pt-BR" sz="3800" dirty="0" smtClean="0">
                <a:solidFill>
                  <a:srgbClr val="FF9900"/>
                </a:solidFill>
                <a:latin typeface="Arial" pitchFamily="34" charset="0"/>
                <a:cs typeface="Arial" pitchFamily="34" charset="0"/>
              </a:rPr>
              <a:t>.</a:t>
            </a:r>
          </a:p>
          <a:p>
            <a:pPr>
              <a:buNone/>
            </a:pPr>
            <a:endParaRPr lang="pt-BR" dirty="0" smtClean="0">
              <a:solidFill>
                <a:srgbClr val="AC7531"/>
              </a:solidFill>
              <a:latin typeface="Arial" pitchFamily="34" charset="0"/>
              <a:cs typeface="Arial" pitchFamily="34" charset="0"/>
            </a:endParaRPr>
          </a:p>
          <a:p>
            <a:pPr>
              <a:buNone/>
            </a:pPr>
            <a:endParaRPr lang="pt-BR" dirty="0" smtClean="0">
              <a:solidFill>
                <a:srgbClr val="AC7531"/>
              </a:solidFill>
              <a:latin typeface="Arial" pitchFamily="34" charset="0"/>
              <a:cs typeface="Arial" pitchFamily="34" charset="0"/>
            </a:endParaRPr>
          </a:p>
          <a:p>
            <a:pPr marL="180975" indent="-180975">
              <a:buNone/>
            </a:pPr>
            <a:r>
              <a:rPr lang="pt-BR" dirty="0" smtClean="0">
                <a:solidFill>
                  <a:schemeClr val="bg1">
                    <a:lumMod val="75000"/>
                  </a:schemeClr>
                </a:solidFill>
                <a:latin typeface="Arial" pitchFamily="34" charset="0"/>
                <a:cs typeface="Arial" pitchFamily="34" charset="0"/>
              </a:rPr>
              <a:t>* Importante: Não faça isso sem seu site já possuir uma certa quantidade de links bons para ele.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76672"/>
            <a:ext cx="8229600" cy="1143000"/>
          </a:xfrm>
        </p:spPr>
        <p:txBody>
          <a:bodyPr>
            <a:noAutofit/>
          </a:bodyPr>
          <a:lstStyle/>
          <a:p>
            <a:pPr algn="r"/>
            <a:r>
              <a:rPr lang="pt-BR" sz="5400" b="1" dirty="0" smtClean="0">
                <a:latin typeface="Arial" pitchFamily="34" charset="0"/>
                <a:cs typeface="Arial" pitchFamily="34" charset="0"/>
              </a:rPr>
              <a:t>Diretório de Artigos </a:t>
            </a:r>
            <a:br>
              <a:rPr lang="pt-BR" sz="5400" b="1" dirty="0" smtClean="0">
                <a:latin typeface="Arial" pitchFamily="34" charset="0"/>
                <a:cs typeface="Arial" pitchFamily="34" charset="0"/>
              </a:rPr>
            </a:br>
            <a:r>
              <a:rPr lang="pt-BR" sz="2800" dirty="0" smtClean="0">
                <a:latin typeface="Arial" pitchFamily="34" charset="0"/>
                <a:cs typeface="Arial" pitchFamily="34" charset="0"/>
              </a:rPr>
              <a:t>(</a:t>
            </a:r>
            <a:r>
              <a:rPr lang="pt-BR" sz="2800" dirty="0" err="1" smtClean="0">
                <a:latin typeface="Arial" pitchFamily="34" charset="0"/>
                <a:cs typeface="Arial" pitchFamily="34" charset="0"/>
              </a:rPr>
              <a:t>Article</a:t>
            </a:r>
            <a:r>
              <a:rPr lang="pt-BR" sz="2800" dirty="0" smtClean="0">
                <a:latin typeface="Arial" pitchFamily="34" charset="0"/>
                <a:cs typeface="Arial" pitchFamily="34" charset="0"/>
              </a:rPr>
              <a:t> </a:t>
            </a:r>
            <a:r>
              <a:rPr lang="pt-BR" sz="2800" dirty="0" err="1" smtClean="0">
                <a:latin typeface="Arial" pitchFamily="34" charset="0"/>
                <a:cs typeface="Arial" pitchFamily="34" charset="0"/>
              </a:rPr>
              <a:t>Submission</a:t>
            </a:r>
            <a:r>
              <a:rPr lang="pt-BR" sz="2800" dirty="0" smtClean="0">
                <a:latin typeface="Arial" pitchFamily="34" charset="0"/>
                <a:cs typeface="Arial" pitchFamily="34" charset="0"/>
              </a:rPr>
              <a:t>)</a:t>
            </a:r>
            <a:r>
              <a:rPr lang="en-US" sz="2800" dirty="0" smtClean="0">
                <a:latin typeface="Arial" pitchFamily="34" charset="0"/>
                <a:cs typeface="Arial" pitchFamily="34" charset="0"/>
              </a:rPr>
              <a:t/>
            </a:r>
            <a:br>
              <a:rPr lang="en-US" sz="2800" dirty="0" smtClean="0">
                <a:latin typeface="Arial" pitchFamily="34" charset="0"/>
                <a:cs typeface="Arial" pitchFamily="34" charset="0"/>
              </a:rPr>
            </a:br>
            <a:endParaRPr lang="en-US" sz="2800" dirty="0">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r>
              <a:rPr lang="pt-BR" b="1" dirty="0" smtClean="0">
                <a:solidFill>
                  <a:srgbClr val="FFFF00"/>
                </a:solidFill>
                <a:latin typeface="Arial" pitchFamily="34" charset="0"/>
                <a:cs typeface="Arial" pitchFamily="34" charset="0"/>
              </a:rPr>
              <a:t>1.</a:t>
            </a:r>
          </a:p>
          <a:p>
            <a:r>
              <a:rPr lang="pt-BR" dirty="0" smtClean="0">
                <a:latin typeface="Arial" pitchFamily="34" charset="0"/>
                <a:cs typeface="Arial" pitchFamily="34" charset="0"/>
              </a:rPr>
              <a:t>Escrever um </a:t>
            </a:r>
            <a:r>
              <a:rPr lang="pt-BR" b="1" dirty="0" smtClean="0">
                <a:latin typeface="Arial" pitchFamily="34" charset="0"/>
                <a:cs typeface="Arial" pitchFamily="34" charset="0"/>
              </a:rPr>
              <a:t>texto único</a:t>
            </a:r>
            <a:r>
              <a:rPr lang="pt-BR" dirty="0" smtClean="0">
                <a:latin typeface="Arial" pitchFamily="34" charset="0"/>
                <a:cs typeface="Arial" pitchFamily="34" charset="0"/>
              </a:rPr>
              <a:t>;</a:t>
            </a:r>
          </a:p>
          <a:p>
            <a:r>
              <a:rPr lang="pt-BR" dirty="0" smtClean="0">
                <a:latin typeface="Arial" pitchFamily="34" charset="0"/>
                <a:cs typeface="Arial" pitchFamily="34" charset="0"/>
              </a:rPr>
              <a:t>Encontrar um diretório que </a:t>
            </a:r>
            <a:r>
              <a:rPr lang="pt-BR" b="1" dirty="0" smtClean="0">
                <a:latin typeface="Arial" pitchFamily="34" charset="0"/>
                <a:cs typeface="Arial" pitchFamily="34" charset="0"/>
              </a:rPr>
              <a:t>aceite</a:t>
            </a:r>
            <a:r>
              <a:rPr lang="pt-BR" dirty="0" smtClean="0">
                <a:latin typeface="Arial" pitchFamily="34" charset="0"/>
                <a:cs typeface="Arial" pitchFamily="34" charset="0"/>
              </a:rPr>
              <a:t> seu artigo;</a:t>
            </a:r>
          </a:p>
          <a:p>
            <a:r>
              <a:rPr lang="pt-BR" b="1" dirty="0" smtClean="0">
                <a:latin typeface="Arial" pitchFamily="34" charset="0"/>
                <a:cs typeface="Arial" pitchFamily="34" charset="0"/>
              </a:rPr>
              <a:t>Submeta</a:t>
            </a:r>
            <a:r>
              <a:rPr lang="pt-BR" dirty="0" smtClean="0">
                <a:latin typeface="Arial" pitchFamily="34" charset="0"/>
                <a:cs typeface="Arial" pitchFamily="34" charset="0"/>
              </a:rPr>
              <a:t> seu artigo;</a:t>
            </a:r>
          </a:p>
          <a:p>
            <a:r>
              <a:rPr lang="pt-BR" dirty="0" smtClean="0">
                <a:latin typeface="Arial" pitchFamily="34" charset="0"/>
                <a:cs typeface="Arial" pitchFamily="34" charset="0"/>
              </a:rPr>
              <a:t>Use </a:t>
            </a:r>
            <a:r>
              <a:rPr lang="pt-BR" b="1" u="sng" dirty="0" smtClean="0">
                <a:latin typeface="Arial" pitchFamily="34" charset="0"/>
                <a:cs typeface="Arial" pitchFamily="34" charset="0"/>
              </a:rPr>
              <a:t>âncoras</a:t>
            </a:r>
            <a:r>
              <a:rPr lang="pt-BR" dirty="0" smtClean="0">
                <a:latin typeface="Arial" pitchFamily="34" charset="0"/>
                <a:cs typeface="Arial" pitchFamily="34" charset="0"/>
              </a:rPr>
              <a:t> no conteúdo se possível;</a:t>
            </a:r>
          </a:p>
          <a:p>
            <a:pPr marL="361950" indent="-271463">
              <a:buNone/>
              <a:tabLst>
                <a:tab pos="361950" algn="l"/>
              </a:tabLst>
            </a:pPr>
            <a:r>
              <a:rPr lang="pt-BR" dirty="0" smtClean="0">
                <a:latin typeface="Arial" pitchFamily="34" charset="0"/>
                <a:cs typeface="Arial" pitchFamily="34" charset="0"/>
              </a:rPr>
              <a:t>    Se não for possível, use a âncora numa </a:t>
            </a:r>
            <a:r>
              <a:rPr lang="pt-BR" b="1" dirty="0" smtClean="0">
                <a:latin typeface="Arial" pitchFamily="34" charset="0"/>
                <a:cs typeface="Arial" pitchFamily="34" charset="0"/>
              </a:rPr>
              <a:t>RESOURCE BOX </a:t>
            </a:r>
            <a:r>
              <a:rPr lang="pt-BR" dirty="0" smtClean="0">
                <a:latin typeface="Arial" pitchFamily="34" charset="0"/>
                <a:cs typeface="Arial" pitchFamily="34" charset="0"/>
              </a:rPr>
              <a:t>(caixa com sua assinatura);</a:t>
            </a:r>
          </a:p>
          <a:p>
            <a:pPr marL="361950" indent="-271463">
              <a:buNone/>
              <a:tabLst>
                <a:tab pos="361950" algn="l"/>
              </a:tabLst>
            </a:pPr>
            <a:r>
              <a:rPr lang="pt-BR" b="1" dirty="0" smtClean="0">
                <a:solidFill>
                  <a:srgbClr val="FFFF00"/>
                </a:solidFill>
                <a:latin typeface="Arial" pitchFamily="34" charset="0"/>
                <a:cs typeface="Arial" pitchFamily="34" charset="0"/>
              </a:rPr>
              <a:t>2.</a:t>
            </a:r>
          </a:p>
          <a:p>
            <a:r>
              <a:rPr lang="pt-BR" dirty="0" smtClean="0">
                <a:latin typeface="Arial" pitchFamily="34" charset="0"/>
                <a:cs typeface="Arial" pitchFamily="34" charset="0"/>
              </a:rPr>
              <a:t>Procure um </a:t>
            </a:r>
            <a:r>
              <a:rPr lang="pt-BR" b="1" dirty="0" smtClean="0">
                <a:latin typeface="Arial" pitchFamily="34" charset="0"/>
                <a:cs typeface="Arial" pitchFamily="34" charset="0"/>
              </a:rPr>
              <a:t>novo diretório</a:t>
            </a:r>
            <a:r>
              <a:rPr lang="pt-BR" dirty="0" smtClean="0">
                <a:latin typeface="Arial" pitchFamily="34" charset="0"/>
                <a:cs typeface="Arial" pitchFamily="34" charset="0"/>
              </a:rPr>
              <a:t> de artigo;</a:t>
            </a:r>
          </a:p>
          <a:p>
            <a:r>
              <a:rPr lang="pt-BR" dirty="0" smtClean="0">
                <a:latin typeface="Arial" pitchFamily="34" charset="0"/>
                <a:cs typeface="Arial" pitchFamily="34" charset="0"/>
              </a:rPr>
              <a:t>Faça </a:t>
            </a:r>
            <a:r>
              <a:rPr lang="pt-BR" b="1" dirty="0" smtClean="0">
                <a:latin typeface="Arial" pitchFamily="34" charset="0"/>
                <a:cs typeface="Arial" pitchFamily="34" charset="0"/>
              </a:rPr>
              <a:t>mudanças no título </a:t>
            </a:r>
            <a:r>
              <a:rPr lang="pt-BR" dirty="0" smtClean="0">
                <a:latin typeface="Arial" pitchFamily="34" charset="0"/>
                <a:cs typeface="Arial" pitchFamily="34" charset="0"/>
              </a:rPr>
              <a:t>de seu artigo e </a:t>
            </a:r>
            <a:r>
              <a:rPr lang="pt-BR" b="1" dirty="0" smtClean="0">
                <a:latin typeface="Arial" pitchFamily="34" charset="0"/>
                <a:cs typeface="Arial" pitchFamily="34" charset="0"/>
              </a:rPr>
              <a:t>altere</a:t>
            </a:r>
            <a:r>
              <a:rPr lang="pt-BR" dirty="0" smtClean="0">
                <a:latin typeface="Arial" pitchFamily="34" charset="0"/>
                <a:cs typeface="Arial" pitchFamily="34" charset="0"/>
              </a:rPr>
              <a:t> um pouco o </a:t>
            </a:r>
            <a:r>
              <a:rPr lang="pt-BR" b="1" dirty="0" smtClean="0">
                <a:latin typeface="Arial" pitchFamily="34" charset="0"/>
                <a:cs typeface="Arial" pitchFamily="34" charset="0"/>
              </a:rPr>
              <a:t>conteúdo</a:t>
            </a:r>
            <a:r>
              <a:rPr lang="pt-BR" dirty="0" smtClean="0">
                <a:latin typeface="Arial" pitchFamily="34" charset="0"/>
                <a:cs typeface="Arial" pitchFamily="34" charset="0"/>
              </a:rPr>
              <a:t>;</a:t>
            </a:r>
          </a:p>
          <a:p>
            <a:r>
              <a:rPr lang="pt-BR" dirty="0" smtClean="0">
                <a:latin typeface="Arial" pitchFamily="34" charset="0"/>
                <a:cs typeface="Arial" pitchFamily="34" charset="0"/>
              </a:rPr>
              <a:t>Acerte as </a:t>
            </a:r>
            <a:r>
              <a:rPr lang="pt-BR" b="1" u="sng" dirty="0" smtClean="0">
                <a:latin typeface="Arial" pitchFamily="34" charset="0"/>
                <a:cs typeface="Arial" pitchFamily="34" charset="0"/>
              </a:rPr>
              <a:t>âncoras</a:t>
            </a:r>
            <a:r>
              <a:rPr lang="pt-BR" dirty="0" smtClean="0">
                <a:latin typeface="Arial" pitchFamily="34" charset="0"/>
                <a:cs typeface="Arial" pitchFamily="34" charset="0"/>
              </a:rPr>
              <a:t>;</a:t>
            </a:r>
          </a:p>
          <a:p>
            <a:r>
              <a:rPr lang="pt-BR" b="1" dirty="0" smtClean="0">
                <a:latin typeface="Arial" pitchFamily="34" charset="0"/>
                <a:cs typeface="Arial" pitchFamily="34" charset="0"/>
              </a:rPr>
              <a:t>Submeta</a:t>
            </a:r>
            <a:r>
              <a:rPr lang="pt-BR" dirty="0" smtClean="0">
                <a:latin typeface="Arial" pitchFamily="34" charset="0"/>
                <a:cs typeface="Arial" pitchFamily="34" charset="0"/>
              </a:rPr>
              <a:t> Novamente;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76672"/>
            <a:ext cx="8229600" cy="1143000"/>
          </a:xfrm>
        </p:spPr>
        <p:txBody>
          <a:bodyPr>
            <a:noAutofit/>
          </a:bodyPr>
          <a:lstStyle/>
          <a:p>
            <a:pPr algn="r"/>
            <a:r>
              <a:rPr lang="pt-BR" sz="5400" b="1" dirty="0" smtClean="0">
                <a:latin typeface="Arial" pitchFamily="34" charset="0"/>
                <a:cs typeface="Arial" pitchFamily="34" charset="0"/>
              </a:rPr>
              <a:t>Diretório de Artigos </a:t>
            </a:r>
            <a:br>
              <a:rPr lang="pt-BR" sz="5400" b="1" dirty="0" smtClean="0">
                <a:latin typeface="Arial" pitchFamily="34" charset="0"/>
                <a:cs typeface="Arial" pitchFamily="34" charset="0"/>
              </a:rPr>
            </a:br>
            <a:r>
              <a:rPr lang="pt-BR" sz="2800" dirty="0" smtClean="0">
                <a:latin typeface="Arial" pitchFamily="34" charset="0"/>
                <a:cs typeface="Arial" pitchFamily="34" charset="0"/>
              </a:rPr>
              <a:t>(</a:t>
            </a:r>
            <a:r>
              <a:rPr lang="pt-BR" sz="2800" dirty="0" err="1" smtClean="0">
                <a:latin typeface="Arial" pitchFamily="34" charset="0"/>
                <a:cs typeface="Arial" pitchFamily="34" charset="0"/>
              </a:rPr>
              <a:t>Article</a:t>
            </a:r>
            <a:r>
              <a:rPr lang="pt-BR" sz="2800" dirty="0" smtClean="0">
                <a:latin typeface="Arial" pitchFamily="34" charset="0"/>
                <a:cs typeface="Arial" pitchFamily="34" charset="0"/>
              </a:rPr>
              <a:t> </a:t>
            </a:r>
            <a:r>
              <a:rPr lang="pt-BR" sz="2800" dirty="0" err="1" smtClean="0">
                <a:latin typeface="Arial" pitchFamily="34" charset="0"/>
                <a:cs typeface="Arial" pitchFamily="34" charset="0"/>
              </a:rPr>
              <a:t>Submission</a:t>
            </a:r>
            <a:r>
              <a:rPr lang="pt-BR" sz="2800" dirty="0" smtClean="0">
                <a:latin typeface="Arial" pitchFamily="34" charset="0"/>
                <a:cs typeface="Arial" pitchFamily="34" charset="0"/>
              </a:rPr>
              <a:t>)</a:t>
            </a:r>
            <a:r>
              <a:rPr lang="en-US" sz="2800" dirty="0" smtClean="0">
                <a:latin typeface="Arial" pitchFamily="34" charset="0"/>
                <a:cs typeface="Arial" pitchFamily="34" charset="0"/>
              </a:rPr>
              <a:t/>
            </a:r>
            <a:br>
              <a:rPr lang="en-US" sz="2800" dirty="0" smtClean="0">
                <a:latin typeface="Arial" pitchFamily="34" charset="0"/>
                <a:cs typeface="Arial" pitchFamily="34" charset="0"/>
              </a:rPr>
            </a:br>
            <a:endParaRPr lang="en-US" sz="2800" dirty="0">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424936" cy="5069160"/>
          </a:xfrm>
        </p:spPr>
        <p:txBody>
          <a:bodyPr>
            <a:normAutofit fontScale="62500" lnSpcReduction="20000"/>
          </a:bodyPr>
          <a:lstStyle/>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r>
              <a:rPr lang="pt-BR" sz="4500" b="1" dirty="0" smtClean="0">
                <a:latin typeface="Arial" pitchFamily="34" charset="0"/>
                <a:cs typeface="Arial" pitchFamily="34" charset="0"/>
              </a:rPr>
              <a:t>Alguns Locais:</a:t>
            </a: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2"/>
              </a:rPr>
              <a:t>ezinearticles.com</a:t>
            </a: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3"/>
              </a:rPr>
              <a:t>amazines.com</a:t>
            </a: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4"/>
              </a:rPr>
              <a:t>articlealley.com</a:t>
            </a: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5"/>
              </a:rPr>
              <a:t>goarticles.com</a:t>
            </a: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6"/>
              </a:rPr>
              <a:t>365articles.com</a:t>
            </a: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7"/>
              </a:rPr>
              <a:t>articlesbase.com</a:t>
            </a: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8"/>
              </a:rPr>
              <a:t>superartigos.com/ </a:t>
            </a: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9"/>
              </a:rPr>
              <a:t>ancorador.com.</a:t>
            </a:r>
            <a:r>
              <a:rPr lang="pt-BR" dirty="0" err="1" smtClean="0">
                <a:latin typeface="Arial" pitchFamily="34" charset="0"/>
                <a:cs typeface="Arial" pitchFamily="34" charset="0"/>
                <a:hlinkClick r:id="rId9"/>
              </a:rPr>
              <a:t>br</a:t>
            </a:r>
            <a:r>
              <a:rPr lang="pt-BR" dirty="0" smtClean="0">
                <a:latin typeface="Arial" pitchFamily="34" charset="0"/>
                <a:cs typeface="Arial" pitchFamily="34" charset="0"/>
                <a:hlinkClick r:id="rId9"/>
              </a:rPr>
              <a:t>/ </a:t>
            </a: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10"/>
              </a:rPr>
              <a:t>artigonal.com/ </a:t>
            </a:r>
            <a:endParaRPr lang="pt-BR" dirty="0" smtClean="0">
              <a:latin typeface="Arial" pitchFamily="34" charset="0"/>
              <a:cs typeface="Arial" pitchFamily="34" charset="0"/>
            </a:endParaRPr>
          </a:p>
          <a:p>
            <a:pPr algn="r">
              <a:buNone/>
            </a:pPr>
            <a:r>
              <a:rPr lang="pt-BR" dirty="0" smtClean="0">
                <a:latin typeface="Arial" pitchFamily="34" charset="0"/>
                <a:cs typeface="Arial" pitchFamily="34" charset="0"/>
                <a:hlinkClick r:id="rId11"/>
              </a:rPr>
              <a:t>murall.com.</a:t>
            </a:r>
            <a:r>
              <a:rPr lang="pt-BR" dirty="0" err="1" smtClean="0">
                <a:latin typeface="Arial" pitchFamily="34" charset="0"/>
                <a:cs typeface="Arial" pitchFamily="34" charset="0"/>
                <a:hlinkClick r:id="rId11"/>
              </a:rPr>
              <a:t>br</a:t>
            </a:r>
            <a:r>
              <a:rPr lang="pt-BR" dirty="0" smtClean="0">
                <a:latin typeface="Arial" pitchFamily="34" charset="0"/>
                <a:cs typeface="Arial" pitchFamily="34" charset="0"/>
                <a:hlinkClick r:id="rId11"/>
              </a:rPr>
              <a:t>/</a:t>
            </a:r>
            <a:endParaRPr lang="pt-BR"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4" descr="C:\Users\hp\Desktop\searchlabs\RocknRoll_Pattern_CS4.jpg"/>
          <p:cNvPicPr>
            <a:picLocks noChangeAspect="1" noChangeArrowheads="1"/>
          </p:cNvPicPr>
          <p:nvPr/>
        </p:nvPicPr>
        <p:blipFill>
          <a:blip r:embed="rId2" cstate="print"/>
          <a:srcRect/>
          <a:stretch>
            <a:fillRect/>
          </a:stretch>
        </p:blipFill>
        <p:spPr bwMode="auto">
          <a:xfrm>
            <a:off x="-394854" y="-142486"/>
            <a:ext cx="9754632" cy="9766086"/>
          </a:xfrm>
          <a:prstGeom prst="rect">
            <a:avLst/>
          </a:prstGeom>
          <a:noFill/>
        </p:spPr>
      </p:pic>
      <p:sp>
        <p:nvSpPr>
          <p:cNvPr id="8" name="Título 1"/>
          <p:cNvSpPr>
            <a:spLocks noGrp="1"/>
          </p:cNvSpPr>
          <p:nvPr>
            <p:ph type="title"/>
          </p:nvPr>
        </p:nvSpPr>
        <p:spPr>
          <a:xfrm>
            <a:off x="611560" y="476672"/>
            <a:ext cx="8229600" cy="1143000"/>
          </a:xfrm>
        </p:spPr>
        <p:txBody>
          <a:bodyPr>
            <a:noAutofit/>
          </a:bodyPr>
          <a:lstStyle/>
          <a:p>
            <a:pPr algn="r"/>
            <a:r>
              <a:rPr lang="pt-BR" sz="5400" b="1" dirty="0" smtClean="0">
                <a:solidFill>
                  <a:srgbClr val="FFC000"/>
                </a:solidFill>
                <a:latin typeface="Arial" pitchFamily="34" charset="0"/>
                <a:cs typeface="Arial" pitchFamily="34" charset="0"/>
              </a:rPr>
              <a:t>Diretório de Artigos </a:t>
            </a:r>
            <a:br>
              <a:rPr lang="pt-BR" sz="5400" b="1" dirty="0" smtClean="0">
                <a:solidFill>
                  <a:srgbClr val="FFC000"/>
                </a:solidFill>
                <a:latin typeface="Arial" pitchFamily="34" charset="0"/>
                <a:cs typeface="Arial" pitchFamily="34" charset="0"/>
              </a:rPr>
            </a:br>
            <a:r>
              <a:rPr lang="pt-BR" sz="2800" dirty="0" smtClean="0">
                <a:solidFill>
                  <a:srgbClr val="FFC000"/>
                </a:solidFill>
                <a:latin typeface="Arial" pitchFamily="34" charset="0"/>
                <a:cs typeface="Arial" pitchFamily="34" charset="0"/>
              </a:rPr>
              <a:t>(</a:t>
            </a:r>
            <a:r>
              <a:rPr lang="pt-BR" sz="2800" dirty="0" err="1" smtClean="0">
                <a:solidFill>
                  <a:srgbClr val="FFC000"/>
                </a:solidFill>
                <a:latin typeface="Arial" pitchFamily="34" charset="0"/>
                <a:cs typeface="Arial" pitchFamily="34" charset="0"/>
              </a:rPr>
              <a:t>Article</a:t>
            </a:r>
            <a:r>
              <a:rPr lang="pt-BR" sz="2800" dirty="0" smtClean="0">
                <a:solidFill>
                  <a:srgbClr val="FFC000"/>
                </a:solidFill>
                <a:latin typeface="Arial" pitchFamily="34" charset="0"/>
                <a:cs typeface="Arial" pitchFamily="34" charset="0"/>
              </a:rPr>
              <a:t> </a:t>
            </a:r>
            <a:r>
              <a:rPr lang="pt-BR" sz="2800" dirty="0" err="1" smtClean="0">
                <a:solidFill>
                  <a:srgbClr val="FFC000"/>
                </a:solidFill>
                <a:latin typeface="Arial" pitchFamily="34" charset="0"/>
                <a:cs typeface="Arial" pitchFamily="34" charset="0"/>
              </a:rPr>
              <a:t>Submission</a:t>
            </a:r>
            <a:r>
              <a:rPr lang="pt-BR" sz="2800" dirty="0" smtClean="0">
                <a:solidFill>
                  <a:srgbClr val="FFC000"/>
                </a:solidFill>
                <a:latin typeface="Arial" pitchFamily="34" charset="0"/>
                <a:cs typeface="Arial" pitchFamily="34" charset="0"/>
              </a:rPr>
              <a:t>)</a:t>
            </a:r>
            <a:r>
              <a:rPr lang="en-US" sz="2800" b="1" dirty="0" smtClean="0">
                <a:solidFill>
                  <a:srgbClr val="FFC000"/>
                </a:solidFill>
                <a:latin typeface="Arial" pitchFamily="34" charset="0"/>
                <a:cs typeface="Arial" pitchFamily="34" charset="0"/>
              </a:rPr>
              <a:t/>
            </a:r>
            <a:br>
              <a:rPr lang="en-US" sz="2800" b="1" dirty="0" smtClean="0">
                <a:solidFill>
                  <a:srgbClr val="FFC000"/>
                </a:solidFill>
                <a:latin typeface="Arial" pitchFamily="34" charset="0"/>
                <a:cs typeface="Arial" pitchFamily="34" charset="0"/>
              </a:rPr>
            </a:br>
            <a:endParaRPr lang="en-US" sz="2800" b="1" dirty="0">
              <a:solidFill>
                <a:srgbClr val="FFC0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7500" lnSpcReduction="20000"/>
          </a:bodyPr>
          <a:lstStyle/>
          <a:p>
            <a:pPr>
              <a:buNone/>
            </a:pPr>
            <a:endParaRPr lang="pt-BR" dirty="0" smtClean="0">
              <a:solidFill>
                <a:schemeClr val="bg1"/>
              </a:solidFill>
              <a:latin typeface="Arial" pitchFamily="34" charset="0"/>
              <a:cs typeface="Arial" pitchFamily="34" charset="0"/>
            </a:endParaRPr>
          </a:p>
          <a:p>
            <a:pPr>
              <a:buNone/>
            </a:pPr>
            <a:endParaRPr lang="pt-BR" dirty="0" smtClean="0">
              <a:solidFill>
                <a:schemeClr val="bg1"/>
              </a:solidFill>
              <a:latin typeface="Arial" pitchFamily="34" charset="0"/>
              <a:cs typeface="Arial" pitchFamily="34" charset="0"/>
            </a:endParaRPr>
          </a:p>
          <a:p>
            <a:pPr>
              <a:buNone/>
            </a:pPr>
            <a:r>
              <a:rPr lang="pt-BR" b="1" dirty="0" smtClean="0">
                <a:solidFill>
                  <a:srgbClr val="FFC000"/>
                </a:solidFill>
                <a:latin typeface="Arial" pitchFamily="34" charset="0"/>
                <a:cs typeface="Arial" pitchFamily="34" charset="0"/>
              </a:rPr>
              <a:t>Dica do Mal 3:</a:t>
            </a:r>
          </a:p>
          <a:p>
            <a:pPr>
              <a:buNone/>
            </a:pPr>
            <a:endParaRPr lang="pt-BR" b="1" dirty="0" smtClean="0">
              <a:solidFill>
                <a:srgbClr val="FFC000"/>
              </a:solidFill>
              <a:latin typeface="Arial" pitchFamily="34" charset="0"/>
              <a:cs typeface="Arial" pitchFamily="34" charset="0"/>
            </a:endParaRPr>
          </a:p>
          <a:p>
            <a:pPr>
              <a:buNone/>
            </a:pPr>
            <a:endParaRPr lang="pt-BR" b="1" dirty="0" smtClean="0">
              <a:solidFill>
                <a:srgbClr val="FFC000"/>
              </a:solidFill>
              <a:latin typeface="Arial" pitchFamily="34" charset="0"/>
              <a:cs typeface="Arial" pitchFamily="34" charset="0"/>
            </a:endParaRPr>
          </a:p>
          <a:p>
            <a:r>
              <a:rPr lang="pt-BR" b="1" dirty="0" smtClean="0">
                <a:solidFill>
                  <a:srgbClr val="FFC000"/>
                </a:solidFill>
                <a:latin typeface="Arial" pitchFamily="34" charset="0"/>
                <a:cs typeface="Arial" pitchFamily="34" charset="0"/>
              </a:rPr>
              <a:t>Roubo de Conteúdo</a:t>
            </a:r>
            <a:r>
              <a:rPr lang="pt-BR" dirty="0" smtClean="0">
                <a:solidFill>
                  <a:schemeClr val="bg1">
                    <a:lumMod val="75000"/>
                  </a:schemeClr>
                </a:solidFill>
                <a:latin typeface="Arial" pitchFamily="34" charset="0"/>
                <a:cs typeface="Arial" pitchFamily="34" charset="0"/>
              </a:rPr>
              <a:t>,</a:t>
            </a:r>
            <a:r>
              <a:rPr lang="pt-BR" dirty="0" smtClean="0">
                <a:solidFill>
                  <a:srgbClr val="FFC000"/>
                </a:solidFill>
                <a:latin typeface="Arial" pitchFamily="34" charset="0"/>
                <a:cs typeface="Arial" pitchFamily="34" charset="0"/>
              </a:rPr>
              <a:t> </a:t>
            </a:r>
            <a:r>
              <a:rPr lang="pt-BR" dirty="0" smtClean="0">
                <a:solidFill>
                  <a:schemeClr val="bg1">
                    <a:lumMod val="75000"/>
                  </a:schemeClr>
                </a:solidFill>
                <a:latin typeface="Arial" pitchFamily="34" charset="0"/>
                <a:cs typeface="Arial" pitchFamily="34" charset="0"/>
              </a:rPr>
              <a:t>de sites que fazem PPC onde o conteúdo não foi indexado.</a:t>
            </a:r>
          </a:p>
          <a:p>
            <a:r>
              <a:rPr lang="pt-BR" b="1" dirty="0" smtClean="0">
                <a:solidFill>
                  <a:srgbClr val="FFC000"/>
                </a:solidFill>
                <a:latin typeface="Arial" pitchFamily="34" charset="0"/>
                <a:cs typeface="Arial" pitchFamily="34" charset="0"/>
              </a:rPr>
              <a:t>Roubo de Conteúdo</a:t>
            </a:r>
            <a:r>
              <a:rPr lang="pt-BR" dirty="0" smtClean="0">
                <a:solidFill>
                  <a:schemeClr val="bg1">
                    <a:lumMod val="75000"/>
                  </a:schemeClr>
                </a:solidFill>
                <a:latin typeface="Arial" pitchFamily="34" charset="0"/>
                <a:cs typeface="Arial" pitchFamily="34" charset="0"/>
              </a:rPr>
              <a:t>,</a:t>
            </a:r>
            <a:r>
              <a:rPr lang="pt-BR" dirty="0" smtClean="0">
                <a:solidFill>
                  <a:srgbClr val="FFEAA7"/>
                </a:solidFill>
                <a:latin typeface="Arial" pitchFamily="34" charset="0"/>
                <a:cs typeface="Arial" pitchFamily="34" charset="0"/>
              </a:rPr>
              <a:t> </a:t>
            </a:r>
            <a:r>
              <a:rPr lang="pt-BR" dirty="0" smtClean="0">
                <a:solidFill>
                  <a:schemeClr val="bg1">
                    <a:lumMod val="75000"/>
                  </a:schemeClr>
                </a:solidFill>
                <a:latin typeface="Arial" pitchFamily="34" charset="0"/>
                <a:cs typeface="Arial" pitchFamily="34" charset="0"/>
              </a:rPr>
              <a:t>do Orkut e outras redes que não indexam.</a:t>
            </a:r>
          </a:p>
          <a:p>
            <a:r>
              <a:rPr lang="pt-BR" b="1" dirty="0" smtClean="0">
                <a:solidFill>
                  <a:srgbClr val="FFC000"/>
                </a:solidFill>
                <a:latin typeface="Arial" pitchFamily="34" charset="0"/>
                <a:cs typeface="Arial" pitchFamily="34" charset="0"/>
              </a:rPr>
              <a:t>Roubo de Conteúdo</a:t>
            </a:r>
            <a:r>
              <a:rPr lang="pt-BR" dirty="0" smtClean="0">
                <a:solidFill>
                  <a:schemeClr val="bg1">
                    <a:lumMod val="75000"/>
                  </a:schemeClr>
                </a:solidFill>
                <a:latin typeface="Arial" pitchFamily="34" charset="0"/>
                <a:cs typeface="Arial" pitchFamily="34" charset="0"/>
              </a:rPr>
              <a:t>, de sites novos, sem muita visibilidade nas Search Engines.</a:t>
            </a:r>
          </a:p>
          <a:p>
            <a:pPr>
              <a:buNone/>
            </a:pPr>
            <a:endParaRPr lang="pt-BR" dirty="0" smtClean="0">
              <a:solidFill>
                <a:srgbClr val="FFC000"/>
              </a:solidFill>
              <a:latin typeface="Arial" pitchFamily="34" charset="0"/>
              <a:cs typeface="Arial" pitchFamily="34" charset="0"/>
            </a:endParaRPr>
          </a:p>
          <a:p>
            <a:r>
              <a:rPr lang="pt-BR" b="1" dirty="0" smtClean="0">
                <a:solidFill>
                  <a:srgbClr val="FFC000"/>
                </a:solidFill>
                <a:latin typeface="Arial" pitchFamily="34" charset="0"/>
                <a:cs typeface="Arial" pitchFamily="34" charset="0"/>
              </a:rPr>
              <a:t>Submissão</a:t>
            </a:r>
            <a:r>
              <a:rPr lang="pt-BR" dirty="0" smtClean="0">
                <a:solidFill>
                  <a:srgbClr val="FFC000"/>
                </a:solidFill>
                <a:latin typeface="Arial" pitchFamily="34" charset="0"/>
                <a:cs typeface="Arial" pitchFamily="34" charset="0"/>
              </a:rPr>
              <a:t> desses conteúdos </a:t>
            </a:r>
            <a:r>
              <a:rPr lang="pt-BR" dirty="0" smtClean="0">
                <a:solidFill>
                  <a:schemeClr val="bg1">
                    <a:lumMod val="75000"/>
                  </a:schemeClr>
                </a:solidFill>
                <a:latin typeface="Arial" pitchFamily="34" charset="0"/>
                <a:cs typeface="Arial" pitchFamily="34" charset="0"/>
              </a:rPr>
              <a:t>em diversos canais com links apontando para você.</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apresentacao-linkbuilding-03.jpg"/>
          <p:cNvPicPr>
            <a:picLocks noChangeAspect="1"/>
          </p:cNvPicPr>
          <p:nvPr/>
        </p:nvPicPr>
        <p:blipFill>
          <a:blip r:embed="rId2" cstate="print"/>
          <a:stretch>
            <a:fillRect/>
          </a:stretch>
        </p:blipFill>
        <p:spPr>
          <a:xfrm>
            <a:off x="7386" y="0"/>
            <a:ext cx="9129228" cy="6858000"/>
          </a:xfrm>
          <a:prstGeom prst="rect">
            <a:avLst/>
          </a:prstGeom>
        </p:spPr>
      </p:pic>
      <p:sp>
        <p:nvSpPr>
          <p:cNvPr id="8" name="Título 1"/>
          <p:cNvSpPr>
            <a:spLocks noGrp="1"/>
          </p:cNvSpPr>
          <p:nvPr>
            <p:ph type="title"/>
          </p:nvPr>
        </p:nvSpPr>
        <p:spPr>
          <a:xfrm>
            <a:off x="611560" y="341784"/>
            <a:ext cx="8229600" cy="1143000"/>
          </a:xfrm>
        </p:spPr>
        <p:txBody>
          <a:bodyPr>
            <a:noAutofit/>
          </a:bodyPr>
          <a:lstStyle/>
          <a:p>
            <a:pPr algn="r"/>
            <a:r>
              <a:rPr lang="pt-BR" sz="5400" b="1" dirty="0" err="1" smtClean="0">
                <a:solidFill>
                  <a:srgbClr val="FFC000"/>
                </a:solidFill>
                <a:latin typeface="Arial" pitchFamily="34" charset="0"/>
                <a:cs typeface="Arial" pitchFamily="34" charset="0"/>
              </a:rPr>
              <a:t>Press</a:t>
            </a:r>
            <a:r>
              <a:rPr lang="pt-BR" sz="5400" b="1" dirty="0" smtClean="0">
                <a:solidFill>
                  <a:srgbClr val="FFC000"/>
                </a:solidFill>
                <a:latin typeface="Arial" pitchFamily="34" charset="0"/>
                <a:cs typeface="Arial" pitchFamily="34" charset="0"/>
              </a:rPr>
              <a:t> Releases</a:t>
            </a:r>
            <a:br>
              <a:rPr lang="pt-BR" sz="5400" b="1" dirty="0" smtClean="0">
                <a:solidFill>
                  <a:srgbClr val="FFC000"/>
                </a:solidFill>
                <a:latin typeface="Arial" pitchFamily="34" charset="0"/>
                <a:cs typeface="Arial" pitchFamily="34" charset="0"/>
              </a:rPr>
            </a:br>
            <a:endParaRPr lang="en-US" sz="2800" dirty="0">
              <a:solidFill>
                <a:srgbClr val="FFC0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lgn="ctr">
              <a:buNone/>
            </a:pPr>
            <a:endParaRPr lang="pt-BR" dirty="0" smtClean="0">
              <a:solidFill>
                <a:srgbClr val="FFC000"/>
              </a:solidFill>
              <a:latin typeface="Arial" pitchFamily="34" charset="0"/>
              <a:cs typeface="Arial" pitchFamily="34" charset="0"/>
            </a:endParaRPr>
          </a:p>
          <a:p>
            <a:pPr algn="ctr">
              <a:buNone/>
            </a:pPr>
            <a:endParaRPr lang="pt-BR" dirty="0" smtClean="0">
              <a:solidFill>
                <a:srgbClr val="FFC000"/>
              </a:solidFill>
              <a:latin typeface="Arial" pitchFamily="34" charset="0"/>
              <a:cs typeface="Arial" pitchFamily="34" charset="0"/>
            </a:endParaRPr>
          </a:p>
          <a:p>
            <a:pPr algn="ctr">
              <a:buNone/>
            </a:pPr>
            <a:endParaRPr lang="pt-BR" dirty="0" smtClean="0">
              <a:solidFill>
                <a:srgbClr val="FFC000"/>
              </a:solidFill>
              <a:latin typeface="Arial" pitchFamily="34" charset="0"/>
              <a:cs typeface="Arial" pitchFamily="34" charset="0"/>
            </a:endParaRPr>
          </a:p>
          <a:p>
            <a:pPr algn="ctr">
              <a:buNone/>
            </a:pPr>
            <a:r>
              <a:rPr lang="pt-BR" sz="4000" dirty="0" smtClean="0">
                <a:solidFill>
                  <a:schemeClr val="tx1">
                    <a:lumMod val="50000"/>
                    <a:lumOff val="50000"/>
                  </a:schemeClr>
                </a:solidFill>
                <a:latin typeface="Arial" pitchFamily="34" charset="0"/>
                <a:cs typeface="Arial" pitchFamily="34" charset="0"/>
              </a:rPr>
              <a:t>“São </a:t>
            </a:r>
            <a:r>
              <a:rPr lang="pt-BR" sz="4000" b="1" dirty="0" smtClean="0">
                <a:solidFill>
                  <a:schemeClr val="tx1">
                    <a:lumMod val="50000"/>
                    <a:lumOff val="50000"/>
                  </a:schemeClr>
                </a:solidFill>
                <a:latin typeface="Arial" pitchFamily="34" charset="0"/>
                <a:cs typeface="Arial" pitchFamily="34" charset="0"/>
              </a:rPr>
              <a:t>documentos</a:t>
            </a:r>
            <a:r>
              <a:rPr lang="pt-BR" sz="4000" dirty="0" smtClean="0">
                <a:solidFill>
                  <a:schemeClr val="tx1">
                    <a:lumMod val="50000"/>
                    <a:lumOff val="50000"/>
                  </a:schemeClr>
                </a:solidFill>
                <a:latin typeface="Arial" pitchFamily="34" charset="0"/>
                <a:cs typeface="Arial" pitchFamily="34" charset="0"/>
              </a:rPr>
              <a:t> divulgados por </a:t>
            </a:r>
            <a:r>
              <a:rPr lang="pt-BR" sz="4000" b="1" dirty="0" smtClean="0">
                <a:solidFill>
                  <a:schemeClr val="tx1">
                    <a:lumMod val="50000"/>
                    <a:lumOff val="50000"/>
                  </a:schemeClr>
                </a:solidFill>
                <a:latin typeface="Arial" pitchFamily="34" charset="0"/>
                <a:cs typeface="Arial" pitchFamily="34" charset="0"/>
              </a:rPr>
              <a:t>assessorias de imprensa </a:t>
            </a:r>
            <a:r>
              <a:rPr lang="pt-BR" sz="4000" dirty="0" smtClean="0">
                <a:solidFill>
                  <a:schemeClr val="tx1">
                    <a:lumMod val="50000"/>
                    <a:lumOff val="50000"/>
                  </a:schemeClr>
                </a:solidFill>
                <a:latin typeface="Arial" pitchFamily="34" charset="0"/>
                <a:cs typeface="Arial" pitchFamily="34" charset="0"/>
              </a:rPr>
              <a:t>para informar, anunciar, contestar, esclarecer ou responder à </a:t>
            </a:r>
            <a:r>
              <a:rPr lang="pt-BR" sz="4000" b="1" dirty="0" smtClean="0">
                <a:solidFill>
                  <a:schemeClr val="tx1">
                    <a:lumMod val="50000"/>
                    <a:lumOff val="50000"/>
                  </a:schemeClr>
                </a:solidFill>
                <a:latin typeface="Arial" pitchFamily="34" charset="0"/>
                <a:cs typeface="Arial" pitchFamily="34" charset="0"/>
              </a:rPr>
              <a:t>mídia</a:t>
            </a:r>
            <a:r>
              <a:rPr lang="pt-BR" sz="4000" dirty="0" smtClean="0">
                <a:solidFill>
                  <a:schemeClr val="tx1">
                    <a:lumMod val="50000"/>
                    <a:lumOff val="50000"/>
                  </a:schemeClr>
                </a:solidFill>
                <a:latin typeface="Arial" pitchFamily="34" charset="0"/>
                <a:cs typeface="Arial" pitchFamily="34" charset="0"/>
              </a:rPr>
              <a:t> sobre algum fato que envolva o assessorado" </a:t>
            </a:r>
            <a:r>
              <a:rPr lang="pt-BR" sz="2600" dirty="0" err="1" smtClean="0">
                <a:solidFill>
                  <a:schemeClr val="tx1">
                    <a:lumMod val="50000"/>
                    <a:lumOff val="50000"/>
                  </a:schemeClr>
                </a:solidFill>
                <a:latin typeface="Arial" pitchFamily="34" charset="0"/>
                <a:cs typeface="Arial" pitchFamily="34" charset="0"/>
              </a:rPr>
              <a:t>Wikipedia</a:t>
            </a:r>
            <a:endParaRPr lang="pt-BR" sz="2600" dirty="0" smtClean="0">
              <a:solidFill>
                <a:schemeClr val="tx1">
                  <a:lumMod val="50000"/>
                  <a:lumOff val="50000"/>
                </a:schemeClr>
              </a:solidFill>
              <a:latin typeface="Arial" pitchFamily="34" charset="0"/>
              <a:cs typeface="Arial" pitchFamily="34" charset="0"/>
            </a:endParaRPr>
          </a:p>
          <a:p>
            <a:pPr>
              <a:buNone/>
            </a:pPr>
            <a:endParaRPr lang="pt-BR" dirty="0" smtClean="0">
              <a:solidFill>
                <a:srgbClr val="FFC000"/>
              </a:solidFill>
              <a:latin typeface="Arial" pitchFamily="34" charset="0"/>
              <a:cs typeface="Arial" pitchFamily="34" charset="0"/>
            </a:endParaRPr>
          </a:p>
          <a:p>
            <a:pPr>
              <a:buNone/>
            </a:pPr>
            <a:endParaRPr lang="pt-BR" dirty="0" smtClean="0">
              <a:solidFill>
                <a:srgbClr val="FFC000"/>
              </a:solidFill>
              <a:latin typeface="Arial" pitchFamily="34" charset="0"/>
              <a:cs typeface="Arial" pitchFamily="34" charset="0"/>
            </a:endParaRPr>
          </a:p>
          <a:p>
            <a:pPr>
              <a:buNone/>
            </a:pPr>
            <a:endParaRPr lang="pt-BR" dirty="0" smtClean="0">
              <a:solidFill>
                <a:srgbClr val="FFC000"/>
              </a:solidFill>
              <a:latin typeface="Arial" pitchFamily="34" charset="0"/>
              <a:cs typeface="Arial" pitchFamily="34" charset="0"/>
            </a:endParaRPr>
          </a:p>
          <a:p>
            <a:pPr>
              <a:buNone/>
            </a:pPr>
            <a:endParaRPr lang="pt-BR" dirty="0" smtClean="0">
              <a:solidFill>
                <a:srgbClr val="FFC000"/>
              </a:solidFill>
              <a:latin typeface="Arial" pitchFamily="34" charset="0"/>
              <a:cs typeface="Arial" pitchFamily="34" charset="0"/>
            </a:endParaRPr>
          </a:p>
          <a:p>
            <a:r>
              <a:rPr lang="pt-BR" dirty="0" smtClean="0">
                <a:solidFill>
                  <a:schemeClr val="tx1">
                    <a:lumMod val="50000"/>
                    <a:lumOff val="50000"/>
                  </a:schemeClr>
                </a:solidFill>
                <a:latin typeface="Arial" pitchFamily="34" charset="0"/>
                <a:cs typeface="Arial" pitchFamily="34" charset="0"/>
              </a:rPr>
              <a:t>Pesquisas, notícias, atividades da empresa, </a:t>
            </a:r>
            <a:r>
              <a:rPr lang="pt-BR" dirty="0" err="1" smtClean="0">
                <a:solidFill>
                  <a:schemeClr val="tx1">
                    <a:lumMod val="50000"/>
                    <a:lumOff val="50000"/>
                  </a:schemeClr>
                </a:solidFill>
                <a:latin typeface="Arial" pitchFamily="34" charset="0"/>
                <a:cs typeface="Arial" pitchFamily="34" charset="0"/>
              </a:rPr>
              <a:t>etc</a:t>
            </a:r>
            <a:r>
              <a:rPr lang="pt-BR" dirty="0" smtClean="0">
                <a:solidFill>
                  <a:schemeClr val="tx1">
                    <a:lumMod val="50000"/>
                    <a:lumOff val="50000"/>
                  </a:schemeClr>
                </a:solidFill>
                <a:latin typeface="Arial" pitchFamily="34" charset="0"/>
                <a:cs typeface="Arial" pitchFamily="34" charset="0"/>
              </a:rPr>
              <a:t>;</a:t>
            </a:r>
          </a:p>
          <a:p>
            <a:r>
              <a:rPr lang="pt-BR" dirty="0" smtClean="0">
                <a:solidFill>
                  <a:schemeClr val="tx1">
                    <a:lumMod val="50000"/>
                    <a:lumOff val="50000"/>
                  </a:schemeClr>
                </a:solidFill>
                <a:latin typeface="Arial" pitchFamily="34" charset="0"/>
                <a:cs typeface="Arial" pitchFamily="34" charset="0"/>
              </a:rPr>
              <a:t>Distribuição em diversos canais de comunicação;</a:t>
            </a:r>
          </a:p>
          <a:p>
            <a:r>
              <a:rPr lang="pt-BR" dirty="0" err="1" smtClean="0">
                <a:solidFill>
                  <a:schemeClr val="tx1">
                    <a:lumMod val="50000"/>
                    <a:lumOff val="50000"/>
                  </a:schemeClr>
                </a:solidFill>
                <a:latin typeface="Arial" pitchFamily="34" charset="0"/>
                <a:cs typeface="Arial" pitchFamily="34" charset="0"/>
              </a:rPr>
              <a:t>PrWeb</a:t>
            </a:r>
            <a:r>
              <a:rPr lang="pt-BR" dirty="0" smtClean="0">
                <a:solidFill>
                  <a:schemeClr val="tx1">
                    <a:lumMod val="50000"/>
                    <a:lumOff val="50000"/>
                  </a:schemeClr>
                </a:solidFill>
                <a:latin typeface="Arial" pitchFamily="34" charset="0"/>
                <a:cs typeface="Arial" pitchFamily="34" charset="0"/>
              </a:rPr>
              <a:t>, Send2Press, etc.</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apresentacao-linkbuilding-03.jpg"/>
          <p:cNvPicPr>
            <a:picLocks noChangeAspect="1"/>
          </p:cNvPicPr>
          <p:nvPr/>
        </p:nvPicPr>
        <p:blipFill>
          <a:blip r:embed="rId2" cstate="print"/>
          <a:stretch>
            <a:fillRect/>
          </a:stretch>
        </p:blipFill>
        <p:spPr>
          <a:xfrm>
            <a:off x="7386" y="0"/>
            <a:ext cx="9129228" cy="6858000"/>
          </a:xfrm>
          <a:prstGeom prst="rect">
            <a:avLst/>
          </a:prstGeom>
        </p:spPr>
      </p:pic>
      <p:sp>
        <p:nvSpPr>
          <p:cNvPr id="8" name="Título 1"/>
          <p:cNvSpPr>
            <a:spLocks noGrp="1"/>
          </p:cNvSpPr>
          <p:nvPr>
            <p:ph type="title"/>
          </p:nvPr>
        </p:nvSpPr>
        <p:spPr>
          <a:xfrm>
            <a:off x="611560" y="341784"/>
            <a:ext cx="8229600" cy="1143000"/>
          </a:xfrm>
        </p:spPr>
        <p:txBody>
          <a:bodyPr>
            <a:noAutofit/>
          </a:bodyPr>
          <a:lstStyle/>
          <a:p>
            <a:pPr algn="r"/>
            <a:r>
              <a:rPr lang="pt-BR" sz="5400" b="1" dirty="0" err="1" smtClean="0">
                <a:solidFill>
                  <a:srgbClr val="FFC000"/>
                </a:solidFill>
                <a:latin typeface="Arial" pitchFamily="34" charset="0"/>
                <a:cs typeface="Arial" pitchFamily="34" charset="0"/>
              </a:rPr>
              <a:t>Guest</a:t>
            </a:r>
            <a:r>
              <a:rPr lang="pt-BR" sz="5400" b="1" dirty="0" smtClean="0">
                <a:solidFill>
                  <a:srgbClr val="FFC000"/>
                </a:solidFill>
                <a:latin typeface="Arial" pitchFamily="34" charset="0"/>
                <a:cs typeface="Arial" pitchFamily="34" charset="0"/>
              </a:rPr>
              <a:t> </a:t>
            </a:r>
            <a:r>
              <a:rPr lang="pt-BR" sz="5400" b="1" dirty="0" err="1" smtClean="0">
                <a:solidFill>
                  <a:srgbClr val="FFC000"/>
                </a:solidFill>
                <a:latin typeface="Arial" pitchFamily="34" charset="0"/>
                <a:cs typeface="Arial" pitchFamily="34" charset="0"/>
              </a:rPr>
              <a:t>Posts</a:t>
            </a:r>
            <a:r>
              <a:rPr lang="pt-BR" sz="5400" b="1" dirty="0" smtClean="0">
                <a:latin typeface="Arial" pitchFamily="34" charset="0"/>
                <a:cs typeface="Arial" pitchFamily="34" charset="0"/>
              </a:rPr>
              <a:t/>
            </a:r>
            <a:br>
              <a:rPr lang="pt-BR" sz="5400" b="1" dirty="0" smtClean="0">
                <a:latin typeface="Arial" pitchFamily="34" charset="0"/>
                <a:cs typeface="Arial" pitchFamily="34" charset="0"/>
              </a:rPr>
            </a:br>
            <a:endParaRPr lang="en-US" sz="2800" dirty="0">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r>
              <a:rPr lang="pt-BR" dirty="0" smtClean="0">
                <a:solidFill>
                  <a:schemeClr val="tx1">
                    <a:lumMod val="50000"/>
                    <a:lumOff val="50000"/>
                  </a:schemeClr>
                </a:solidFill>
                <a:latin typeface="Arial" pitchFamily="34" charset="0"/>
                <a:cs typeface="Arial" pitchFamily="34" charset="0"/>
              </a:rPr>
              <a:t>Convide-se para escrever em </a:t>
            </a:r>
            <a:r>
              <a:rPr lang="pt-BR" b="1" dirty="0" smtClean="0">
                <a:solidFill>
                  <a:schemeClr val="tx1">
                    <a:lumMod val="50000"/>
                    <a:lumOff val="50000"/>
                  </a:schemeClr>
                </a:solidFill>
                <a:latin typeface="Arial" pitchFamily="34" charset="0"/>
                <a:cs typeface="Arial" pitchFamily="34" charset="0"/>
              </a:rPr>
              <a:t>blogs na área</a:t>
            </a:r>
            <a:r>
              <a:rPr lang="pt-BR" dirty="0" smtClean="0">
                <a:solidFill>
                  <a:schemeClr val="tx1">
                    <a:lumMod val="50000"/>
                    <a:lumOff val="50000"/>
                  </a:schemeClr>
                </a:solidFill>
                <a:latin typeface="Arial" pitchFamily="34" charset="0"/>
                <a:cs typeface="Arial" pitchFamily="34" charset="0"/>
              </a:rPr>
              <a:t>;</a:t>
            </a:r>
          </a:p>
          <a:p>
            <a:r>
              <a:rPr lang="pt-BR" dirty="0" smtClean="0">
                <a:solidFill>
                  <a:schemeClr val="tx1">
                    <a:lumMod val="50000"/>
                    <a:lumOff val="50000"/>
                  </a:schemeClr>
                </a:solidFill>
                <a:latin typeface="Arial" pitchFamily="34" charset="0"/>
                <a:cs typeface="Arial" pitchFamily="34" charset="0"/>
              </a:rPr>
              <a:t>Utilize e-mail </a:t>
            </a:r>
            <a:r>
              <a:rPr lang="pt-BR" b="1" dirty="0" smtClean="0">
                <a:solidFill>
                  <a:schemeClr val="tx1">
                    <a:lumMod val="50000"/>
                    <a:lumOff val="50000"/>
                  </a:schemeClr>
                </a:solidFill>
                <a:latin typeface="Arial" pitchFamily="34" charset="0"/>
                <a:cs typeface="Arial" pitchFamily="34" charset="0"/>
              </a:rPr>
              <a:t>personalizado</a:t>
            </a:r>
            <a:r>
              <a:rPr lang="pt-BR" dirty="0" smtClean="0">
                <a:solidFill>
                  <a:schemeClr val="tx1">
                    <a:lumMod val="50000"/>
                    <a:lumOff val="50000"/>
                  </a:schemeClr>
                </a:solidFill>
                <a:latin typeface="Arial" pitchFamily="34" charset="0"/>
                <a:cs typeface="Arial" pitchFamily="34" charset="0"/>
              </a:rPr>
              <a:t>;</a:t>
            </a:r>
          </a:p>
          <a:p>
            <a:r>
              <a:rPr lang="pt-BR" dirty="0" smtClean="0">
                <a:solidFill>
                  <a:schemeClr val="tx1">
                    <a:lumMod val="50000"/>
                    <a:lumOff val="50000"/>
                  </a:schemeClr>
                </a:solidFill>
                <a:latin typeface="Arial" pitchFamily="34" charset="0"/>
                <a:cs typeface="Arial" pitchFamily="34" charset="0"/>
              </a:rPr>
              <a:t>Mostre que você </a:t>
            </a:r>
            <a:r>
              <a:rPr lang="pt-BR" b="1" dirty="0" smtClean="0">
                <a:solidFill>
                  <a:schemeClr val="tx1">
                    <a:lumMod val="50000"/>
                    <a:lumOff val="50000"/>
                  </a:schemeClr>
                </a:solidFill>
                <a:latin typeface="Arial" pitchFamily="34" charset="0"/>
                <a:cs typeface="Arial" pitchFamily="34" charset="0"/>
              </a:rPr>
              <a:t>conhece</a:t>
            </a:r>
            <a:r>
              <a:rPr lang="pt-BR" dirty="0" smtClean="0">
                <a:solidFill>
                  <a:schemeClr val="tx1">
                    <a:lumMod val="50000"/>
                    <a:lumOff val="50000"/>
                  </a:schemeClr>
                </a:solidFill>
                <a:latin typeface="Arial" pitchFamily="34" charset="0"/>
                <a:cs typeface="Arial" pitchFamily="34" charset="0"/>
              </a:rPr>
              <a:t> o blog da pessoa;</a:t>
            </a:r>
          </a:p>
          <a:p>
            <a:r>
              <a:rPr lang="pt-BR" dirty="0" smtClean="0">
                <a:solidFill>
                  <a:schemeClr val="tx1">
                    <a:lumMod val="50000"/>
                    <a:lumOff val="50000"/>
                  </a:schemeClr>
                </a:solidFill>
                <a:latin typeface="Arial" pitchFamily="34" charset="0"/>
                <a:cs typeface="Arial" pitchFamily="34" charset="0"/>
              </a:rPr>
              <a:t>O conteúdo deve ser </a:t>
            </a:r>
            <a:r>
              <a:rPr lang="pt-BR" b="1" dirty="0" smtClean="0">
                <a:solidFill>
                  <a:schemeClr val="tx1">
                    <a:lumMod val="50000"/>
                    <a:lumOff val="50000"/>
                  </a:schemeClr>
                </a:solidFill>
                <a:latin typeface="Arial" pitchFamily="34" charset="0"/>
                <a:cs typeface="Arial" pitchFamily="34" charset="0"/>
              </a:rPr>
              <a:t>muito bem escrito</a:t>
            </a:r>
            <a:r>
              <a:rPr lang="pt-BR" dirty="0" smtClean="0">
                <a:solidFill>
                  <a:schemeClr val="tx1">
                    <a:lumMod val="50000"/>
                    <a:lumOff val="50000"/>
                  </a:schemeClr>
                </a:solidFill>
                <a:latin typeface="Arial" pitchFamily="34" charset="0"/>
                <a:cs typeface="Arial" pitchFamily="34" charset="0"/>
              </a:rPr>
              <a:t>, para ser aceito;</a:t>
            </a:r>
          </a:p>
          <a:p>
            <a:r>
              <a:rPr lang="pt-BR" dirty="0" smtClean="0">
                <a:solidFill>
                  <a:schemeClr val="tx1">
                    <a:lumMod val="50000"/>
                    <a:lumOff val="50000"/>
                  </a:schemeClr>
                </a:solidFill>
                <a:latin typeface="Arial" pitchFamily="34" charset="0"/>
                <a:cs typeface="Arial" pitchFamily="34" charset="0"/>
              </a:rPr>
              <a:t>Faça </a:t>
            </a:r>
            <a:r>
              <a:rPr lang="pt-BR" b="1" dirty="0" smtClean="0">
                <a:solidFill>
                  <a:schemeClr val="tx1">
                    <a:lumMod val="50000"/>
                    <a:lumOff val="50000"/>
                  </a:schemeClr>
                </a:solidFill>
                <a:latin typeface="Arial" pitchFamily="34" charset="0"/>
                <a:cs typeface="Arial" pitchFamily="34" charset="0"/>
              </a:rPr>
              <a:t>links</a:t>
            </a:r>
            <a:r>
              <a:rPr lang="pt-BR" dirty="0" smtClean="0">
                <a:solidFill>
                  <a:schemeClr val="tx1">
                    <a:lumMod val="50000"/>
                    <a:lumOff val="50000"/>
                  </a:schemeClr>
                </a:solidFill>
                <a:latin typeface="Arial" pitchFamily="34" charset="0"/>
                <a:cs typeface="Arial" pitchFamily="34" charset="0"/>
              </a:rPr>
              <a:t> para </a:t>
            </a:r>
            <a:r>
              <a:rPr lang="pt-BR" b="1" dirty="0" smtClean="0">
                <a:solidFill>
                  <a:schemeClr val="tx1">
                    <a:lumMod val="50000"/>
                    <a:lumOff val="50000"/>
                  </a:schemeClr>
                </a:solidFill>
                <a:latin typeface="Arial" pitchFamily="34" charset="0"/>
                <a:cs typeface="Arial" pitchFamily="34" charset="0"/>
              </a:rPr>
              <a:t>conteúdos relacionados </a:t>
            </a:r>
            <a:r>
              <a:rPr lang="pt-BR" dirty="0" smtClean="0">
                <a:solidFill>
                  <a:schemeClr val="tx1">
                    <a:lumMod val="50000"/>
                    <a:lumOff val="50000"/>
                  </a:schemeClr>
                </a:solidFill>
                <a:latin typeface="Arial" pitchFamily="34" charset="0"/>
                <a:cs typeface="Arial" pitchFamily="34" charset="0"/>
              </a:rPr>
              <a:t>dentro do próprio </a:t>
            </a:r>
            <a:r>
              <a:rPr lang="pt-BR" b="1" dirty="0" smtClean="0">
                <a:solidFill>
                  <a:schemeClr val="tx1">
                    <a:lumMod val="50000"/>
                    <a:lumOff val="50000"/>
                  </a:schemeClr>
                </a:solidFill>
                <a:latin typeface="Arial" pitchFamily="34" charset="0"/>
                <a:cs typeface="Arial" pitchFamily="34" charset="0"/>
              </a:rPr>
              <a:t>blog do autor</a:t>
            </a:r>
            <a:r>
              <a:rPr lang="pt-BR" dirty="0" smtClean="0">
                <a:solidFill>
                  <a:schemeClr val="tx1">
                    <a:lumMod val="50000"/>
                    <a:lumOff val="50000"/>
                  </a:schemeClr>
                </a:solidFill>
                <a:latin typeface="Arial" pitchFamily="34" charset="0"/>
                <a:cs typeface="Arial" pitchFamily="34" charset="0"/>
              </a:rPr>
              <a:t>;</a:t>
            </a:r>
          </a:p>
          <a:p>
            <a:pPr>
              <a:buNone/>
            </a:pPr>
            <a:endParaRPr lang="pt-BR" dirty="0" smtClean="0">
              <a:solidFill>
                <a:schemeClr val="tx1">
                  <a:lumMod val="50000"/>
                  <a:lumOff val="50000"/>
                </a:schemeClr>
              </a:solidFill>
              <a:latin typeface="Arial" pitchFamily="34" charset="0"/>
              <a:cs typeface="Arial" pitchFamily="34" charset="0"/>
            </a:endParaRPr>
          </a:p>
          <a:p>
            <a:pPr>
              <a:buNone/>
            </a:pPr>
            <a:endParaRPr lang="pt-BR" dirty="0" smtClean="0">
              <a:solidFill>
                <a:schemeClr val="tx1">
                  <a:lumMod val="50000"/>
                  <a:lumOff val="50000"/>
                </a:schemeClr>
              </a:solidFill>
              <a:latin typeface="Arial" pitchFamily="34" charset="0"/>
              <a:cs typeface="Arial" pitchFamily="34" charset="0"/>
            </a:endParaRPr>
          </a:p>
          <a:p>
            <a:r>
              <a:rPr lang="pt-BR" b="1" dirty="0" smtClean="0">
                <a:solidFill>
                  <a:schemeClr val="tx1">
                    <a:lumMod val="50000"/>
                    <a:lumOff val="50000"/>
                  </a:schemeClr>
                </a:solidFill>
                <a:latin typeface="Arial" pitchFamily="34" charset="0"/>
                <a:cs typeface="Arial" pitchFamily="34" charset="0"/>
              </a:rPr>
              <a:t>Revise</a:t>
            </a:r>
            <a:r>
              <a:rPr lang="pt-BR" dirty="0" smtClean="0">
                <a:solidFill>
                  <a:schemeClr val="tx1">
                    <a:lumMod val="50000"/>
                    <a:lumOff val="50000"/>
                  </a:schemeClr>
                </a:solidFill>
                <a:latin typeface="Arial" pitchFamily="34" charset="0"/>
                <a:cs typeface="Arial" pitchFamily="34" charset="0"/>
              </a:rPr>
              <a:t> o artigo mais de uma vez;</a:t>
            </a:r>
          </a:p>
          <a:p>
            <a:r>
              <a:rPr lang="pt-BR" dirty="0" smtClean="0">
                <a:solidFill>
                  <a:schemeClr val="tx1">
                    <a:lumMod val="50000"/>
                    <a:lumOff val="50000"/>
                  </a:schemeClr>
                </a:solidFill>
                <a:latin typeface="Arial" pitchFamily="34" charset="0"/>
                <a:cs typeface="Arial" pitchFamily="34" charset="0"/>
              </a:rPr>
              <a:t>Envie o artigo bem </a:t>
            </a:r>
            <a:r>
              <a:rPr lang="pt-BR" b="1" dirty="0" smtClean="0">
                <a:solidFill>
                  <a:schemeClr val="tx1">
                    <a:lumMod val="50000"/>
                    <a:lumOff val="50000"/>
                  </a:schemeClr>
                </a:solidFill>
                <a:latin typeface="Arial" pitchFamily="34" charset="0"/>
                <a:cs typeface="Arial" pitchFamily="34" charset="0"/>
              </a:rPr>
              <a:t>formatado</a:t>
            </a:r>
            <a:r>
              <a:rPr lang="pt-BR" dirty="0" smtClean="0">
                <a:solidFill>
                  <a:schemeClr val="tx1">
                    <a:lumMod val="50000"/>
                    <a:lumOff val="50000"/>
                  </a:schemeClr>
                </a:solidFill>
                <a:latin typeface="Arial" pitchFamily="34" charset="0"/>
                <a:cs typeface="Arial" pitchFamily="34" charset="0"/>
              </a:rPr>
              <a:t>;</a:t>
            </a:r>
          </a:p>
          <a:p>
            <a:r>
              <a:rPr lang="pt-BR" dirty="0" smtClean="0">
                <a:solidFill>
                  <a:schemeClr val="tx1">
                    <a:lumMod val="50000"/>
                    <a:lumOff val="50000"/>
                  </a:schemeClr>
                </a:solidFill>
                <a:latin typeface="Arial" pitchFamily="34" charset="0"/>
                <a:cs typeface="Arial" pitchFamily="34" charset="0"/>
              </a:rPr>
              <a:t>Oportunidade de </a:t>
            </a:r>
            <a:r>
              <a:rPr lang="pt-BR" b="1" dirty="0" smtClean="0">
                <a:solidFill>
                  <a:schemeClr val="tx1">
                    <a:lumMod val="50000"/>
                    <a:lumOff val="50000"/>
                  </a:schemeClr>
                </a:solidFill>
                <a:latin typeface="Arial" pitchFamily="34" charset="0"/>
                <a:cs typeface="Arial" pitchFamily="34" charset="0"/>
              </a:rPr>
              <a:t>links dentro do conteúdo</a:t>
            </a:r>
            <a:r>
              <a:rPr lang="pt-BR" dirty="0" smtClean="0">
                <a:solidFill>
                  <a:schemeClr val="tx1">
                    <a:lumMod val="50000"/>
                    <a:lumOff val="50000"/>
                  </a:schemeClr>
                </a:solidFill>
                <a:latin typeface="Arial" pitchFamily="34" charset="0"/>
                <a:cs typeface="Arial" pitchFamily="34" charset="0"/>
              </a:rPr>
              <a:t>, ou numa caixa para o autor;</a:t>
            </a:r>
          </a:p>
          <a:p>
            <a:r>
              <a:rPr lang="pt-BR" dirty="0" smtClean="0">
                <a:solidFill>
                  <a:schemeClr val="tx1">
                    <a:lumMod val="50000"/>
                    <a:lumOff val="50000"/>
                  </a:schemeClr>
                </a:solidFill>
                <a:latin typeface="Arial" pitchFamily="34" charset="0"/>
                <a:cs typeface="Arial" pitchFamily="34" charset="0"/>
              </a:rPr>
              <a:t>No final todo mundo ganha!!!</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apresentacao-linkbuilding-03.jpg"/>
          <p:cNvPicPr>
            <a:picLocks noChangeAspect="1"/>
          </p:cNvPicPr>
          <p:nvPr/>
        </p:nvPicPr>
        <p:blipFill>
          <a:blip r:embed="rId2" cstate="print"/>
          <a:stretch>
            <a:fillRect/>
          </a:stretch>
        </p:blipFill>
        <p:spPr>
          <a:xfrm>
            <a:off x="7386" y="0"/>
            <a:ext cx="9129228" cy="6858000"/>
          </a:xfrm>
          <a:prstGeom prst="rect">
            <a:avLst/>
          </a:prstGeom>
        </p:spPr>
      </p:pic>
      <p:sp>
        <p:nvSpPr>
          <p:cNvPr id="8" name="Título 1"/>
          <p:cNvSpPr>
            <a:spLocks noGrp="1"/>
          </p:cNvSpPr>
          <p:nvPr>
            <p:ph type="title"/>
          </p:nvPr>
        </p:nvSpPr>
        <p:spPr>
          <a:xfrm>
            <a:off x="611560" y="341784"/>
            <a:ext cx="8229600" cy="1143000"/>
          </a:xfrm>
        </p:spPr>
        <p:txBody>
          <a:bodyPr>
            <a:noAutofit/>
          </a:bodyPr>
          <a:lstStyle/>
          <a:p>
            <a:pPr algn="r"/>
            <a:r>
              <a:rPr lang="pt-BR" sz="5400" b="1" dirty="0" err="1" smtClean="0">
                <a:solidFill>
                  <a:srgbClr val="FFC000"/>
                </a:solidFill>
                <a:latin typeface="Arial" pitchFamily="34" charset="0"/>
                <a:cs typeface="Arial" pitchFamily="34" charset="0"/>
              </a:rPr>
              <a:t>Guest</a:t>
            </a:r>
            <a:r>
              <a:rPr lang="pt-BR" sz="5400" b="1" dirty="0" smtClean="0">
                <a:solidFill>
                  <a:srgbClr val="FFC000"/>
                </a:solidFill>
                <a:latin typeface="Arial" pitchFamily="34" charset="0"/>
                <a:cs typeface="Arial" pitchFamily="34" charset="0"/>
              </a:rPr>
              <a:t> </a:t>
            </a:r>
            <a:r>
              <a:rPr lang="pt-BR" sz="5400" b="1" dirty="0" err="1" smtClean="0">
                <a:solidFill>
                  <a:srgbClr val="FFC000"/>
                </a:solidFill>
                <a:latin typeface="Arial" pitchFamily="34" charset="0"/>
                <a:cs typeface="Arial" pitchFamily="34" charset="0"/>
              </a:rPr>
              <a:t>Posts</a:t>
            </a:r>
            <a:r>
              <a:rPr lang="pt-BR" sz="5400" b="1" dirty="0" smtClean="0">
                <a:latin typeface="Arial" pitchFamily="34" charset="0"/>
                <a:cs typeface="Arial" pitchFamily="34" charset="0"/>
              </a:rPr>
              <a:t/>
            </a:r>
            <a:br>
              <a:rPr lang="pt-BR" sz="5400" b="1" dirty="0" smtClean="0">
                <a:latin typeface="Arial" pitchFamily="34" charset="0"/>
                <a:cs typeface="Arial" pitchFamily="34" charset="0"/>
              </a:rPr>
            </a:br>
            <a:endParaRPr lang="en-US" sz="2800" dirty="0">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pPr>
              <a:buNone/>
            </a:pPr>
            <a:r>
              <a:rPr lang="pt-BR" b="1" dirty="0" smtClean="0">
                <a:solidFill>
                  <a:schemeClr val="tx1">
                    <a:lumMod val="50000"/>
                    <a:lumOff val="50000"/>
                  </a:schemeClr>
                </a:solidFill>
                <a:latin typeface="Arial" pitchFamily="34" charset="0"/>
                <a:cs typeface="Arial" pitchFamily="34" charset="0"/>
              </a:rPr>
              <a:t>Encontrando Oportunidades no Google:</a:t>
            </a:r>
          </a:p>
          <a:p>
            <a:pPr>
              <a:buNone/>
            </a:pPr>
            <a:endParaRPr lang="pt-BR" dirty="0" smtClean="0">
              <a:solidFill>
                <a:srgbClr val="FFC000"/>
              </a:solidFill>
              <a:latin typeface="Arial" pitchFamily="34" charset="0"/>
              <a:cs typeface="Arial" pitchFamily="34" charset="0"/>
            </a:endParaRPr>
          </a:p>
          <a:p>
            <a:pPr>
              <a:buNone/>
            </a:pPr>
            <a:endParaRPr lang="pt-BR" dirty="0" smtClean="0">
              <a:solidFill>
                <a:srgbClr val="FFC000"/>
              </a:solidFill>
              <a:latin typeface="Arial" pitchFamily="34" charset="0"/>
              <a:cs typeface="Arial" pitchFamily="34" charset="0"/>
            </a:endParaRPr>
          </a:p>
          <a:p>
            <a:pPr>
              <a:buNone/>
            </a:pPr>
            <a:endParaRPr lang="pt-BR" dirty="0" smtClean="0">
              <a:solidFill>
                <a:srgbClr val="FFC000"/>
              </a:solidFill>
              <a:latin typeface="Arial" pitchFamily="34" charset="0"/>
              <a:cs typeface="Arial" pitchFamily="34" charset="0"/>
            </a:endParaRPr>
          </a:p>
          <a:p>
            <a:pPr>
              <a:buNone/>
            </a:pPr>
            <a:endParaRPr lang="pt-BR" dirty="0" smtClean="0">
              <a:solidFill>
                <a:srgbClr val="FFC000"/>
              </a:solidFill>
              <a:latin typeface="Arial" pitchFamily="34" charset="0"/>
              <a:cs typeface="Arial" pitchFamily="34" charset="0"/>
            </a:endParaRPr>
          </a:p>
          <a:p>
            <a:pPr>
              <a:buNone/>
            </a:pPr>
            <a:r>
              <a:rPr lang="pt-BR" dirty="0" smtClean="0">
                <a:solidFill>
                  <a:srgbClr val="FF9900"/>
                </a:solidFill>
                <a:latin typeface="Arial" pitchFamily="34" charset="0"/>
                <a:cs typeface="Arial" pitchFamily="34" charset="0"/>
              </a:rPr>
              <a:t>“palavra-chave” + “</a:t>
            </a:r>
            <a:r>
              <a:rPr lang="pt-BR" dirty="0" err="1" smtClean="0">
                <a:solidFill>
                  <a:srgbClr val="FF9900"/>
                </a:solidFill>
                <a:latin typeface="Arial" pitchFamily="34" charset="0"/>
                <a:cs typeface="Arial" pitchFamily="34" charset="0"/>
              </a:rPr>
              <a:t>guest</a:t>
            </a:r>
            <a:r>
              <a:rPr lang="pt-BR" dirty="0" smtClean="0">
                <a:solidFill>
                  <a:srgbClr val="FF9900"/>
                </a:solidFill>
                <a:latin typeface="Arial" pitchFamily="34" charset="0"/>
                <a:cs typeface="Arial" pitchFamily="34" charset="0"/>
              </a:rPr>
              <a:t> </a:t>
            </a:r>
            <a:r>
              <a:rPr lang="pt-BR" dirty="0" err="1" smtClean="0">
                <a:solidFill>
                  <a:srgbClr val="FF9900"/>
                </a:solidFill>
                <a:latin typeface="Arial" pitchFamily="34" charset="0"/>
                <a:cs typeface="Arial" pitchFamily="34" charset="0"/>
              </a:rPr>
              <a:t>post</a:t>
            </a:r>
            <a:r>
              <a:rPr lang="pt-BR" dirty="0" smtClean="0">
                <a:solidFill>
                  <a:srgbClr val="FF9900"/>
                </a:solidFill>
                <a:latin typeface="Arial" pitchFamily="34" charset="0"/>
                <a:cs typeface="Arial" pitchFamily="34" charset="0"/>
              </a:rPr>
              <a:t>” </a:t>
            </a:r>
          </a:p>
          <a:p>
            <a:pPr>
              <a:buNone/>
            </a:pPr>
            <a:r>
              <a:rPr lang="pt-BR" dirty="0" smtClean="0">
                <a:solidFill>
                  <a:srgbClr val="FF9900"/>
                </a:solidFill>
                <a:latin typeface="Arial" pitchFamily="34" charset="0"/>
                <a:cs typeface="Arial" pitchFamily="34" charset="0"/>
              </a:rPr>
              <a:t>“palavra-chave” + “enviar artigo” </a:t>
            </a:r>
          </a:p>
          <a:p>
            <a:pPr>
              <a:buNone/>
            </a:pPr>
            <a:r>
              <a:rPr lang="pt-BR" dirty="0" smtClean="0">
                <a:solidFill>
                  <a:srgbClr val="FF9900"/>
                </a:solidFill>
                <a:latin typeface="Arial" pitchFamily="34" charset="0"/>
                <a:cs typeface="Arial" pitchFamily="34" charset="0"/>
              </a:rPr>
              <a:t>“palavra-chave” + “contribua com o nosso site” </a:t>
            </a:r>
          </a:p>
          <a:p>
            <a:pPr>
              <a:buNone/>
            </a:pPr>
            <a:r>
              <a:rPr lang="pt-BR" dirty="0" smtClean="0">
                <a:solidFill>
                  <a:srgbClr val="FF9900"/>
                </a:solidFill>
                <a:latin typeface="Arial" pitchFamily="34" charset="0"/>
                <a:cs typeface="Arial" pitchFamily="34" charset="0"/>
              </a:rPr>
              <a:t>“palavra-chave” + “contribua com nosso site” </a:t>
            </a:r>
          </a:p>
          <a:p>
            <a:pPr>
              <a:buNone/>
            </a:pPr>
            <a:r>
              <a:rPr lang="pt-BR" dirty="0" smtClean="0">
                <a:solidFill>
                  <a:srgbClr val="FF9900"/>
                </a:solidFill>
                <a:latin typeface="Arial" pitchFamily="34" charset="0"/>
                <a:cs typeface="Arial" pitchFamily="34" charset="0"/>
              </a:rPr>
              <a:t>“palavra-chave” + “escreva para nós” </a:t>
            </a:r>
          </a:p>
          <a:p>
            <a:pPr>
              <a:buNone/>
            </a:pPr>
            <a:r>
              <a:rPr lang="pt-BR" dirty="0" smtClean="0">
                <a:solidFill>
                  <a:srgbClr val="FF9900"/>
                </a:solidFill>
                <a:latin typeface="Arial" pitchFamily="34" charset="0"/>
                <a:cs typeface="Arial" pitchFamily="34" charset="0"/>
              </a:rPr>
              <a:t>“palavra-chave” + “escreva para gente” </a:t>
            </a:r>
          </a:p>
          <a:p>
            <a:pPr>
              <a:buNone/>
            </a:pPr>
            <a:r>
              <a:rPr lang="pt-BR" dirty="0" smtClean="0">
                <a:solidFill>
                  <a:srgbClr val="FF9900"/>
                </a:solidFill>
                <a:latin typeface="Arial" pitchFamily="34" charset="0"/>
                <a:cs typeface="Arial" pitchFamily="34" charset="0"/>
              </a:rPr>
              <a:t>“palavra-chave” + “seja um autor” </a:t>
            </a:r>
          </a:p>
          <a:p>
            <a:pPr>
              <a:buNone/>
            </a:pPr>
            <a:r>
              <a:rPr lang="pt-BR" dirty="0" smtClean="0">
                <a:solidFill>
                  <a:srgbClr val="FF9900"/>
                </a:solidFill>
                <a:latin typeface="Arial" pitchFamily="34" charset="0"/>
                <a:cs typeface="Arial" pitchFamily="34" charset="0"/>
              </a:rPr>
              <a:t>“palavra-chave” + “colaborar com nosso site” </a:t>
            </a: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4" descr="C:\Users\hp\Desktop\searchlabs\RocknRoll_Pattern_CS4.jpg"/>
          <p:cNvPicPr>
            <a:picLocks noChangeAspect="1" noChangeArrowheads="1"/>
          </p:cNvPicPr>
          <p:nvPr/>
        </p:nvPicPr>
        <p:blipFill>
          <a:blip r:embed="rId2" cstate="print"/>
          <a:srcRect/>
          <a:stretch>
            <a:fillRect/>
          </a:stretch>
        </p:blipFill>
        <p:spPr bwMode="auto">
          <a:xfrm>
            <a:off x="-394854" y="-142486"/>
            <a:ext cx="9754632" cy="9766086"/>
          </a:xfrm>
          <a:prstGeom prst="rect">
            <a:avLst/>
          </a:prstGeom>
          <a:noFill/>
        </p:spPr>
      </p:pic>
      <p:sp>
        <p:nvSpPr>
          <p:cNvPr id="8" name="Título 1"/>
          <p:cNvSpPr>
            <a:spLocks noGrp="1"/>
          </p:cNvSpPr>
          <p:nvPr>
            <p:ph type="title"/>
          </p:nvPr>
        </p:nvSpPr>
        <p:spPr>
          <a:xfrm>
            <a:off x="611560" y="341784"/>
            <a:ext cx="8229600" cy="1143000"/>
          </a:xfrm>
        </p:spPr>
        <p:txBody>
          <a:bodyPr>
            <a:noAutofit/>
          </a:bodyPr>
          <a:lstStyle/>
          <a:p>
            <a:pPr algn="r"/>
            <a:r>
              <a:rPr lang="pt-BR" sz="5400" b="1" dirty="0" err="1" smtClean="0">
                <a:solidFill>
                  <a:srgbClr val="FFC000"/>
                </a:solidFill>
                <a:latin typeface="Arial" pitchFamily="34" charset="0"/>
                <a:cs typeface="Arial" pitchFamily="34" charset="0"/>
              </a:rPr>
              <a:t>Guest</a:t>
            </a:r>
            <a:r>
              <a:rPr lang="pt-BR" sz="5400" b="1" dirty="0" smtClean="0">
                <a:solidFill>
                  <a:srgbClr val="FFC000"/>
                </a:solidFill>
                <a:latin typeface="Arial" pitchFamily="34" charset="0"/>
                <a:cs typeface="Arial" pitchFamily="34" charset="0"/>
              </a:rPr>
              <a:t> </a:t>
            </a:r>
            <a:r>
              <a:rPr lang="pt-BR" sz="5400" b="1" dirty="0" err="1" smtClean="0">
                <a:solidFill>
                  <a:srgbClr val="FFC000"/>
                </a:solidFill>
                <a:latin typeface="Arial" pitchFamily="34" charset="0"/>
                <a:cs typeface="Arial" pitchFamily="34" charset="0"/>
              </a:rPr>
              <a:t>Posts</a:t>
            </a:r>
            <a:r>
              <a:rPr lang="pt-BR" sz="5400" b="1" dirty="0" smtClean="0">
                <a:solidFill>
                  <a:schemeClr val="bg1"/>
                </a:solidFill>
                <a:latin typeface="Arial" pitchFamily="34" charset="0"/>
                <a:cs typeface="Arial" pitchFamily="34" charset="0"/>
              </a:rPr>
              <a:t/>
            </a:r>
            <a:br>
              <a:rPr lang="pt-BR" sz="5400" b="1" dirty="0" smtClean="0">
                <a:solidFill>
                  <a:schemeClr val="bg1"/>
                </a:solidFill>
                <a:latin typeface="Arial" pitchFamily="34" charset="0"/>
                <a:cs typeface="Arial" pitchFamily="34" charset="0"/>
              </a:rPr>
            </a:br>
            <a:endParaRPr lang="en-US" sz="2800" dirty="0">
              <a:solidFill>
                <a:schemeClr val="bg1"/>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lgn="ctr">
              <a:buNone/>
            </a:pPr>
            <a:endParaRPr lang="pt-BR" dirty="0" smtClean="0">
              <a:solidFill>
                <a:schemeClr val="bg1"/>
              </a:solidFill>
              <a:latin typeface="Arial" pitchFamily="34" charset="0"/>
              <a:cs typeface="Arial" pitchFamily="34" charset="0"/>
            </a:endParaRPr>
          </a:p>
          <a:p>
            <a:pPr>
              <a:buNone/>
            </a:pPr>
            <a:endParaRPr lang="pt-BR" dirty="0" smtClean="0">
              <a:solidFill>
                <a:schemeClr val="bg1"/>
              </a:solidFill>
              <a:latin typeface="Arial" pitchFamily="34" charset="0"/>
              <a:cs typeface="Arial" pitchFamily="34" charset="0"/>
            </a:endParaRPr>
          </a:p>
          <a:p>
            <a:pPr>
              <a:buNone/>
            </a:pPr>
            <a:endParaRPr lang="pt-BR" dirty="0" smtClean="0">
              <a:solidFill>
                <a:schemeClr val="bg1"/>
              </a:solidFill>
              <a:latin typeface="Arial" pitchFamily="34" charset="0"/>
              <a:cs typeface="Arial" pitchFamily="34" charset="0"/>
            </a:endParaRPr>
          </a:p>
          <a:p>
            <a:pPr>
              <a:buNone/>
            </a:pPr>
            <a:r>
              <a:rPr lang="pt-BR" sz="4600" b="1" dirty="0" smtClean="0">
                <a:solidFill>
                  <a:srgbClr val="FFC000"/>
                </a:solidFill>
                <a:latin typeface="Arial" pitchFamily="34" charset="0"/>
                <a:cs typeface="Arial" pitchFamily="34" charset="0"/>
              </a:rPr>
              <a:t>Dica do Mal 4:</a:t>
            </a:r>
          </a:p>
          <a:p>
            <a:pPr>
              <a:buNone/>
            </a:pPr>
            <a:endParaRPr lang="pt-BR" b="1" dirty="0" smtClean="0">
              <a:solidFill>
                <a:srgbClr val="FFC000"/>
              </a:solidFill>
              <a:latin typeface="Arial" pitchFamily="34" charset="0"/>
              <a:cs typeface="Arial" pitchFamily="34" charset="0"/>
            </a:endParaRPr>
          </a:p>
          <a:p>
            <a:pPr>
              <a:buNone/>
            </a:pPr>
            <a:endParaRPr lang="pt-BR" b="1" dirty="0" smtClean="0">
              <a:solidFill>
                <a:srgbClr val="FFC000"/>
              </a:solidFill>
              <a:latin typeface="Arial" pitchFamily="34" charset="0"/>
              <a:cs typeface="Arial" pitchFamily="34" charset="0"/>
            </a:endParaRPr>
          </a:p>
          <a:p>
            <a:pPr>
              <a:buNone/>
            </a:pPr>
            <a:endParaRPr lang="pt-BR" dirty="0" smtClean="0">
              <a:solidFill>
                <a:srgbClr val="FFC000"/>
              </a:solidFill>
              <a:latin typeface="Arial" pitchFamily="34" charset="0"/>
              <a:cs typeface="Arial" pitchFamily="34" charset="0"/>
            </a:endParaRPr>
          </a:p>
          <a:p>
            <a:pPr>
              <a:buNone/>
            </a:pPr>
            <a:r>
              <a:rPr lang="pt-BR" dirty="0" smtClean="0">
                <a:solidFill>
                  <a:schemeClr val="bg1">
                    <a:lumMod val="75000"/>
                  </a:schemeClr>
                </a:solidFill>
                <a:latin typeface="Arial" pitchFamily="34" charset="0"/>
                <a:cs typeface="Arial" pitchFamily="34" charset="0"/>
              </a:rPr>
              <a:t>Se não aceitarem o </a:t>
            </a:r>
            <a:r>
              <a:rPr lang="pt-BR" dirty="0" err="1" smtClean="0">
                <a:solidFill>
                  <a:schemeClr val="bg1">
                    <a:lumMod val="75000"/>
                  </a:schemeClr>
                </a:solidFill>
                <a:latin typeface="Arial" pitchFamily="34" charset="0"/>
                <a:cs typeface="Arial" pitchFamily="34" charset="0"/>
              </a:rPr>
              <a:t>guest</a:t>
            </a:r>
            <a:r>
              <a:rPr lang="pt-BR" dirty="0" smtClean="0">
                <a:solidFill>
                  <a:schemeClr val="bg1">
                    <a:lumMod val="75000"/>
                  </a:schemeClr>
                </a:solidFill>
                <a:latin typeface="Arial" pitchFamily="34" charset="0"/>
                <a:cs typeface="Arial" pitchFamily="34" charset="0"/>
              </a:rPr>
              <a:t> </a:t>
            </a:r>
            <a:r>
              <a:rPr lang="pt-BR" dirty="0" err="1" smtClean="0">
                <a:solidFill>
                  <a:schemeClr val="bg1">
                    <a:lumMod val="75000"/>
                  </a:schemeClr>
                </a:solidFill>
                <a:latin typeface="Arial" pitchFamily="34" charset="0"/>
                <a:cs typeface="Arial" pitchFamily="34" charset="0"/>
              </a:rPr>
              <a:t>post</a:t>
            </a:r>
            <a:r>
              <a:rPr lang="pt-BR" dirty="0" smtClean="0">
                <a:solidFill>
                  <a:schemeClr val="bg1">
                    <a:lumMod val="75000"/>
                  </a:schemeClr>
                </a:solidFill>
                <a:latin typeface="Arial" pitchFamily="34" charset="0"/>
                <a:cs typeface="Arial" pitchFamily="34" charset="0"/>
              </a:rPr>
              <a:t>....</a:t>
            </a:r>
          </a:p>
          <a:p>
            <a:pPr>
              <a:buNone/>
            </a:pPr>
            <a:endParaRPr lang="pt-BR" dirty="0" smtClean="0">
              <a:solidFill>
                <a:schemeClr val="bg1">
                  <a:lumMod val="75000"/>
                </a:schemeClr>
              </a:solidFill>
              <a:latin typeface="Arial" pitchFamily="34" charset="0"/>
              <a:cs typeface="Arial" pitchFamily="34" charset="0"/>
            </a:endParaRPr>
          </a:p>
          <a:p>
            <a:pPr>
              <a:buNone/>
            </a:pPr>
            <a:r>
              <a:rPr lang="pt-BR" dirty="0" smtClean="0">
                <a:solidFill>
                  <a:schemeClr val="bg1">
                    <a:lumMod val="75000"/>
                  </a:schemeClr>
                </a:solidFill>
                <a:latin typeface="Arial" pitchFamily="34" charset="0"/>
                <a:cs typeface="Arial" pitchFamily="34" charset="0"/>
              </a:rPr>
              <a:t>Existe como incentivar...</a:t>
            </a:r>
          </a:p>
          <a:p>
            <a:pPr>
              <a:buNone/>
            </a:pPr>
            <a:endParaRPr lang="pt-BR" dirty="0" smtClean="0">
              <a:solidFill>
                <a:schemeClr val="bg1">
                  <a:lumMod val="75000"/>
                </a:schemeClr>
              </a:solidFill>
              <a:latin typeface="Arial" pitchFamily="34" charset="0"/>
              <a:cs typeface="Arial" pitchFamily="34" charset="0"/>
            </a:endParaRPr>
          </a:p>
          <a:p>
            <a:pPr>
              <a:buNone/>
            </a:pPr>
            <a:r>
              <a:rPr lang="pt-BR" dirty="0" smtClean="0">
                <a:solidFill>
                  <a:schemeClr val="bg1">
                    <a:lumMod val="75000"/>
                  </a:schemeClr>
                </a:solidFill>
                <a:latin typeface="Arial" pitchFamily="34" charset="0"/>
                <a:cs typeface="Arial" pitchFamily="34" charset="0"/>
              </a:rPr>
              <a:t>através de...</a:t>
            </a:r>
          </a:p>
          <a:p>
            <a:pPr>
              <a:buNone/>
            </a:pPr>
            <a:endParaRPr lang="pt-BR" dirty="0" smtClean="0">
              <a:solidFill>
                <a:schemeClr val="tx1">
                  <a:lumMod val="65000"/>
                  <a:lumOff val="35000"/>
                </a:schemeClr>
              </a:solidFill>
              <a:latin typeface="Arial" pitchFamily="34" charset="0"/>
              <a:cs typeface="Arial" pitchFamily="34" charset="0"/>
            </a:endParaRPr>
          </a:p>
          <a:p>
            <a:pPr>
              <a:buNone/>
            </a:pPr>
            <a:r>
              <a:rPr lang="pt-BR" dirty="0" smtClean="0">
                <a:solidFill>
                  <a:srgbClr val="FFCC00"/>
                </a:solidFill>
                <a:latin typeface="Arial" pitchFamily="34" charset="0"/>
                <a:cs typeface="Arial" pitchFamily="34" charset="0"/>
              </a:rPr>
              <a:t>$$$$$$$$$$$$$$$$$$$$$$$$$$$$</a:t>
            </a:r>
          </a:p>
          <a:p>
            <a:pPr>
              <a:buNone/>
            </a:pPr>
            <a:endParaRPr lang="pt-BR" dirty="0" smtClean="0">
              <a:solidFill>
                <a:schemeClr val="bg1"/>
              </a:solidFill>
              <a:latin typeface="Arial" pitchFamily="34" charset="0"/>
              <a:cs typeface="Arial" pitchFamily="34" charset="0"/>
            </a:endParaRPr>
          </a:p>
          <a:p>
            <a:pPr>
              <a:buNone/>
            </a:pPr>
            <a:endParaRPr lang="pt-BR" dirty="0" smtClean="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341784"/>
            <a:ext cx="8229600" cy="1143000"/>
          </a:xfrm>
        </p:spPr>
        <p:txBody>
          <a:bodyPr>
            <a:noAutofit/>
          </a:bodyPr>
          <a:lstStyle/>
          <a:p>
            <a:pPr algn="r"/>
            <a:r>
              <a:rPr lang="pt-BR" sz="5400" b="1" dirty="0" smtClean="0">
                <a:solidFill>
                  <a:srgbClr val="ABD212"/>
                </a:solidFill>
                <a:latin typeface="Arial" pitchFamily="34" charset="0"/>
                <a:cs typeface="Arial" pitchFamily="34" charset="0"/>
              </a:rPr>
              <a:t>RSS/FEED </a:t>
            </a:r>
            <a:r>
              <a:rPr lang="pt-BR" sz="5400" b="1" dirty="0" err="1" smtClean="0">
                <a:solidFill>
                  <a:srgbClr val="ABD212"/>
                </a:solidFill>
                <a:latin typeface="Arial" pitchFamily="34" charset="0"/>
                <a:cs typeface="Arial" pitchFamily="34" charset="0"/>
              </a:rPr>
              <a:t>Submission</a:t>
            </a:r>
            <a:endParaRPr lang="en-US" sz="2800" dirty="0">
              <a:solidFill>
                <a:srgbClr val="ABD212"/>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55000" lnSpcReduction="2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r>
              <a:rPr lang="pt-BR" dirty="0" smtClean="0">
                <a:solidFill>
                  <a:schemeClr val="tx1">
                    <a:lumMod val="65000"/>
                    <a:lumOff val="35000"/>
                  </a:schemeClr>
                </a:solidFill>
                <a:latin typeface="Arial" pitchFamily="34" charset="0"/>
                <a:cs typeface="Arial" pitchFamily="34" charset="0"/>
              </a:rPr>
              <a:t>Submeta o </a:t>
            </a:r>
            <a:r>
              <a:rPr lang="pt-BR" b="1" dirty="0" smtClean="0">
                <a:solidFill>
                  <a:schemeClr val="tx1">
                    <a:lumMod val="65000"/>
                    <a:lumOff val="35000"/>
                  </a:schemeClr>
                </a:solidFill>
                <a:latin typeface="Arial" pitchFamily="34" charset="0"/>
                <a:cs typeface="Arial" pitchFamily="34" charset="0"/>
              </a:rPr>
              <a:t>FEED</a:t>
            </a:r>
            <a:r>
              <a:rPr lang="pt-BR" dirty="0" smtClean="0">
                <a:solidFill>
                  <a:schemeClr val="tx1">
                    <a:lumMod val="65000"/>
                    <a:lumOff val="35000"/>
                  </a:schemeClr>
                </a:solidFill>
                <a:latin typeface="Arial" pitchFamily="34" charset="0"/>
                <a:cs typeface="Arial" pitchFamily="34" charset="0"/>
              </a:rPr>
              <a:t> de seu </a:t>
            </a:r>
            <a:r>
              <a:rPr lang="pt-BR" b="1" dirty="0" smtClean="0">
                <a:solidFill>
                  <a:schemeClr val="tx1">
                    <a:lumMod val="65000"/>
                    <a:lumOff val="35000"/>
                  </a:schemeClr>
                </a:solidFill>
                <a:latin typeface="Arial" pitchFamily="34" charset="0"/>
                <a:cs typeface="Arial" pitchFamily="34" charset="0"/>
              </a:rPr>
              <a:t>blog;</a:t>
            </a:r>
          </a:p>
          <a:p>
            <a:r>
              <a:rPr lang="pt-BR" dirty="0" smtClean="0">
                <a:solidFill>
                  <a:schemeClr val="tx1">
                    <a:lumMod val="65000"/>
                    <a:lumOff val="35000"/>
                  </a:schemeClr>
                </a:solidFill>
                <a:latin typeface="Arial" pitchFamily="34" charset="0"/>
                <a:cs typeface="Arial" pitchFamily="34" charset="0"/>
              </a:rPr>
              <a:t>Garanta que o </a:t>
            </a:r>
            <a:r>
              <a:rPr lang="pt-BR" b="1" dirty="0" smtClean="0">
                <a:solidFill>
                  <a:schemeClr val="tx1">
                    <a:lumMod val="65000"/>
                    <a:lumOff val="35000"/>
                  </a:schemeClr>
                </a:solidFill>
                <a:latin typeface="Arial" pitchFamily="34" charset="0"/>
                <a:cs typeface="Arial" pitchFamily="34" charset="0"/>
              </a:rPr>
              <a:t>FEED</a:t>
            </a:r>
            <a:r>
              <a:rPr lang="pt-BR" dirty="0" smtClean="0">
                <a:solidFill>
                  <a:schemeClr val="tx1">
                    <a:lumMod val="65000"/>
                    <a:lumOff val="35000"/>
                  </a:schemeClr>
                </a:solidFill>
                <a:latin typeface="Arial" pitchFamily="34" charset="0"/>
                <a:cs typeface="Arial" pitchFamily="34" charset="0"/>
              </a:rPr>
              <a:t> de seu </a:t>
            </a:r>
            <a:r>
              <a:rPr lang="pt-BR" b="1" dirty="0" smtClean="0">
                <a:solidFill>
                  <a:schemeClr val="tx1">
                    <a:lumMod val="65000"/>
                    <a:lumOff val="35000"/>
                  </a:schemeClr>
                </a:solidFill>
                <a:latin typeface="Arial" pitchFamily="34" charset="0"/>
                <a:cs typeface="Arial" pitchFamily="34" charset="0"/>
              </a:rPr>
              <a:t>blog</a:t>
            </a:r>
            <a:r>
              <a:rPr lang="pt-BR" dirty="0" smtClean="0">
                <a:solidFill>
                  <a:schemeClr val="tx1">
                    <a:lumMod val="65000"/>
                    <a:lumOff val="35000"/>
                  </a:schemeClr>
                </a:solidFill>
                <a:latin typeface="Arial" pitchFamily="34" charset="0"/>
                <a:cs typeface="Arial" pitchFamily="34" charset="0"/>
              </a:rPr>
              <a:t> exiba </a:t>
            </a:r>
            <a:r>
              <a:rPr lang="pt-BR" b="1" dirty="0" err="1" smtClean="0">
                <a:solidFill>
                  <a:schemeClr val="tx1">
                    <a:lumMod val="65000"/>
                    <a:lumOff val="35000"/>
                  </a:schemeClr>
                </a:solidFill>
                <a:latin typeface="Arial" pitchFamily="34" charset="0"/>
                <a:cs typeface="Arial" pitchFamily="34" charset="0"/>
              </a:rPr>
              <a:t>urls</a:t>
            </a:r>
            <a:r>
              <a:rPr lang="pt-BR" b="1" dirty="0" smtClean="0">
                <a:solidFill>
                  <a:schemeClr val="tx1">
                    <a:lumMod val="65000"/>
                    <a:lumOff val="35000"/>
                  </a:schemeClr>
                </a:solidFill>
                <a:latin typeface="Arial" pitchFamily="34" charset="0"/>
                <a:cs typeface="Arial" pitchFamily="34" charset="0"/>
              </a:rPr>
              <a:t> absolutas;</a:t>
            </a:r>
          </a:p>
          <a:p>
            <a:r>
              <a:rPr lang="pt-BR" dirty="0" smtClean="0">
                <a:solidFill>
                  <a:schemeClr val="tx1">
                    <a:lumMod val="65000"/>
                    <a:lumOff val="35000"/>
                  </a:schemeClr>
                </a:solidFill>
                <a:latin typeface="Arial" pitchFamily="34" charset="0"/>
                <a:cs typeface="Arial" pitchFamily="34" charset="0"/>
              </a:rPr>
              <a:t>Submeter </a:t>
            </a:r>
            <a:r>
              <a:rPr lang="pt-BR" b="1" dirty="0" smtClean="0">
                <a:solidFill>
                  <a:schemeClr val="tx1">
                    <a:lumMod val="65000"/>
                    <a:lumOff val="35000"/>
                  </a:schemeClr>
                </a:solidFill>
                <a:latin typeface="Arial" pitchFamily="34" charset="0"/>
                <a:cs typeface="Arial" pitchFamily="34" charset="0"/>
              </a:rPr>
              <a:t>FEED</a:t>
            </a:r>
            <a:r>
              <a:rPr lang="pt-BR" dirty="0" smtClean="0">
                <a:solidFill>
                  <a:schemeClr val="tx1">
                    <a:lumMod val="65000"/>
                    <a:lumOff val="35000"/>
                  </a:schemeClr>
                </a:solidFill>
                <a:latin typeface="Arial" pitchFamily="34" charset="0"/>
                <a:cs typeface="Arial" pitchFamily="34" charset="0"/>
              </a:rPr>
              <a:t> de </a:t>
            </a:r>
            <a:r>
              <a:rPr lang="pt-BR" b="1" dirty="0" err="1" smtClean="0">
                <a:solidFill>
                  <a:schemeClr val="tx1">
                    <a:lumMod val="65000"/>
                    <a:lumOff val="35000"/>
                  </a:schemeClr>
                </a:solidFill>
                <a:latin typeface="Arial" pitchFamily="34" charset="0"/>
                <a:cs typeface="Arial" pitchFamily="34" charset="0"/>
              </a:rPr>
              <a:t>Profiles</a:t>
            </a:r>
            <a:r>
              <a:rPr lang="pt-BR" b="1" dirty="0" smtClean="0">
                <a:solidFill>
                  <a:schemeClr val="tx1">
                    <a:lumMod val="65000"/>
                    <a:lumOff val="35000"/>
                  </a:schemeClr>
                </a:solidFill>
                <a:latin typeface="Arial" pitchFamily="34" charset="0"/>
                <a:cs typeface="Arial" pitchFamily="34" charset="0"/>
              </a:rPr>
              <a:t>;</a:t>
            </a:r>
          </a:p>
          <a:p>
            <a:r>
              <a:rPr lang="pt-BR" dirty="0" smtClean="0">
                <a:solidFill>
                  <a:schemeClr val="tx1">
                    <a:lumMod val="65000"/>
                    <a:lumOff val="35000"/>
                  </a:schemeClr>
                </a:solidFill>
                <a:latin typeface="Arial" pitchFamily="34" charset="0"/>
                <a:cs typeface="Arial" pitchFamily="34" charset="0"/>
              </a:rPr>
              <a:t>Encontre locais consultando no </a:t>
            </a:r>
            <a:r>
              <a:rPr lang="pt-BR" b="1" dirty="0" err="1" smtClean="0">
                <a:solidFill>
                  <a:schemeClr val="tx1">
                    <a:lumMod val="65000"/>
                    <a:lumOff val="35000"/>
                  </a:schemeClr>
                </a:solidFill>
                <a:latin typeface="Arial" pitchFamily="34" charset="0"/>
                <a:cs typeface="Arial" pitchFamily="34" charset="0"/>
              </a:rPr>
              <a:t>google</a:t>
            </a:r>
            <a:r>
              <a:rPr lang="pt-BR" dirty="0" smtClean="0">
                <a:solidFill>
                  <a:schemeClr val="tx1">
                    <a:lumMod val="65000"/>
                    <a:lumOff val="35000"/>
                  </a:schemeClr>
                </a:solidFill>
                <a:latin typeface="Arial" pitchFamily="34" charset="0"/>
                <a:cs typeface="Arial" pitchFamily="34" charset="0"/>
              </a:rPr>
              <a:t> por:</a:t>
            </a:r>
          </a:p>
          <a:p>
            <a:pPr>
              <a:buNone/>
            </a:pPr>
            <a:r>
              <a:rPr lang="pt-BR" dirty="0" smtClean="0">
                <a:solidFill>
                  <a:schemeClr val="tx1">
                    <a:lumMod val="65000"/>
                    <a:lumOff val="35000"/>
                  </a:schemeClr>
                </a:solidFill>
                <a:latin typeface="Arial" pitchFamily="34" charset="0"/>
                <a:cs typeface="Arial" pitchFamily="34" charset="0"/>
              </a:rPr>
              <a:t>"</a:t>
            </a:r>
            <a:r>
              <a:rPr lang="pt-BR" dirty="0" err="1" smtClean="0">
                <a:solidFill>
                  <a:schemeClr val="tx1">
                    <a:lumMod val="65000"/>
                    <a:lumOff val="35000"/>
                  </a:schemeClr>
                </a:solidFill>
                <a:latin typeface="Arial" pitchFamily="34" charset="0"/>
                <a:cs typeface="Arial" pitchFamily="34" charset="0"/>
              </a:rPr>
              <a:t>rss</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submission</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feed</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submission</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rss</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directories</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feed</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directories</a:t>
            </a:r>
            <a:r>
              <a:rPr lang="pt-BR" dirty="0" smtClean="0">
                <a:solidFill>
                  <a:schemeClr val="tx1">
                    <a:lumMod val="65000"/>
                    <a:lumOff val="35000"/>
                  </a:schemeClr>
                </a:solidFill>
                <a:latin typeface="Arial" pitchFamily="34" charset="0"/>
                <a:cs typeface="Arial" pitchFamily="34" charset="0"/>
              </a:rPr>
              <a:t>"</a:t>
            </a:r>
          </a:p>
          <a:p>
            <a:pPr>
              <a:buNone/>
            </a:pPr>
            <a:r>
              <a:rPr lang="pt-BR" dirty="0" smtClean="0">
                <a:solidFill>
                  <a:schemeClr val="tx1">
                    <a:lumMod val="65000"/>
                    <a:lumOff val="35000"/>
                  </a:schemeClr>
                </a:solidFill>
                <a:latin typeface="Arial" pitchFamily="34" charset="0"/>
                <a:cs typeface="Arial" pitchFamily="34" charset="0"/>
              </a:rPr>
              <a:t>"</a:t>
            </a:r>
            <a:r>
              <a:rPr lang="pt-BR" dirty="0" err="1" smtClean="0">
                <a:solidFill>
                  <a:schemeClr val="tx1">
                    <a:lumMod val="65000"/>
                    <a:lumOff val="35000"/>
                  </a:schemeClr>
                </a:solidFill>
                <a:latin typeface="Arial" pitchFamily="34" charset="0"/>
                <a:cs typeface="Arial" pitchFamily="34" charset="0"/>
              </a:rPr>
              <a:t>feed</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directory</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rss</a:t>
            </a:r>
            <a:r>
              <a:rPr lang="pt-BR" dirty="0" smtClean="0">
                <a:solidFill>
                  <a:schemeClr val="tx1">
                    <a:lumMod val="65000"/>
                    <a:lumOff val="35000"/>
                  </a:schemeClr>
                </a:solidFill>
                <a:latin typeface="Arial" pitchFamily="34" charset="0"/>
                <a:cs typeface="Arial" pitchFamily="34" charset="0"/>
              </a:rPr>
              <a:t> </a:t>
            </a:r>
            <a:r>
              <a:rPr lang="pt-BR" dirty="0" err="1" smtClean="0">
                <a:solidFill>
                  <a:schemeClr val="tx1">
                    <a:lumMod val="65000"/>
                    <a:lumOff val="35000"/>
                  </a:schemeClr>
                </a:solidFill>
                <a:latin typeface="Arial" pitchFamily="34" charset="0"/>
                <a:cs typeface="Arial" pitchFamily="34" charset="0"/>
              </a:rPr>
              <a:t>directory</a:t>
            </a:r>
            <a:r>
              <a:rPr lang="pt-BR" dirty="0" smtClean="0">
                <a:solidFill>
                  <a:schemeClr val="tx1">
                    <a:lumMod val="65000"/>
                    <a:lumOff val="35000"/>
                  </a:schemeClr>
                </a:solidFill>
                <a:latin typeface="Arial" pitchFamily="34" charset="0"/>
                <a:cs typeface="Arial" pitchFamily="34" charset="0"/>
              </a:rPr>
              <a:t>", "diretório de </a:t>
            </a:r>
            <a:r>
              <a:rPr lang="pt-BR" dirty="0" err="1" smtClean="0">
                <a:solidFill>
                  <a:schemeClr val="tx1">
                    <a:lumMod val="65000"/>
                    <a:lumOff val="35000"/>
                  </a:schemeClr>
                </a:solidFill>
                <a:latin typeface="Arial" pitchFamily="34" charset="0"/>
                <a:cs typeface="Arial" pitchFamily="34" charset="0"/>
              </a:rPr>
              <a:t>feeds</a:t>
            </a:r>
            <a:r>
              <a:rPr lang="pt-BR" dirty="0" smtClean="0">
                <a:solidFill>
                  <a:schemeClr val="tx1">
                    <a:lumMod val="65000"/>
                    <a:lumOff val="35000"/>
                  </a:schemeClr>
                </a:solidFill>
                <a:latin typeface="Arial" pitchFamily="34" charset="0"/>
                <a:cs typeface="Arial" pitchFamily="34" charset="0"/>
              </a:rPr>
              <a:t>", </a:t>
            </a:r>
            <a:r>
              <a:rPr lang="en-US" dirty="0" smtClean="0">
                <a:solidFill>
                  <a:schemeClr val="tx1">
                    <a:lumMod val="65000"/>
                    <a:lumOff val="35000"/>
                  </a:schemeClr>
                </a:solidFill>
                <a:latin typeface="Arial" pitchFamily="34" charset="0"/>
                <a:cs typeface="Arial" pitchFamily="34" charset="0"/>
              </a:rPr>
              <a:t>"read the full article"</a:t>
            </a:r>
          </a:p>
          <a:p>
            <a:pPr>
              <a:buNone/>
            </a:pPr>
            <a:r>
              <a:rPr lang="en-US" dirty="0" smtClean="0">
                <a:solidFill>
                  <a:schemeClr val="tx1">
                    <a:lumMod val="65000"/>
                    <a:lumOff val="35000"/>
                  </a:schemeClr>
                </a:solidFill>
                <a:latin typeface="Arial" pitchFamily="34" charset="0"/>
                <a:cs typeface="Arial" pitchFamily="34" charset="0"/>
              </a:rPr>
              <a:t>"link to original post“, </a:t>
            </a:r>
            <a:r>
              <a:rPr lang="pt-BR" dirty="0" smtClean="0">
                <a:solidFill>
                  <a:schemeClr val="tx1">
                    <a:lumMod val="65000"/>
                    <a:lumOff val="35000"/>
                  </a:schemeClr>
                </a:solidFill>
                <a:latin typeface="Arial" pitchFamily="34" charset="0"/>
                <a:cs typeface="Arial" pitchFamily="34" charset="0"/>
              </a:rPr>
              <a:t>etc.</a:t>
            </a: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r>
              <a:rPr lang="pt-BR" b="1" dirty="0" smtClean="0">
                <a:solidFill>
                  <a:srgbClr val="ABD212"/>
                </a:solidFill>
                <a:latin typeface="Arial" pitchFamily="34" charset="0"/>
                <a:cs typeface="Arial" pitchFamily="34" charset="0"/>
              </a:rPr>
              <a:t>Alguns Locais</a:t>
            </a:r>
          </a:p>
          <a:p>
            <a:pPr>
              <a:buNone/>
            </a:pPr>
            <a:endParaRPr lang="pt-BR" dirty="0" smtClean="0">
              <a:latin typeface="Arial" pitchFamily="34" charset="0"/>
              <a:cs typeface="Arial" pitchFamily="34" charset="0"/>
            </a:endParaRPr>
          </a:p>
          <a:p>
            <a:pPr>
              <a:buNone/>
            </a:pPr>
            <a:r>
              <a:rPr lang="pt-BR" sz="2200" dirty="0" smtClean="0">
                <a:latin typeface="Arial" pitchFamily="34" charset="0"/>
                <a:cs typeface="Arial" pitchFamily="34" charset="0"/>
                <a:hlinkClick r:id="rId2"/>
              </a:rPr>
              <a:t>www.rss-specifications.com/rss-submission.htm</a:t>
            </a:r>
            <a:endParaRPr lang="pt-BR" sz="2200" dirty="0" smtClean="0">
              <a:latin typeface="Arial" pitchFamily="34" charset="0"/>
              <a:cs typeface="Arial" pitchFamily="34" charset="0"/>
            </a:endParaRPr>
          </a:p>
          <a:p>
            <a:pPr>
              <a:buNone/>
            </a:pPr>
            <a:r>
              <a:rPr lang="pt-BR" sz="2200" dirty="0" smtClean="0">
                <a:latin typeface="Arial" pitchFamily="34" charset="0"/>
                <a:cs typeface="Arial" pitchFamily="34" charset="0"/>
                <a:hlinkClick r:id="rId3"/>
              </a:rPr>
              <a:t>www.smartbloggerz.com/2008/10/100-rss-feed-submission-site/</a:t>
            </a:r>
            <a:endParaRPr lang="pt-BR" sz="2200" dirty="0" smtClean="0">
              <a:latin typeface="Arial" pitchFamily="34" charset="0"/>
              <a:cs typeface="Arial" pitchFamily="34" charset="0"/>
            </a:endParaRPr>
          </a:p>
          <a:p>
            <a:pPr>
              <a:buNone/>
            </a:pPr>
            <a:r>
              <a:rPr lang="pt-BR" sz="2200" dirty="0" smtClean="0">
                <a:latin typeface="Arial" pitchFamily="34" charset="0"/>
                <a:cs typeface="Arial" pitchFamily="34" charset="0"/>
                <a:hlinkClick r:id="rId4"/>
              </a:rPr>
              <a:t>http://cssti.wordpress.com/2010/05/31/diretorios-de-feed-rss-para-submeter-seu-blog/</a:t>
            </a:r>
            <a:endParaRPr lang="pt-BR" sz="2200"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Retângulo 10"/>
          <p:cNvSpPr/>
          <p:nvPr/>
        </p:nvSpPr>
        <p:spPr>
          <a:xfrm>
            <a:off x="0" y="1988840"/>
            <a:ext cx="9144000" cy="2016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ítulo 1"/>
          <p:cNvSpPr>
            <a:spLocks noGrp="1"/>
          </p:cNvSpPr>
          <p:nvPr>
            <p:ph type="title"/>
          </p:nvPr>
        </p:nvSpPr>
        <p:spPr>
          <a:xfrm>
            <a:off x="611560" y="341784"/>
            <a:ext cx="8229600" cy="1143000"/>
          </a:xfrm>
        </p:spPr>
        <p:txBody>
          <a:bodyPr>
            <a:noAutofit/>
          </a:bodyPr>
          <a:lstStyle/>
          <a:p>
            <a:pPr algn="r"/>
            <a:r>
              <a:rPr lang="pt-BR" sz="6600" b="1" dirty="0" smtClean="0">
                <a:solidFill>
                  <a:srgbClr val="ABD212"/>
                </a:solidFill>
                <a:latin typeface="Arial" pitchFamily="34" charset="0"/>
                <a:cs typeface="Arial" pitchFamily="34" charset="0"/>
              </a:rPr>
              <a:t>Redes Sociais</a:t>
            </a:r>
            <a:endParaRPr lang="en-US" sz="6600" dirty="0">
              <a:solidFill>
                <a:srgbClr val="ABD212"/>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85000" lnSpcReduction="1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r>
              <a:rPr lang="pt-BR" dirty="0" smtClean="0">
                <a:solidFill>
                  <a:schemeClr val="tx1">
                    <a:lumMod val="65000"/>
                    <a:lumOff val="35000"/>
                  </a:schemeClr>
                </a:solidFill>
                <a:latin typeface="Arial" pitchFamily="34" charset="0"/>
                <a:cs typeface="Arial" pitchFamily="34" charset="0"/>
              </a:rPr>
              <a:t>Quem não está presente, está perdendo visibilidade;</a:t>
            </a:r>
          </a:p>
          <a:p>
            <a:r>
              <a:rPr lang="pt-BR" dirty="0" smtClean="0">
                <a:solidFill>
                  <a:schemeClr val="tx1">
                    <a:lumMod val="65000"/>
                    <a:lumOff val="35000"/>
                  </a:schemeClr>
                </a:solidFill>
                <a:latin typeface="Arial" pitchFamily="34" charset="0"/>
                <a:cs typeface="Arial" pitchFamily="34" charset="0"/>
              </a:rPr>
              <a:t>Informação correndo de forma rápida;</a:t>
            </a:r>
          </a:p>
          <a:p>
            <a:r>
              <a:rPr lang="pt-BR" dirty="0" smtClean="0">
                <a:solidFill>
                  <a:schemeClr val="tx1">
                    <a:lumMod val="65000"/>
                    <a:lumOff val="35000"/>
                  </a:schemeClr>
                </a:solidFill>
                <a:latin typeface="Arial" pitchFamily="34" charset="0"/>
                <a:cs typeface="Arial" pitchFamily="34" charset="0"/>
              </a:rPr>
              <a:t>Redes com uma quantidade imensa de usuários.</a:t>
            </a:r>
          </a:p>
          <a:p>
            <a:pPr>
              <a:buNone/>
            </a:pPr>
            <a:endParaRPr lang="pt-BR" dirty="0" smtClean="0">
              <a:solidFill>
                <a:schemeClr val="tx1">
                  <a:lumMod val="65000"/>
                  <a:lumOff val="35000"/>
                </a:schemeClr>
              </a:solidFill>
              <a:latin typeface="Arial" pitchFamily="34" charset="0"/>
              <a:cs typeface="Arial" pitchFamily="34" charset="0"/>
            </a:endParaRPr>
          </a:p>
        </p:txBody>
      </p:sp>
      <p:sp>
        <p:nvSpPr>
          <p:cNvPr id="10" name="Retângulo de cantos arredondados 9"/>
          <p:cNvSpPr/>
          <p:nvPr/>
        </p:nvSpPr>
        <p:spPr>
          <a:xfrm>
            <a:off x="6019328" y="2502024"/>
            <a:ext cx="1008112" cy="100811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C:\Users\Brivin\Desktop\searchlabs\redessociais-02-02.png"/>
          <p:cNvPicPr>
            <a:picLocks noChangeAspect="1" noChangeArrowheads="1"/>
          </p:cNvPicPr>
          <p:nvPr/>
        </p:nvPicPr>
        <p:blipFill>
          <a:blip r:embed="rId2" cstate="print"/>
          <a:srcRect/>
          <a:stretch>
            <a:fillRect/>
          </a:stretch>
        </p:blipFill>
        <p:spPr bwMode="auto">
          <a:xfrm>
            <a:off x="1914872" y="2430016"/>
            <a:ext cx="5177408" cy="1143000"/>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341784"/>
            <a:ext cx="8229600" cy="1143000"/>
          </a:xfrm>
        </p:spPr>
        <p:txBody>
          <a:bodyPr>
            <a:noAutofit/>
          </a:bodyPr>
          <a:lstStyle/>
          <a:p>
            <a:pPr algn="r"/>
            <a:r>
              <a:rPr lang="pt-BR" sz="6600" b="1" dirty="0" smtClean="0">
                <a:solidFill>
                  <a:srgbClr val="ABD212"/>
                </a:solidFill>
                <a:latin typeface="Arial" pitchFamily="34" charset="0"/>
                <a:cs typeface="Arial" pitchFamily="34" charset="0"/>
              </a:rPr>
              <a:t>Redes Sociais</a:t>
            </a:r>
            <a:endParaRPr lang="en-US" sz="6600" dirty="0">
              <a:solidFill>
                <a:srgbClr val="ABD212"/>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lgn="r">
              <a:buNone/>
            </a:pPr>
            <a:r>
              <a:rPr lang="pt-BR" sz="5100" b="1" dirty="0" err="1" smtClean="0">
                <a:solidFill>
                  <a:schemeClr val="tx1">
                    <a:lumMod val="65000"/>
                    <a:lumOff val="35000"/>
                  </a:schemeClr>
                </a:solidFill>
                <a:latin typeface="Arial" pitchFamily="34" charset="0"/>
                <a:cs typeface="Arial" pitchFamily="34" charset="0"/>
              </a:rPr>
              <a:t>Profiles</a:t>
            </a:r>
            <a:r>
              <a:rPr lang="pt-BR" sz="5100" b="1" dirty="0" smtClean="0">
                <a:solidFill>
                  <a:schemeClr val="tx1">
                    <a:lumMod val="65000"/>
                    <a:lumOff val="35000"/>
                  </a:schemeClr>
                </a:solidFill>
                <a:latin typeface="Arial" pitchFamily="34" charset="0"/>
                <a:cs typeface="Arial" pitchFamily="34" charset="0"/>
              </a:rPr>
              <a:t> </a:t>
            </a:r>
            <a:r>
              <a:rPr lang="pt-BR" sz="5100" b="1" dirty="0" err="1" smtClean="0">
                <a:solidFill>
                  <a:schemeClr val="tx1">
                    <a:lumMod val="65000"/>
                    <a:lumOff val="35000"/>
                  </a:schemeClr>
                </a:solidFill>
                <a:latin typeface="Arial" pitchFamily="34" charset="0"/>
                <a:cs typeface="Arial" pitchFamily="34" charset="0"/>
              </a:rPr>
              <a:t>Boost</a:t>
            </a:r>
            <a:r>
              <a:rPr lang="pt-BR" sz="5100" b="1" dirty="0" smtClean="0">
                <a:solidFill>
                  <a:schemeClr val="tx1">
                    <a:lumMod val="65000"/>
                    <a:lumOff val="35000"/>
                  </a:schemeClr>
                </a:solidFill>
                <a:latin typeface="Arial" pitchFamily="34" charset="0"/>
                <a:cs typeface="Arial" pitchFamily="34" charset="0"/>
              </a:rPr>
              <a:t> </a:t>
            </a:r>
            <a:endParaRPr lang="pt-BR" dirty="0" smtClean="0">
              <a:solidFill>
                <a:schemeClr val="tx1">
                  <a:lumMod val="65000"/>
                  <a:lumOff val="35000"/>
                </a:schemeClr>
              </a:solidFill>
              <a:latin typeface="Arial" pitchFamily="34" charset="0"/>
              <a:cs typeface="Arial" pitchFamily="34" charset="0"/>
            </a:endParaRPr>
          </a:p>
          <a:p>
            <a:pPr>
              <a:buNone/>
            </a:pPr>
            <a:endParaRPr lang="pt-BR" dirty="0" smtClean="0">
              <a:solidFill>
                <a:schemeClr val="tx1">
                  <a:lumMod val="50000"/>
                  <a:lumOff val="50000"/>
                </a:schemeClr>
              </a:solidFill>
              <a:latin typeface="Arial" pitchFamily="34" charset="0"/>
              <a:cs typeface="Arial" pitchFamily="34" charset="0"/>
            </a:endParaRPr>
          </a:p>
          <a:p>
            <a:pPr>
              <a:buNone/>
            </a:pPr>
            <a:endParaRPr lang="pt-BR" dirty="0" smtClean="0">
              <a:solidFill>
                <a:schemeClr val="tx1">
                  <a:lumMod val="65000"/>
                  <a:lumOff val="35000"/>
                </a:schemeClr>
              </a:solidFill>
              <a:latin typeface="Arial" pitchFamily="34" charset="0"/>
              <a:cs typeface="Arial" pitchFamily="34" charset="0"/>
            </a:endParaRPr>
          </a:p>
          <a:p>
            <a:pPr>
              <a:buNone/>
            </a:pPr>
            <a:endParaRPr lang="pt-BR" dirty="0" smtClean="0">
              <a:solidFill>
                <a:schemeClr val="tx1">
                  <a:lumMod val="65000"/>
                  <a:lumOff val="35000"/>
                </a:schemeClr>
              </a:solidFill>
              <a:latin typeface="Arial" pitchFamily="34" charset="0"/>
              <a:cs typeface="Arial" pitchFamily="34" charset="0"/>
            </a:endParaRPr>
          </a:p>
          <a:p>
            <a:endParaRPr lang="pt-BR" dirty="0" smtClean="0">
              <a:solidFill>
                <a:schemeClr val="tx1">
                  <a:lumMod val="65000"/>
                  <a:lumOff val="35000"/>
                </a:schemeClr>
              </a:solidFill>
              <a:latin typeface="Arial" pitchFamily="34" charset="0"/>
              <a:cs typeface="Arial" pitchFamily="34" charset="0"/>
            </a:endParaRPr>
          </a:p>
          <a:p>
            <a:pPr marL="0" indent="0"/>
            <a:r>
              <a:rPr lang="pt-BR" sz="2900" dirty="0" smtClean="0">
                <a:solidFill>
                  <a:schemeClr val="tx1">
                    <a:lumMod val="65000"/>
                    <a:lumOff val="35000"/>
                  </a:schemeClr>
                </a:solidFill>
                <a:latin typeface="Arial" pitchFamily="34" charset="0"/>
                <a:cs typeface="Arial" pitchFamily="34" charset="0"/>
              </a:rPr>
              <a:t>Faça uso das </a:t>
            </a:r>
            <a:r>
              <a:rPr lang="pt-BR" sz="2900" b="1" dirty="0" smtClean="0">
                <a:solidFill>
                  <a:schemeClr val="tx1">
                    <a:lumMod val="65000"/>
                    <a:lumOff val="35000"/>
                  </a:schemeClr>
                </a:solidFill>
                <a:latin typeface="Arial" pitchFamily="34" charset="0"/>
                <a:cs typeface="Arial" pitchFamily="34" charset="0"/>
              </a:rPr>
              <a:t>redes sociais </a:t>
            </a:r>
            <a:r>
              <a:rPr lang="pt-BR" sz="2900" dirty="0" smtClean="0">
                <a:solidFill>
                  <a:schemeClr val="tx1">
                    <a:lumMod val="65000"/>
                    <a:lumOff val="35000"/>
                  </a:schemeClr>
                </a:solidFill>
                <a:latin typeface="Arial" pitchFamily="34" charset="0"/>
                <a:cs typeface="Arial" pitchFamily="34" charset="0"/>
              </a:rPr>
              <a:t>para conseguir </a:t>
            </a:r>
            <a:r>
              <a:rPr lang="pt-BR" sz="2900" b="1" dirty="0" smtClean="0">
                <a:solidFill>
                  <a:schemeClr val="tx1">
                    <a:lumMod val="65000"/>
                    <a:lumOff val="35000"/>
                  </a:schemeClr>
                </a:solidFill>
                <a:latin typeface="Arial" pitchFamily="34" charset="0"/>
                <a:cs typeface="Arial" pitchFamily="34" charset="0"/>
              </a:rPr>
              <a:t>links</a:t>
            </a:r>
            <a:r>
              <a:rPr lang="pt-BR" sz="2900" dirty="0" smtClean="0">
                <a:solidFill>
                  <a:schemeClr val="tx1">
                    <a:lumMod val="65000"/>
                    <a:lumOff val="35000"/>
                  </a:schemeClr>
                </a:solidFill>
                <a:latin typeface="Arial" pitchFamily="34" charset="0"/>
                <a:cs typeface="Arial" pitchFamily="34" charset="0"/>
              </a:rPr>
              <a:t>: </a:t>
            </a:r>
          </a:p>
          <a:p>
            <a:pPr marL="0" indent="0">
              <a:buNone/>
            </a:pPr>
            <a:r>
              <a:rPr lang="pt-BR" sz="2900" dirty="0" smtClean="0">
                <a:solidFill>
                  <a:schemeClr val="tx1">
                    <a:lumMod val="65000"/>
                    <a:lumOff val="35000"/>
                  </a:schemeClr>
                </a:solidFill>
                <a:latin typeface="Arial" pitchFamily="34" charset="0"/>
                <a:cs typeface="Arial" pitchFamily="34" charset="0"/>
                <a:hlinkClick r:id="rId2"/>
              </a:rPr>
              <a:t>http://bit.ly/6VVCmW</a:t>
            </a:r>
            <a:endParaRPr lang="pt-BR" sz="2900" dirty="0" smtClean="0">
              <a:solidFill>
                <a:schemeClr val="tx1">
                  <a:lumMod val="65000"/>
                  <a:lumOff val="35000"/>
                </a:schemeClr>
              </a:solidFill>
              <a:latin typeface="Arial" pitchFamily="34" charset="0"/>
              <a:cs typeface="Arial" pitchFamily="34" charset="0"/>
            </a:endParaRPr>
          </a:p>
          <a:p>
            <a:pPr marL="0" indent="0"/>
            <a:r>
              <a:rPr lang="pt-BR" sz="2900" dirty="0" smtClean="0">
                <a:solidFill>
                  <a:schemeClr val="tx1">
                    <a:lumMod val="65000"/>
                    <a:lumOff val="35000"/>
                  </a:schemeClr>
                </a:solidFill>
                <a:latin typeface="Arial" pitchFamily="34" charset="0"/>
                <a:cs typeface="Arial" pitchFamily="34" charset="0"/>
              </a:rPr>
              <a:t>Verifique a disponibilidade do seu </a:t>
            </a:r>
            <a:r>
              <a:rPr lang="pt-BR" sz="2900" b="1" dirty="0" smtClean="0">
                <a:solidFill>
                  <a:schemeClr val="tx1">
                    <a:lumMod val="65000"/>
                    <a:lumOff val="35000"/>
                  </a:schemeClr>
                </a:solidFill>
                <a:latin typeface="Arial" pitchFamily="34" charset="0"/>
                <a:cs typeface="Arial" pitchFamily="34" charset="0"/>
              </a:rPr>
              <a:t>nome de usuário </a:t>
            </a:r>
            <a:r>
              <a:rPr lang="pt-BR" sz="2900" dirty="0" smtClean="0">
                <a:solidFill>
                  <a:schemeClr val="tx1">
                    <a:lumMod val="65000"/>
                    <a:lumOff val="35000"/>
                  </a:schemeClr>
                </a:solidFill>
                <a:latin typeface="Arial" pitchFamily="34" charset="0"/>
                <a:cs typeface="Arial" pitchFamily="34" charset="0"/>
              </a:rPr>
              <a:t>em diversas </a:t>
            </a:r>
            <a:r>
              <a:rPr lang="pt-BR" sz="2900" b="1" dirty="0" smtClean="0">
                <a:solidFill>
                  <a:schemeClr val="tx1">
                    <a:lumMod val="65000"/>
                    <a:lumOff val="35000"/>
                  </a:schemeClr>
                </a:solidFill>
                <a:latin typeface="Arial" pitchFamily="34" charset="0"/>
                <a:cs typeface="Arial" pitchFamily="34" charset="0"/>
              </a:rPr>
              <a:t>redes sociais </a:t>
            </a:r>
            <a:r>
              <a:rPr lang="pt-BR" sz="2900" dirty="0" smtClean="0">
                <a:solidFill>
                  <a:schemeClr val="tx1">
                    <a:lumMod val="65000"/>
                    <a:lumOff val="35000"/>
                  </a:schemeClr>
                </a:solidFill>
                <a:latin typeface="Arial" pitchFamily="34" charset="0"/>
                <a:cs typeface="Arial" pitchFamily="34" charset="0"/>
              </a:rPr>
              <a:t>com o: </a:t>
            </a:r>
          </a:p>
          <a:p>
            <a:pPr marL="0" indent="0">
              <a:buNone/>
            </a:pPr>
            <a:r>
              <a:rPr lang="pt-BR" sz="2900" dirty="0" smtClean="0">
                <a:solidFill>
                  <a:schemeClr val="tx1">
                    <a:lumMod val="65000"/>
                    <a:lumOff val="35000"/>
                  </a:schemeClr>
                </a:solidFill>
                <a:latin typeface="Arial" pitchFamily="34" charset="0"/>
                <a:cs typeface="Arial" pitchFamily="34" charset="0"/>
                <a:hlinkClick r:id="rId3"/>
              </a:rPr>
              <a:t>http://namechk.com/ </a:t>
            </a:r>
            <a:endParaRPr lang="pt-BR" sz="2900" dirty="0" smtClean="0">
              <a:solidFill>
                <a:schemeClr val="tx1">
                  <a:lumMod val="65000"/>
                  <a:lumOff val="35000"/>
                </a:schemeClr>
              </a:solidFill>
              <a:latin typeface="Arial" pitchFamily="34" charset="0"/>
              <a:cs typeface="Arial" pitchFamily="34" charset="0"/>
            </a:endParaRPr>
          </a:p>
          <a:p>
            <a:pPr marL="0" indent="0">
              <a:buNone/>
            </a:pPr>
            <a:r>
              <a:rPr lang="pt-BR" sz="2900" dirty="0" smtClean="0">
                <a:solidFill>
                  <a:schemeClr val="tx1">
                    <a:lumMod val="65000"/>
                    <a:lumOff val="35000"/>
                  </a:schemeClr>
                </a:solidFill>
                <a:latin typeface="Arial" pitchFamily="34" charset="0"/>
                <a:cs typeface="Arial" pitchFamily="34" charset="0"/>
                <a:hlinkClick r:id="rId4"/>
              </a:rPr>
              <a:t>http://knowem.com/</a:t>
            </a:r>
            <a:endParaRPr lang="pt-BR" sz="2900" dirty="0" smtClean="0">
              <a:solidFill>
                <a:schemeClr val="tx1">
                  <a:lumMod val="65000"/>
                  <a:lumOff val="35000"/>
                </a:schemeClr>
              </a:solidFill>
              <a:latin typeface="Arial" pitchFamily="34" charset="0"/>
              <a:cs typeface="Arial" pitchFamily="34" charset="0"/>
            </a:endParaRPr>
          </a:p>
          <a:p>
            <a:pPr marL="0" indent="0"/>
            <a:r>
              <a:rPr lang="pt-BR" sz="2900" b="1" dirty="0" smtClean="0">
                <a:solidFill>
                  <a:schemeClr val="tx1">
                    <a:lumMod val="65000"/>
                    <a:lumOff val="35000"/>
                  </a:schemeClr>
                </a:solidFill>
                <a:latin typeface="Arial" pitchFamily="34" charset="0"/>
                <a:cs typeface="Arial" pitchFamily="34" charset="0"/>
              </a:rPr>
              <a:t>Crie links </a:t>
            </a:r>
            <a:r>
              <a:rPr lang="pt-BR" sz="2900" dirty="0" smtClean="0">
                <a:solidFill>
                  <a:schemeClr val="tx1">
                    <a:lumMod val="65000"/>
                    <a:lumOff val="35000"/>
                  </a:schemeClr>
                </a:solidFill>
                <a:latin typeface="Arial" pitchFamily="34" charset="0"/>
                <a:cs typeface="Arial" pitchFamily="34" charset="0"/>
              </a:rPr>
              <a:t>para os </a:t>
            </a:r>
            <a:r>
              <a:rPr lang="pt-BR" sz="2900" b="1" dirty="0" smtClean="0">
                <a:solidFill>
                  <a:schemeClr val="tx1">
                    <a:lumMod val="65000"/>
                    <a:lumOff val="35000"/>
                  </a:schemeClr>
                </a:solidFill>
                <a:latin typeface="Arial" pitchFamily="34" charset="0"/>
                <a:cs typeface="Arial" pitchFamily="34" charset="0"/>
              </a:rPr>
              <a:t>seus perfis</a:t>
            </a:r>
            <a:r>
              <a:rPr lang="pt-BR" sz="2900" dirty="0" smtClean="0">
                <a:solidFill>
                  <a:schemeClr val="tx1">
                    <a:lumMod val="65000"/>
                    <a:lumOff val="35000"/>
                  </a:schemeClr>
                </a:solidFill>
                <a:latin typeface="Arial" pitchFamily="34" charset="0"/>
                <a:cs typeface="Arial" pitchFamily="34" charset="0"/>
              </a:rPr>
              <a:t>, utilizando o </a:t>
            </a:r>
            <a:r>
              <a:rPr lang="pt-BR" sz="2900" dirty="0" smtClean="0">
                <a:solidFill>
                  <a:schemeClr val="tx1">
                    <a:lumMod val="65000"/>
                    <a:lumOff val="35000"/>
                  </a:schemeClr>
                </a:solidFill>
                <a:latin typeface="Arial" pitchFamily="34" charset="0"/>
                <a:cs typeface="Arial" pitchFamily="34" charset="0"/>
                <a:hlinkClick r:id="rId5"/>
              </a:rPr>
              <a:t>meadiciona.com</a:t>
            </a:r>
            <a:r>
              <a:rPr lang="pt-BR" sz="2900" dirty="0" smtClean="0">
                <a:solidFill>
                  <a:schemeClr val="tx1">
                    <a:lumMod val="65000"/>
                    <a:lumOff val="35000"/>
                  </a:schemeClr>
                </a:solidFill>
                <a:latin typeface="Arial" pitchFamily="34" charset="0"/>
                <a:cs typeface="Arial" pitchFamily="34" charset="0"/>
              </a:rPr>
              <a:t>.</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341784"/>
            <a:ext cx="8229600" cy="1143000"/>
          </a:xfrm>
        </p:spPr>
        <p:txBody>
          <a:bodyPr>
            <a:noAutofit/>
          </a:bodyPr>
          <a:lstStyle/>
          <a:p>
            <a:pPr algn="r"/>
            <a:r>
              <a:rPr lang="pt-BR" sz="5400" b="1" dirty="0" smtClean="0">
                <a:solidFill>
                  <a:srgbClr val="ABD212"/>
                </a:solidFill>
                <a:latin typeface="Arial" pitchFamily="34" charset="0"/>
                <a:cs typeface="Arial" pitchFamily="34" charset="0"/>
              </a:rPr>
              <a:t>Agregadores de Notícias</a:t>
            </a:r>
            <a:endParaRPr lang="en-US" sz="2800" dirty="0">
              <a:solidFill>
                <a:srgbClr val="ABD212"/>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40000" lnSpcReduction="2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lgn="ctr">
              <a:buNone/>
            </a:pPr>
            <a:r>
              <a:rPr lang="pt-BR" sz="5100" dirty="0" smtClean="0">
                <a:solidFill>
                  <a:schemeClr val="tx1">
                    <a:lumMod val="65000"/>
                    <a:lumOff val="35000"/>
                  </a:schemeClr>
                </a:solidFill>
                <a:latin typeface="Arial" pitchFamily="34" charset="0"/>
                <a:cs typeface="Arial" pitchFamily="34" charset="0"/>
              </a:rPr>
              <a:t>Dihitt/Via6/Ueba/Ocioso/LinKK/Linklog/...</a:t>
            </a:r>
          </a:p>
          <a:p>
            <a:pPr>
              <a:buNone/>
            </a:pPr>
            <a:endParaRPr lang="pt-BR" sz="5100" dirty="0" smtClean="0">
              <a:solidFill>
                <a:schemeClr val="tx1">
                  <a:lumMod val="65000"/>
                  <a:lumOff val="35000"/>
                </a:schemeClr>
              </a:solidFill>
              <a:latin typeface="Arial" pitchFamily="34" charset="0"/>
              <a:cs typeface="Arial" pitchFamily="34" charset="0"/>
            </a:endParaRPr>
          </a:p>
          <a:p>
            <a:pPr>
              <a:buNone/>
            </a:pPr>
            <a:endParaRPr lang="pt-BR" sz="5100" dirty="0" smtClean="0">
              <a:solidFill>
                <a:schemeClr val="tx1">
                  <a:lumMod val="65000"/>
                  <a:lumOff val="35000"/>
                </a:schemeClr>
              </a:solidFill>
              <a:latin typeface="Arial" pitchFamily="34" charset="0"/>
              <a:cs typeface="Arial" pitchFamily="34" charset="0"/>
            </a:endParaRPr>
          </a:p>
          <a:p>
            <a:r>
              <a:rPr lang="pt-BR" sz="5100" b="1" dirty="0" smtClean="0">
                <a:solidFill>
                  <a:schemeClr val="tx1">
                    <a:lumMod val="65000"/>
                    <a:lumOff val="35000"/>
                  </a:schemeClr>
                </a:solidFill>
                <a:latin typeface="Arial" pitchFamily="34" charset="0"/>
                <a:cs typeface="Arial" pitchFamily="34" charset="0"/>
              </a:rPr>
              <a:t>Submeter Notícias </a:t>
            </a:r>
            <a:r>
              <a:rPr lang="pt-BR" sz="5100" dirty="0" smtClean="0">
                <a:solidFill>
                  <a:schemeClr val="tx1">
                    <a:lumMod val="65000"/>
                    <a:lumOff val="35000"/>
                  </a:schemeClr>
                </a:solidFill>
                <a:latin typeface="Arial" pitchFamily="34" charset="0"/>
                <a:cs typeface="Arial" pitchFamily="34" charset="0"/>
              </a:rPr>
              <a:t>nos Agregadores;</a:t>
            </a:r>
          </a:p>
          <a:p>
            <a:pPr>
              <a:buNone/>
            </a:pPr>
            <a:r>
              <a:rPr lang="pt-BR" sz="5100" dirty="0" smtClean="0">
                <a:solidFill>
                  <a:schemeClr val="tx1">
                    <a:lumMod val="65000"/>
                    <a:lumOff val="35000"/>
                  </a:schemeClr>
                </a:solidFill>
                <a:latin typeface="Arial" pitchFamily="34" charset="0"/>
                <a:cs typeface="Arial" pitchFamily="34" charset="0"/>
              </a:rPr>
              <a:t>     Quanto mais agregadores, maior a visibilidade.</a:t>
            </a:r>
          </a:p>
          <a:p>
            <a:r>
              <a:rPr lang="pt-BR" sz="5100" dirty="0" smtClean="0">
                <a:solidFill>
                  <a:schemeClr val="tx1">
                    <a:lumMod val="65000"/>
                    <a:lumOff val="35000"/>
                  </a:schemeClr>
                </a:solidFill>
                <a:latin typeface="Arial" pitchFamily="34" charset="0"/>
                <a:cs typeface="Arial" pitchFamily="34" charset="0"/>
              </a:rPr>
              <a:t>Criar </a:t>
            </a:r>
            <a:r>
              <a:rPr lang="pt-BR" sz="5100" b="1" dirty="0" smtClean="0">
                <a:solidFill>
                  <a:schemeClr val="tx1">
                    <a:lumMod val="65000"/>
                    <a:lumOff val="35000"/>
                  </a:schemeClr>
                </a:solidFill>
                <a:latin typeface="Arial" pitchFamily="34" charset="0"/>
                <a:cs typeface="Arial" pitchFamily="34" charset="0"/>
              </a:rPr>
              <a:t>variação de Títulos e Descrições </a:t>
            </a:r>
            <a:r>
              <a:rPr lang="pt-BR" sz="5100" dirty="0" smtClean="0">
                <a:solidFill>
                  <a:schemeClr val="tx1">
                    <a:lumMod val="65000"/>
                    <a:lumOff val="35000"/>
                  </a:schemeClr>
                </a:solidFill>
                <a:latin typeface="Arial" pitchFamily="34" charset="0"/>
                <a:cs typeface="Arial" pitchFamily="34" charset="0"/>
              </a:rPr>
              <a:t>para o mesmo artigo;</a:t>
            </a:r>
          </a:p>
          <a:p>
            <a:r>
              <a:rPr lang="pt-BR" sz="5100" dirty="0" smtClean="0">
                <a:solidFill>
                  <a:schemeClr val="tx1">
                    <a:lumMod val="65000"/>
                    <a:lumOff val="35000"/>
                  </a:schemeClr>
                </a:solidFill>
                <a:latin typeface="Arial" pitchFamily="34" charset="0"/>
                <a:cs typeface="Arial" pitchFamily="34" charset="0"/>
              </a:rPr>
              <a:t>Mantenha o </a:t>
            </a:r>
            <a:r>
              <a:rPr lang="pt-BR" sz="5100" b="1" dirty="0" smtClean="0">
                <a:solidFill>
                  <a:schemeClr val="tx1">
                    <a:lumMod val="65000"/>
                    <a:lumOff val="35000"/>
                  </a:schemeClr>
                </a:solidFill>
                <a:latin typeface="Arial" pitchFamily="34" charset="0"/>
                <a:cs typeface="Arial" pitchFamily="34" charset="0"/>
              </a:rPr>
              <a:t>FOCO</a:t>
            </a:r>
            <a:r>
              <a:rPr lang="pt-BR" sz="5100" dirty="0" smtClean="0">
                <a:solidFill>
                  <a:schemeClr val="tx1">
                    <a:lumMod val="65000"/>
                    <a:lumOff val="35000"/>
                  </a:schemeClr>
                </a:solidFill>
                <a:latin typeface="Arial" pitchFamily="34" charset="0"/>
                <a:cs typeface="Arial" pitchFamily="34" charset="0"/>
              </a:rPr>
              <a:t> em </a:t>
            </a:r>
            <a:r>
              <a:rPr lang="pt-BR" sz="5100" b="1" dirty="0" smtClean="0">
                <a:solidFill>
                  <a:schemeClr val="tx1">
                    <a:lumMod val="65000"/>
                    <a:lumOff val="35000"/>
                  </a:schemeClr>
                </a:solidFill>
                <a:latin typeface="Arial" pitchFamily="34" charset="0"/>
                <a:cs typeface="Arial" pitchFamily="34" charset="0"/>
              </a:rPr>
              <a:t>títulos e descrições </a:t>
            </a:r>
            <a:r>
              <a:rPr lang="pt-BR" sz="5100" dirty="0" smtClean="0">
                <a:solidFill>
                  <a:schemeClr val="tx1">
                    <a:lumMod val="65000"/>
                    <a:lumOff val="35000"/>
                  </a:schemeClr>
                </a:solidFill>
                <a:latin typeface="Arial" pitchFamily="34" charset="0"/>
                <a:cs typeface="Arial" pitchFamily="34" charset="0"/>
              </a:rPr>
              <a:t>bem escritas;</a:t>
            </a:r>
          </a:p>
          <a:p>
            <a:r>
              <a:rPr lang="pt-BR" sz="5100" dirty="0" smtClean="0">
                <a:solidFill>
                  <a:schemeClr val="tx1">
                    <a:lumMod val="65000"/>
                    <a:lumOff val="35000"/>
                  </a:schemeClr>
                </a:solidFill>
                <a:latin typeface="Arial" pitchFamily="34" charset="0"/>
                <a:cs typeface="Arial" pitchFamily="34" charset="0"/>
              </a:rPr>
              <a:t>Em locais que permitem fotos, colocar um </a:t>
            </a:r>
            <a:r>
              <a:rPr lang="pt-BR" sz="5100" b="1" dirty="0" smtClean="0">
                <a:solidFill>
                  <a:schemeClr val="tx1">
                    <a:lumMod val="65000"/>
                    <a:lumOff val="35000"/>
                  </a:schemeClr>
                </a:solidFill>
                <a:latin typeface="Arial" pitchFamily="34" charset="0"/>
                <a:cs typeface="Arial" pitchFamily="34" charset="0"/>
              </a:rPr>
              <a:t>foto atrativa </a:t>
            </a:r>
            <a:r>
              <a:rPr lang="pt-BR" sz="5100" dirty="0" smtClean="0">
                <a:solidFill>
                  <a:schemeClr val="tx1">
                    <a:lumMod val="65000"/>
                    <a:lumOff val="35000"/>
                  </a:schemeClr>
                </a:solidFill>
                <a:latin typeface="Arial" pitchFamily="34" charset="0"/>
                <a:cs typeface="Arial" pitchFamily="34" charset="0"/>
              </a:rPr>
              <a:t>relacionada ao assunto;</a:t>
            </a:r>
          </a:p>
          <a:p>
            <a:r>
              <a:rPr lang="pt-BR" sz="5100" dirty="0" smtClean="0">
                <a:solidFill>
                  <a:schemeClr val="tx1">
                    <a:lumMod val="65000"/>
                    <a:lumOff val="35000"/>
                  </a:schemeClr>
                </a:solidFill>
                <a:latin typeface="Arial" pitchFamily="34" charset="0"/>
                <a:cs typeface="Arial" pitchFamily="34" charset="0"/>
              </a:rPr>
              <a:t>Complete ao máximo as </a:t>
            </a:r>
            <a:r>
              <a:rPr lang="pt-BR" sz="5100" b="1" dirty="0" smtClean="0">
                <a:solidFill>
                  <a:schemeClr val="tx1">
                    <a:lumMod val="65000"/>
                    <a:lumOff val="35000"/>
                  </a:schemeClr>
                </a:solidFill>
                <a:latin typeface="Arial" pitchFamily="34" charset="0"/>
                <a:cs typeface="Arial" pitchFamily="34" charset="0"/>
              </a:rPr>
              <a:t>informações de </a:t>
            </a:r>
            <a:r>
              <a:rPr lang="pt-BR" sz="5100" b="1" dirty="0" err="1" smtClean="0">
                <a:solidFill>
                  <a:schemeClr val="tx1">
                    <a:lumMod val="65000"/>
                    <a:lumOff val="35000"/>
                  </a:schemeClr>
                </a:solidFill>
                <a:latin typeface="Arial" pitchFamily="34" charset="0"/>
                <a:cs typeface="Arial" pitchFamily="34" charset="0"/>
              </a:rPr>
              <a:t>profile</a:t>
            </a:r>
            <a:r>
              <a:rPr lang="pt-BR" sz="5100" dirty="0" smtClean="0">
                <a:solidFill>
                  <a:schemeClr val="tx1">
                    <a:lumMod val="65000"/>
                    <a:lumOff val="35000"/>
                  </a:schemeClr>
                </a:solidFill>
                <a:latin typeface="Arial" pitchFamily="34" charset="0"/>
                <a:cs typeface="Arial" pitchFamily="34" charset="0"/>
              </a:rPr>
              <a:t>, sempre usando foto;</a:t>
            </a:r>
          </a:p>
          <a:p>
            <a:pPr>
              <a:buNone/>
            </a:pPr>
            <a:endParaRPr lang="pt-BR" sz="5100" dirty="0" smtClean="0">
              <a:solidFill>
                <a:schemeClr val="tx1">
                  <a:lumMod val="65000"/>
                  <a:lumOff val="35000"/>
                </a:schemeClr>
              </a:solidFill>
              <a:latin typeface="Arial" pitchFamily="34" charset="0"/>
              <a:cs typeface="Arial" pitchFamily="34" charset="0"/>
            </a:endParaRPr>
          </a:p>
          <a:p>
            <a:pPr>
              <a:buNone/>
            </a:pPr>
            <a:endParaRPr lang="pt-BR" sz="5100" dirty="0" smtClean="0">
              <a:solidFill>
                <a:schemeClr val="tx1">
                  <a:lumMod val="65000"/>
                  <a:lumOff val="35000"/>
                </a:schemeClr>
              </a:solidFill>
              <a:latin typeface="Arial" pitchFamily="34" charset="0"/>
              <a:cs typeface="Arial" pitchFamily="34" charset="0"/>
            </a:endParaRPr>
          </a:p>
          <a:p>
            <a:pPr>
              <a:buNone/>
            </a:pPr>
            <a:r>
              <a:rPr lang="pt-BR" sz="4500" dirty="0" smtClean="0">
                <a:solidFill>
                  <a:schemeClr val="tx1">
                    <a:lumMod val="65000"/>
                    <a:lumOff val="35000"/>
                  </a:schemeClr>
                </a:solidFill>
                <a:latin typeface="Arial" pitchFamily="34" charset="0"/>
                <a:cs typeface="Arial" pitchFamily="34" charset="0"/>
              </a:rPr>
              <a:t>Nada disso adiantará se você não criar um engajamento social naquela rede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341784"/>
            <a:ext cx="8229600" cy="1143000"/>
          </a:xfrm>
        </p:spPr>
        <p:txBody>
          <a:bodyPr>
            <a:noAutofit/>
          </a:bodyPr>
          <a:lstStyle/>
          <a:p>
            <a:pPr algn="r"/>
            <a:r>
              <a:rPr lang="pt-BR" sz="5400" b="1" dirty="0" smtClean="0">
                <a:solidFill>
                  <a:srgbClr val="ABD212"/>
                </a:solidFill>
                <a:latin typeface="Arial" pitchFamily="34" charset="0"/>
                <a:cs typeface="Arial" pitchFamily="34" charset="0"/>
              </a:rPr>
              <a:t>Agregadores de Notícias</a:t>
            </a:r>
            <a:endParaRPr lang="en-US" sz="2800" dirty="0">
              <a:solidFill>
                <a:srgbClr val="ABD212"/>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40000" lnSpcReduction="2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r>
              <a:rPr lang="pt-BR" sz="7000" b="1" dirty="0" smtClean="0">
                <a:solidFill>
                  <a:schemeClr val="tx1">
                    <a:lumMod val="65000"/>
                    <a:lumOff val="35000"/>
                  </a:schemeClr>
                </a:solidFill>
                <a:latin typeface="Arial" pitchFamily="34" charset="0"/>
                <a:cs typeface="Arial" pitchFamily="34" charset="0"/>
              </a:rPr>
              <a:t>Engajamento Social</a:t>
            </a:r>
          </a:p>
          <a:p>
            <a:pPr>
              <a:buNone/>
            </a:pPr>
            <a:endParaRPr lang="pt-BR" sz="5100" dirty="0" smtClean="0">
              <a:solidFill>
                <a:schemeClr val="tx1">
                  <a:lumMod val="65000"/>
                  <a:lumOff val="35000"/>
                </a:schemeClr>
              </a:solidFill>
              <a:latin typeface="Arial" pitchFamily="34" charset="0"/>
              <a:cs typeface="Arial" pitchFamily="34" charset="0"/>
            </a:endParaRPr>
          </a:p>
          <a:p>
            <a:pPr>
              <a:buNone/>
            </a:pPr>
            <a:endParaRPr lang="pt-BR" sz="5100" dirty="0" smtClean="0">
              <a:solidFill>
                <a:schemeClr val="tx1">
                  <a:lumMod val="65000"/>
                  <a:lumOff val="35000"/>
                </a:schemeClr>
              </a:solidFill>
              <a:latin typeface="Arial" pitchFamily="34" charset="0"/>
              <a:cs typeface="Arial" pitchFamily="34" charset="0"/>
            </a:endParaRPr>
          </a:p>
          <a:p>
            <a:pPr>
              <a:buNone/>
            </a:pPr>
            <a:endParaRPr lang="pt-BR" sz="5100" dirty="0" smtClean="0">
              <a:solidFill>
                <a:schemeClr val="tx1">
                  <a:lumMod val="65000"/>
                  <a:lumOff val="35000"/>
                </a:schemeClr>
              </a:solidFill>
              <a:latin typeface="Arial" pitchFamily="34" charset="0"/>
              <a:cs typeface="Arial" pitchFamily="34" charset="0"/>
            </a:endParaRPr>
          </a:p>
          <a:p>
            <a:pPr>
              <a:buNone/>
            </a:pPr>
            <a:endParaRPr lang="pt-BR" sz="5100" dirty="0" smtClean="0">
              <a:solidFill>
                <a:schemeClr val="tx1">
                  <a:lumMod val="65000"/>
                  <a:lumOff val="35000"/>
                </a:schemeClr>
              </a:solidFill>
              <a:latin typeface="Arial" pitchFamily="34" charset="0"/>
              <a:cs typeface="Arial" pitchFamily="34" charset="0"/>
            </a:endParaRPr>
          </a:p>
          <a:p>
            <a:r>
              <a:rPr lang="pt-BR" sz="5100" b="1" dirty="0" smtClean="0">
                <a:solidFill>
                  <a:schemeClr val="tx1">
                    <a:lumMod val="65000"/>
                    <a:lumOff val="35000"/>
                  </a:schemeClr>
                </a:solidFill>
                <a:latin typeface="Arial" pitchFamily="34" charset="0"/>
                <a:cs typeface="Arial" pitchFamily="34" charset="0"/>
              </a:rPr>
              <a:t>Vote</a:t>
            </a:r>
            <a:r>
              <a:rPr lang="pt-BR" sz="5100" dirty="0" smtClean="0">
                <a:solidFill>
                  <a:schemeClr val="tx1">
                    <a:lumMod val="65000"/>
                    <a:lumOff val="35000"/>
                  </a:schemeClr>
                </a:solidFill>
                <a:latin typeface="Arial" pitchFamily="34" charset="0"/>
                <a:cs typeface="Arial" pitchFamily="34" charset="0"/>
              </a:rPr>
              <a:t> em artigos alheios;</a:t>
            </a:r>
          </a:p>
          <a:p>
            <a:r>
              <a:rPr lang="pt-BR" sz="5100" b="1" dirty="0" smtClean="0">
                <a:solidFill>
                  <a:schemeClr val="tx1">
                    <a:lumMod val="65000"/>
                    <a:lumOff val="35000"/>
                  </a:schemeClr>
                </a:solidFill>
                <a:latin typeface="Arial" pitchFamily="34" charset="0"/>
                <a:cs typeface="Arial" pitchFamily="34" charset="0"/>
              </a:rPr>
              <a:t>Comente</a:t>
            </a:r>
            <a:r>
              <a:rPr lang="pt-BR" sz="5100" dirty="0" smtClean="0">
                <a:solidFill>
                  <a:schemeClr val="tx1">
                    <a:lumMod val="65000"/>
                    <a:lumOff val="35000"/>
                  </a:schemeClr>
                </a:solidFill>
                <a:latin typeface="Arial" pitchFamily="34" charset="0"/>
                <a:cs typeface="Arial" pitchFamily="34" charset="0"/>
              </a:rPr>
              <a:t> em artigos alheios;</a:t>
            </a:r>
          </a:p>
          <a:p>
            <a:r>
              <a:rPr lang="pt-BR" sz="5100" b="1" dirty="0" smtClean="0">
                <a:solidFill>
                  <a:schemeClr val="tx1">
                    <a:lumMod val="65000"/>
                    <a:lumOff val="35000"/>
                  </a:schemeClr>
                </a:solidFill>
                <a:latin typeface="Arial" pitchFamily="34" charset="0"/>
                <a:cs typeface="Arial" pitchFamily="34" charset="0"/>
              </a:rPr>
              <a:t>Adicione amigos </a:t>
            </a:r>
            <a:r>
              <a:rPr lang="pt-BR" sz="5100" dirty="0" smtClean="0">
                <a:solidFill>
                  <a:schemeClr val="tx1">
                    <a:lumMod val="65000"/>
                    <a:lumOff val="35000"/>
                  </a:schemeClr>
                </a:solidFill>
                <a:latin typeface="Arial" pitchFamily="34" charset="0"/>
                <a:cs typeface="Arial" pitchFamily="34" charset="0"/>
              </a:rPr>
              <a:t>com mesmo interesse;</a:t>
            </a:r>
          </a:p>
          <a:p>
            <a:r>
              <a:rPr lang="pt-BR" sz="5100" b="1" dirty="0" smtClean="0">
                <a:solidFill>
                  <a:schemeClr val="tx1">
                    <a:lumMod val="65000"/>
                    <a:lumOff val="35000"/>
                  </a:schemeClr>
                </a:solidFill>
                <a:latin typeface="Arial" pitchFamily="34" charset="0"/>
                <a:cs typeface="Arial" pitchFamily="34" charset="0"/>
              </a:rPr>
              <a:t>Peça por votos </a:t>
            </a:r>
            <a:r>
              <a:rPr lang="pt-BR" sz="5100" dirty="0" smtClean="0">
                <a:solidFill>
                  <a:schemeClr val="tx1">
                    <a:lumMod val="65000"/>
                    <a:lumOff val="35000"/>
                  </a:schemeClr>
                </a:solidFill>
                <a:latin typeface="Arial" pitchFamily="34" charset="0"/>
                <a:cs typeface="Arial" pitchFamily="34" charset="0"/>
              </a:rPr>
              <a:t>para seus amigos;</a:t>
            </a:r>
          </a:p>
          <a:p>
            <a:r>
              <a:rPr lang="pt-BR" sz="5100" b="1" dirty="0" smtClean="0">
                <a:solidFill>
                  <a:schemeClr val="tx1">
                    <a:lumMod val="65000"/>
                    <a:lumOff val="35000"/>
                  </a:schemeClr>
                </a:solidFill>
                <a:latin typeface="Arial" pitchFamily="34" charset="0"/>
                <a:cs typeface="Arial" pitchFamily="34" charset="0"/>
              </a:rPr>
              <a:t>Compartilhe </a:t>
            </a:r>
            <a:r>
              <a:rPr lang="pt-BR" sz="5100" dirty="0" smtClean="0">
                <a:solidFill>
                  <a:schemeClr val="tx1">
                    <a:lumMod val="65000"/>
                    <a:lumOff val="35000"/>
                  </a:schemeClr>
                </a:solidFill>
                <a:latin typeface="Arial" pitchFamily="34" charset="0"/>
                <a:cs typeface="Arial" pitchFamily="34" charset="0"/>
              </a:rPr>
              <a:t>suas notícias em redes sociais ;</a:t>
            </a:r>
          </a:p>
          <a:p>
            <a:pPr>
              <a:buNone/>
            </a:pPr>
            <a:r>
              <a:rPr lang="pt-BR" sz="5100" dirty="0" smtClean="0">
                <a:solidFill>
                  <a:schemeClr val="tx1">
                    <a:lumMod val="65000"/>
                    <a:lumOff val="35000"/>
                  </a:schemeClr>
                </a:solidFill>
                <a:latin typeface="Arial" pitchFamily="34" charset="0"/>
                <a:cs typeface="Arial" pitchFamily="34" charset="0"/>
              </a:rPr>
              <a:t>     Ex. Compartilhar um artigo no </a:t>
            </a:r>
            <a:r>
              <a:rPr lang="pt-BR" sz="5100" dirty="0" err="1" smtClean="0">
                <a:solidFill>
                  <a:schemeClr val="tx1">
                    <a:lumMod val="65000"/>
                    <a:lumOff val="35000"/>
                  </a:schemeClr>
                </a:solidFill>
                <a:latin typeface="Arial" pitchFamily="34" charset="0"/>
                <a:cs typeface="Arial" pitchFamily="34" charset="0"/>
              </a:rPr>
              <a:t>sphinn</a:t>
            </a:r>
            <a:r>
              <a:rPr lang="pt-BR" sz="5100" dirty="0" smtClean="0">
                <a:solidFill>
                  <a:schemeClr val="tx1">
                    <a:lumMod val="65000"/>
                    <a:lumOff val="35000"/>
                  </a:schemeClr>
                </a:solidFill>
                <a:latin typeface="Arial" pitchFamily="34" charset="0"/>
                <a:cs typeface="Arial" pitchFamily="34" charset="0"/>
              </a:rPr>
              <a:t> pelo </a:t>
            </a:r>
            <a:r>
              <a:rPr lang="pt-BR" sz="5100" dirty="0" err="1" smtClean="0">
                <a:solidFill>
                  <a:schemeClr val="tx1">
                    <a:lumMod val="65000"/>
                    <a:lumOff val="35000"/>
                  </a:schemeClr>
                </a:solidFill>
                <a:latin typeface="Arial" pitchFamily="34" charset="0"/>
                <a:cs typeface="Arial" pitchFamily="34" charset="0"/>
              </a:rPr>
              <a:t>twitter</a:t>
            </a:r>
            <a:r>
              <a:rPr lang="pt-BR" sz="5100" dirty="0" smtClean="0">
                <a:solidFill>
                  <a:schemeClr val="tx1">
                    <a:lumMod val="65000"/>
                    <a:lumOff val="35000"/>
                  </a:schemeClr>
                </a:solidFill>
                <a:latin typeface="Arial" pitchFamily="34" charset="0"/>
                <a:cs typeface="Arial" pitchFamily="34" charset="0"/>
              </a:rPr>
              <a:t>.</a:t>
            </a:r>
          </a:p>
          <a:p>
            <a:r>
              <a:rPr lang="pt-BR" sz="5100" dirty="0" smtClean="0">
                <a:solidFill>
                  <a:schemeClr val="tx1">
                    <a:lumMod val="65000"/>
                    <a:lumOff val="35000"/>
                  </a:schemeClr>
                </a:solidFill>
                <a:latin typeface="Arial" pitchFamily="34" charset="0"/>
                <a:cs typeface="Arial" pitchFamily="34" charset="0"/>
              </a:rPr>
              <a:t>O "empurrão" inicial "QUASE SEMPRE" é necessário.</a:t>
            </a:r>
            <a:endParaRPr lang="pt-BR" dirty="0" smtClean="0">
              <a:solidFill>
                <a:schemeClr val="tx1">
                  <a:lumMod val="65000"/>
                  <a:lumOff val="3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4" descr="C:\Users\hp\Desktop\searchlabs\RocknRoll_Pattern_CS4.jpg"/>
          <p:cNvPicPr>
            <a:picLocks noChangeAspect="1" noChangeArrowheads="1"/>
          </p:cNvPicPr>
          <p:nvPr/>
        </p:nvPicPr>
        <p:blipFill>
          <a:blip r:embed="rId2" cstate="print"/>
          <a:srcRect/>
          <a:stretch>
            <a:fillRect/>
          </a:stretch>
        </p:blipFill>
        <p:spPr bwMode="auto">
          <a:xfrm>
            <a:off x="-394854" y="-142486"/>
            <a:ext cx="9754632" cy="9766086"/>
          </a:xfrm>
          <a:prstGeom prst="rect">
            <a:avLst/>
          </a:prstGeom>
          <a:noFill/>
        </p:spPr>
      </p:pic>
      <p:sp>
        <p:nvSpPr>
          <p:cNvPr id="8" name="Título 1"/>
          <p:cNvSpPr>
            <a:spLocks noGrp="1"/>
          </p:cNvSpPr>
          <p:nvPr>
            <p:ph type="title"/>
          </p:nvPr>
        </p:nvSpPr>
        <p:spPr>
          <a:xfrm>
            <a:off x="611560" y="341784"/>
            <a:ext cx="8229600" cy="1143000"/>
          </a:xfrm>
        </p:spPr>
        <p:txBody>
          <a:bodyPr>
            <a:noAutofit/>
          </a:bodyPr>
          <a:lstStyle/>
          <a:p>
            <a:pPr algn="r"/>
            <a:r>
              <a:rPr lang="pt-BR" sz="5400" b="1" dirty="0" smtClean="0">
                <a:solidFill>
                  <a:srgbClr val="ABD212"/>
                </a:solidFill>
                <a:latin typeface="Arial" pitchFamily="34" charset="0"/>
                <a:cs typeface="Arial" pitchFamily="34" charset="0"/>
              </a:rPr>
              <a:t>Agregadores de Notícias</a:t>
            </a:r>
            <a:endParaRPr lang="en-US" sz="2800" dirty="0">
              <a:solidFill>
                <a:srgbClr val="ABD212"/>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32500" lnSpcReduction="2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solidFill>
                <a:schemeClr val="bg1"/>
              </a:solidFill>
              <a:latin typeface="Arial" pitchFamily="34" charset="0"/>
              <a:cs typeface="Arial" pitchFamily="34" charset="0"/>
            </a:endParaRPr>
          </a:p>
          <a:p>
            <a:pPr>
              <a:buNone/>
            </a:pPr>
            <a:r>
              <a:rPr lang="pt-BR" sz="7000" b="1" dirty="0" smtClean="0">
                <a:solidFill>
                  <a:srgbClr val="ABD212"/>
                </a:solidFill>
                <a:latin typeface="Arial" pitchFamily="34" charset="0"/>
                <a:cs typeface="Arial" pitchFamily="34" charset="0"/>
              </a:rPr>
              <a:t>Dica do Mal 5:</a:t>
            </a:r>
          </a:p>
          <a:p>
            <a:pPr>
              <a:buNone/>
            </a:pPr>
            <a:endParaRPr lang="pt-BR" sz="7000" b="1" dirty="0" smtClean="0">
              <a:solidFill>
                <a:srgbClr val="ABD212"/>
              </a:solidFill>
              <a:latin typeface="Arial" pitchFamily="34" charset="0"/>
              <a:cs typeface="Arial" pitchFamily="34" charset="0"/>
            </a:endParaRPr>
          </a:p>
          <a:p>
            <a:r>
              <a:rPr lang="pt-BR" sz="6200" dirty="0" smtClean="0">
                <a:solidFill>
                  <a:srgbClr val="ABD212"/>
                </a:solidFill>
                <a:latin typeface="Arial" pitchFamily="34" charset="0"/>
                <a:cs typeface="Arial" pitchFamily="34" charset="0"/>
              </a:rPr>
              <a:t>Crie Perfis </a:t>
            </a:r>
            <a:r>
              <a:rPr lang="pt-BR" sz="6200" b="1" dirty="0" smtClean="0">
                <a:solidFill>
                  <a:srgbClr val="ABD212"/>
                </a:solidFill>
                <a:latin typeface="Arial" pitchFamily="34" charset="0"/>
                <a:cs typeface="Arial" pitchFamily="34" charset="0"/>
              </a:rPr>
              <a:t>falsos</a:t>
            </a:r>
            <a:r>
              <a:rPr lang="pt-BR" sz="6200" dirty="0" smtClean="0">
                <a:solidFill>
                  <a:srgbClr val="ABD212"/>
                </a:solidFill>
                <a:latin typeface="Arial" pitchFamily="34" charset="0"/>
                <a:cs typeface="Arial" pitchFamily="34" charset="0"/>
              </a:rPr>
              <a:t>;</a:t>
            </a:r>
          </a:p>
          <a:p>
            <a:r>
              <a:rPr lang="pt-BR" sz="6200" dirty="0" smtClean="0">
                <a:solidFill>
                  <a:srgbClr val="ABD212"/>
                </a:solidFill>
                <a:latin typeface="Arial" pitchFamily="34" charset="0"/>
                <a:cs typeface="Arial" pitchFamily="34" charset="0"/>
              </a:rPr>
              <a:t>Use os Perfis para </a:t>
            </a:r>
            <a:r>
              <a:rPr lang="pt-BR" sz="6200" b="1" dirty="0" smtClean="0">
                <a:solidFill>
                  <a:srgbClr val="ABD212"/>
                </a:solidFill>
                <a:latin typeface="Arial" pitchFamily="34" charset="0"/>
                <a:cs typeface="Arial" pitchFamily="34" charset="0"/>
              </a:rPr>
              <a:t>votar </a:t>
            </a:r>
            <a:r>
              <a:rPr lang="pt-BR" sz="6200" dirty="0" smtClean="0">
                <a:solidFill>
                  <a:srgbClr val="ABD212"/>
                </a:solidFill>
                <a:latin typeface="Arial" pitchFamily="34" charset="0"/>
                <a:cs typeface="Arial" pitchFamily="34" charset="0"/>
              </a:rPr>
              <a:t>em seus artigos;</a:t>
            </a:r>
          </a:p>
          <a:p>
            <a:r>
              <a:rPr lang="pt-BR" sz="6200" b="1" dirty="0" smtClean="0">
                <a:solidFill>
                  <a:srgbClr val="ABD212"/>
                </a:solidFill>
                <a:latin typeface="Arial" pitchFamily="34" charset="0"/>
                <a:cs typeface="Arial" pitchFamily="34" charset="0"/>
              </a:rPr>
              <a:t>Alterne</a:t>
            </a:r>
            <a:r>
              <a:rPr lang="pt-BR" sz="6200" dirty="0" smtClean="0">
                <a:solidFill>
                  <a:srgbClr val="ABD212"/>
                </a:solidFill>
                <a:latin typeface="Arial" pitchFamily="34" charset="0"/>
                <a:cs typeface="Arial" pitchFamily="34" charset="0"/>
              </a:rPr>
              <a:t> o </a:t>
            </a:r>
            <a:r>
              <a:rPr lang="pt-BR" sz="6200" b="1" dirty="0" smtClean="0">
                <a:solidFill>
                  <a:srgbClr val="ABD212"/>
                </a:solidFill>
                <a:latin typeface="Arial" pitchFamily="34" charset="0"/>
                <a:cs typeface="Arial" pitchFamily="34" charset="0"/>
              </a:rPr>
              <a:t>IP</a:t>
            </a:r>
            <a:r>
              <a:rPr lang="pt-BR" sz="6200" dirty="0" smtClean="0">
                <a:solidFill>
                  <a:srgbClr val="ABD212"/>
                </a:solidFill>
                <a:latin typeface="Arial" pitchFamily="34" charset="0"/>
                <a:cs typeface="Arial" pitchFamily="34" charset="0"/>
              </a:rPr>
              <a:t>, use </a:t>
            </a:r>
            <a:r>
              <a:rPr lang="pt-BR" sz="6200" dirty="0" err="1" smtClean="0">
                <a:solidFill>
                  <a:srgbClr val="ABD212"/>
                </a:solidFill>
                <a:latin typeface="Arial" pitchFamily="34" charset="0"/>
                <a:cs typeface="Arial" pitchFamily="34" charset="0"/>
              </a:rPr>
              <a:t>proxy</a:t>
            </a:r>
            <a:r>
              <a:rPr lang="pt-BR" sz="6200" dirty="0" smtClean="0">
                <a:solidFill>
                  <a:srgbClr val="ABD212"/>
                </a:solidFill>
                <a:latin typeface="Arial" pitchFamily="34" charset="0"/>
                <a:cs typeface="Arial" pitchFamily="34" charset="0"/>
              </a:rPr>
              <a:t>, </a:t>
            </a:r>
            <a:r>
              <a:rPr lang="pt-BR" sz="6200" dirty="0" err="1" smtClean="0">
                <a:solidFill>
                  <a:srgbClr val="ABD212"/>
                </a:solidFill>
                <a:latin typeface="Arial" pitchFamily="34" charset="0"/>
                <a:cs typeface="Arial" pitchFamily="34" charset="0"/>
              </a:rPr>
              <a:t>etc</a:t>
            </a:r>
            <a:r>
              <a:rPr lang="pt-BR" sz="6200" dirty="0" smtClean="0">
                <a:solidFill>
                  <a:srgbClr val="ABD212"/>
                </a:solidFill>
                <a:latin typeface="Arial" pitchFamily="34" charset="0"/>
                <a:cs typeface="Arial" pitchFamily="34" charset="0"/>
              </a:rPr>
              <a:t>;</a:t>
            </a:r>
          </a:p>
          <a:p>
            <a:r>
              <a:rPr lang="pt-BR" sz="6200" b="1" dirty="0" smtClean="0">
                <a:solidFill>
                  <a:srgbClr val="ABD212"/>
                </a:solidFill>
                <a:latin typeface="Arial" pitchFamily="34" charset="0"/>
                <a:cs typeface="Arial" pitchFamily="34" charset="0"/>
              </a:rPr>
              <a:t>Alterne</a:t>
            </a:r>
            <a:r>
              <a:rPr lang="pt-BR" sz="6200" dirty="0" smtClean="0">
                <a:solidFill>
                  <a:srgbClr val="ABD212"/>
                </a:solidFill>
                <a:latin typeface="Arial" pitchFamily="34" charset="0"/>
                <a:cs typeface="Arial" pitchFamily="34" charset="0"/>
              </a:rPr>
              <a:t> os </a:t>
            </a:r>
            <a:r>
              <a:rPr lang="pt-BR" sz="6200" b="1" dirty="0" smtClean="0">
                <a:solidFill>
                  <a:srgbClr val="ABD212"/>
                </a:solidFill>
                <a:latin typeface="Arial" pitchFamily="34" charset="0"/>
                <a:cs typeface="Arial" pitchFamily="34" charset="0"/>
              </a:rPr>
              <a:t>perfis</a:t>
            </a:r>
            <a:r>
              <a:rPr lang="pt-BR" sz="6200" dirty="0" smtClean="0">
                <a:solidFill>
                  <a:srgbClr val="ABD212"/>
                </a:solidFill>
                <a:latin typeface="Arial" pitchFamily="34" charset="0"/>
                <a:cs typeface="Arial" pitchFamily="34" charset="0"/>
              </a:rPr>
              <a:t> falsos que votam;</a:t>
            </a:r>
          </a:p>
          <a:p>
            <a:r>
              <a:rPr lang="pt-BR" sz="6200" b="1" dirty="0" smtClean="0">
                <a:solidFill>
                  <a:srgbClr val="ABD212"/>
                </a:solidFill>
                <a:latin typeface="Arial" pitchFamily="34" charset="0"/>
                <a:cs typeface="Arial" pitchFamily="34" charset="0"/>
              </a:rPr>
              <a:t>Evite</a:t>
            </a:r>
            <a:r>
              <a:rPr lang="pt-BR" sz="6200" dirty="0" smtClean="0">
                <a:solidFill>
                  <a:srgbClr val="ABD212"/>
                </a:solidFill>
                <a:latin typeface="Arial" pitchFamily="34" charset="0"/>
                <a:cs typeface="Arial" pitchFamily="34" charset="0"/>
              </a:rPr>
              <a:t> sempre </a:t>
            </a:r>
            <a:r>
              <a:rPr lang="pt-BR" sz="6200" b="1" dirty="0" smtClean="0">
                <a:solidFill>
                  <a:srgbClr val="ABD212"/>
                </a:solidFill>
                <a:latin typeface="Arial" pitchFamily="34" charset="0"/>
                <a:cs typeface="Arial" pitchFamily="34" charset="0"/>
              </a:rPr>
              <a:t>padrões</a:t>
            </a:r>
            <a:r>
              <a:rPr lang="pt-BR" sz="6200" dirty="0" smtClean="0">
                <a:solidFill>
                  <a:srgbClr val="ABD212"/>
                </a:solidFill>
                <a:latin typeface="Arial" pitchFamily="34" charset="0"/>
                <a:cs typeface="Arial" pitchFamily="34" charset="0"/>
              </a:rPr>
              <a:t>;</a:t>
            </a:r>
          </a:p>
          <a:p>
            <a:r>
              <a:rPr lang="pt-BR" sz="6200" b="1" dirty="0" smtClean="0">
                <a:solidFill>
                  <a:srgbClr val="ABD212"/>
                </a:solidFill>
                <a:latin typeface="Arial" pitchFamily="34" charset="0"/>
                <a:cs typeface="Arial" pitchFamily="34" charset="0"/>
              </a:rPr>
              <a:t>Recomende</a:t>
            </a:r>
            <a:r>
              <a:rPr lang="pt-BR" sz="6200" dirty="0" smtClean="0">
                <a:solidFill>
                  <a:srgbClr val="ABD212"/>
                </a:solidFill>
                <a:latin typeface="Arial" pitchFamily="34" charset="0"/>
                <a:cs typeface="Arial" pitchFamily="34" charset="0"/>
              </a:rPr>
              <a:t> seus artigos para todos amigos online;</a:t>
            </a:r>
          </a:p>
          <a:p>
            <a:r>
              <a:rPr lang="pt-BR" sz="6200" dirty="0" smtClean="0">
                <a:solidFill>
                  <a:srgbClr val="ABD212"/>
                </a:solidFill>
                <a:latin typeface="Arial" pitchFamily="34" charset="0"/>
                <a:cs typeface="Arial" pitchFamily="34" charset="0"/>
              </a:rPr>
              <a:t>Use os perfis falsos para </a:t>
            </a:r>
            <a:r>
              <a:rPr lang="pt-BR" sz="6200" b="1" dirty="0" smtClean="0">
                <a:solidFill>
                  <a:srgbClr val="ABD212"/>
                </a:solidFill>
                <a:latin typeface="Arial" pitchFamily="34" charset="0"/>
                <a:cs typeface="Arial" pitchFamily="34" charset="0"/>
              </a:rPr>
              <a:t>comentar</a:t>
            </a:r>
            <a:r>
              <a:rPr lang="pt-BR" sz="6200" dirty="0" smtClean="0">
                <a:solidFill>
                  <a:srgbClr val="ABD212"/>
                </a:solidFill>
                <a:latin typeface="Arial" pitchFamily="34" charset="0"/>
                <a:cs typeface="Arial" pitchFamily="34" charset="0"/>
              </a:rPr>
              <a:t> em seus artigos;</a:t>
            </a:r>
          </a:p>
          <a:p>
            <a:r>
              <a:rPr lang="pt-BR" sz="6200" dirty="0" smtClean="0">
                <a:solidFill>
                  <a:srgbClr val="ABD212"/>
                </a:solidFill>
                <a:latin typeface="Arial" pitchFamily="34" charset="0"/>
                <a:cs typeface="Arial" pitchFamily="34" charset="0"/>
              </a:rPr>
              <a:t>Deixe seu </a:t>
            </a:r>
            <a:r>
              <a:rPr lang="pt-BR" sz="6200" b="1" dirty="0" smtClean="0">
                <a:solidFill>
                  <a:srgbClr val="ABD212"/>
                </a:solidFill>
                <a:latin typeface="Arial" pitchFamily="34" charset="0"/>
                <a:cs typeface="Arial" pitchFamily="34" charset="0"/>
              </a:rPr>
              <a:t>link </a:t>
            </a:r>
            <a:r>
              <a:rPr lang="pt-BR" sz="6200" dirty="0" smtClean="0">
                <a:solidFill>
                  <a:srgbClr val="ABD212"/>
                </a:solidFill>
                <a:latin typeface="Arial" pitchFamily="34" charset="0"/>
                <a:cs typeface="Arial" pitchFamily="34" charset="0"/>
              </a:rPr>
              <a:t>em comentários em outros artigos, usando os perfis falsos;</a:t>
            </a:r>
          </a:p>
          <a:p>
            <a:r>
              <a:rPr lang="pt-BR" sz="6200" dirty="0" smtClean="0">
                <a:solidFill>
                  <a:srgbClr val="ABD212"/>
                </a:solidFill>
                <a:latin typeface="Arial" pitchFamily="34" charset="0"/>
                <a:cs typeface="Arial" pitchFamily="34" charset="0"/>
              </a:rPr>
              <a:t>Sistemas </a:t>
            </a:r>
            <a:r>
              <a:rPr lang="pt-BR" sz="6200" b="1" dirty="0" smtClean="0">
                <a:solidFill>
                  <a:srgbClr val="ABD212"/>
                </a:solidFill>
                <a:latin typeface="Arial" pitchFamily="34" charset="0"/>
                <a:cs typeface="Arial" pitchFamily="34" charset="0"/>
              </a:rPr>
              <a:t>automáticos </a:t>
            </a:r>
            <a:r>
              <a:rPr lang="pt-BR" sz="6200" dirty="0" smtClean="0">
                <a:solidFill>
                  <a:srgbClr val="ABD212"/>
                </a:solidFill>
                <a:latin typeface="Arial" pitchFamily="34" charset="0"/>
                <a:cs typeface="Arial" pitchFamily="34" charset="0"/>
              </a:rPr>
              <a:t>de votos.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ítulo 1"/>
          <p:cNvSpPr txBox="1">
            <a:spLocks/>
          </p:cNvSpPr>
          <p:nvPr/>
        </p:nvSpPr>
        <p:spPr>
          <a:xfrm>
            <a:off x="611560" y="44624"/>
            <a:ext cx="8229600" cy="1143000"/>
          </a:xfrm>
          <a:prstGeom prst="rect">
            <a:avLst/>
          </a:prstGeom>
        </p:spPr>
        <p:txBody>
          <a:bodyPr vert="horz" lIns="91440" tIns="45720" rIns="91440" bIns="45720" rtlCol="0" anchor="ct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pt-BR" sz="6600" b="1" i="0" u="none" strike="noStrike" kern="1200" cap="none" spc="0" normalizeH="0" baseline="0" noProof="0" dirty="0" err="1" smtClean="0">
                <a:ln>
                  <a:noFill/>
                </a:ln>
                <a:solidFill>
                  <a:srgbClr val="ABD212"/>
                </a:solidFill>
                <a:effectLst/>
                <a:uLnTx/>
                <a:uFillTx/>
                <a:latin typeface="Arial" pitchFamily="34" charset="0"/>
                <a:ea typeface="+mj-ea"/>
                <a:cs typeface="Arial" pitchFamily="34" charset="0"/>
              </a:rPr>
              <a:t>Bookmarking</a:t>
            </a:r>
            <a:endParaRPr kumimoji="0" lang="en-US" sz="6600" b="0" i="0" u="none" strike="noStrike" kern="1200" cap="none" spc="0" normalizeH="0" baseline="0" noProof="0" dirty="0">
              <a:ln>
                <a:noFill/>
              </a:ln>
              <a:solidFill>
                <a:srgbClr val="ABD212"/>
              </a:solidFill>
              <a:effectLst/>
              <a:uLnTx/>
              <a:uFillTx/>
              <a:latin typeface="Arial" pitchFamily="34" charset="0"/>
              <a:ea typeface="+mj-ea"/>
              <a:cs typeface="Arial" pitchFamily="34" charset="0"/>
            </a:endParaRPr>
          </a:p>
        </p:txBody>
      </p:sp>
      <p:sp>
        <p:nvSpPr>
          <p:cNvPr id="5" name="Espaço Reservado para Conteúdo 2"/>
          <p:cNvSpPr txBox="1">
            <a:spLocks/>
          </p:cNvSpPr>
          <p:nvPr/>
        </p:nvSpPr>
        <p:spPr>
          <a:xfrm>
            <a:off x="251520" y="1600200"/>
            <a:ext cx="8640960" cy="5069160"/>
          </a:xfrm>
          <a:prstGeom prst="rect">
            <a:avLst/>
          </a:prstGeom>
        </p:spPr>
        <p:txBody>
          <a:bodyPr vert="horz" lIns="91440" tIns="45720" rIns="91440" bIns="45720" rtlCol="0">
            <a:normAutofit fontScale="32500" lnSpcReduction="20000"/>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t-BR" sz="3200" b="0" i="0" u="none" strike="noStrike" kern="1200" cap="none" spc="0" normalizeH="0" baseline="0" noProof="0" dirty="0" smtClean="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t-BR" sz="3200" b="0" i="0" u="none" strike="noStrike" kern="1200" cap="none" spc="0" normalizeH="0" baseline="0" noProof="0" dirty="0" smtClean="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t-BR" sz="3200" b="0" i="0" u="none" strike="noStrike" kern="1200" cap="none" spc="0" normalizeH="0" baseline="0" noProof="0" dirty="0" smtClean="0">
              <a:ln>
                <a:noFill/>
              </a:ln>
              <a:solidFill>
                <a:schemeClr val="tx1"/>
              </a:solidFill>
              <a:effectLst/>
              <a:uLnTx/>
              <a:uFillTx/>
              <a:latin typeface="Arial" pitchFamily="34" charset="0"/>
              <a:cs typeface="Arial"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pt-BR" sz="3200" b="0" i="0" u="none" strike="noStrike" kern="1200" cap="none" spc="0" normalizeH="0" baseline="0" noProof="0" dirty="0" smtClean="0">
              <a:ln>
                <a:noFill/>
              </a:ln>
              <a:solidFill>
                <a:schemeClr val="tx1"/>
              </a:solidFill>
              <a:effectLst/>
              <a:uLnTx/>
              <a:uFillTx/>
              <a:latin typeface="Arial" pitchFamily="34" charset="0"/>
              <a:cs typeface="Arial" pitchFamily="34" charset="0"/>
            </a:endParaRPr>
          </a:p>
          <a:p>
            <a:pPr marL="342900" lvl="0" indent="-342900">
              <a:spcBef>
                <a:spcPct val="20000"/>
              </a:spcBef>
            </a:pPr>
            <a:endParaRPr lang="pt-BR" sz="7000" dirty="0" smtClean="0">
              <a:solidFill>
                <a:schemeClr val="tx1">
                  <a:lumMod val="65000"/>
                  <a:lumOff val="35000"/>
                </a:schemeClr>
              </a:solidFill>
              <a:latin typeface="Arial" pitchFamily="34" charset="0"/>
              <a:cs typeface="Arial" pitchFamily="34" charset="0"/>
            </a:endParaRPr>
          </a:p>
          <a:p>
            <a:pPr marL="342900" lvl="0" indent="-342900">
              <a:spcBef>
                <a:spcPct val="20000"/>
              </a:spcBef>
            </a:pPr>
            <a:endParaRPr lang="pt-BR" sz="7000" dirty="0" smtClean="0">
              <a:solidFill>
                <a:schemeClr val="tx1">
                  <a:lumMod val="65000"/>
                  <a:lumOff val="35000"/>
                </a:schemeClr>
              </a:solidFill>
              <a:latin typeface="Arial" pitchFamily="34" charset="0"/>
              <a:cs typeface="Arial" pitchFamily="34" charset="0"/>
            </a:endParaRPr>
          </a:p>
          <a:p>
            <a:pPr marL="342900" lvl="0" indent="-342900">
              <a:spcBef>
                <a:spcPct val="20000"/>
              </a:spcBef>
            </a:pPr>
            <a:endParaRPr lang="pt-BR" sz="7000" dirty="0" smtClean="0">
              <a:solidFill>
                <a:schemeClr val="tx1">
                  <a:lumMod val="65000"/>
                  <a:lumOff val="35000"/>
                </a:schemeClr>
              </a:solidFill>
              <a:latin typeface="Arial" pitchFamily="34" charset="0"/>
              <a:cs typeface="Arial" pitchFamily="34" charset="0"/>
            </a:endParaRPr>
          </a:p>
          <a:p>
            <a:pPr marL="342900" lvl="0" indent="-342900">
              <a:spcBef>
                <a:spcPct val="20000"/>
              </a:spcBef>
            </a:pPr>
            <a:endParaRPr lang="pt-BR" sz="7000" dirty="0" smtClean="0">
              <a:solidFill>
                <a:schemeClr val="tx1">
                  <a:lumMod val="65000"/>
                  <a:lumOff val="35000"/>
                </a:schemeClr>
              </a:solidFill>
              <a:latin typeface="Arial" pitchFamily="34" charset="0"/>
              <a:cs typeface="Arial" pitchFamily="34" charset="0"/>
            </a:endParaRPr>
          </a:p>
          <a:p>
            <a:pPr marL="342900" lvl="0" indent="-342900">
              <a:spcBef>
                <a:spcPct val="20000"/>
              </a:spcBef>
            </a:pPr>
            <a:endParaRPr lang="pt-BR" sz="7000" dirty="0" smtClean="0">
              <a:solidFill>
                <a:schemeClr val="tx1">
                  <a:lumMod val="65000"/>
                  <a:lumOff val="35000"/>
                </a:schemeClr>
              </a:solidFill>
              <a:latin typeface="Arial" pitchFamily="34" charset="0"/>
              <a:cs typeface="Arial" pitchFamily="34" charset="0"/>
            </a:endParaRPr>
          </a:p>
          <a:p>
            <a:pPr marL="342900" lvl="0" indent="-342900">
              <a:spcBef>
                <a:spcPct val="20000"/>
              </a:spcBef>
            </a:pPr>
            <a:endParaRPr lang="pt-BR" sz="7000" dirty="0" smtClean="0">
              <a:solidFill>
                <a:schemeClr val="tx1">
                  <a:lumMod val="65000"/>
                  <a:lumOff val="35000"/>
                </a:schemeClr>
              </a:solidFill>
              <a:latin typeface="Arial" pitchFamily="34" charset="0"/>
              <a:cs typeface="Arial" pitchFamily="34" charset="0"/>
            </a:endParaRPr>
          </a:p>
          <a:p>
            <a:pPr marL="342900" lvl="0" indent="-342900">
              <a:spcBef>
                <a:spcPct val="20000"/>
              </a:spcBef>
              <a:buFont typeface="Arial" pitchFamily="34" charset="0"/>
              <a:buChar char="•"/>
            </a:pPr>
            <a:r>
              <a:rPr lang="pt-BR" sz="6200" dirty="0" smtClean="0">
                <a:solidFill>
                  <a:schemeClr val="tx1">
                    <a:lumMod val="65000"/>
                    <a:lumOff val="35000"/>
                  </a:schemeClr>
                </a:solidFill>
                <a:latin typeface="Arial" pitchFamily="34" charset="0"/>
                <a:cs typeface="Arial" pitchFamily="34" charset="0"/>
              </a:rPr>
              <a:t>Salve o site como </a:t>
            </a:r>
            <a:r>
              <a:rPr lang="pt-BR" sz="6200" b="1" dirty="0" smtClean="0">
                <a:solidFill>
                  <a:schemeClr val="tx1">
                    <a:lumMod val="65000"/>
                    <a:lumOff val="35000"/>
                  </a:schemeClr>
                </a:solidFill>
                <a:latin typeface="Arial" pitchFamily="34" charset="0"/>
                <a:cs typeface="Arial" pitchFamily="34" charset="0"/>
              </a:rPr>
              <a:t>favorito </a:t>
            </a:r>
            <a:r>
              <a:rPr lang="pt-BR" sz="6200" dirty="0" smtClean="0">
                <a:solidFill>
                  <a:schemeClr val="tx1">
                    <a:lumMod val="65000"/>
                    <a:lumOff val="35000"/>
                  </a:schemeClr>
                </a:solidFill>
                <a:latin typeface="Arial" pitchFamily="34" charset="0"/>
                <a:cs typeface="Arial" pitchFamily="34" charset="0"/>
              </a:rPr>
              <a:t>em </a:t>
            </a:r>
            <a:r>
              <a:rPr lang="pt-BR" sz="6200" b="1" dirty="0" smtClean="0">
                <a:solidFill>
                  <a:schemeClr val="tx1">
                    <a:lumMod val="65000"/>
                    <a:lumOff val="35000"/>
                  </a:schemeClr>
                </a:solidFill>
                <a:latin typeface="Arial" pitchFamily="34" charset="0"/>
                <a:cs typeface="Arial" pitchFamily="34" charset="0"/>
              </a:rPr>
              <a:t>diferentes</a:t>
            </a:r>
            <a:r>
              <a:rPr lang="pt-BR" sz="6200" dirty="0" smtClean="0">
                <a:solidFill>
                  <a:schemeClr val="tx1">
                    <a:lumMod val="65000"/>
                    <a:lumOff val="35000"/>
                  </a:schemeClr>
                </a:solidFill>
                <a:latin typeface="Arial" pitchFamily="34" charset="0"/>
                <a:cs typeface="Arial" pitchFamily="34" charset="0"/>
              </a:rPr>
              <a:t> </a:t>
            </a:r>
            <a:r>
              <a:rPr lang="pt-BR" sz="6200" b="1" dirty="0" smtClean="0">
                <a:solidFill>
                  <a:schemeClr val="tx1">
                    <a:lumMod val="65000"/>
                    <a:lumOff val="35000"/>
                  </a:schemeClr>
                </a:solidFill>
                <a:latin typeface="Arial" pitchFamily="34" charset="0"/>
                <a:cs typeface="Arial" pitchFamily="34" charset="0"/>
              </a:rPr>
              <a:t>redes</a:t>
            </a:r>
            <a:r>
              <a:rPr lang="pt-BR" sz="6200" dirty="0" smtClean="0">
                <a:solidFill>
                  <a:schemeClr val="tx1">
                    <a:lumMod val="65000"/>
                    <a:lumOff val="35000"/>
                  </a:schemeClr>
                </a:solidFill>
                <a:latin typeface="Arial" pitchFamily="34" charset="0"/>
                <a:cs typeface="Arial" pitchFamily="34" charset="0"/>
              </a:rPr>
              <a:t> de </a:t>
            </a:r>
            <a:r>
              <a:rPr lang="pt-BR" sz="6200" dirty="0" err="1" smtClean="0">
                <a:solidFill>
                  <a:schemeClr val="tx1">
                    <a:lumMod val="65000"/>
                    <a:lumOff val="35000"/>
                  </a:schemeClr>
                </a:solidFill>
                <a:latin typeface="Arial" pitchFamily="34" charset="0"/>
                <a:cs typeface="Arial" pitchFamily="34" charset="0"/>
              </a:rPr>
              <a:t>bookmarking</a:t>
            </a:r>
            <a:r>
              <a:rPr lang="pt-BR" sz="6200" dirty="0" smtClean="0">
                <a:solidFill>
                  <a:schemeClr val="tx1">
                    <a:lumMod val="65000"/>
                    <a:lumOff val="35000"/>
                  </a:schemeClr>
                </a:solidFill>
                <a:latin typeface="Arial" pitchFamily="34" charset="0"/>
                <a:cs typeface="Arial" pitchFamily="34" charset="0"/>
              </a:rPr>
              <a:t>; </a:t>
            </a:r>
          </a:p>
          <a:p>
            <a:pPr marL="342900" lvl="0" indent="15875">
              <a:spcBef>
                <a:spcPct val="20000"/>
              </a:spcBef>
            </a:pPr>
            <a:r>
              <a:rPr lang="pt-BR" sz="6200" dirty="0" smtClean="0">
                <a:solidFill>
                  <a:schemeClr val="tx1">
                    <a:lumMod val="65000"/>
                    <a:lumOff val="35000"/>
                  </a:schemeClr>
                </a:solidFill>
                <a:latin typeface="Arial" pitchFamily="34" charset="0"/>
                <a:cs typeface="Arial" pitchFamily="34" charset="0"/>
              </a:rPr>
              <a:t>Ex. Delicious</a:t>
            </a:r>
          </a:p>
          <a:p>
            <a:pPr marL="342900" lvl="0" indent="-342900">
              <a:spcBef>
                <a:spcPct val="20000"/>
              </a:spcBef>
            </a:pPr>
            <a:endParaRPr lang="pt-BR" sz="6200" dirty="0" smtClean="0">
              <a:solidFill>
                <a:schemeClr val="tx1">
                  <a:lumMod val="65000"/>
                  <a:lumOff val="35000"/>
                </a:schemeClr>
              </a:solidFill>
              <a:latin typeface="Arial" pitchFamily="34" charset="0"/>
              <a:cs typeface="Arial" pitchFamily="34" charset="0"/>
            </a:endParaRPr>
          </a:p>
          <a:p>
            <a:pPr marL="342900" lvl="0" indent="-342900">
              <a:spcBef>
                <a:spcPct val="20000"/>
              </a:spcBef>
              <a:buFont typeface="Arial" pitchFamily="34" charset="0"/>
              <a:buChar char="•"/>
            </a:pPr>
            <a:r>
              <a:rPr lang="pt-BR" sz="6200" b="1" dirty="0" smtClean="0">
                <a:solidFill>
                  <a:schemeClr val="tx1">
                    <a:lumMod val="65000"/>
                    <a:lumOff val="35000"/>
                  </a:schemeClr>
                </a:solidFill>
                <a:latin typeface="Arial" pitchFamily="34" charset="0"/>
                <a:cs typeface="Arial" pitchFamily="34" charset="0"/>
              </a:rPr>
              <a:t>Meta </a:t>
            </a:r>
            <a:r>
              <a:rPr lang="pt-BR" sz="6200" b="1" dirty="0" err="1" smtClean="0">
                <a:solidFill>
                  <a:schemeClr val="tx1">
                    <a:lumMod val="65000"/>
                    <a:lumOff val="35000"/>
                  </a:schemeClr>
                </a:solidFill>
                <a:latin typeface="Arial" pitchFamily="34" charset="0"/>
                <a:cs typeface="Arial" pitchFamily="34" charset="0"/>
              </a:rPr>
              <a:t>Keywords</a:t>
            </a:r>
            <a:r>
              <a:rPr lang="pt-BR" sz="6200" b="1" dirty="0" smtClean="0">
                <a:solidFill>
                  <a:schemeClr val="tx1">
                    <a:lumMod val="65000"/>
                    <a:lumOff val="35000"/>
                  </a:schemeClr>
                </a:solidFill>
                <a:latin typeface="Arial" pitchFamily="34" charset="0"/>
                <a:cs typeface="Arial" pitchFamily="34" charset="0"/>
              </a:rPr>
              <a:t> </a:t>
            </a:r>
            <a:r>
              <a:rPr lang="pt-BR" sz="6200" dirty="0" smtClean="0">
                <a:solidFill>
                  <a:schemeClr val="tx1">
                    <a:lumMod val="65000"/>
                    <a:lumOff val="35000"/>
                  </a:schemeClr>
                </a:solidFill>
                <a:latin typeface="Arial" pitchFamily="34" charset="0"/>
                <a:cs typeface="Arial" pitchFamily="34" charset="0"/>
              </a:rPr>
              <a:t>podem ajudar a conseguir mais links para sua página;</a:t>
            </a:r>
          </a:p>
          <a:p>
            <a:pPr marL="342900" lvl="0" indent="-342900">
              <a:spcBef>
                <a:spcPct val="20000"/>
              </a:spcBef>
            </a:pPr>
            <a:endParaRPr lang="pt-BR" sz="6200" dirty="0" smtClean="0">
              <a:solidFill>
                <a:schemeClr val="tx1">
                  <a:lumMod val="65000"/>
                  <a:lumOff val="35000"/>
                </a:schemeClr>
              </a:solidFill>
              <a:latin typeface="Arial" pitchFamily="34" charset="0"/>
              <a:cs typeface="Arial" pitchFamily="34" charset="0"/>
            </a:endParaRPr>
          </a:p>
          <a:p>
            <a:pPr marL="342900" lvl="0" indent="-342900">
              <a:spcBef>
                <a:spcPct val="20000"/>
              </a:spcBef>
              <a:buFont typeface="Arial" pitchFamily="34" charset="0"/>
              <a:buChar char="•"/>
            </a:pPr>
            <a:r>
              <a:rPr lang="pt-BR" sz="6200" dirty="0" smtClean="0">
                <a:solidFill>
                  <a:schemeClr val="tx1">
                    <a:lumMod val="65000"/>
                    <a:lumOff val="35000"/>
                  </a:schemeClr>
                </a:solidFill>
                <a:latin typeface="Arial" pitchFamily="34" charset="0"/>
                <a:cs typeface="Arial" pitchFamily="34" charset="0"/>
              </a:rPr>
              <a:t>Mais uma vez nosso amigo </a:t>
            </a:r>
            <a:r>
              <a:rPr lang="pt-BR" sz="6200" b="1" dirty="0" smtClean="0">
                <a:solidFill>
                  <a:schemeClr val="tx1">
                    <a:lumMod val="65000"/>
                    <a:lumOff val="35000"/>
                  </a:schemeClr>
                </a:solidFill>
                <a:latin typeface="Arial" pitchFamily="34" charset="0"/>
                <a:cs typeface="Arial" pitchFamily="34" charset="0"/>
              </a:rPr>
              <a:t>Google</a:t>
            </a:r>
            <a:r>
              <a:rPr lang="pt-BR" sz="6200" dirty="0" smtClean="0">
                <a:solidFill>
                  <a:schemeClr val="tx1">
                    <a:lumMod val="65000"/>
                    <a:lumOff val="35000"/>
                  </a:schemeClr>
                </a:solidFill>
                <a:latin typeface="Arial" pitchFamily="34" charset="0"/>
                <a:cs typeface="Arial" pitchFamily="34" charset="0"/>
              </a:rPr>
              <a:t> te ajudará a encontrar canais de </a:t>
            </a:r>
            <a:r>
              <a:rPr lang="pt-BR" sz="6200" dirty="0" err="1" smtClean="0">
                <a:solidFill>
                  <a:schemeClr val="tx1">
                    <a:lumMod val="65000"/>
                    <a:lumOff val="35000"/>
                  </a:schemeClr>
                </a:solidFill>
                <a:latin typeface="Arial" pitchFamily="34" charset="0"/>
                <a:cs typeface="Arial" pitchFamily="34" charset="0"/>
              </a:rPr>
              <a:t>bookmarking</a:t>
            </a:r>
            <a:r>
              <a:rPr lang="pt-BR" sz="6200" dirty="0" smtClean="0">
                <a:solidFill>
                  <a:schemeClr val="tx1">
                    <a:lumMod val="65000"/>
                    <a:lumOff val="35000"/>
                  </a:schemeClr>
                </a:solidFill>
                <a:latin typeface="Arial" pitchFamily="34" charset="0"/>
                <a:cs typeface="Arial" pitchFamily="34" charset="0"/>
              </a:rPr>
              <a:t>.</a:t>
            </a:r>
            <a:endParaRPr kumimoji="0" lang="pt-BR" sz="6200" i="0" u="none" strike="noStrike" kern="1200" cap="none" spc="0" normalizeH="0" baseline="0" noProof="0" dirty="0" smtClean="0">
              <a:ln>
                <a:noFill/>
              </a:ln>
              <a:solidFill>
                <a:schemeClr val="tx1">
                  <a:lumMod val="65000"/>
                  <a:lumOff val="35000"/>
                </a:schemeClr>
              </a:solidFill>
              <a:effectLst/>
              <a:uLnTx/>
              <a:uFillTx/>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116632"/>
            <a:ext cx="8229600" cy="1143000"/>
          </a:xfrm>
        </p:spPr>
        <p:txBody>
          <a:bodyPr>
            <a:noAutofit/>
          </a:bodyPr>
          <a:lstStyle/>
          <a:p>
            <a:pPr algn="r"/>
            <a:r>
              <a:rPr lang="pt-BR" sz="6600" b="1" dirty="0" err="1" smtClean="0">
                <a:solidFill>
                  <a:srgbClr val="FFC000"/>
                </a:solidFill>
                <a:latin typeface="Arial" pitchFamily="34" charset="0"/>
                <a:cs typeface="Arial" pitchFamily="34" charset="0"/>
              </a:rPr>
              <a:t>Widgets</a:t>
            </a:r>
            <a:endParaRPr lang="en-US" sz="6600" dirty="0">
              <a:solidFill>
                <a:srgbClr val="FFC0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32500" lnSpcReduction="2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r>
              <a:rPr lang="pt-BR" sz="6500" dirty="0" smtClean="0">
                <a:solidFill>
                  <a:schemeClr val="tx1">
                    <a:lumMod val="65000"/>
                    <a:lumOff val="35000"/>
                  </a:schemeClr>
                </a:solidFill>
                <a:latin typeface="Arial" pitchFamily="34" charset="0"/>
                <a:cs typeface="Arial" pitchFamily="34" charset="0"/>
              </a:rPr>
              <a:t>Crie </a:t>
            </a:r>
            <a:r>
              <a:rPr lang="pt-BR" sz="6500" b="1" dirty="0" smtClean="0">
                <a:solidFill>
                  <a:schemeClr val="tx1">
                    <a:lumMod val="65000"/>
                    <a:lumOff val="35000"/>
                  </a:schemeClr>
                </a:solidFill>
                <a:latin typeface="Arial" pitchFamily="34" charset="0"/>
                <a:cs typeface="Arial" pitchFamily="34" charset="0"/>
              </a:rPr>
              <a:t>algo útil</a:t>
            </a:r>
            <a:r>
              <a:rPr lang="pt-BR" sz="6500" dirty="0" smtClean="0">
                <a:solidFill>
                  <a:schemeClr val="tx1">
                    <a:lumMod val="65000"/>
                    <a:lumOff val="35000"/>
                  </a:schemeClr>
                </a:solidFill>
                <a:latin typeface="Arial" pitchFamily="34" charset="0"/>
                <a:cs typeface="Arial" pitchFamily="34" charset="0"/>
              </a:rPr>
              <a:t>, pensando no que as pessoas fariam com seu </a:t>
            </a:r>
            <a:r>
              <a:rPr lang="pt-BR" sz="6500" dirty="0" err="1" smtClean="0">
                <a:solidFill>
                  <a:schemeClr val="tx1">
                    <a:lumMod val="65000"/>
                    <a:lumOff val="35000"/>
                  </a:schemeClr>
                </a:solidFill>
                <a:latin typeface="Arial" pitchFamily="34" charset="0"/>
                <a:cs typeface="Arial" pitchFamily="34" charset="0"/>
              </a:rPr>
              <a:t>widget</a:t>
            </a:r>
            <a:r>
              <a:rPr lang="pt-BR" sz="6500" dirty="0" smtClean="0">
                <a:solidFill>
                  <a:schemeClr val="tx1">
                    <a:lumMod val="65000"/>
                    <a:lumOff val="35000"/>
                  </a:schemeClr>
                </a:solidFill>
                <a:latin typeface="Arial" pitchFamily="34" charset="0"/>
                <a:cs typeface="Arial" pitchFamily="34" charset="0"/>
              </a:rPr>
              <a:t>;</a:t>
            </a:r>
          </a:p>
          <a:p>
            <a:r>
              <a:rPr lang="pt-BR" sz="6500" b="1" dirty="0" smtClean="0">
                <a:solidFill>
                  <a:schemeClr val="tx1">
                    <a:lumMod val="65000"/>
                    <a:lumOff val="35000"/>
                  </a:schemeClr>
                </a:solidFill>
                <a:latin typeface="Arial" pitchFamily="34" charset="0"/>
                <a:cs typeface="Arial" pitchFamily="34" charset="0"/>
              </a:rPr>
              <a:t>De destaque </a:t>
            </a:r>
            <a:r>
              <a:rPr lang="pt-BR" sz="6500" dirty="0" smtClean="0">
                <a:solidFill>
                  <a:schemeClr val="tx1">
                    <a:lumMod val="65000"/>
                    <a:lumOff val="35000"/>
                  </a:schemeClr>
                </a:solidFill>
                <a:latin typeface="Arial" pitchFamily="34" charset="0"/>
                <a:cs typeface="Arial" pitchFamily="34" charset="0"/>
              </a:rPr>
              <a:t>ao </a:t>
            </a:r>
            <a:r>
              <a:rPr lang="pt-BR" sz="6500" dirty="0" err="1" smtClean="0">
                <a:solidFill>
                  <a:schemeClr val="tx1">
                    <a:lumMod val="65000"/>
                    <a:lumOff val="35000"/>
                  </a:schemeClr>
                </a:solidFill>
                <a:latin typeface="Arial" pitchFamily="34" charset="0"/>
                <a:cs typeface="Arial" pitchFamily="34" charset="0"/>
              </a:rPr>
              <a:t>widget</a:t>
            </a:r>
            <a:r>
              <a:rPr lang="pt-BR" sz="6500" dirty="0" smtClean="0">
                <a:solidFill>
                  <a:schemeClr val="tx1">
                    <a:lumMod val="65000"/>
                    <a:lumOff val="35000"/>
                  </a:schemeClr>
                </a:solidFill>
                <a:latin typeface="Arial" pitchFamily="34" charset="0"/>
                <a:cs typeface="Arial" pitchFamily="34" charset="0"/>
              </a:rPr>
              <a:t> no seu site;</a:t>
            </a:r>
          </a:p>
          <a:p>
            <a:r>
              <a:rPr lang="pt-BR" sz="6500" dirty="0" smtClean="0">
                <a:solidFill>
                  <a:schemeClr val="tx1">
                    <a:lumMod val="65000"/>
                    <a:lumOff val="35000"/>
                  </a:schemeClr>
                </a:solidFill>
                <a:latin typeface="Arial" pitchFamily="34" charset="0"/>
                <a:cs typeface="Arial" pitchFamily="34" charset="0"/>
              </a:rPr>
              <a:t>Destaque a </a:t>
            </a:r>
            <a:r>
              <a:rPr lang="pt-BR" sz="6500" b="1" dirty="0" smtClean="0">
                <a:solidFill>
                  <a:schemeClr val="tx1">
                    <a:lumMod val="65000"/>
                    <a:lumOff val="35000"/>
                  </a:schemeClr>
                </a:solidFill>
                <a:latin typeface="Arial" pitchFamily="34" charset="0"/>
                <a:cs typeface="Arial" pitchFamily="34" charset="0"/>
              </a:rPr>
              <a:t>importância/benefícios</a:t>
            </a:r>
            <a:r>
              <a:rPr lang="pt-BR" sz="6500" dirty="0" smtClean="0">
                <a:solidFill>
                  <a:schemeClr val="tx1">
                    <a:lumMod val="65000"/>
                    <a:lumOff val="35000"/>
                  </a:schemeClr>
                </a:solidFill>
                <a:latin typeface="Arial" pitchFamily="34" charset="0"/>
                <a:cs typeface="Arial" pitchFamily="34" charset="0"/>
              </a:rPr>
              <a:t> de seu </a:t>
            </a:r>
            <a:r>
              <a:rPr lang="pt-BR" sz="6500" dirty="0" err="1" smtClean="0">
                <a:solidFill>
                  <a:schemeClr val="tx1">
                    <a:lumMod val="65000"/>
                    <a:lumOff val="35000"/>
                  </a:schemeClr>
                </a:solidFill>
                <a:latin typeface="Arial" pitchFamily="34" charset="0"/>
                <a:cs typeface="Arial" pitchFamily="34" charset="0"/>
              </a:rPr>
              <a:t>widget</a:t>
            </a:r>
            <a:r>
              <a:rPr lang="pt-BR" sz="6500" dirty="0" smtClean="0">
                <a:solidFill>
                  <a:schemeClr val="tx1">
                    <a:lumMod val="65000"/>
                    <a:lumOff val="35000"/>
                  </a:schemeClr>
                </a:solidFill>
                <a:latin typeface="Arial" pitchFamily="34" charset="0"/>
                <a:cs typeface="Arial" pitchFamily="34" charset="0"/>
              </a:rPr>
              <a:t>;</a:t>
            </a:r>
          </a:p>
          <a:p>
            <a:r>
              <a:rPr lang="pt-BR" sz="6500" b="1" dirty="0" smtClean="0">
                <a:solidFill>
                  <a:schemeClr val="tx1">
                    <a:lumMod val="65000"/>
                    <a:lumOff val="35000"/>
                  </a:schemeClr>
                </a:solidFill>
                <a:latin typeface="Arial" pitchFamily="34" charset="0"/>
                <a:cs typeface="Arial" pitchFamily="34" charset="0"/>
              </a:rPr>
              <a:t>Submeta</a:t>
            </a:r>
            <a:r>
              <a:rPr lang="pt-BR" sz="6500" dirty="0" smtClean="0">
                <a:solidFill>
                  <a:schemeClr val="tx1">
                    <a:lumMod val="65000"/>
                    <a:lumOff val="35000"/>
                  </a:schemeClr>
                </a:solidFill>
                <a:latin typeface="Arial" pitchFamily="34" charset="0"/>
                <a:cs typeface="Arial" pitchFamily="34" charset="0"/>
              </a:rPr>
              <a:t> em diretórios de </a:t>
            </a:r>
            <a:r>
              <a:rPr lang="pt-BR" sz="6500" dirty="0" err="1" smtClean="0">
                <a:solidFill>
                  <a:schemeClr val="tx1">
                    <a:lumMod val="65000"/>
                    <a:lumOff val="35000"/>
                  </a:schemeClr>
                </a:solidFill>
                <a:latin typeface="Arial" pitchFamily="34" charset="0"/>
                <a:cs typeface="Arial" pitchFamily="34" charset="0"/>
              </a:rPr>
              <a:t>widgets</a:t>
            </a:r>
            <a:r>
              <a:rPr lang="pt-BR" sz="6500" dirty="0" smtClean="0">
                <a:solidFill>
                  <a:schemeClr val="tx1">
                    <a:lumMod val="65000"/>
                    <a:lumOff val="35000"/>
                  </a:schemeClr>
                </a:solidFill>
                <a:latin typeface="Arial" pitchFamily="34" charset="0"/>
                <a:cs typeface="Arial" pitchFamily="34" charset="0"/>
              </a:rPr>
              <a:t>;</a:t>
            </a:r>
          </a:p>
          <a:p>
            <a:r>
              <a:rPr lang="pt-BR" sz="6500" dirty="0" smtClean="0">
                <a:solidFill>
                  <a:schemeClr val="tx1">
                    <a:lumMod val="65000"/>
                    <a:lumOff val="35000"/>
                  </a:schemeClr>
                </a:solidFill>
                <a:latin typeface="Arial" pitchFamily="34" charset="0"/>
                <a:cs typeface="Arial" pitchFamily="34" charset="0"/>
              </a:rPr>
              <a:t>Destaque em </a:t>
            </a:r>
            <a:r>
              <a:rPr lang="pt-BR" sz="6500" b="1" dirty="0" err="1" smtClean="0">
                <a:solidFill>
                  <a:schemeClr val="tx1">
                    <a:lumMod val="65000"/>
                    <a:lumOff val="35000"/>
                  </a:schemeClr>
                </a:solidFill>
                <a:latin typeface="Arial" pitchFamily="34" charset="0"/>
                <a:cs typeface="Arial" pitchFamily="34" charset="0"/>
              </a:rPr>
              <a:t>Press</a:t>
            </a:r>
            <a:r>
              <a:rPr lang="pt-BR" sz="6500" b="1" dirty="0" smtClean="0">
                <a:solidFill>
                  <a:schemeClr val="tx1">
                    <a:lumMod val="65000"/>
                    <a:lumOff val="35000"/>
                  </a:schemeClr>
                </a:solidFill>
                <a:latin typeface="Arial" pitchFamily="34" charset="0"/>
                <a:cs typeface="Arial" pitchFamily="34" charset="0"/>
              </a:rPr>
              <a:t> Releases</a:t>
            </a:r>
            <a:r>
              <a:rPr lang="pt-BR" sz="6500" dirty="0" smtClean="0">
                <a:solidFill>
                  <a:schemeClr val="tx1">
                    <a:lumMod val="65000"/>
                    <a:lumOff val="35000"/>
                  </a:schemeClr>
                </a:solidFill>
                <a:latin typeface="Arial" pitchFamily="34" charset="0"/>
                <a:cs typeface="Arial" pitchFamily="34" charset="0"/>
              </a:rPr>
              <a:t>;</a:t>
            </a:r>
          </a:p>
          <a:p>
            <a:r>
              <a:rPr lang="pt-BR" sz="6500" b="1" dirty="0" smtClean="0">
                <a:solidFill>
                  <a:schemeClr val="tx1">
                    <a:lumMod val="65000"/>
                    <a:lumOff val="35000"/>
                  </a:schemeClr>
                </a:solidFill>
                <a:latin typeface="Arial" pitchFamily="34" charset="0"/>
                <a:cs typeface="Arial" pitchFamily="34" charset="0"/>
              </a:rPr>
              <a:t>Email Marketing</a:t>
            </a:r>
            <a:r>
              <a:rPr lang="pt-BR" sz="6500" dirty="0" smtClean="0">
                <a:solidFill>
                  <a:schemeClr val="tx1">
                    <a:lumMod val="65000"/>
                    <a:lumOff val="35000"/>
                  </a:schemeClr>
                </a:solidFill>
                <a:latin typeface="Arial" pitchFamily="34" charset="0"/>
                <a:cs typeface="Arial" pitchFamily="34" charset="0"/>
              </a:rPr>
              <a:t>;</a:t>
            </a:r>
          </a:p>
          <a:p>
            <a:r>
              <a:rPr lang="pt-BR" sz="6500" dirty="0" smtClean="0">
                <a:solidFill>
                  <a:schemeClr val="tx1">
                    <a:lumMod val="65000"/>
                    <a:lumOff val="35000"/>
                  </a:schemeClr>
                </a:solidFill>
                <a:latin typeface="Arial" pitchFamily="34" charset="0"/>
                <a:cs typeface="Arial" pitchFamily="34" charset="0"/>
              </a:rPr>
              <a:t>http://www.widgetbox.com/</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548680"/>
            <a:ext cx="8229600" cy="1143000"/>
          </a:xfrm>
        </p:spPr>
        <p:txBody>
          <a:bodyPr>
            <a:noAutofit/>
          </a:bodyPr>
          <a:lstStyle/>
          <a:p>
            <a:pPr algn="r"/>
            <a:r>
              <a:rPr lang="pt-BR" sz="4800" dirty="0" smtClean="0">
                <a:solidFill>
                  <a:srgbClr val="FFCC00"/>
                </a:solidFill>
                <a:latin typeface="Arial" pitchFamily="34" charset="0"/>
                <a:cs typeface="Arial" pitchFamily="34" charset="0"/>
              </a:rPr>
              <a:t>Facilitando a</a:t>
            </a:r>
            <a:r>
              <a:rPr lang="pt-BR" sz="4800" b="1" dirty="0" smtClean="0">
                <a:solidFill>
                  <a:srgbClr val="FFCC00"/>
                </a:solidFill>
                <a:latin typeface="Arial" pitchFamily="34" charset="0"/>
                <a:cs typeface="Arial" pitchFamily="34" charset="0"/>
              </a:rPr>
              <a:t> </a:t>
            </a:r>
            <a:r>
              <a:rPr lang="pt-BR" sz="6600" b="1" dirty="0" smtClean="0">
                <a:solidFill>
                  <a:srgbClr val="FFCC00"/>
                </a:solidFill>
                <a:latin typeface="Arial" pitchFamily="34" charset="0"/>
                <a:cs typeface="Arial" pitchFamily="34" charset="0"/>
              </a:rPr>
              <a:t>Propagação</a:t>
            </a:r>
            <a:endParaRPr lang="en-US" sz="6600" dirty="0">
              <a:solidFill>
                <a:srgbClr val="FFCC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32500" lnSpcReduction="2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r>
              <a:rPr lang="pt-BR" sz="7000" dirty="0" smtClean="0">
                <a:solidFill>
                  <a:schemeClr val="tx1">
                    <a:lumMod val="65000"/>
                    <a:lumOff val="35000"/>
                  </a:schemeClr>
                </a:solidFill>
                <a:latin typeface="Arial" pitchFamily="34" charset="0"/>
                <a:cs typeface="Arial" pitchFamily="34" charset="0"/>
              </a:rPr>
              <a:t>Simplifique o </a:t>
            </a:r>
            <a:r>
              <a:rPr lang="pt-BR" sz="7000" b="1" dirty="0" smtClean="0">
                <a:solidFill>
                  <a:schemeClr val="tx1">
                    <a:lumMod val="65000"/>
                    <a:lumOff val="35000"/>
                  </a:schemeClr>
                </a:solidFill>
                <a:latin typeface="Arial" pitchFamily="34" charset="0"/>
                <a:cs typeface="Arial" pitchFamily="34" charset="0"/>
              </a:rPr>
              <a:t>compartilhamento</a:t>
            </a:r>
            <a:r>
              <a:rPr lang="pt-BR" sz="7000" dirty="0" smtClean="0">
                <a:solidFill>
                  <a:schemeClr val="tx1">
                    <a:lumMod val="65000"/>
                    <a:lumOff val="35000"/>
                  </a:schemeClr>
                </a:solidFill>
                <a:latin typeface="Arial" pitchFamily="34" charset="0"/>
                <a:cs typeface="Arial" pitchFamily="34" charset="0"/>
              </a:rPr>
              <a:t> de seu </a:t>
            </a:r>
            <a:r>
              <a:rPr lang="pt-BR" sz="7000" b="1" dirty="0" smtClean="0">
                <a:solidFill>
                  <a:schemeClr val="tx1">
                    <a:lumMod val="65000"/>
                    <a:lumOff val="35000"/>
                  </a:schemeClr>
                </a:solidFill>
                <a:latin typeface="Arial" pitchFamily="34" charset="0"/>
                <a:cs typeface="Arial" pitchFamily="34" charset="0"/>
              </a:rPr>
              <a:t>conteúdo</a:t>
            </a:r>
            <a:r>
              <a:rPr lang="pt-BR" sz="7000" dirty="0" smtClean="0">
                <a:solidFill>
                  <a:schemeClr val="tx1">
                    <a:lumMod val="65000"/>
                    <a:lumOff val="35000"/>
                  </a:schemeClr>
                </a:solidFill>
                <a:latin typeface="Arial" pitchFamily="34" charset="0"/>
                <a:cs typeface="Arial" pitchFamily="34" charset="0"/>
              </a:rPr>
              <a:t> através de </a:t>
            </a:r>
            <a:r>
              <a:rPr lang="pt-BR" sz="7000" b="1" dirty="0" smtClean="0">
                <a:solidFill>
                  <a:schemeClr val="tx1">
                    <a:lumMod val="65000"/>
                    <a:lumOff val="35000"/>
                  </a:schemeClr>
                </a:solidFill>
                <a:latin typeface="Arial" pitchFamily="34" charset="0"/>
                <a:cs typeface="Arial" pitchFamily="34" charset="0"/>
              </a:rPr>
              <a:t>botões para envio</a:t>
            </a:r>
            <a:r>
              <a:rPr lang="pt-BR" sz="7000" dirty="0" smtClean="0">
                <a:solidFill>
                  <a:schemeClr val="tx1">
                    <a:lumMod val="65000"/>
                    <a:lumOff val="35000"/>
                  </a:schemeClr>
                </a:solidFill>
                <a:latin typeface="Arial" pitchFamily="34" charset="0"/>
                <a:cs typeface="Arial" pitchFamily="34" charset="0"/>
              </a:rPr>
              <a:t> em </a:t>
            </a:r>
            <a:r>
              <a:rPr lang="pt-BR" sz="7000" b="1" dirty="0" smtClean="0">
                <a:solidFill>
                  <a:schemeClr val="tx1">
                    <a:lumMod val="65000"/>
                    <a:lumOff val="35000"/>
                  </a:schemeClr>
                </a:solidFill>
                <a:latin typeface="Arial" pitchFamily="34" charset="0"/>
                <a:cs typeface="Arial" pitchFamily="34" charset="0"/>
              </a:rPr>
              <a:t>Redes Sociais</a:t>
            </a:r>
            <a:r>
              <a:rPr lang="pt-BR" sz="7000" dirty="0" smtClean="0">
                <a:solidFill>
                  <a:schemeClr val="tx1">
                    <a:lumMod val="65000"/>
                    <a:lumOff val="35000"/>
                  </a:schemeClr>
                </a:solidFill>
                <a:latin typeface="Arial" pitchFamily="34" charset="0"/>
                <a:cs typeface="Arial" pitchFamily="34" charset="0"/>
              </a:rPr>
              <a:t>, agregadores, etc.</a:t>
            </a:r>
          </a:p>
          <a:p>
            <a:pPr>
              <a:buNone/>
            </a:pPr>
            <a:r>
              <a:rPr lang="pt-BR" sz="7000" dirty="0" smtClean="0">
                <a:solidFill>
                  <a:schemeClr val="tx1">
                    <a:lumMod val="65000"/>
                    <a:lumOff val="35000"/>
                  </a:schemeClr>
                </a:solidFill>
                <a:latin typeface="Arial" pitchFamily="34" charset="0"/>
                <a:cs typeface="Arial" pitchFamily="34" charset="0"/>
              </a:rPr>
              <a:t>     </a:t>
            </a:r>
          </a:p>
          <a:p>
            <a:pPr>
              <a:buNone/>
            </a:pPr>
            <a:endParaRPr lang="pt-BR" sz="7000" dirty="0" smtClean="0">
              <a:solidFill>
                <a:schemeClr val="tx1">
                  <a:lumMod val="65000"/>
                  <a:lumOff val="35000"/>
                </a:schemeClr>
              </a:solidFill>
              <a:latin typeface="Arial" pitchFamily="34" charset="0"/>
              <a:cs typeface="Arial" pitchFamily="34" charset="0"/>
            </a:endParaRPr>
          </a:p>
          <a:p>
            <a:pPr>
              <a:buNone/>
            </a:pPr>
            <a:endParaRPr lang="pt-BR" sz="7000" dirty="0" smtClean="0">
              <a:solidFill>
                <a:schemeClr val="tx1">
                  <a:lumMod val="65000"/>
                  <a:lumOff val="35000"/>
                </a:schemeClr>
              </a:solidFill>
              <a:latin typeface="Arial" pitchFamily="34" charset="0"/>
              <a:cs typeface="Arial" pitchFamily="34" charset="0"/>
            </a:endParaRPr>
          </a:p>
          <a:p>
            <a:pPr>
              <a:buNone/>
            </a:pPr>
            <a:r>
              <a:rPr lang="pt-BR" sz="7000" dirty="0" smtClean="0">
                <a:solidFill>
                  <a:schemeClr val="tx1">
                    <a:lumMod val="65000"/>
                    <a:lumOff val="35000"/>
                  </a:schemeClr>
                </a:solidFill>
                <a:latin typeface="Arial" pitchFamily="34" charset="0"/>
                <a:cs typeface="Arial" pitchFamily="34" charset="0"/>
              </a:rPr>
              <a:t>    *</a:t>
            </a:r>
            <a:r>
              <a:rPr lang="pt-BR" sz="7000" dirty="0" err="1" smtClean="0">
                <a:solidFill>
                  <a:schemeClr val="tx1">
                    <a:lumMod val="65000"/>
                    <a:lumOff val="35000"/>
                  </a:schemeClr>
                </a:solidFill>
                <a:latin typeface="Arial" pitchFamily="34" charset="0"/>
                <a:cs typeface="Arial" pitchFamily="34" charset="0"/>
              </a:rPr>
              <a:t>twitter</a:t>
            </a:r>
            <a:endParaRPr lang="pt-BR" sz="7000" dirty="0" smtClean="0">
              <a:solidFill>
                <a:schemeClr val="tx1">
                  <a:lumMod val="65000"/>
                  <a:lumOff val="35000"/>
                </a:schemeClr>
              </a:solidFill>
              <a:latin typeface="Arial" pitchFamily="34" charset="0"/>
              <a:cs typeface="Arial" pitchFamily="34" charset="0"/>
            </a:endParaRPr>
          </a:p>
          <a:p>
            <a:pPr>
              <a:buNone/>
            </a:pPr>
            <a:r>
              <a:rPr lang="pt-BR" sz="7000" dirty="0" smtClean="0">
                <a:solidFill>
                  <a:schemeClr val="tx1">
                    <a:lumMod val="65000"/>
                    <a:lumOff val="35000"/>
                  </a:schemeClr>
                </a:solidFill>
                <a:latin typeface="Arial" pitchFamily="34" charset="0"/>
                <a:cs typeface="Arial" pitchFamily="34" charset="0"/>
              </a:rPr>
              <a:t>    *</a:t>
            </a:r>
            <a:r>
              <a:rPr lang="pt-BR" sz="7000" dirty="0" err="1" smtClean="0">
                <a:solidFill>
                  <a:schemeClr val="tx1">
                    <a:lumMod val="65000"/>
                    <a:lumOff val="35000"/>
                  </a:schemeClr>
                </a:solidFill>
                <a:latin typeface="Arial" pitchFamily="34" charset="0"/>
                <a:cs typeface="Arial" pitchFamily="34" charset="0"/>
              </a:rPr>
              <a:t>delicious</a:t>
            </a:r>
            <a:endParaRPr lang="pt-BR" sz="7000" dirty="0" smtClean="0">
              <a:solidFill>
                <a:schemeClr val="tx1">
                  <a:lumMod val="65000"/>
                  <a:lumOff val="35000"/>
                </a:schemeClr>
              </a:solidFill>
              <a:latin typeface="Arial" pitchFamily="34" charset="0"/>
              <a:cs typeface="Arial" pitchFamily="34" charset="0"/>
            </a:endParaRPr>
          </a:p>
          <a:p>
            <a:pPr>
              <a:buNone/>
            </a:pPr>
            <a:r>
              <a:rPr lang="pt-BR" sz="7000" dirty="0" smtClean="0">
                <a:solidFill>
                  <a:schemeClr val="tx1">
                    <a:lumMod val="65000"/>
                    <a:lumOff val="35000"/>
                  </a:schemeClr>
                </a:solidFill>
                <a:latin typeface="Arial" pitchFamily="34" charset="0"/>
                <a:cs typeface="Arial" pitchFamily="34" charset="0"/>
              </a:rPr>
              <a:t>    *</a:t>
            </a:r>
            <a:r>
              <a:rPr lang="pt-BR" sz="7000" dirty="0" err="1" smtClean="0">
                <a:solidFill>
                  <a:schemeClr val="tx1">
                    <a:lumMod val="65000"/>
                    <a:lumOff val="35000"/>
                  </a:schemeClr>
                </a:solidFill>
                <a:latin typeface="Arial" pitchFamily="34" charset="0"/>
                <a:cs typeface="Arial" pitchFamily="34" charset="0"/>
              </a:rPr>
              <a:t>facebook</a:t>
            </a:r>
            <a:endParaRPr lang="pt-BR" sz="7000" dirty="0" smtClean="0">
              <a:solidFill>
                <a:schemeClr val="tx1">
                  <a:lumMod val="65000"/>
                  <a:lumOff val="35000"/>
                </a:schemeClr>
              </a:solidFill>
              <a:latin typeface="Arial" pitchFamily="34" charset="0"/>
              <a:cs typeface="Arial" pitchFamily="34" charset="0"/>
            </a:endParaRPr>
          </a:p>
          <a:p>
            <a:pPr>
              <a:buNone/>
            </a:pPr>
            <a:r>
              <a:rPr lang="pt-BR" sz="7000" dirty="0" smtClean="0">
                <a:solidFill>
                  <a:schemeClr val="tx1">
                    <a:lumMod val="65000"/>
                    <a:lumOff val="35000"/>
                  </a:schemeClr>
                </a:solidFill>
                <a:latin typeface="Arial" pitchFamily="34" charset="0"/>
                <a:cs typeface="Arial" pitchFamily="34" charset="0"/>
              </a:rPr>
              <a:t>    *</a:t>
            </a:r>
            <a:r>
              <a:rPr lang="pt-BR" sz="7000" dirty="0" err="1" smtClean="0">
                <a:solidFill>
                  <a:schemeClr val="tx1">
                    <a:lumMod val="65000"/>
                    <a:lumOff val="35000"/>
                  </a:schemeClr>
                </a:solidFill>
                <a:latin typeface="Arial" pitchFamily="34" charset="0"/>
                <a:cs typeface="Arial" pitchFamily="34" charset="0"/>
              </a:rPr>
              <a:t>sphinn</a:t>
            </a:r>
            <a:endParaRPr lang="pt-BR" sz="7000" dirty="0" smtClean="0">
              <a:solidFill>
                <a:schemeClr val="tx1">
                  <a:lumMod val="65000"/>
                  <a:lumOff val="35000"/>
                </a:schemeClr>
              </a:solidFill>
              <a:latin typeface="Arial" pitchFamily="34" charset="0"/>
              <a:cs typeface="Arial" pitchFamily="34" charset="0"/>
            </a:endParaRPr>
          </a:p>
          <a:p>
            <a:pPr>
              <a:buNone/>
            </a:pPr>
            <a:r>
              <a:rPr lang="pt-BR" sz="7000" dirty="0" smtClean="0">
                <a:solidFill>
                  <a:schemeClr val="tx1">
                    <a:lumMod val="65000"/>
                    <a:lumOff val="35000"/>
                  </a:schemeClr>
                </a:solidFill>
                <a:latin typeface="Arial" pitchFamily="34" charset="0"/>
                <a:cs typeface="Arial" pitchFamily="34" charset="0"/>
              </a:rPr>
              <a:t>    *</a:t>
            </a:r>
            <a:r>
              <a:rPr lang="pt-BR" sz="7000" dirty="0" err="1" smtClean="0">
                <a:solidFill>
                  <a:schemeClr val="tx1">
                    <a:lumMod val="65000"/>
                    <a:lumOff val="35000"/>
                  </a:schemeClr>
                </a:solidFill>
                <a:latin typeface="Arial" pitchFamily="34" charset="0"/>
                <a:cs typeface="Arial" pitchFamily="34" charset="0"/>
              </a:rPr>
              <a:t>etc</a:t>
            </a:r>
            <a:endParaRPr lang="pt-BR" dirty="0" smtClean="0">
              <a:solidFill>
                <a:schemeClr val="tx1">
                  <a:lumMod val="65000"/>
                  <a:lumOff val="3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557808"/>
            <a:ext cx="8229600" cy="1143000"/>
          </a:xfrm>
        </p:spPr>
        <p:txBody>
          <a:bodyPr>
            <a:noAutofit/>
          </a:bodyPr>
          <a:lstStyle/>
          <a:p>
            <a:pPr algn="r"/>
            <a:r>
              <a:rPr lang="pt-BR" sz="4800" dirty="0" smtClean="0">
                <a:solidFill>
                  <a:srgbClr val="FF0066"/>
                </a:solidFill>
                <a:latin typeface="Arial" pitchFamily="34" charset="0"/>
                <a:cs typeface="Arial" pitchFamily="34" charset="0"/>
              </a:rPr>
              <a:t>Participação em </a:t>
            </a:r>
            <a:r>
              <a:rPr lang="pt-BR" sz="6600" b="1" dirty="0" smtClean="0">
                <a:solidFill>
                  <a:srgbClr val="FF0066"/>
                </a:solidFill>
                <a:latin typeface="Arial" pitchFamily="34" charset="0"/>
                <a:cs typeface="Arial" pitchFamily="34" charset="0"/>
              </a:rPr>
              <a:t>Blogs/Fóruns</a:t>
            </a:r>
            <a:endParaRPr lang="en-US" sz="6600" dirty="0">
              <a:solidFill>
                <a:srgbClr val="FF0066"/>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r>
              <a:rPr lang="pt-BR" dirty="0" smtClean="0">
                <a:solidFill>
                  <a:schemeClr val="tx1">
                    <a:lumMod val="65000"/>
                    <a:lumOff val="35000"/>
                  </a:schemeClr>
                </a:solidFill>
                <a:latin typeface="Arial" pitchFamily="34" charset="0"/>
                <a:cs typeface="Arial" pitchFamily="34" charset="0"/>
              </a:rPr>
              <a:t>Procure pelos principais </a:t>
            </a:r>
            <a:r>
              <a:rPr lang="pt-BR" b="1" dirty="0" smtClean="0">
                <a:solidFill>
                  <a:schemeClr val="tx1">
                    <a:lumMod val="65000"/>
                    <a:lumOff val="35000"/>
                  </a:schemeClr>
                </a:solidFill>
                <a:latin typeface="Arial" pitchFamily="34" charset="0"/>
                <a:cs typeface="Arial" pitchFamily="34" charset="0"/>
              </a:rPr>
              <a:t>blogs/fóruns</a:t>
            </a:r>
            <a:r>
              <a:rPr lang="pt-BR" dirty="0" smtClean="0">
                <a:solidFill>
                  <a:schemeClr val="tx1">
                    <a:lumMod val="65000"/>
                    <a:lumOff val="35000"/>
                  </a:schemeClr>
                </a:solidFill>
                <a:latin typeface="Arial" pitchFamily="34" charset="0"/>
                <a:cs typeface="Arial" pitchFamily="34" charset="0"/>
              </a:rPr>
              <a:t> na área e participe;</a:t>
            </a:r>
          </a:p>
          <a:p>
            <a:r>
              <a:rPr lang="pt-BR" dirty="0" smtClean="0">
                <a:solidFill>
                  <a:schemeClr val="tx1">
                    <a:lumMod val="65000"/>
                    <a:lumOff val="35000"/>
                  </a:schemeClr>
                </a:solidFill>
                <a:latin typeface="Arial" pitchFamily="34" charset="0"/>
                <a:cs typeface="Arial" pitchFamily="34" charset="0"/>
              </a:rPr>
              <a:t>Sempre </a:t>
            </a:r>
            <a:r>
              <a:rPr lang="pt-BR" b="1" dirty="0" smtClean="0">
                <a:solidFill>
                  <a:schemeClr val="tx1">
                    <a:lumMod val="65000"/>
                    <a:lumOff val="35000"/>
                  </a:schemeClr>
                </a:solidFill>
                <a:latin typeface="Arial" pitchFamily="34" charset="0"/>
                <a:cs typeface="Arial" pitchFamily="34" charset="0"/>
              </a:rPr>
              <a:t>faça comentários </a:t>
            </a:r>
            <a:r>
              <a:rPr lang="pt-BR" dirty="0" smtClean="0">
                <a:solidFill>
                  <a:schemeClr val="tx1">
                    <a:lumMod val="65000"/>
                    <a:lumOff val="35000"/>
                  </a:schemeClr>
                </a:solidFill>
                <a:latin typeface="Arial" pitchFamily="34" charset="0"/>
                <a:cs typeface="Arial" pitchFamily="34" charset="0"/>
              </a:rPr>
              <a:t>que enriqueçam a discussão proposta;</a:t>
            </a:r>
          </a:p>
          <a:p>
            <a:r>
              <a:rPr lang="pt-BR" dirty="0" smtClean="0">
                <a:solidFill>
                  <a:schemeClr val="tx1">
                    <a:lumMod val="65000"/>
                    <a:lumOff val="35000"/>
                  </a:schemeClr>
                </a:solidFill>
                <a:latin typeface="Arial" pitchFamily="34" charset="0"/>
                <a:cs typeface="Arial" pitchFamily="34" charset="0"/>
              </a:rPr>
              <a:t>Sua </a:t>
            </a:r>
            <a:r>
              <a:rPr lang="pt-BR" b="1" dirty="0" smtClean="0">
                <a:solidFill>
                  <a:schemeClr val="tx1">
                    <a:lumMod val="65000"/>
                    <a:lumOff val="35000"/>
                  </a:schemeClr>
                </a:solidFill>
                <a:latin typeface="Arial" pitchFamily="34" charset="0"/>
                <a:cs typeface="Arial" pitchFamily="34" charset="0"/>
              </a:rPr>
              <a:t>assinatura </a:t>
            </a:r>
            <a:r>
              <a:rPr lang="pt-BR" dirty="0" smtClean="0">
                <a:solidFill>
                  <a:schemeClr val="tx1">
                    <a:lumMod val="65000"/>
                    <a:lumOff val="35000"/>
                  </a:schemeClr>
                </a:solidFill>
                <a:latin typeface="Arial" pitchFamily="34" charset="0"/>
                <a:cs typeface="Arial" pitchFamily="34" charset="0"/>
              </a:rPr>
              <a:t>é muito importante;</a:t>
            </a:r>
          </a:p>
          <a:p>
            <a:r>
              <a:rPr lang="pt-BR" dirty="0" smtClean="0">
                <a:solidFill>
                  <a:schemeClr val="tx1">
                    <a:lumMod val="65000"/>
                    <a:lumOff val="35000"/>
                  </a:schemeClr>
                </a:solidFill>
                <a:latin typeface="Arial" pitchFamily="34" charset="0"/>
                <a:cs typeface="Arial" pitchFamily="34" charset="0"/>
              </a:rPr>
              <a:t>SEMPRE tenha uma </a:t>
            </a:r>
            <a:r>
              <a:rPr lang="pt-BR" b="1" dirty="0" smtClean="0">
                <a:solidFill>
                  <a:schemeClr val="tx1">
                    <a:lumMod val="65000"/>
                    <a:lumOff val="35000"/>
                  </a:schemeClr>
                </a:solidFill>
                <a:latin typeface="Arial" pitchFamily="34" charset="0"/>
                <a:cs typeface="Arial" pitchFamily="34" charset="0"/>
              </a:rPr>
              <a:t>foto</a:t>
            </a:r>
            <a:r>
              <a:rPr lang="pt-BR" dirty="0" smtClean="0">
                <a:solidFill>
                  <a:schemeClr val="tx1">
                    <a:lumMod val="65000"/>
                    <a:lumOff val="35000"/>
                  </a:schemeClr>
                </a:solidFill>
                <a:latin typeface="Arial" pitchFamily="34" charset="0"/>
                <a:cs typeface="Arial" pitchFamily="34" charset="0"/>
              </a:rPr>
              <a:t> sua em seu comentário </a:t>
            </a:r>
            <a:r>
              <a:rPr lang="pt-BR" dirty="0" smtClean="0">
                <a:solidFill>
                  <a:srgbClr val="FF0066"/>
                </a:solidFill>
                <a:latin typeface="Arial" pitchFamily="34" charset="0"/>
                <a:cs typeface="Arial" pitchFamily="34" charset="0"/>
              </a:rPr>
              <a:t>(GRAVATAR)</a:t>
            </a:r>
            <a:r>
              <a:rPr lang="pt-BR" dirty="0" smtClean="0">
                <a:solidFill>
                  <a:schemeClr val="tx1">
                    <a:lumMod val="65000"/>
                    <a:lumOff val="35000"/>
                  </a:schemeClr>
                </a:solidFill>
                <a:latin typeface="Arial" pitchFamily="34" charset="0"/>
                <a:cs typeface="Arial" pitchFamily="34" charset="0"/>
              </a:rPr>
              <a:t>;</a:t>
            </a:r>
          </a:p>
          <a:p>
            <a:r>
              <a:rPr lang="pt-BR" dirty="0" smtClean="0">
                <a:solidFill>
                  <a:schemeClr val="tx1">
                    <a:lumMod val="65000"/>
                    <a:lumOff val="35000"/>
                  </a:schemeClr>
                </a:solidFill>
                <a:latin typeface="Arial" pitchFamily="34" charset="0"/>
                <a:cs typeface="Arial" pitchFamily="34" charset="0"/>
              </a:rPr>
              <a:t>Normalmente os links em blogs/fóruns são </a:t>
            </a:r>
            <a:r>
              <a:rPr lang="pt-BR" b="1" dirty="0" err="1" smtClean="0">
                <a:solidFill>
                  <a:schemeClr val="tx1">
                    <a:lumMod val="65000"/>
                    <a:lumOff val="35000"/>
                  </a:schemeClr>
                </a:solidFill>
                <a:latin typeface="Arial" pitchFamily="34" charset="0"/>
                <a:cs typeface="Arial" pitchFamily="34" charset="0"/>
              </a:rPr>
              <a:t>nofollow</a:t>
            </a:r>
            <a:r>
              <a:rPr lang="pt-BR" dirty="0" smtClean="0">
                <a:solidFill>
                  <a:schemeClr val="tx1">
                    <a:lumMod val="65000"/>
                    <a:lumOff val="35000"/>
                  </a:schemeClr>
                </a:solidFill>
                <a:latin typeface="Arial" pitchFamily="34" charset="0"/>
                <a:cs typeface="Arial" pitchFamily="34" charset="0"/>
              </a:rPr>
              <a:t>.</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629816"/>
            <a:ext cx="8229600" cy="1143000"/>
          </a:xfrm>
        </p:spPr>
        <p:txBody>
          <a:bodyPr>
            <a:noAutofit/>
          </a:bodyPr>
          <a:lstStyle/>
          <a:p>
            <a:pPr algn="r"/>
            <a:r>
              <a:rPr lang="pt-BR" sz="4800" dirty="0" smtClean="0">
                <a:solidFill>
                  <a:srgbClr val="FF0066"/>
                </a:solidFill>
                <a:latin typeface="Arial" pitchFamily="34" charset="0"/>
                <a:cs typeface="Arial" pitchFamily="34" charset="0"/>
              </a:rPr>
              <a:t>Encontrando</a:t>
            </a:r>
            <a:r>
              <a:rPr lang="pt-BR" sz="6600" b="1" dirty="0" smtClean="0">
                <a:solidFill>
                  <a:srgbClr val="FF0066"/>
                </a:solidFill>
                <a:latin typeface="Arial" pitchFamily="34" charset="0"/>
                <a:cs typeface="Arial" pitchFamily="34" charset="0"/>
              </a:rPr>
              <a:t> Blogs/Fóruns</a:t>
            </a:r>
            <a:endParaRPr lang="en-US" sz="6600" dirty="0">
              <a:solidFill>
                <a:srgbClr val="FF0066"/>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55000" lnSpcReduction="20000"/>
          </a:bodyPr>
          <a:lstStyle/>
          <a:p>
            <a:pPr algn="ct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solidFill>
                <a:schemeClr val="tx1">
                  <a:lumMod val="65000"/>
                  <a:lumOff val="35000"/>
                </a:schemeClr>
              </a:solidFill>
              <a:latin typeface="Arial" pitchFamily="34" charset="0"/>
              <a:cs typeface="Arial" pitchFamily="34" charset="0"/>
            </a:endParaRPr>
          </a:p>
          <a:p>
            <a:r>
              <a:rPr lang="pt-BR" sz="3600" dirty="0" smtClean="0">
                <a:solidFill>
                  <a:schemeClr val="tx1">
                    <a:lumMod val="65000"/>
                    <a:lumOff val="35000"/>
                  </a:schemeClr>
                </a:solidFill>
                <a:latin typeface="Arial" pitchFamily="34" charset="0"/>
                <a:cs typeface="Arial" pitchFamily="34" charset="0"/>
              </a:rPr>
              <a:t>Procure por blogs e sites que </a:t>
            </a:r>
            <a:r>
              <a:rPr lang="pt-BR" sz="3600" b="1" dirty="0" smtClean="0">
                <a:solidFill>
                  <a:schemeClr val="tx1">
                    <a:lumMod val="65000"/>
                    <a:lumOff val="35000"/>
                  </a:schemeClr>
                </a:solidFill>
                <a:latin typeface="Arial" pitchFamily="34" charset="0"/>
                <a:cs typeface="Arial" pitchFamily="34" charset="0"/>
              </a:rPr>
              <a:t>permitem</a:t>
            </a:r>
            <a:r>
              <a:rPr lang="pt-BR" sz="3600" dirty="0" smtClean="0">
                <a:solidFill>
                  <a:schemeClr val="tx1">
                    <a:lumMod val="65000"/>
                    <a:lumOff val="35000"/>
                  </a:schemeClr>
                </a:solidFill>
                <a:latin typeface="Arial" pitchFamily="34" charset="0"/>
                <a:cs typeface="Arial" pitchFamily="34" charset="0"/>
              </a:rPr>
              <a:t> comentários com </a:t>
            </a:r>
            <a:r>
              <a:rPr lang="pt-BR" sz="3600" b="1" dirty="0" err="1" smtClean="0">
                <a:solidFill>
                  <a:schemeClr val="tx1">
                    <a:lumMod val="65000"/>
                    <a:lumOff val="35000"/>
                  </a:schemeClr>
                </a:solidFill>
                <a:latin typeface="Arial" pitchFamily="34" charset="0"/>
                <a:cs typeface="Arial" pitchFamily="34" charset="0"/>
              </a:rPr>
              <a:t>tags</a:t>
            </a:r>
            <a:r>
              <a:rPr lang="pt-BR" sz="3600" b="1" dirty="0" smtClean="0">
                <a:solidFill>
                  <a:schemeClr val="tx1">
                    <a:lumMod val="65000"/>
                    <a:lumOff val="35000"/>
                  </a:schemeClr>
                </a:solidFill>
                <a:latin typeface="Arial" pitchFamily="34" charset="0"/>
                <a:cs typeface="Arial" pitchFamily="34" charset="0"/>
              </a:rPr>
              <a:t> HTML</a:t>
            </a:r>
            <a:r>
              <a:rPr lang="pt-BR" sz="3600" dirty="0" smtClean="0">
                <a:solidFill>
                  <a:schemeClr val="tx1">
                    <a:lumMod val="65000"/>
                    <a:lumOff val="35000"/>
                  </a:schemeClr>
                </a:solidFill>
                <a:latin typeface="Arial" pitchFamily="34" charset="0"/>
                <a:cs typeface="Arial" pitchFamily="34" charset="0"/>
              </a:rPr>
              <a:t>:</a:t>
            </a:r>
          </a:p>
          <a:p>
            <a:pPr>
              <a:buNone/>
            </a:pPr>
            <a:r>
              <a:rPr lang="pt-BR" sz="3600" dirty="0" smtClean="0">
                <a:solidFill>
                  <a:schemeClr val="tx1">
                    <a:lumMod val="65000"/>
                    <a:lumOff val="35000"/>
                  </a:schemeClr>
                </a:solidFill>
                <a:latin typeface="Arial" pitchFamily="34" charset="0"/>
                <a:cs typeface="Arial" pitchFamily="34" charset="0"/>
              </a:rPr>
              <a:t>      </a:t>
            </a:r>
            <a:r>
              <a:rPr lang="pt-BR" sz="3600" dirty="0" smtClean="0">
                <a:solidFill>
                  <a:srgbClr val="FF0066"/>
                </a:solidFill>
                <a:latin typeface="Arial" pitchFamily="34" charset="0"/>
                <a:cs typeface="Arial" pitchFamily="34" charset="0"/>
              </a:rPr>
              <a:t>* [</a:t>
            </a:r>
            <a:r>
              <a:rPr lang="pt-BR" sz="3600" dirty="0" err="1" smtClean="0">
                <a:solidFill>
                  <a:srgbClr val="FF0066"/>
                </a:solidFill>
                <a:latin typeface="Arial" pitchFamily="34" charset="0"/>
                <a:cs typeface="Arial" pitchFamily="34" charset="0"/>
              </a:rPr>
              <a:t>Allowed</a:t>
            </a:r>
            <a:r>
              <a:rPr lang="pt-BR" sz="3600" dirty="0" smtClean="0">
                <a:solidFill>
                  <a:srgbClr val="FF0066"/>
                </a:solidFill>
                <a:latin typeface="Arial" pitchFamily="34" charset="0"/>
                <a:cs typeface="Arial" pitchFamily="34" charset="0"/>
              </a:rPr>
              <a:t> HTML </a:t>
            </a:r>
            <a:r>
              <a:rPr lang="pt-BR" sz="3600" dirty="0" err="1" smtClean="0">
                <a:solidFill>
                  <a:srgbClr val="FF0066"/>
                </a:solidFill>
                <a:latin typeface="Arial" pitchFamily="34" charset="0"/>
                <a:cs typeface="Arial" pitchFamily="34" charset="0"/>
              </a:rPr>
              <a:t>tags</a:t>
            </a:r>
            <a:r>
              <a:rPr lang="pt-BR" sz="3600" dirty="0" smtClean="0">
                <a:solidFill>
                  <a:srgbClr val="FF0066"/>
                </a:solidFill>
                <a:latin typeface="Arial" pitchFamily="34" charset="0"/>
                <a:cs typeface="Arial" pitchFamily="34" charset="0"/>
              </a:rPr>
              <a:t>:] “palavra-chave”</a:t>
            </a:r>
          </a:p>
          <a:p>
            <a:endParaRPr lang="pt-BR" sz="3600" dirty="0" smtClean="0">
              <a:solidFill>
                <a:schemeClr val="tx1">
                  <a:lumMod val="65000"/>
                  <a:lumOff val="35000"/>
                </a:schemeClr>
              </a:solidFill>
              <a:latin typeface="Arial" pitchFamily="34" charset="0"/>
              <a:cs typeface="Arial" pitchFamily="34" charset="0"/>
            </a:endParaRPr>
          </a:p>
          <a:p>
            <a:r>
              <a:rPr lang="pt-BR" sz="3600" dirty="0" smtClean="0">
                <a:solidFill>
                  <a:schemeClr val="tx1">
                    <a:lumMod val="65000"/>
                    <a:lumOff val="35000"/>
                  </a:schemeClr>
                </a:solidFill>
                <a:latin typeface="Arial" pitchFamily="34" charset="0"/>
                <a:cs typeface="Arial" pitchFamily="34" charset="0"/>
              </a:rPr>
              <a:t>Procure por </a:t>
            </a:r>
            <a:r>
              <a:rPr lang="pt-BR" sz="3600" b="1" dirty="0" smtClean="0">
                <a:solidFill>
                  <a:schemeClr val="tx1">
                    <a:lumMod val="65000"/>
                    <a:lumOff val="35000"/>
                  </a:schemeClr>
                </a:solidFill>
                <a:latin typeface="Arial" pitchFamily="34" charset="0"/>
                <a:cs typeface="Arial" pitchFamily="34" charset="0"/>
              </a:rPr>
              <a:t>fóruns</a:t>
            </a:r>
            <a:r>
              <a:rPr lang="pt-BR" sz="3600" dirty="0" smtClean="0">
                <a:solidFill>
                  <a:schemeClr val="tx1">
                    <a:lumMod val="65000"/>
                    <a:lumOff val="35000"/>
                  </a:schemeClr>
                </a:solidFill>
                <a:latin typeface="Arial" pitchFamily="34" charset="0"/>
                <a:cs typeface="Arial" pitchFamily="34" charset="0"/>
              </a:rPr>
              <a:t> </a:t>
            </a:r>
            <a:r>
              <a:rPr lang="pt-BR" sz="3600" b="1" dirty="0" smtClean="0">
                <a:solidFill>
                  <a:schemeClr val="tx1">
                    <a:lumMod val="65000"/>
                    <a:lumOff val="35000"/>
                  </a:schemeClr>
                </a:solidFill>
                <a:latin typeface="Arial" pitchFamily="34" charset="0"/>
                <a:cs typeface="Arial" pitchFamily="34" charset="0"/>
              </a:rPr>
              <a:t>no</a:t>
            </a:r>
            <a:r>
              <a:rPr lang="pt-BR" sz="3600" dirty="0" smtClean="0">
                <a:solidFill>
                  <a:schemeClr val="tx1">
                    <a:lumMod val="65000"/>
                    <a:lumOff val="35000"/>
                  </a:schemeClr>
                </a:solidFill>
                <a:latin typeface="Arial" pitchFamily="34" charset="0"/>
                <a:cs typeface="Arial" pitchFamily="34" charset="0"/>
              </a:rPr>
              <a:t> </a:t>
            </a:r>
            <a:r>
              <a:rPr lang="pt-BR" sz="3600" b="1" dirty="0" smtClean="0">
                <a:solidFill>
                  <a:schemeClr val="tx1">
                    <a:lumMod val="65000"/>
                    <a:lumOff val="35000"/>
                  </a:schemeClr>
                </a:solidFill>
                <a:latin typeface="Arial" pitchFamily="34" charset="0"/>
                <a:cs typeface="Arial" pitchFamily="34" charset="0"/>
              </a:rPr>
              <a:t>seu assunto</a:t>
            </a:r>
            <a:r>
              <a:rPr lang="pt-BR" sz="3600" dirty="0" smtClean="0">
                <a:solidFill>
                  <a:schemeClr val="tx1">
                    <a:lumMod val="65000"/>
                    <a:lumOff val="35000"/>
                  </a:schemeClr>
                </a:solidFill>
                <a:latin typeface="Arial" pitchFamily="34" charset="0"/>
                <a:cs typeface="Arial" pitchFamily="34" charset="0"/>
              </a:rPr>
              <a:t>:</a:t>
            </a:r>
          </a:p>
          <a:p>
            <a:pPr>
              <a:buNone/>
            </a:pPr>
            <a:r>
              <a:rPr lang="pt-BR" sz="3600" dirty="0" smtClean="0">
                <a:solidFill>
                  <a:schemeClr val="tx1">
                    <a:lumMod val="65000"/>
                    <a:lumOff val="35000"/>
                  </a:schemeClr>
                </a:solidFill>
                <a:latin typeface="Arial" pitchFamily="34" charset="0"/>
                <a:cs typeface="Arial" pitchFamily="34" charset="0"/>
              </a:rPr>
              <a:t>      </a:t>
            </a:r>
            <a:r>
              <a:rPr lang="pt-BR" sz="3600" dirty="0" smtClean="0">
                <a:solidFill>
                  <a:srgbClr val="FF0066"/>
                </a:solidFill>
                <a:latin typeface="Arial" pitchFamily="34" charset="0"/>
                <a:cs typeface="Arial" pitchFamily="34" charset="0"/>
              </a:rPr>
              <a:t>* palavra-chave “</a:t>
            </a:r>
            <a:r>
              <a:rPr lang="pt-BR" sz="3600" dirty="0" err="1" smtClean="0">
                <a:solidFill>
                  <a:srgbClr val="FF0066"/>
                </a:solidFill>
                <a:latin typeface="Arial" pitchFamily="34" charset="0"/>
                <a:cs typeface="Arial" pitchFamily="34" charset="0"/>
              </a:rPr>
              <a:t>Powered</a:t>
            </a:r>
            <a:r>
              <a:rPr lang="pt-BR" sz="3600" dirty="0" smtClean="0">
                <a:solidFill>
                  <a:srgbClr val="FF0066"/>
                </a:solidFill>
                <a:latin typeface="Arial" pitchFamily="34" charset="0"/>
                <a:cs typeface="Arial" pitchFamily="34" charset="0"/>
              </a:rPr>
              <a:t> </a:t>
            </a:r>
            <a:r>
              <a:rPr lang="pt-BR" sz="3600" dirty="0" err="1" smtClean="0">
                <a:solidFill>
                  <a:srgbClr val="FF0066"/>
                </a:solidFill>
                <a:latin typeface="Arial" pitchFamily="34" charset="0"/>
                <a:cs typeface="Arial" pitchFamily="34" charset="0"/>
              </a:rPr>
              <a:t>by</a:t>
            </a:r>
            <a:r>
              <a:rPr lang="pt-BR" sz="3600" dirty="0" smtClean="0">
                <a:solidFill>
                  <a:srgbClr val="FF0066"/>
                </a:solidFill>
                <a:latin typeface="Arial" pitchFamily="34" charset="0"/>
                <a:cs typeface="Arial" pitchFamily="34" charset="0"/>
              </a:rPr>
              <a:t> </a:t>
            </a:r>
            <a:r>
              <a:rPr lang="pt-BR" sz="3600" dirty="0" err="1" smtClean="0">
                <a:solidFill>
                  <a:srgbClr val="FF0066"/>
                </a:solidFill>
                <a:latin typeface="Arial" pitchFamily="34" charset="0"/>
                <a:cs typeface="Arial" pitchFamily="34" charset="0"/>
              </a:rPr>
              <a:t>phpBB</a:t>
            </a:r>
            <a:r>
              <a:rPr lang="pt-BR" sz="3600" dirty="0" smtClean="0">
                <a:solidFill>
                  <a:srgbClr val="FF0066"/>
                </a:solidFill>
                <a:latin typeface="Arial" pitchFamily="34" charset="0"/>
                <a:cs typeface="Arial" pitchFamily="34" charset="0"/>
              </a:rPr>
              <a:t>” OR “</a:t>
            </a:r>
            <a:r>
              <a:rPr lang="pt-BR" sz="3600" dirty="0" err="1" smtClean="0">
                <a:solidFill>
                  <a:srgbClr val="FF0066"/>
                </a:solidFill>
                <a:latin typeface="Arial" pitchFamily="34" charset="0"/>
                <a:cs typeface="Arial" pitchFamily="34" charset="0"/>
              </a:rPr>
              <a:t>powered</a:t>
            </a:r>
            <a:r>
              <a:rPr lang="pt-BR" sz="3600" dirty="0" smtClean="0">
                <a:solidFill>
                  <a:srgbClr val="FF0066"/>
                </a:solidFill>
                <a:latin typeface="Arial" pitchFamily="34" charset="0"/>
                <a:cs typeface="Arial" pitchFamily="34" charset="0"/>
              </a:rPr>
              <a:t> </a:t>
            </a:r>
            <a:r>
              <a:rPr lang="pt-BR" sz="3600" dirty="0" err="1" smtClean="0">
                <a:solidFill>
                  <a:srgbClr val="FF0066"/>
                </a:solidFill>
                <a:latin typeface="Arial" pitchFamily="34" charset="0"/>
                <a:cs typeface="Arial" pitchFamily="34" charset="0"/>
              </a:rPr>
              <a:t>by</a:t>
            </a:r>
            <a:r>
              <a:rPr lang="pt-BR" sz="3600" dirty="0" smtClean="0">
                <a:solidFill>
                  <a:srgbClr val="FF0066"/>
                </a:solidFill>
                <a:latin typeface="Arial" pitchFamily="34" charset="0"/>
                <a:cs typeface="Arial" pitchFamily="34" charset="0"/>
              </a:rPr>
              <a:t> </a:t>
            </a:r>
            <a:r>
              <a:rPr lang="pt-BR" sz="3600" dirty="0" err="1" smtClean="0">
                <a:solidFill>
                  <a:srgbClr val="FF0066"/>
                </a:solidFill>
                <a:latin typeface="Arial" pitchFamily="34" charset="0"/>
                <a:cs typeface="Arial" pitchFamily="34" charset="0"/>
              </a:rPr>
              <a:t>vBulletin</a:t>
            </a:r>
            <a:r>
              <a:rPr lang="pt-BR" sz="3600" dirty="0" smtClean="0">
                <a:solidFill>
                  <a:srgbClr val="FF0066"/>
                </a:solidFill>
                <a:latin typeface="Arial" pitchFamily="34" charset="0"/>
                <a:cs typeface="Arial" pitchFamily="34" charset="0"/>
              </a:rPr>
              <a:t>”</a:t>
            </a:r>
          </a:p>
          <a:p>
            <a:endParaRPr lang="pt-BR" sz="3600" dirty="0" smtClean="0">
              <a:solidFill>
                <a:schemeClr val="tx1">
                  <a:lumMod val="65000"/>
                  <a:lumOff val="35000"/>
                </a:schemeClr>
              </a:solidFill>
              <a:latin typeface="Arial" pitchFamily="34" charset="0"/>
              <a:cs typeface="Arial" pitchFamily="34" charset="0"/>
            </a:endParaRPr>
          </a:p>
          <a:p>
            <a:r>
              <a:rPr lang="pt-BR" sz="3600" dirty="0" smtClean="0">
                <a:solidFill>
                  <a:schemeClr val="tx1">
                    <a:lumMod val="65000"/>
                    <a:lumOff val="35000"/>
                  </a:schemeClr>
                </a:solidFill>
                <a:latin typeface="Arial" pitchFamily="34" charset="0"/>
                <a:cs typeface="Arial" pitchFamily="34" charset="0"/>
              </a:rPr>
              <a:t>Procure por </a:t>
            </a:r>
            <a:r>
              <a:rPr lang="pt-BR" sz="3600" b="1" dirty="0" smtClean="0">
                <a:solidFill>
                  <a:schemeClr val="tx1">
                    <a:lumMod val="65000"/>
                    <a:lumOff val="35000"/>
                  </a:schemeClr>
                </a:solidFill>
                <a:latin typeface="Arial" pitchFamily="34" charset="0"/>
                <a:cs typeface="Arial" pitchFamily="34" charset="0"/>
              </a:rPr>
              <a:t>blogs</a:t>
            </a:r>
            <a:r>
              <a:rPr lang="pt-BR" sz="3600" dirty="0" smtClean="0">
                <a:solidFill>
                  <a:schemeClr val="tx1">
                    <a:lumMod val="65000"/>
                    <a:lumOff val="35000"/>
                  </a:schemeClr>
                </a:solidFill>
                <a:latin typeface="Arial" pitchFamily="34" charset="0"/>
                <a:cs typeface="Arial" pitchFamily="34" charset="0"/>
              </a:rPr>
              <a:t> </a:t>
            </a:r>
            <a:r>
              <a:rPr lang="pt-BR" sz="3600" b="1" dirty="0" smtClean="0">
                <a:solidFill>
                  <a:schemeClr val="tx1">
                    <a:lumMod val="65000"/>
                    <a:lumOff val="35000"/>
                  </a:schemeClr>
                </a:solidFill>
                <a:latin typeface="Arial" pitchFamily="34" charset="0"/>
                <a:cs typeface="Arial" pitchFamily="34" charset="0"/>
              </a:rPr>
              <a:t>no seu assunto</a:t>
            </a:r>
            <a:r>
              <a:rPr lang="pt-BR" sz="3600" dirty="0" smtClean="0">
                <a:solidFill>
                  <a:schemeClr val="tx1">
                    <a:lumMod val="65000"/>
                    <a:lumOff val="35000"/>
                  </a:schemeClr>
                </a:solidFill>
                <a:latin typeface="Arial" pitchFamily="34" charset="0"/>
                <a:cs typeface="Arial" pitchFamily="34" charset="0"/>
              </a:rPr>
              <a:t>:</a:t>
            </a:r>
          </a:p>
          <a:p>
            <a:pPr>
              <a:buNone/>
            </a:pPr>
            <a:r>
              <a:rPr lang="pt-BR" sz="3600" dirty="0" smtClean="0">
                <a:solidFill>
                  <a:schemeClr val="tx1">
                    <a:lumMod val="65000"/>
                    <a:lumOff val="35000"/>
                  </a:schemeClr>
                </a:solidFill>
                <a:latin typeface="Arial" pitchFamily="34" charset="0"/>
                <a:cs typeface="Arial" pitchFamily="34" charset="0"/>
              </a:rPr>
              <a:t>      </a:t>
            </a:r>
            <a:r>
              <a:rPr lang="pt-BR" sz="3600" dirty="0" smtClean="0">
                <a:solidFill>
                  <a:srgbClr val="FF0066"/>
                </a:solidFill>
                <a:latin typeface="Arial" pitchFamily="34" charset="0"/>
                <a:cs typeface="Arial" pitchFamily="34" charset="0"/>
              </a:rPr>
              <a:t>* palavra-chave “Blog </a:t>
            </a:r>
            <a:r>
              <a:rPr lang="pt-BR" sz="3600" dirty="0" err="1" smtClean="0">
                <a:solidFill>
                  <a:srgbClr val="FF0066"/>
                </a:solidFill>
                <a:latin typeface="Arial" pitchFamily="34" charset="0"/>
                <a:cs typeface="Arial" pitchFamily="34" charset="0"/>
              </a:rPr>
              <a:t>powered</a:t>
            </a:r>
            <a:r>
              <a:rPr lang="pt-BR" sz="3600" dirty="0" smtClean="0">
                <a:solidFill>
                  <a:srgbClr val="FF0066"/>
                </a:solidFill>
                <a:latin typeface="Arial" pitchFamily="34" charset="0"/>
                <a:cs typeface="Arial" pitchFamily="34" charset="0"/>
              </a:rPr>
              <a:t> </a:t>
            </a:r>
            <a:r>
              <a:rPr lang="pt-BR" sz="3600" dirty="0" err="1" smtClean="0">
                <a:solidFill>
                  <a:srgbClr val="FF0066"/>
                </a:solidFill>
                <a:latin typeface="Arial" pitchFamily="34" charset="0"/>
                <a:cs typeface="Arial" pitchFamily="34" charset="0"/>
              </a:rPr>
              <a:t>by</a:t>
            </a:r>
            <a:r>
              <a:rPr lang="pt-BR" sz="3600" dirty="0" smtClean="0">
                <a:solidFill>
                  <a:srgbClr val="FF0066"/>
                </a:solidFill>
                <a:latin typeface="Arial" pitchFamily="34" charset="0"/>
                <a:cs typeface="Arial" pitchFamily="34" charset="0"/>
              </a:rPr>
              <a:t> </a:t>
            </a:r>
            <a:r>
              <a:rPr lang="pt-BR" sz="3600" dirty="0" err="1" smtClean="0">
                <a:solidFill>
                  <a:srgbClr val="FF0066"/>
                </a:solidFill>
                <a:latin typeface="Arial" pitchFamily="34" charset="0"/>
                <a:cs typeface="Arial" pitchFamily="34" charset="0"/>
              </a:rPr>
              <a:t>TypePad</a:t>
            </a:r>
            <a:r>
              <a:rPr lang="pt-BR" sz="3600" dirty="0" smtClean="0">
                <a:solidFill>
                  <a:srgbClr val="FF0066"/>
                </a:solidFill>
                <a:latin typeface="Arial" pitchFamily="34" charset="0"/>
                <a:cs typeface="Arial" pitchFamily="34" charset="0"/>
              </a:rPr>
              <a:t>” OR “</a:t>
            </a:r>
            <a:r>
              <a:rPr lang="pt-BR" sz="3600" dirty="0" err="1" smtClean="0">
                <a:solidFill>
                  <a:srgbClr val="FF0066"/>
                </a:solidFill>
                <a:latin typeface="Arial" pitchFamily="34" charset="0"/>
                <a:cs typeface="Arial" pitchFamily="34" charset="0"/>
              </a:rPr>
              <a:t>powered</a:t>
            </a:r>
            <a:r>
              <a:rPr lang="pt-BR" sz="3600" dirty="0" smtClean="0">
                <a:solidFill>
                  <a:srgbClr val="FF0066"/>
                </a:solidFill>
                <a:latin typeface="Arial" pitchFamily="34" charset="0"/>
                <a:cs typeface="Arial" pitchFamily="34" charset="0"/>
              </a:rPr>
              <a:t> </a:t>
            </a:r>
            <a:r>
              <a:rPr lang="pt-BR" sz="3600" dirty="0" err="1" smtClean="0">
                <a:solidFill>
                  <a:srgbClr val="FF0066"/>
                </a:solidFill>
                <a:latin typeface="Arial" pitchFamily="34" charset="0"/>
                <a:cs typeface="Arial" pitchFamily="34" charset="0"/>
              </a:rPr>
              <a:t>by</a:t>
            </a:r>
            <a:r>
              <a:rPr lang="pt-BR" sz="3600" dirty="0" smtClean="0">
                <a:solidFill>
                  <a:srgbClr val="FF0066"/>
                </a:solidFill>
                <a:latin typeface="Arial" pitchFamily="34" charset="0"/>
                <a:cs typeface="Arial" pitchFamily="34" charset="0"/>
              </a:rPr>
              <a:t> </a:t>
            </a:r>
            <a:r>
              <a:rPr lang="pt-BR" sz="3600" dirty="0" err="1" smtClean="0">
                <a:solidFill>
                  <a:srgbClr val="FF0066"/>
                </a:solidFill>
                <a:latin typeface="Arial" pitchFamily="34" charset="0"/>
                <a:cs typeface="Arial" pitchFamily="34" charset="0"/>
              </a:rPr>
              <a:t>Wordpress</a:t>
            </a:r>
            <a:r>
              <a:rPr lang="pt-BR" sz="3600" dirty="0" smtClean="0">
                <a:solidFill>
                  <a:srgbClr val="FF0066"/>
                </a:solidFill>
                <a:latin typeface="Arial" pitchFamily="34" charset="0"/>
                <a:cs typeface="Arial" pitchFamily="34" charset="0"/>
              </a:rPr>
              <a: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260648"/>
            <a:ext cx="8229600" cy="1143000"/>
          </a:xfrm>
        </p:spPr>
        <p:txBody>
          <a:bodyPr>
            <a:noAutofit/>
          </a:bodyPr>
          <a:lstStyle/>
          <a:p>
            <a:pPr algn="r"/>
            <a:r>
              <a:rPr lang="pt-BR" sz="4800" dirty="0" smtClean="0">
                <a:solidFill>
                  <a:srgbClr val="FF0066"/>
                </a:solidFill>
                <a:latin typeface="Arial" pitchFamily="34" charset="0"/>
                <a:cs typeface="Arial" pitchFamily="34" charset="0"/>
              </a:rPr>
              <a:t>Blogs</a:t>
            </a:r>
            <a:r>
              <a:rPr lang="pt-BR" sz="6600" b="1" dirty="0" smtClean="0">
                <a:solidFill>
                  <a:srgbClr val="FF0066"/>
                </a:solidFill>
                <a:latin typeface="Arial" pitchFamily="34" charset="0"/>
                <a:cs typeface="Arial" pitchFamily="34" charset="0"/>
              </a:rPr>
              <a:t> DOFOLLOW</a:t>
            </a:r>
            <a:endParaRPr lang="en-US" sz="6600" dirty="0">
              <a:solidFill>
                <a:srgbClr val="FF0066"/>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85000" lnSpcReduction="20000"/>
          </a:bodyPr>
          <a:lstStyle/>
          <a:p>
            <a:pPr algn="ctr">
              <a:buNone/>
            </a:pPr>
            <a:endParaRPr lang="pt-BR" dirty="0" smtClean="0">
              <a:latin typeface="Arial" pitchFamily="34" charset="0"/>
              <a:cs typeface="Arial" pitchFamily="34" charset="0"/>
            </a:endParaRPr>
          </a:p>
          <a:p>
            <a:endParaRPr lang="en-US" dirty="0" smtClean="0">
              <a:latin typeface="Arial" pitchFamily="34" charset="0"/>
              <a:cs typeface="Arial" pitchFamily="34" charset="0"/>
            </a:endParaRPr>
          </a:p>
          <a:p>
            <a:pPr>
              <a:buNone/>
            </a:pPr>
            <a:endParaRPr lang="en-US" dirty="0" smtClean="0">
              <a:latin typeface="Arial" pitchFamily="34" charset="0"/>
              <a:cs typeface="Arial" pitchFamily="34" charset="0"/>
            </a:endParaRPr>
          </a:p>
          <a:p>
            <a:r>
              <a:rPr lang="en-US" dirty="0" smtClean="0">
                <a:solidFill>
                  <a:schemeClr val="tx1">
                    <a:lumMod val="65000"/>
                    <a:lumOff val="35000"/>
                  </a:schemeClr>
                </a:solidFill>
                <a:latin typeface="Arial" pitchFamily="34" charset="0"/>
                <a:cs typeface="Arial" pitchFamily="34" charset="0"/>
              </a:rPr>
              <a:t>Procure </a:t>
            </a:r>
            <a:r>
              <a:rPr lang="en-US" dirty="0" err="1" smtClean="0">
                <a:solidFill>
                  <a:schemeClr val="tx1">
                    <a:lumMod val="65000"/>
                    <a:lumOff val="35000"/>
                  </a:schemeClr>
                </a:solidFill>
                <a:latin typeface="Arial" pitchFamily="34" charset="0"/>
                <a:cs typeface="Arial" pitchFamily="34" charset="0"/>
              </a:rPr>
              <a:t>por</a:t>
            </a:r>
            <a:r>
              <a:rPr lang="en-US" dirty="0" smtClean="0">
                <a:solidFill>
                  <a:schemeClr val="tx1">
                    <a:lumMod val="65000"/>
                    <a:lumOff val="35000"/>
                  </a:schemeClr>
                </a:solidFill>
                <a:latin typeface="Arial" pitchFamily="34" charset="0"/>
                <a:cs typeface="Arial" pitchFamily="34" charset="0"/>
              </a:rPr>
              <a:t> blogs com </a:t>
            </a:r>
            <a:r>
              <a:rPr lang="en-US" b="1" dirty="0" err="1" smtClean="0">
                <a:solidFill>
                  <a:schemeClr val="tx1">
                    <a:lumMod val="65000"/>
                    <a:lumOff val="35000"/>
                  </a:schemeClr>
                </a:solidFill>
                <a:latin typeface="Arial" pitchFamily="34" charset="0"/>
                <a:cs typeface="Arial" pitchFamily="34" charset="0"/>
              </a:rPr>
              <a:t>dofollow</a:t>
            </a:r>
            <a:r>
              <a:rPr lang="en-US" dirty="0" smtClean="0">
                <a:solidFill>
                  <a:schemeClr val="tx1">
                    <a:lumMod val="65000"/>
                    <a:lumOff val="35000"/>
                  </a:schemeClr>
                </a:solidFill>
                <a:latin typeface="Arial" pitchFamily="34" charset="0"/>
                <a:cs typeface="Arial" pitchFamily="34" charset="0"/>
              </a:rPr>
              <a:t>:</a:t>
            </a:r>
          </a:p>
          <a:p>
            <a:pPr>
              <a:buNone/>
            </a:pPr>
            <a:r>
              <a:rPr lang="en-US" dirty="0" smtClean="0">
                <a:solidFill>
                  <a:schemeClr val="tx1">
                    <a:lumMod val="65000"/>
                    <a:lumOff val="35000"/>
                  </a:schemeClr>
                </a:solidFill>
                <a:latin typeface="Arial" pitchFamily="34" charset="0"/>
                <a:cs typeface="Arial" pitchFamily="34" charset="0"/>
              </a:rPr>
              <a:t>    </a:t>
            </a:r>
            <a:r>
              <a:rPr lang="en-US" dirty="0" smtClean="0">
                <a:solidFill>
                  <a:srgbClr val="FF0066"/>
                </a:solidFill>
                <a:latin typeface="Arial" pitchFamily="34" charset="0"/>
                <a:cs typeface="Arial" pitchFamily="34" charset="0"/>
              </a:rPr>
              <a:t>* </a:t>
            </a:r>
            <a:r>
              <a:rPr lang="en-US" dirty="0" err="1" smtClean="0">
                <a:solidFill>
                  <a:srgbClr val="FF0066"/>
                </a:solidFill>
                <a:latin typeface="Arial" pitchFamily="34" charset="0"/>
                <a:cs typeface="Arial" pitchFamily="34" charset="0"/>
              </a:rPr>
              <a:t>palavra-chave</a:t>
            </a:r>
            <a:r>
              <a:rPr lang="en-US" dirty="0" smtClean="0">
                <a:solidFill>
                  <a:srgbClr val="FF0066"/>
                </a:solidFill>
                <a:latin typeface="Arial" pitchFamily="34" charset="0"/>
                <a:cs typeface="Arial" pitchFamily="34" charset="0"/>
              </a:rPr>
              <a:t> "This site uses </a:t>
            </a:r>
            <a:r>
              <a:rPr lang="en-US" dirty="0" err="1" smtClean="0">
                <a:solidFill>
                  <a:srgbClr val="FF0066"/>
                </a:solidFill>
                <a:latin typeface="Arial" pitchFamily="34" charset="0"/>
                <a:cs typeface="Arial" pitchFamily="34" charset="0"/>
              </a:rPr>
              <a:t>KeywordLuv</a:t>
            </a:r>
            <a:r>
              <a:rPr lang="en-US" dirty="0" smtClean="0">
                <a:solidFill>
                  <a:srgbClr val="FF0066"/>
                </a:solidFill>
                <a:latin typeface="Arial" pitchFamily="34" charset="0"/>
                <a:cs typeface="Arial" pitchFamily="34" charset="0"/>
              </a:rPr>
              <a:t>"</a:t>
            </a:r>
          </a:p>
          <a:p>
            <a:pPr>
              <a:buNone/>
            </a:pPr>
            <a:r>
              <a:rPr lang="en-US" dirty="0" smtClean="0">
                <a:solidFill>
                  <a:schemeClr val="tx1">
                    <a:lumMod val="65000"/>
                    <a:lumOff val="35000"/>
                  </a:schemeClr>
                </a:solidFill>
                <a:latin typeface="Arial" pitchFamily="34" charset="0"/>
                <a:cs typeface="Arial" pitchFamily="34" charset="0"/>
              </a:rPr>
              <a:t>     </a:t>
            </a:r>
          </a:p>
          <a:p>
            <a:pPr>
              <a:buNone/>
            </a:pPr>
            <a:endParaRPr lang="en-US" dirty="0" smtClean="0">
              <a:solidFill>
                <a:schemeClr val="tx1">
                  <a:lumMod val="65000"/>
                  <a:lumOff val="35000"/>
                </a:schemeClr>
              </a:solidFill>
              <a:latin typeface="Arial" pitchFamily="34" charset="0"/>
              <a:cs typeface="Arial" pitchFamily="34" charset="0"/>
            </a:endParaRPr>
          </a:p>
          <a:p>
            <a:pPr>
              <a:buNone/>
            </a:pPr>
            <a:r>
              <a:rPr lang="en-US" sz="2600" dirty="0" smtClean="0">
                <a:solidFill>
                  <a:schemeClr val="tx1">
                    <a:lumMod val="65000"/>
                    <a:lumOff val="35000"/>
                  </a:schemeClr>
                </a:solidFill>
                <a:latin typeface="Arial" pitchFamily="34" charset="0"/>
                <a:cs typeface="Arial" pitchFamily="34" charset="0"/>
              </a:rPr>
              <a:t>This site uses </a:t>
            </a:r>
            <a:r>
              <a:rPr lang="en-US" sz="2600" dirty="0" err="1" smtClean="0">
                <a:solidFill>
                  <a:schemeClr val="tx1">
                    <a:lumMod val="65000"/>
                    <a:lumOff val="35000"/>
                  </a:schemeClr>
                </a:solidFill>
                <a:latin typeface="Arial" pitchFamily="34" charset="0"/>
                <a:cs typeface="Arial" pitchFamily="34" charset="0"/>
              </a:rPr>
              <a:t>KeywordLuv</a:t>
            </a:r>
            <a:r>
              <a:rPr lang="en-US" sz="2600" dirty="0" smtClean="0">
                <a:solidFill>
                  <a:schemeClr val="tx1">
                    <a:lumMod val="65000"/>
                    <a:lumOff val="35000"/>
                  </a:schemeClr>
                </a:solidFill>
                <a:latin typeface="Arial" pitchFamily="34" charset="0"/>
                <a:cs typeface="Arial" pitchFamily="34" charset="0"/>
              </a:rPr>
              <a:t>. Enter </a:t>
            </a:r>
            <a:r>
              <a:rPr lang="en-US" sz="2600" dirty="0" err="1" smtClean="0">
                <a:solidFill>
                  <a:schemeClr val="tx1">
                    <a:lumMod val="65000"/>
                    <a:lumOff val="35000"/>
                  </a:schemeClr>
                </a:solidFill>
                <a:latin typeface="Arial" pitchFamily="34" charset="0"/>
                <a:cs typeface="Arial" pitchFamily="34" charset="0"/>
              </a:rPr>
              <a:t>YourName@YourKeywords</a:t>
            </a:r>
            <a:r>
              <a:rPr lang="en-US" sz="2600" dirty="0" smtClean="0">
                <a:solidFill>
                  <a:schemeClr val="tx1">
                    <a:lumMod val="65000"/>
                    <a:lumOff val="35000"/>
                  </a:schemeClr>
                </a:solidFill>
                <a:latin typeface="Arial" pitchFamily="34" charset="0"/>
                <a:cs typeface="Arial" pitchFamily="34" charset="0"/>
              </a:rPr>
              <a:t> in the Name field to take advantage.</a:t>
            </a:r>
          </a:p>
          <a:p>
            <a:pPr>
              <a:buNone/>
            </a:pPr>
            <a:endParaRPr lang="pt-BR" dirty="0" smtClean="0">
              <a:solidFill>
                <a:schemeClr val="tx1">
                  <a:lumMod val="65000"/>
                  <a:lumOff val="35000"/>
                </a:schemeClr>
              </a:solidFill>
              <a:latin typeface="Arial" pitchFamily="34" charset="0"/>
              <a:cs typeface="Arial" pitchFamily="34" charset="0"/>
            </a:endParaRPr>
          </a:p>
          <a:p>
            <a:pPr>
              <a:buNone/>
            </a:pPr>
            <a:endParaRPr lang="en-US" dirty="0" smtClean="0">
              <a:solidFill>
                <a:schemeClr val="tx1">
                  <a:lumMod val="65000"/>
                  <a:lumOff val="35000"/>
                </a:schemeClr>
              </a:solidFill>
              <a:latin typeface="Arial" pitchFamily="34" charset="0"/>
              <a:cs typeface="Arial" pitchFamily="34" charset="0"/>
            </a:endParaRPr>
          </a:p>
          <a:p>
            <a:pPr>
              <a:buNone/>
            </a:pPr>
            <a:r>
              <a:rPr lang="en-US" b="1" dirty="0" err="1" smtClean="0">
                <a:solidFill>
                  <a:schemeClr val="tx1">
                    <a:lumMod val="65000"/>
                    <a:lumOff val="35000"/>
                  </a:schemeClr>
                </a:solidFill>
                <a:latin typeface="Arial" pitchFamily="34" charset="0"/>
                <a:cs typeface="Arial" pitchFamily="34" charset="0"/>
              </a:rPr>
              <a:t>Fica</a:t>
            </a:r>
            <a:r>
              <a:rPr lang="en-US" b="1" dirty="0" smtClean="0">
                <a:solidFill>
                  <a:schemeClr val="tx1">
                    <a:lumMod val="65000"/>
                    <a:lumOff val="35000"/>
                  </a:schemeClr>
                </a:solidFill>
                <a:latin typeface="Arial" pitchFamily="34" charset="0"/>
                <a:cs typeface="Arial" pitchFamily="34" charset="0"/>
              </a:rPr>
              <a:t> </a:t>
            </a:r>
            <a:r>
              <a:rPr lang="en-US" b="1" dirty="0" err="1" smtClean="0">
                <a:solidFill>
                  <a:schemeClr val="tx1">
                    <a:lumMod val="65000"/>
                    <a:lumOff val="35000"/>
                  </a:schemeClr>
                </a:solidFill>
                <a:latin typeface="Arial" pitchFamily="34" charset="0"/>
                <a:cs typeface="Arial" pitchFamily="34" charset="0"/>
              </a:rPr>
              <a:t>assim</a:t>
            </a:r>
            <a:r>
              <a:rPr lang="en-US" b="1" dirty="0" smtClean="0">
                <a:solidFill>
                  <a:schemeClr val="tx1">
                    <a:lumMod val="65000"/>
                    <a:lumOff val="35000"/>
                  </a:schemeClr>
                </a:solidFill>
                <a:latin typeface="Arial" pitchFamily="34" charset="0"/>
                <a:cs typeface="Arial" pitchFamily="34" charset="0"/>
              </a:rPr>
              <a:t>: </a:t>
            </a:r>
            <a:r>
              <a:rPr lang="en-US" dirty="0" err="1" smtClean="0">
                <a:solidFill>
                  <a:srgbClr val="FF0066"/>
                </a:solidFill>
                <a:latin typeface="Arial" pitchFamily="34" charset="0"/>
                <a:cs typeface="Arial" pitchFamily="34" charset="0"/>
              </a:rPr>
              <a:t>Cassiano</a:t>
            </a:r>
            <a:r>
              <a:rPr lang="en-US" dirty="0" smtClean="0">
                <a:solidFill>
                  <a:srgbClr val="FF0066"/>
                </a:solidFill>
                <a:latin typeface="Arial" pitchFamily="34" charset="0"/>
                <a:cs typeface="Arial" pitchFamily="34" charset="0"/>
              </a:rPr>
              <a:t> from </a:t>
            </a:r>
            <a:r>
              <a:rPr lang="en-US" u="sng" dirty="0" smtClean="0">
                <a:solidFill>
                  <a:srgbClr val="3333CC"/>
                </a:solidFill>
                <a:latin typeface="Arial" pitchFamily="34" charset="0"/>
                <a:cs typeface="Arial" pitchFamily="34" charset="0"/>
              </a:rPr>
              <a:t>SEO</a:t>
            </a:r>
            <a:r>
              <a:rPr lang="en-US" dirty="0" smtClean="0">
                <a:solidFill>
                  <a:srgbClr val="FF0066"/>
                </a:solidFill>
                <a:latin typeface="Arial" pitchFamily="34" charset="0"/>
                <a:cs typeface="Arial" pitchFamily="34" charset="0"/>
              </a:rPr>
              <a:t> says </a:t>
            </a:r>
            <a:endParaRPr lang="pt-BR" sz="3600" dirty="0" smtClean="0">
              <a:solidFill>
                <a:srgbClr val="FF0066"/>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260648"/>
            <a:ext cx="8229600" cy="1143000"/>
          </a:xfrm>
        </p:spPr>
        <p:txBody>
          <a:bodyPr>
            <a:noAutofit/>
          </a:bodyPr>
          <a:lstStyle/>
          <a:p>
            <a:pPr algn="r"/>
            <a:r>
              <a:rPr lang="pt-BR" sz="4800" dirty="0" smtClean="0">
                <a:solidFill>
                  <a:srgbClr val="FF0066"/>
                </a:solidFill>
                <a:latin typeface="Arial" pitchFamily="34" charset="0"/>
                <a:cs typeface="Arial" pitchFamily="34" charset="0"/>
              </a:rPr>
              <a:t>Blogs</a:t>
            </a:r>
            <a:r>
              <a:rPr lang="pt-BR" sz="4800" b="1" dirty="0" smtClean="0">
                <a:solidFill>
                  <a:srgbClr val="FF0066"/>
                </a:solidFill>
                <a:latin typeface="Arial" pitchFamily="34" charset="0"/>
                <a:cs typeface="Arial" pitchFamily="34" charset="0"/>
              </a:rPr>
              <a:t> </a:t>
            </a:r>
            <a:r>
              <a:rPr lang="pt-BR" sz="6600" b="1" dirty="0" smtClean="0">
                <a:solidFill>
                  <a:srgbClr val="FF0066"/>
                </a:solidFill>
                <a:latin typeface="Arial" pitchFamily="34" charset="0"/>
                <a:cs typeface="Arial" pitchFamily="34" charset="0"/>
              </a:rPr>
              <a:t>DOFOLLOW</a:t>
            </a:r>
            <a:endParaRPr lang="en-US" sz="6600" dirty="0">
              <a:solidFill>
                <a:srgbClr val="FF0066"/>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62500" lnSpcReduction="20000"/>
          </a:bodyPr>
          <a:lstStyle/>
          <a:p>
            <a:pPr algn="ctr">
              <a:buNone/>
            </a:pPr>
            <a:endParaRPr lang="pt-BR" dirty="0" smtClean="0">
              <a:latin typeface="Arial" pitchFamily="34" charset="0"/>
              <a:cs typeface="Arial" pitchFamily="34" charset="0"/>
            </a:endParaRPr>
          </a:p>
          <a:p>
            <a:pPr>
              <a:buNone/>
            </a:pPr>
            <a:r>
              <a:rPr lang="en-US" dirty="0" smtClean="0">
                <a:solidFill>
                  <a:schemeClr val="tx1">
                    <a:lumMod val="65000"/>
                    <a:lumOff val="35000"/>
                  </a:schemeClr>
                </a:solidFill>
                <a:latin typeface="Arial" pitchFamily="34" charset="0"/>
                <a:cs typeface="Arial" pitchFamily="34" charset="0"/>
              </a:rPr>
              <a:t>*Use com </a:t>
            </a:r>
            <a:r>
              <a:rPr lang="en-US" dirty="0" err="1" smtClean="0">
                <a:solidFill>
                  <a:schemeClr val="tx1">
                    <a:lumMod val="65000"/>
                    <a:lumOff val="35000"/>
                  </a:schemeClr>
                </a:solidFill>
                <a:latin typeface="Arial" pitchFamily="34" charset="0"/>
                <a:cs typeface="Arial" pitchFamily="34" charset="0"/>
              </a:rPr>
              <a:t>moderação</a:t>
            </a:r>
            <a:r>
              <a:rPr lang="en-US" dirty="0" smtClean="0">
                <a:solidFill>
                  <a:schemeClr val="tx1">
                    <a:lumMod val="65000"/>
                    <a:lumOff val="35000"/>
                  </a:schemeClr>
                </a:solidFill>
                <a:latin typeface="Arial" pitchFamily="34" charset="0"/>
                <a:cs typeface="Arial" pitchFamily="34" charset="0"/>
              </a:rPr>
              <a:t>.</a:t>
            </a:r>
          </a:p>
          <a:p>
            <a:pPr>
              <a:buNone/>
            </a:pPr>
            <a:endParaRPr lang="pt-BR" dirty="0" smtClean="0">
              <a:solidFill>
                <a:schemeClr val="tx1">
                  <a:lumMod val="65000"/>
                  <a:lumOff val="35000"/>
                </a:schemeClr>
              </a:solidFill>
              <a:latin typeface="Arial" pitchFamily="34" charset="0"/>
              <a:cs typeface="Arial" pitchFamily="34" charset="0"/>
            </a:endParaRPr>
          </a:p>
          <a:p>
            <a:pPr>
              <a:buNone/>
            </a:pPr>
            <a:endParaRPr lang="pt-BR" dirty="0" smtClean="0">
              <a:solidFill>
                <a:schemeClr val="tx1">
                  <a:lumMod val="65000"/>
                  <a:lumOff val="35000"/>
                </a:schemeClr>
              </a:solidFill>
              <a:latin typeface="Arial" pitchFamily="34" charset="0"/>
              <a:cs typeface="Arial" pitchFamily="34" charset="0"/>
            </a:endParaRPr>
          </a:p>
          <a:p>
            <a:pPr>
              <a:buNone/>
            </a:pPr>
            <a:endParaRPr lang="en-US" dirty="0" smtClean="0">
              <a:solidFill>
                <a:schemeClr val="tx1">
                  <a:lumMod val="65000"/>
                  <a:lumOff val="35000"/>
                </a:schemeClr>
              </a:solidFill>
              <a:latin typeface="Arial" pitchFamily="34" charset="0"/>
              <a:cs typeface="Arial" pitchFamily="34" charset="0"/>
            </a:endParaRPr>
          </a:p>
          <a:p>
            <a:pPr>
              <a:buNone/>
            </a:pPr>
            <a:r>
              <a:rPr lang="en-US" dirty="0" smtClean="0">
                <a:solidFill>
                  <a:schemeClr val="tx1">
                    <a:lumMod val="65000"/>
                    <a:lumOff val="35000"/>
                  </a:schemeClr>
                </a:solidFill>
                <a:latin typeface="Arial" pitchFamily="34" charset="0"/>
                <a:cs typeface="Arial" pitchFamily="34" charset="0"/>
                <a:hlinkClick r:id="rId2"/>
              </a:rPr>
              <a:t>http://www.commenthunt.com/ </a:t>
            </a:r>
            <a:r>
              <a:rPr lang="en-US" dirty="0" smtClean="0">
                <a:solidFill>
                  <a:schemeClr val="tx1">
                    <a:lumMod val="65000"/>
                    <a:lumOff val="35000"/>
                  </a:schemeClr>
                </a:solidFill>
                <a:latin typeface="Arial" pitchFamily="34" charset="0"/>
                <a:cs typeface="Arial" pitchFamily="34" charset="0"/>
              </a:rPr>
              <a:t>(Search Engine de Blogs </a:t>
            </a:r>
            <a:r>
              <a:rPr lang="en-US" dirty="0" err="1" smtClean="0">
                <a:solidFill>
                  <a:schemeClr val="tx1">
                    <a:lumMod val="65000"/>
                    <a:lumOff val="35000"/>
                  </a:schemeClr>
                </a:solidFill>
                <a:latin typeface="Arial" pitchFamily="34" charset="0"/>
                <a:cs typeface="Arial" pitchFamily="34" charset="0"/>
              </a:rPr>
              <a:t>Dofollow</a:t>
            </a:r>
            <a:r>
              <a:rPr lang="en-US" dirty="0" smtClean="0">
                <a:solidFill>
                  <a:schemeClr val="tx1">
                    <a:lumMod val="65000"/>
                    <a:lumOff val="35000"/>
                  </a:schemeClr>
                </a:solidFill>
                <a:latin typeface="Arial" pitchFamily="34" charset="0"/>
                <a:cs typeface="Arial" pitchFamily="34" charset="0"/>
              </a:rPr>
              <a:t>)</a:t>
            </a:r>
          </a:p>
          <a:p>
            <a:pPr>
              <a:buNone/>
            </a:pPr>
            <a:endParaRPr lang="pt-BR" dirty="0" smtClean="0">
              <a:solidFill>
                <a:schemeClr val="tx1">
                  <a:lumMod val="65000"/>
                  <a:lumOff val="35000"/>
                </a:schemeClr>
              </a:solidFill>
              <a:latin typeface="Arial" pitchFamily="34" charset="0"/>
              <a:cs typeface="Arial" pitchFamily="34" charset="0"/>
            </a:endParaRPr>
          </a:p>
          <a:p>
            <a:pPr>
              <a:buNone/>
            </a:pPr>
            <a:endParaRPr lang="pt-BR" dirty="0" smtClean="0">
              <a:solidFill>
                <a:schemeClr val="tx1">
                  <a:lumMod val="65000"/>
                  <a:lumOff val="35000"/>
                </a:schemeClr>
              </a:solidFill>
              <a:latin typeface="Arial" pitchFamily="34" charset="0"/>
              <a:cs typeface="Arial" pitchFamily="34" charset="0"/>
            </a:endParaRPr>
          </a:p>
          <a:p>
            <a:pPr>
              <a:buNone/>
            </a:pPr>
            <a:endParaRPr lang="en-US" dirty="0" smtClean="0">
              <a:solidFill>
                <a:schemeClr val="tx1">
                  <a:lumMod val="65000"/>
                  <a:lumOff val="35000"/>
                </a:schemeClr>
              </a:solidFill>
              <a:latin typeface="Arial" pitchFamily="34" charset="0"/>
              <a:cs typeface="Arial" pitchFamily="34" charset="0"/>
            </a:endParaRPr>
          </a:p>
          <a:p>
            <a:pPr>
              <a:buNone/>
            </a:pPr>
            <a:r>
              <a:rPr lang="en-US" dirty="0" smtClean="0">
                <a:solidFill>
                  <a:schemeClr val="tx1">
                    <a:lumMod val="65000"/>
                    <a:lumOff val="35000"/>
                  </a:schemeClr>
                </a:solidFill>
                <a:latin typeface="Arial" pitchFamily="34" charset="0"/>
                <a:cs typeface="Arial" pitchFamily="34" charset="0"/>
                <a:hlinkClick r:id="rId3"/>
              </a:rPr>
              <a:t>http://www.smmguru.com/1114-sortable-do-follow-blogs-with-pagerank </a:t>
            </a:r>
            <a:endParaRPr lang="en-US" dirty="0" smtClean="0">
              <a:solidFill>
                <a:schemeClr val="tx1">
                  <a:lumMod val="65000"/>
                  <a:lumOff val="35000"/>
                </a:schemeClr>
              </a:solidFill>
              <a:latin typeface="Arial" pitchFamily="34" charset="0"/>
              <a:cs typeface="Arial" pitchFamily="34" charset="0"/>
            </a:endParaRPr>
          </a:p>
          <a:p>
            <a:pPr>
              <a:buNone/>
            </a:pPr>
            <a:r>
              <a:rPr lang="en-US" dirty="0" smtClean="0">
                <a:solidFill>
                  <a:schemeClr val="tx1">
                    <a:lumMod val="65000"/>
                    <a:lumOff val="35000"/>
                  </a:schemeClr>
                </a:solidFill>
                <a:latin typeface="Arial" pitchFamily="34" charset="0"/>
                <a:cs typeface="Arial" pitchFamily="34" charset="0"/>
                <a:hlinkClick r:id="rId4"/>
              </a:rPr>
              <a:t>http://courtneytuttle.com/blogs-that-follow/ </a:t>
            </a:r>
            <a:endParaRPr lang="en-US" dirty="0" smtClean="0">
              <a:solidFill>
                <a:schemeClr val="tx1">
                  <a:lumMod val="65000"/>
                  <a:lumOff val="35000"/>
                </a:schemeClr>
              </a:solidFill>
              <a:latin typeface="Arial" pitchFamily="34" charset="0"/>
              <a:cs typeface="Arial" pitchFamily="34" charset="0"/>
            </a:endParaRPr>
          </a:p>
          <a:p>
            <a:pPr>
              <a:buNone/>
            </a:pPr>
            <a:r>
              <a:rPr lang="en-US" dirty="0" smtClean="0">
                <a:solidFill>
                  <a:schemeClr val="tx1">
                    <a:lumMod val="65000"/>
                    <a:lumOff val="35000"/>
                  </a:schemeClr>
                </a:solidFill>
                <a:latin typeface="Arial" pitchFamily="34" charset="0"/>
                <a:cs typeface="Arial" pitchFamily="34" charset="0"/>
                <a:hlinkClick r:id="rId5"/>
              </a:rPr>
              <a:t>http://www.whydowork.com/blog/blogging-tips/558/ </a:t>
            </a:r>
            <a:endParaRPr lang="en-US" dirty="0" smtClean="0">
              <a:solidFill>
                <a:schemeClr val="tx1">
                  <a:lumMod val="65000"/>
                  <a:lumOff val="35000"/>
                </a:schemeClr>
              </a:solidFill>
              <a:latin typeface="Arial" pitchFamily="34" charset="0"/>
              <a:cs typeface="Arial" pitchFamily="34" charset="0"/>
            </a:endParaRPr>
          </a:p>
          <a:p>
            <a:pPr>
              <a:buNone/>
            </a:pPr>
            <a:r>
              <a:rPr lang="en-US" dirty="0" smtClean="0">
                <a:solidFill>
                  <a:schemeClr val="tx1">
                    <a:lumMod val="65000"/>
                    <a:lumOff val="35000"/>
                  </a:schemeClr>
                </a:solidFill>
                <a:latin typeface="Arial" pitchFamily="34" charset="0"/>
                <a:cs typeface="Arial" pitchFamily="34" charset="0"/>
                <a:hlinkClick r:id="rId6"/>
              </a:rPr>
              <a:t>http://bloggers-directory.blogspot.com/2007/11/list-of-dofollow-blogs.html </a:t>
            </a:r>
            <a:endParaRPr lang="en-US" dirty="0" smtClean="0">
              <a:solidFill>
                <a:schemeClr val="tx1">
                  <a:lumMod val="65000"/>
                  <a:lumOff val="35000"/>
                </a:schemeClr>
              </a:solidFill>
              <a:latin typeface="Arial" pitchFamily="34" charset="0"/>
              <a:cs typeface="Arial" pitchFamily="34" charset="0"/>
            </a:endParaRPr>
          </a:p>
          <a:p>
            <a:pPr>
              <a:buNone/>
            </a:pPr>
            <a:r>
              <a:rPr lang="en-US" dirty="0" smtClean="0">
                <a:solidFill>
                  <a:schemeClr val="tx1">
                    <a:lumMod val="65000"/>
                    <a:lumOff val="35000"/>
                  </a:schemeClr>
                </a:solidFill>
                <a:latin typeface="Arial" pitchFamily="34" charset="0"/>
                <a:cs typeface="Arial" pitchFamily="34" charset="0"/>
                <a:hlinkClick r:id="rId7"/>
              </a:rPr>
              <a:t>http://www.stephanmiller.com/the-ultimate-dofollow-blog-list/ </a:t>
            </a:r>
            <a:endParaRPr lang="en-US" dirty="0" smtClean="0">
              <a:solidFill>
                <a:schemeClr val="tx1">
                  <a:lumMod val="65000"/>
                  <a:lumOff val="35000"/>
                </a:schemeClr>
              </a:solidFill>
              <a:latin typeface="Arial" pitchFamily="34" charset="0"/>
              <a:cs typeface="Arial" pitchFamily="34" charset="0"/>
            </a:endParaRPr>
          </a:p>
          <a:p>
            <a:pPr>
              <a:buNone/>
            </a:pPr>
            <a:r>
              <a:rPr lang="en-US" dirty="0" smtClean="0">
                <a:solidFill>
                  <a:schemeClr val="tx1">
                    <a:lumMod val="65000"/>
                    <a:lumOff val="35000"/>
                  </a:schemeClr>
                </a:solidFill>
                <a:latin typeface="Arial" pitchFamily="34" charset="0"/>
                <a:cs typeface="Arial" pitchFamily="34" charset="0"/>
                <a:hlinkClick r:id="rId8"/>
              </a:rPr>
              <a:t>http://nicusor.com/do-follow-list/</a:t>
            </a:r>
            <a:endParaRPr lang="pt-BR" sz="3600" dirty="0" smtClean="0">
              <a:solidFill>
                <a:schemeClr val="tx1">
                  <a:lumMod val="65000"/>
                  <a:lumOff val="3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4" descr="C:\Users\hp\Desktop\searchlabs\RocknRoll_Pattern_CS4.jpg"/>
          <p:cNvPicPr>
            <a:picLocks noChangeAspect="1" noChangeArrowheads="1"/>
          </p:cNvPicPr>
          <p:nvPr/>
        </p:nvPicPr>
        <p:blipFill>
          <a:blip r:embed="rId2" cstate="print"/>
          <a:srcRect/>
          <a:stretch>
            <a:fillRect/>
          </a:stretch>
        </p:blipFill>
        <p:spPr bwMode="auto">
          <a:xfrm>
            <a:off x="-394854" y="-142486"/>
            <a:ext cx="9754632" cy="9766086"/>
          </a:xfrm>
          <a:prstGeom prst="rect">
            <a:avLst/>
          </a:prstGeom>
          <a:noFill/>
        </p:spPr>
      </p:pic>
      <p:sp>
        <p:nvSpPr>
          <p:cNvPr id="8" name="Título 1"/>
          <p:cNvSpPr>
            <a:spLocks noGrp="1"/>
          </p:cNvSpPr>
          <p:nvPr>
            <p:ph type="title"/>
          </p:nvPr>
        </p:nvSpPr>
        <p:spPr>
          <a:xfrm>
            <a:off x="611560" y="341784"/>
            <a:ext cx="8229600" cy="1143000"/>
          </a:xfrm>
        </p:spPr>
        <p:txBody>
          <a:bodyPr>
            <a:noAutofit/>
          </a:bodyPr>
          <a:lstStyle/>
          <a:p>
            <a:pPr algn="r"/>
            <a:r>
              <a:rPr lang="pt-BR" sz="6600" b="1" dirty="0" smtClean="0">
                <a:solidFill>
                  <a:srgbClr val="FF0066"/>
                </a:solidFill>
                <a:latin typeface="Arial" pitchFamily="34" charset="0"/>
                <a:cs typeface="Arial" pitchFamily="34" charset="0"/>
              </a:rPr>
              <a:t>Blogs</a:t>
            </a:r>
            <a:endParaRPr lang="en-US" sz="6600" dirty="0">
              <a:solidFill>
                <a:srgbClr val="FF0066"/>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lgn="ctr">
              <a:buNone/>
            </a:pPr>
            <a:endParaRPr lang="pt-BR" dirty="0" smtClean="0">
              <a:solidFill>
                <a:schemeClr val="bg1"/>
              </a:solidFill>
              <a:latin typeface="Arial" pitchFamily="34" charset="0"/>
              <a:cs typeface="Arial" pitchFamily="34" charset="0"/>
            </a:endParaRPr>
          </a:p>
          <a:p>
            <a:pPr algn="ctr">
              <a:buNone/>
            </a:pPr>
            <a:endParaRPr lang="pt-BR" dirty="0" smtClean="0">
              <a:solidFill>
                <a:schemeClr val="bg1"/>
              </a:solidFill>
              <a:latin typeface="Arial" pitchFamily="34" charset="0"/>
              <a:cs typeface="Arial" pitchFamily="34" charset="0"/>
            </a:endParaRPr>
          </a:p>
          <a:p>
            <a:pPr algn="ctr">
              <a:buNone/>
            </a:pPr>
            <a:endParaRPr lang="pt-BR" dirty="0" smtClean="0">
              <a:solidFill>
                <a:schemeClr val="bg1"/>
              </a:solidFill>
              <a:latin typeface="Arial" pitchFamily="34" charset="0"/>
              <a:cs typeface="Arial" pitchFamily="34" charset="0"/>
            </a:endParaRPr>
          </a:p>
          <a:p>
            <a:pPr>
              <a:buNone/>
            </a:pPr>
            <a:r>
              <a:rPr lang="pt-BR" sz="4600" b="1" dirty="0" smtClean="0">
                <a:solidFill>
                  <a:srgbClr val="FF0066"/>
                </a:solidFill>
                <a:latin typeface="Arial" pitchFamily="34" charset="0"/>
                <a:cs typeface="Arial" pitchFamily="34" charset="0"/>
              </a:rPr>
              <a:t>Dica do Mal 6:</a:t>
            </a:r>
          </a:p>
          <a:p>
            <a:pPr>
              <a:buNone/>
            </a:pPr>
            <a:r>
              <a:rPr lang="pt-BR" dirty="0" smtClean="0">
                <a:solidFill>
                  <a:srgbClr val="FF0066"/>
                </a:solidFill>
                <a:latin typeface="Arial" pitchFamily="34" charset="0"/>
                <a:cs typeface="Arial" pitchFamily="34" charset="0"/>
              </a:rPr>
              <a:t> </a:t>
            </a:r>
          </a:p>
          <a:p>
            <a:pPr>
              <a:buNone/>
            </a:pPr>
            <a:endParaRPr lang="pt-BR" dirty="0" smtClean="0">
              <a:solidFill>
                <a:srgbClr val="FF0066"/>
              </a:solidFill>
              <a:latin typeface="Arial" pitchFamily="34" charset="0"/>
              <a:cs typeface="Arial" pitchFamily="34" charset="0"/>
            </a:endParaRPr>
          </a:p>
          <a:p>
            <a:pPr>
              <a:buNone/>
            </a:pPr>
            <a:endParaRPr lang="pt-BR" dirty="0" smtClean="0">
              <a:solidFill>
                <a:srgbClr val="FF0066"/>
              </a:solidFill>
              <a:latin typeface="Arial" pitchFamily="34" charset="0"/>
              <a:cs typeface="Arial" pitchFamily="34" charset="0"/>
            </a:endParaRPr>
          </a:p>
          <a:p>
            <a:pPr>
              <a:buNone/>
            </a:pPr>
            <a:endParaRPr lang="pt-BR" dirty="0" smtClean="0">
              <a:solidFill>
                <a:srgbClr val="FF0066"/>
              </a:solidFill>
              <a:latin typeface="Arial" pitchFamily="34" charset="0"/>
              <a:cs typeface="Arial" pitchFamily="34" charset="0"/>
            </a:endParaRPr>
          </a:p>
          <a:p>
            <a:pPr>
              <a:buNone/>
            </a:pPr>
            <a:endParaRPr lang="pt-BR" dirty="0" smtClean="0">
              <a:solidFill>
                <a:srgbClr val="FF0066"/>
              </a:solidFill>
              <a:latin typeface="Arial" pitchFamily="34" charset="0"/>
              <a:cs typeface="Arial" pitchFamily="34" charset="0"/>
            </a:endParaRPr>
          </a:p>
          <a:p>
            <a:r>
              <a:rPr lang="pt-BR" dirty="0" smtClean="0">
                <a:solidFill>
                  <a:srgbClr val="FF0066"/>
                </a:solidFill>
                <a:latin typeface="Arial" pitchFamily="34" charset="0"/>
                <a:cs typeface="Arial" pitchFamily="34" charset="0"/>
              </a:rPr>
              <a:t>Faça comentários "</a:t>
            </a:r>
            <a:r>
              <a:rPr lang="pt-BR" b="1" dirty="0" smtClean="0">
                <a:solidFill>
                  <a:srgbClr val="FF0066"/>
                </a:solidFill>
                <a:latin typeface="Arial" pitchFamily="34" charset="0"/>
                <a:cs typeface="Arial" pitchFamily="34" charset="0"/>
              </a:rPr>
              <a:t>inúteis</a:t>
            </a:r>
            <a:r>
              <a:rPr lang="pt-BR" dirty="0" smtClean="0">
                <a:solidFill>
                  <a:srgbClr val="FF0066"/>
                </a:solidFill>
                <a:latin typeface="Arial" pitchFamily="34" charset="0"/>
                <a:cs typeface="Arial" pitchFamily="34" charset="0"/>
              </a:rPr>
              <a:t>" em vários blogs </a:t>
            </a:r>
            <a:r>
              <a:rPr lang="pt-BR" b="1" dirty="0" err="1" smtClean="0">
                <a:solidFill>
                  <a:srgbClr val="FF0066"/>
                </a:solidFill>
                <a:latin typeface="Arial" pitchFamily="34" charset="0"/>
                <a:cs typeface="Arial" pitchFamily="34" charset="0"/>
              </a:rPr>
              <a:t>dofollow</a:t>
            </a:r>
            <a:r>
              <a:rPr lang="pt-BR" dirty="0" smtClean="0">
                <a:solidFill>
                  <a:srgbClr val="FF0066"/>
                </a:solidFill>
                <a:latin typeface="Arial" pitchFamily="34" charset="0"/>
                <a:cs typeface="Arial" pitchFamily="34" charset="0"/>
              </a:rPr>
              <a:t>;</a:t>
            </a:r>
          </a:p>
          <a:p>
            <a:r>
              <a:rPr lang="pt-BR" dirty="0" smtClean="0">
                <a:solidFill>
                  <a:srgbClr val="FF0066"/>
                </a:solidFill>
                <a:latin typeface="Arial" pitchFamily="34" charset="0"/>
                <a:cs typeface="Arial" pitchFamily="34" charset="0"/>
              </a:rPr>
              <a:t>Seja um dos </a:t>
            </a:r>
            <a:r>
              <a:rPr lang="pt-BR" b="1" dirty="0" smtClean="0">
                <a:solidFill>
                  <a:srgbClr val="FF0066"/>
                </a:solidFill>
                <a:latin typeface="Arial" pitchFamily="34" charset="0"/>
                <a:cs typeface="Arial" pitchFamily="34" charset="0"/>
              </a:rPr>
              <a:t>primeiros a comentar</a:t>
            </a:r>
            <a:r>
              <a:rPr lang="pt-BR" dirty="0" smtClean="0">
                <a:solidFill>
                  <a:srgbClr val="FF0066"/>
                </a:solidFill>
                <a:latin typeface="Arial" pitchFamily="34" charset="0"/>
                <a:cs typeface="Arial" pitchFamily="34" charset="0"/>
              </a:rPr>
              <a:t>, seu link ficará mais acima;</a:t>
            </a:r>
          </a:p>
          <a:p>
            <a:r>
              <a:rPr lang="pt-BR" dirty="0" smtClean="0">
                <a:solidFill>
                  <a:srgbClr val="FF0066"/>
                </a:solidFill>
                <a:latin typeface="Arial" pitchFamily="34" charset="0"/>
                <a:cs typeface="Arial" pitchFamily="34" charset="0"/>
              </a:rPr>
              <a:t>Opte pela busca por </a:t>
            </a:r>
            <a:r>
              <a:rPr lang="pt-BR" b="1" dirty="0" err="1" smtClean="0">
                <a:solidFill>
                  <a:srgbClr val="FF0066"/>
                </a:solidFill>
                <a:latin typeface="Arial" pitchFamily="34" charset="0"/>
                <a:cs typeface="Arial" pitchFamily="34" charset="0"/>
              </a:rPr>
              <a:t>Keywordluv</a:t>
            </a:r>
            <a:r>
              <a:rPr lang="pt-BR" dirty="0" smtClean="0">
                <a:solidFill>
                  <a:srgbClr val="FF0066"/>
                </a:solidFill>
                <a:latin typeface="Arial" pitchFamily="34" charset="0"/>
                <a:cs typeface="Arial" pitchFamily="34" charset="0"/>
              </a:rPr>
              <a:t>, e </a:t>
            </a:r>
            <a:r>
              <a:rPr lang="pt-BR" b="1" dirty="0" smtClean="0">
                <a:solidFill>
                  <a:srgbClr val="FF0066"/>
                </a:solidFill>
                <a:latin typeface="Arial" pitchFamily="34" charset="0"/>
                <a:cs typeface="Arial" pitchFamily="34" charset="0"/>
              </a:rPr>
              <a:t>use </a:t>
            </a:r>
            <a:r>
              <a:rPr lang="pt-BR" b="1" dirty="0" err="1" smtClean="0">
                <a:solidFill>
                  <a:srgbClr val="FF0066"/>
                </a:solidFill>
                <a:latin typeface="Arial" pitchFamily="34" charset="0"/>
                <a:cs typeface="Arial" pitchFamily="34" charset="0"/>
              </a:rPr>
              <a:t>long</a:t>
            </a:r>
            <a:r>
              <a:rPr lang="pt-BR" b="1" dirty="0" smtClean="0">
                <a:solidFill>
                  <a:srgbClr val="FF0066"/>
                </a:solidFill>
                <a:latin typeface="Arial" pitchFamily="34" charset="0"/>
                <a:cs typeface="Arial" pitchFamily="34" charset="0"/>
              </a:rPr>
              <a:t> </a:t>
            </a:r>
            <a:r>
              <a:rPr lang="pt-BR" b="1" dirty="0" err="1" smtClean="0">
                <a:solidFill>
                  <a:srgbClr val="FF0066"/>
                </a:solidFill>
                <a:latin typeface="Arial" pitchFamily="34" charset="0"/>
                <a:cs typeface="Arial" pitchFamily="34" charset="0"/>
              </a:rPr>
              <a:t>tails</a:t>
            </a:r>
            <a:r>
              <a:rPr lang="pt-BR" dirty="0" smtClean="0">
                <a:solidFill>
                  <a:srgbClr val="FF0066"/>
                </a:solidFill>
                <a:latin typeface="Arial" pitchFamily="34" charset="0"/>
                <a:cs typeface="Arial" pitchFamily="34" charset="0"/>
              </a:rPr>
              <a:t>;</a:t>
            </a:r>
          </a:p>
          <a:p>
            <a:r>
              <a:rPr lang="pt-BR" b="1" dirty="0" smtClean="0">
                <a:solidFill>
                  <a:srgbClr val="FF0066"/>
                </a:solidFill>
                <a:latin typeface="Arial" pitchFamily="34" charset="0"/>
                <a:cs typeface="Arial" pitchFamily="34" charset="0"/>
              </a:rPr>
              <a:t>Programas</a:t>
            </a:r>
            <a:r>
              <a:rPr lang="pt-BR" dirty="0" smtClean="0">
                <a:solidFill>
                  <a:srgbClr val="FF0066"/>
                </a:solidFill>
                <a:latin typeface="Arial" pitchFamily="34" charset="0"/>
                <a:cs typeface="Arial" pitchFamily="34" charset="0"/>
              </a:rPr>
              <a:t> automáticos de comentários;</a:t>
            </a:r>
            <a:endParaRPr lang="pt-BR" sz="3600" dirty="0" smtClean="0">
              <a:solidFill>
                <a:srgbClr val="FF0066"/>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4" descr="C:\Users\hp\Desktop\searchlabs\RocknRoll_Pattern_CS4.jpg"/>
          <p:cNvPicPr>
            <a:picLocks noChangeAspect="1" noChangeArrowheads="1"/>
          </p:cNvPicPr>
          <p:nvPr/>
        </p:nvPicPr>
        <p:blipFill>
          <a:blip r:embed="rId2" cstate="print"/>
          <a:srcRect/>
          <a:stretch>
            <a:fillRect/>
          </a:stretch>
        </p:blipFill>
        <p:spPr bwMode="auto">
          <a:xfrm>
            <a:off x="-394854" y="-142486"/>
            <a:ext cx="9754632" cy="9766086"/>
          </a:xfrm>
          <a:prstGeom prst="rect">
            <a:avLst/>
          </a:prstGeom>
          <a:noFill/>
        </p:spPr>
      </p:pic>
      <p:sp>
        <p:nvSpPr>
          <p:cNvPr id="8" name="Título 1"/>
          <p:cNvSpPr>
            <a:spLocks noGrp="1"/>
          </p:cNvSpPr>
          <p:nvPr>
            <p:ph type="title"/>
          </p:nvPr>
        </p:nvSpPr>
        <p:spPr>
          <a:xfrm>
            <a:off x="611560" y="629816"/>
            <a:ext cx="8229600" cy="1143000"/>
          </a:xfrm>
        </p:spPr>
        <p:txBody>
          <a:bodyPr>
            <a:noAutofit/>
          </a:bodyPr>
          <a:lstStyle/>
          <a:p>
            <a:pPr algn="r"/>
            <a:r>
              <a:rPr lang="pt-BR" sz="6600" b="1" dirty="0" smtClean="0">
                <a:solidFill>
                  <a:srgbClr val="FF0066"/>
                </a:solidFill>
                <a:latin typeface="Arial" pitchFamily="34" charset="0"/>
                <a:cs typeface="Arial" pitchFamily="34" charset="0"/>
              </a:rPr>
              <a:t>Links em Domínios Expirados</a:t>
            </a:r>
            <a:endParaRPr lang="en-US" sz="6600" dirty="0">
              <a:solidFill>
                <a:srgbClr val="FF0066"/>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lnSpcReduction="10000"/>
          </a:bodyPr>
          <a:lstStyle/>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pPr>
              <a:buNone/>
            </a:pPr>
            <a:r>
              <a:rPr lang="pt-BR" b="1" dirty="0" smtClean="0">
                <a:solidFill>
                  <a:srgbClr val="FF0066"/>
                </a:solidFill>
                <a:latin typeface="Arial" pitchFamily="34" charset="0"/>
                <a:cs typeface="Arial" pitchFamily="34" charset="0"/>
              </a:rPr>
              <a:t>Dica do Mal 7:</a:t>
            </a:r>
          </a:p>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r>
              <a:rPr lang="pt-BR" sz="2600" dirty="0" smtClean="0">
                <a:solidFill>
                  <a:schemeClr val="bg1">
                    <a:lumMod val="75000"/>
                  </a:schemeClr>
                </a:solidFill>
                <a:latin typeface="Arial" pitchFamily="34" charset="0"/>
                <a:cs typeface="Arial" pitchFamily="34" charset="0"/>
              </a:rPr>
              <a:t>Lista de domínios do </a:t>
            </a:r>
            <a:r>
              <a:rPr lang="pt-BR" sz="2600" b="1" dirty="0" smtClean="0">
                <a:solidFill>
                  <a:srgbClr val="FF0066"/>
                </a:solidFill>
                <a:latin typeface="Arial" pitchFamily="34" charset="0"/>
                <a:cs typeface="Arial" pitchFamily="34" charset="0"/>
              </a:rPr>
              <a:t>registro.</a:t>
            </a:r>
            <a:r>
              <a:rPr lang="pt-BR" sz="2600" b="1" dirty="0" err="1" smtClean="0">
                <a:solidFill>
                  <a:srgbClr val="FF0066"/>
                </a:solidFill>
                <a:latin typeface="Arial" pitchFamily="34" charset="0"/>
                <a:cs typeface="Arial" pitchFamily="34" charset="0"/>
              </a:rPr>
              <a:t>br</a:t>
            </a:r>
            <a:r>
              <a:rPr lang="pt-BR" sz="2600" dirty="0" smtClean="0">
                <a:solidFill>
                  <a:schemeClr val="tx1">
                    <a:lumMod val="65000"/>
                    <a:lumOff val="35000"/>
                  </a:schemeClr>
                </a:solidFill>
                <a:latin typeface="Arial" pitchFamily="34" charset="0"/>
                <a:cs typeface="Arial" pitchFamily="34" charset="0"/>
              </a:rPr>
              <a:t>;</a:t>
            </a:r>
          </a:p>
          <a:p>
            <a:r>
              <a:rPr lang="pt-BR" sz="2600" dirty="0" err="1" smtClean="0">
                <a:solidFill>
                  <a:schemeClr val="bg1">
                    <a:lumMod val="75000"/>
                  </a:schemeClr>
                </a:solidFill>
                <a:latin typeface="Arial" pitchFamily="34" charset="0"/>
                <a:cs typeface="Arial" pitchFamily="34" charset="0"/>
              </a:rPr>
              <a:t>Mozbar</a:t>
            </a:r>
            <a:r>
              <a:rPr lang="pt-BR" sz="2600" dirty="0" smtClean="0">
                <a:solidFill>
                  <a:schemeClr val="bg1">
                    <a:lumMod val="75000"/>
                  </a:schemeClr>
                </a:solidFill>
                <a:latin typeface="Arial" pitchFamily="34" charset="0"/>
                <a:cs typeface="Arial" pitchFamily="34" charset="0"/>
              </a:rPr>
              <a:t>, Yahoo Site </a:t>
            </a:r>
            <a:r>
              <a:rPr lang="pt-BR" sz="2600" dirty="0" err="1" smtClean="0">
                <a:solidFill>
                  <a:schemeClr val="bg1">
                    <a:lumMod val="75000"/>
                  </a:schemeClr>
                </a:solidFill>
                <a:latin typeface="Arial" pitchFamily="34" charset="0"/>
                <a:cs typeface="Arial" pitchFamily="34" charset="0"/>
              </a:rPr>
              <a:t>explorer</a:t>
            </a:r>
            <a:r>
              <a:rPr lang="pt-BR" sz="2600" dirty="0" smtClean="0">
                <a:solidFill>
                  <a:schemeClr val="bg1">
                    <a:lumMod val="75000"/>
                  </a:schemeClr>
                </a:solidFill>
                <a:latin typeface="Arial" pitchFamily="34" charset="0"/>
                <a:cs typeface="Arial" pitchFamily="34" charset="0"/>
              </a:rPr>
              <a:t>;</a:t>
            </a:r>
          </a:p>
          <a:p>
            <a:r>
              <a:rPr lang="pt-BR" sz="2600" b="1" dirty="0" smtClean="0">
                <a:solidFill>
                  <a:srgbClr val="FF0066"/>
                </a:solidFill>
                <a:latin typeface="Arial" pitchFamily="34" charset="0"/>
                <a:cs typeface="Arial" pitchFamily="34" charset="0"/>
              </a:rPr>
              <a:t>Comprar domínios </a:t>
            </a:r>
            <a:r>
              <a:rPr lang="pt-BR" sz="2600" dirty="0" smtClean="0">
                <a:solidFill>
                  <a:schemeClr val="bg1">
                    <a:lumMod val="75000"/>
                  </a:schemeClr>
                </a:solidFill>
                <a:latin typeface="Arial" pitchFamily="34" charset="0"/>
                <a:cs typeface="Arial" pitchFamily="34" charset="0"/>
              </a:rPr>
              <a:t>com</a:t>
            </a:r>
            <a:r>
              <a:rPr lang="pt-BR" sz="2600" dirty="0" smtClean="0">
                <a:solidFill>
                  <a:schemeClr val="tx1">
                    <a:lumMod val="65000"/>
                    <a:lumOff val="35000"/>
                  </a:schemeClr>
                </a:solidFill>
                <a:latin typeface="Arial" pitchFamily="34" charset="0"/>
                <a:cs typeface="Arial" pitchFamily="34" charset="0"/>
              </a:rPr>
              <a:t> </a:t>
            </a:r>
            <a:r>
              <a:rPr lang="pt-BR" sz="2600" dirty="0" smtClean="0">
                <a:solidFill>
                  <a:srgbClr val="FF0066"/>
                </a:solidFill>
                <a:latin typeface="Arial" pitchFamily="34" charset="0"/>
                <a:cs typeface="Arial" pitchFamily="34" charset="0"/>
              </a:rPr>
              <a:t>links pré-existentes</a:t>
            </a:r>
            <a:r>
              <a:rPr lang="pt-BR" sz="2600" dirty="0" smtClean="0">
                <a:solidFill>
                  <a:schemeClr val="tx1">
                    <a:lumMod val="65000"/>
                    <a:lumOff val="35000"/>
                  </a:schemeClr>
                </a:solidFill>
                <a:latin typeface="Arial" pitchFamily="34" charset="0"/>
                <a:cs typeface="Arial" pitchFamily="34" charset="0"/>
              </a:rPr>
              <a:t>;</a:t>
            </a:r>
          </a:p>
          <a:p>
            <a:r>
              <a:rPr lang="pt-BR" sz="2600" dirty="0" smtClean="0">
                <a:solidFill>
                  <a:schemeClr val="bg1">
                    <a:lumMod val="75000"/>
                  </a:schemeClr>
                </a:solidFill>
                <a:latin typeface="Arial" pitchFamily="34" charset="0"/>
                <a:cs typeface="Arial" pitchFamily="34" charset="0"/>
              </a:rPr>
              <a:t>Redirecionamento</a:t>
            </a:r>
            <a:r>
              <a:rPr lang="pt-BR" sz="2600" dirty="0" smtClean="0">
                <a:solidFill>
                  <a:schemeClr val="tx1">
                    <a:lumMod val="65000"/>
                    <a:lumOff val="35000"/>
                  </a:schemeClr>
                </a:solidFill>
                <a:latin typeface="Arial" pitchFamily="34" charset="0"/>
                <a:cs typeface="Arial" pitchFamily="34" charset="0"/>
              </a:rPr>
              <a:t> </a:t>
            </a:r>
            <a:r>
              <a:rPr lang="pt-BR" sz="2600" b="1" dirty="0" smtClean="0">
                <a:solidFill>
                  <a:srgbClr val="FF0066"/>
                </a:solidFill>
                <a:latin typeface="Arial" pitchFamily="34" charset="0"/>
                <a:cs typeface="Arial" pitchFamily="34" charset="0"/>
              </a:rPr>
              <a:t>301</a:t>
            </a:r>
            <a:r>
              <a:rPr lang="pt-BR" sz="2600" dirty="0" smtClean="0">
                <a:solidFill>
                  <a:schemeClr val="tx1">
                    <a:lumMod val="65000"/>
                    <a:lumOff val="35000"/>
                  </a:schemeClr>
                </a:solidFill>
                <a:latin typeface="Arial" pitchFamily="34" charset="0"/>
                <a:cs typeface="Arial" pitchFamily="34" charset="0"/>
              </a:rPr>
              <a:t> </a:t>
            </a:r>
            <a:r>
              <a:rPr lang="pt-BR" sz="2600" dirty="0" smtClean="0">
                <a:solidFill>
                  <a:schemeClr val="bg1">
                    <a:lumMod val="75000"/>
                  </a:schemeClr>
                </a:solidFill>
                <a:latin typeface="Arial" pitchFamily="34" charset="0"/>
                <a:cs typeface="Arial" pitchFamily="34" charset="0"/>
              </a:rPr>
              <a:t>para seu site;</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116632"/>
            <a:ext cx="8229600" cy="1143000"/>
          </a:xfrm>
        </p:spPr>
        <p:txBody>
          <a:bodyPr>
            <a:noAutofit/>
          </a:bodyPr>
          <a:lstStyle/>
          <a:p>
            <a:pPr algn="r"/>
            <a:r>
              <a:rPr lang="pt-BR" sz="6600" b="1" dirty="0" smtClean="0">
                <a:solidFill>
                  <a:srgbClr val="2FC9FF"/>
                </a:solidFill>
                <a:latin typeface="Arial" pitchFamily="34" charset="0"/>
                <a:cs typeface="Arial" pitchFamily="34" charset="0"/>
              </a:rPr>
              <a:t>Troca de Links</a:t>
            </a:r>
            <a:endParaRPr lang="en-US" sz="6600" dirty="0">
              <a:solidFill>
                <a:srgbClr val="2FC9FF"/>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a:bodyPr>
          <a:lstStyle/>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pPr algn="ctr">
              <a:buNone/>
            </a:pPr>
            <a:r>
              <a:rPr lang="pt-BR" dirty="0" smtClean="0">
                <a:solidFill>
                  <a:schemeClr val="tx1">
                    <a:lumMod val="65000"/>
                    <a:lumOff val="35000"/>
                  </a:schemeClr>
                </a:solidFill>
                <a:latin typeface="Arial" pitchFamily="34" charset="0"/>
                <a:cs typeface="Arial" pitchFamily="34" charset="0"/>
              </a:rPr>
              <a:t>"Um é </a:t>
            </a:r>
            <a:r>
              <a:rPr lang="pt-BR" b="1" dirty="0" smtClean="0">
                <a:solidFill>
                  <a:schemeClr val="tx1">
                    <a:lumMod val="65000"/>
                    <a:lumOff val="35000"/>
                  </a:schemeClr>
                </a:solidFill>
                <a:latin typeface="Arial" pitchFamily="34" charset="0"/>
                <a:cs typeface="Arial" pitchFamily="34" charset="0"/>
              </a:rPr>
              <a:t>pouco</a:t>
            </a:r>
            <a:r>
              <a:rPr lang="pt-BR" dirty="0" smtClean="0">
                <a:solidFill>
                  <a:schemeClr val="tx1">
                    <a:lumMod val="65000"/>
                    <a:lumOff val="35000"/>
                  </a:schemeClr>
                </a:solidFill>
                <a:latin typeface="Arial" pitchFamily="34" charset="0"/>
                <a:cs typeface="Arial" pitchFamily="34" charset="0"/>
              </a:rPr>
              <a:t>, dois é </a:t>
            </a:r>
            <a:r>
              <a:rPr lang="pt-BR" b="1" dirty="0" smtClean="0">
                <a:solidFill>
                  <a:schemeClr val="tx1">
                    <a:lumMod val="65000"/>
                    <a:lumOff val="35000"/>
                  </a:schemeClr>
                </a:solidFill>
                <a:latin typeface="Arial" pitchFamily="34" charset="0"/>
                <a:cs typeface="Arial" pitchFamily="34" charset="0"/>
              </a:rPr>
              <a:t>bom</a:t>
            </a:r>
            <a:r>
              <a:rPr lang="pt-BR" dirty="0" smtClean="0">
                <a:solidFill>
                  <a:schemeClr val="tx1">
                    <a:lumMod val="65000"/>
                    <a:lumOff val="35000"/>
                  </a:schemeClr>
                </a:solidFill>
                <a:latin typeface="Arial" pitchFamily="34" charset="0"/>
                <a:cs typeface="Arial" pitchFamily="34" charset="0"/>
              </a:rPr>
              <a:t>, três é </a:t>
            </a:r>
            <a:r>
              <a:rPr lang="pt-BR" b="1" dirty="0" smtClean="0">
                <a:solidFill>
                  <a:schemeClr val="tx1">
                    <a:lumMod val="65000"/>
                    <a:lumOff val="35000"/>
                  </a:schemeClr>
                </a:solidFill>
                <a:latin typeface="Arial" pitchFamily="34" charset="0"/>
                <a:cs typeface="Arial" pitchFamily="34" charset="0"/>
              </a:rPr>
              <a:t>demais</a:t>
            </a:r>
            <a:r>
              <a:rPr lang="pt-BR" dirty="0" smtClean="0">
                <a:solidFill>
                  <a:schemeClr val="tx1">
                    <a:lumMod val="65000"/>
                    <a:lumOff val="35000"/>
                  </a:schemeClr>
                </a:solidFill>
                <a:latin typeface="Arial" pitchFamily="34" charset="0"/>
                <a:cs typeface="Arial" pitchFamily="34" charset="0"/>
              </a:rPr>
              <a:t>"</a:t>
            </a:r>
            <a:endParaRPr lang="pt-BR" sz="3600" dirty="0" smtClean="0">
              <a:solidFill>
                <a:schemeClr val="tx1">
                  <a:lumMod val="65000"/>
                  <a:lumOff val="35000"/>
                </a:schemeClr>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341784"/>
            <a:ext cx="8229600" cy="1143000"/>
          </a:xfrm>
        </p:spPr>
        <p:txBody>
          <a:bodyPr>
            <a:noAutofit/>
          </a:bodyPr>
          <a:lstStyle/>
          <a:p>
            <a:pPr algn="r"/>
            <a:r>
              <a:rPr lang="pt-BR" sz="6600" b="1" dirty="0" smtClean="0">
                <a:solidFill>
                  <a:schemeClr val="bg1"/>
                </a:solidFill>
                <a:latin typeface="Arial" pitchFamily="34" charset="0"/>
                <a:cs typeface="Arial" pitchFamily="34" charset="0"/>
              </a:rPr>
              <a:t>Compra de Links</a:t>
            </a:r>
            <a:endParaRPr lang="en-US" sz="6600" dirty="0">
              <a:solidFill>
                <a:schemeClr val="bg1"/>
              </a:solidFill>
              <a:latin typeface="Arial" pitchFamily="34" charset="0"/>
              <a:cs typeface="Arial" pitchFamily="34" charset="0"/>
            </a:endParaRPr>
          </a:p>
        </p:txBody>
      </p:sp>
      <p:sp>
        <p:nvSpPr>
          <p:cNvPr id="9" name="Espaço Reservado para Conteúdo 2"/>
          <p:cNvSpPr>
            <a:spLocks noGrp="1"/>
          </p:cNvSpPr>
          <p:nvPr>
            <p:ph idx="1"/>
          </p:nvPr>
        </p:nvSpPr>
        <p:spPr>
          <a:xfrm>
            <a:off x="179512" y="1600200"/>
            <a:ext cx="8640960" cy="5069160"/>
          </a:xfrm>
        </p:spPr>
        <p:txBody>
          <a:bodyPr>
            <a:normAutofit/>
          </a:bodyPr>
          <a:lstStyle/>
          <a:p>
            <a:pPr marL="177800" indent="0" algn="ctr">
              <a:buNone/>
            </a:pPr>
            <a:r>
              <a:rPr lang="pt-BR" dirty="0" smtClean="0">
                <a:solidFill>
                  <a:srgbClr val="C80000"/>
                </a:solidFill>
                <a:latin typeface="Arial" pitchFamily="34" charset="0"/>
                <a:cs typeface="Arial" pitchFamily="34" charset="0"/>
              </a:rPr>
              <a:t>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 censurado</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76672"/>
            <a:ext cx="8229600" cy="1143000"/>
          </a:xfrm>
        </p:spPr>
        <p:txBody>
          <a:bodyPr>
            <a:noAutofit/>
          </a:bodyPr>
          <a:lstStyle/>
          <a:p>
            <a:pPr algn="r"/>
            <a:r>
              <a:rPr lang="pt-BR" dirty="0" smtClean="0">
                <a:solidFill>
                  <a:srgbClr val="FFC000"/>
                </a:solidFill>
                <a:latin typeface="Arial" pitchFamily="34" charset="0"/>
                <a:cs typeface="Arial" pitchFamily="34" charset="0"/>
              </a:rPr>
              <a:t>Explorando </a:t>
            </a:r>
            <a:r>
              <a:rPr lang="pt-BR" sz="6600" b="1" dirty="0" smtClean="0">
                <a:solidFill>
                  <a:srgbClr val="FFC000"/>
                </a:solidFill>
                <a:latin typeface="Arial" pitchFamily="34" charset="0"/>
                <a:cs typeface="Arial" pitchFamily="34" charset="0"/>
              </a:rPr>
              <a:t>Oportunidades</a:t>
            </a:r>
            <a:endParaRPr lang="en-US" sz="6600" dirty="0">
              <a:solidFill>
                <a:srgbClr val="FFC0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lnSpcReduction="10000"/>
          </a:bodyPr>
          <a:lstStyle/>
          <a:p>
            <a:pPr algn="ctr">
              <a:buNone/>
            </a:pPr>
            <a:endParaRPr lang="pt-BR" b="1" dirty="0" smtClean="0">
              <a:latin typeface="Arial" pitchFamily="34" charset="0"/>
              <a:cs typeface="Arial" pitchFamily="34" charset="0"/>
            </a:endParaRPr>
          </a:p>
          <a:p>
            <a:pPr>
              <a:buNone/>
            </a:pPr>
            <a:r>
              <a:rPr lang="pt-BR" b="1" dirty="0" smtClean="0">
                <a:solidFill>
                  <a:srgbClr val="FFC000"/>
                </a:solidFill>
                <a:latin typeface="Arial" pitchFamily="34" charset="0"/>
                <a:cs typeface="Arial" pitchFamily="34" charset="0"/>
              </a:rPr>
              <a:t>Ranking/Selos</a:t>
            </a:r>
          </a:p>
          <a:p>
            <a:endParaRPr lang="pt-BR" dirty="0" smtClean="0">
              <a:solidFill>
                <a:schemeClr val="bg1">
                  <a:lumMod val="65000"/>
                </a:schemeClr>
              </a:solidFill>
              <a:latin typeface="Arial" pitchFamily="34" charset="0"/>
              <a:cs typeface="Arial" pitchFamily="34" charset="0"/>
            </a:endParaRPr>
          </a:p>
          <a:p>
            <a:r>
              <a:rPr lang="pt-BR" dirty="0" smtClean="0">
                <a:solidFill>
                  <a:schemeClr val="bg1">
                    <a:lumMod val="65000"/>
                  </a:schemeClr>
                </a:solidFill>
                <a:latin typeface="Arial" pitchFamily="34" charset="0"/>
                <a:cs typeface="Arial" pitchFamily="34" charset="0"/>
              </a:rPr>
              <a:t>Crie um </a:t>
            </a:r>
            <a:r>
              <a:rPr lang="pt-BR" b="1" dirty="0" smtClean="0">
                <a:solidFill>
                  <a:srgbClr val="FFC000"/>
                </a:solidFill>
                <a:latin typeface="Arial" pitchFamily="34" charset="0"/>
                <a:cs typeface="Arial" pitchFamily="34" charset="0"/>
              </a:rPr>
              <a:t>sistema</a:t>
            </a:r>
            <a:r>
              <a:rPr lang="pt-BR" dirty="0" smtClean="0">
                <a:solidFill>
                  <a:schemeClr val="bg1">
                    <a:lumMod val="65000"/>
                  </a:schemeClr>
                </a:solidFill>
                <a:latin typeface="Arial" pitchFamily="34" charset="0"/>
                <a:cs typeface="Arial" pitchFamily="34" charset="0"/>
              </a:rPr>
              <a:t> de Ranking de classificação entre os </a:t>
            </a:r>
            <a:r>
              <a:rPr lang="pt-BR" b="1" dirty="0" smtClean="0">
                <a:solidFill>
                  <a:srgbClr val="FFC000"/>
                </a:solidFill>
                <a:latin typeface="Arial" pitchFamily="34" charset="0"/>
                <a:cs typeface="Arial" pitchFamily="34" charset="0"/>
              </a:rPr>
              <a:t>usuários/sites</a:t>
            </a:r>
          </a:p>
          <a:p>
            <a:pPr>
              <a:buNone/>
            </a:pPr>
            <a:endParaRPr lang="pt-BR" dirty="0" smtClean="0">
              <a:solidFill>
                <a:schemeClr val="bg1">
                  <a:lumMod val="65000"/>
                </a:schemeClr>
              </a:solidFill>
              <a:latin typeface="Arial" pitchFamily="34" charset="0"/>
              <a:cs typeface="Arial" pitchFamily="34" charset="0"/>
            </a:endParaRPr>
          </a:p>
          <a:p>
            <a:pPr>
              <a:buNone/>
            </a:pPr>
            <a:r>
              <a:rPr lang="pt-BR" sz="1900" dirty="0" smtClean="0">
                <a:solidFill>
                  <a:schemeClr val="bg1">
                    <a:lumMod val="65000"/>
                  </a:schemeClr>
                </a:solidFill>
                <a:latin typeface="Arial" pitchFamily="34" charset="0"/>
                <a:cs typeface="Arial" pitchFamily="34" charset="0"/>
              </a:rPr>
              <a:t>Exemplo:</a:t>
            </a:r>
          </a:p>
          <a:p>
            <a:pPr>
              <a:buNone/>
            </a:pPr>
            <a:r>
              <a:rPr lang="pt-BR" sz="1900" dirty="0" smtClean="0">
                <a:solidFill>
                  <a:schemeClr val="bg1">
                    <a:lumMod val="65000"/>
                  </a:schemeClr>
                </a:solidFill>
                <a:latin typeface="Arial" pitchFamily="34" charset="0"/>
                <a:cs typeface="Arial" pitchFamily="34" charset="0"/>
                <a:hlinkClick r:id="rId2"/>
              </a:rPr>
              <a:t>http://www.blogtoplist.com/</a:t>
            </a:r>
            <a:endParaRPr lang="pt-BR" sz="1900" dirty="0" smtClean="0">
              <a:solidFill>
                <a:schemeClr val="bg1">
                  <a:lumMod val="65000"/>
                </a:schemeClr>
              </a:solidFill>
              <a:latin typeface="Arial" pitchFamily="34" charset="0"/>
              <a:cs typeface="Arial" pitchFamily="34" charset="0"/>
            </a:endParaRPr>
          </a:p>
          <a:p>
            <a:pPr>
              <a:buNone/>
            </a:pPr>
            <a:endParaRPr lang="pt-BR" dirty="0" smtClean="0">
              <a:solidFill>
                <a:schemeClr val="bg1">
                  <a:lumMod val="65000"/>
                </a:schemeClr>
              </a:solidFill>
              <a:latin typeface="Arial" pitchFamily="34" charset="0"/>
              <a:cs typeface="Arial" pitchFamily="34" charset="0"/>
            </a:endParaRPr>
          </a:p>
          <a:p>
            <a:pPr marL="182563" indent="-182563">
              <a:buNone/>
            </a:pPr>
            <a:r>
              <a:rPr lang="pt-BR" sz="2100" dirty="0" smtClean="0">
                <a:solidFill>
                  <a:schemeClr val="bg1">
                    <a:lumMod val="65000"/>
                  </a:schemeClr>
                </a:solidFill>
                <a:latin typeface="Arial" pitchFamily="34" charset="0"/>
                <a:cs typeface="Arial" pitchFamily="34" charset="0"/>
              </a:rPr>
              <a:t>* Oferece um selo com o seu posicionamento entre os blogs mais acessados, obviamente com um link para o site deles.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Espaço Reservado para Conteúdo 2"/>
          <p:cNvSpPr>
            <a:spLocks noGrp="1"/>
          </p:cNvSpPr>
          <p:nvPr>
            <p:ph idx="1"/>
          </p:nvPr>
        </p:nvSpPr>
        <p:spPr>
          <a:xfrm>
            <a:off x="251520" y="1600200"/>
            <a:ext cx="8640960" cy="5069160"/>
          </a:xfrm>
        </p:spPr>
        <p:txBody>
          <a:bodyPr>
            <a:normAutofit fontScale="77500" lnSpcReduction="20000"/>
          </a:bodyPr>
          <a:lstStyle/>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pPr>
              <a:buFont typeface="Arial" charset="0"/>
              <a:buChar char="•"/>
            </a:pPr>
            <a:r>
              <a:rPr lang="pt-BR" dirty="0" smtClean="0">
                <a:solidFill>
                  <a:srgbClr val="FFC000"/>
                </a:solidFill>
                <a:latin typeface="Arial" pitchFamily="34" charset="0"/>
                <a:cs typeface="Arial" pitchFamily="34" charset="0"/>
              </a:rPr>
              <a:t>Promoções/Concursos/Sorteios</a:t>
            </a:r>
            <a:r>
              <a:rPr lang="pt-BR" dirty="0" smtClean="0">
                <a:solidFill>
                  <a:schemeClr val="bg1">
                    <a:lumMod val="50000"/>
                  </a:schemeClr>
                </a:solidFill>
                <a:latin typeface="Arial" pitchFamily="34" charset="0"/>
                <a:cs typeface="Arial" pitchFamily="34" charset="0"/>
              </a:rPr>
              <a:t>;</a:t>
            </a:r>
          </a:p>
          <a:p>
            <a:pPr>
              <a:buFont typeface="Arial" charset="0"/>
              <a:buChar char="•"/>
            </a:pPr>
            <a:endParaRPr lang="pt-BR" sz="2400" dirty="0" smtClean="0">
              <a:solidFill>
                <a:schemeClr val="bg1">
                  <a:lumMod val="50000"/>
                </a:schemeClr>
              </a:solidFill>
              <a:latin typeface="Arial" pitchFamily="34" charset="0"/>
              <a:cs typeface="Arial" pitchFamily="34" charset="0"/>
            </a:endParaRPr>
          </a:p>
          <a:p>
            <a:pPr>
              <a:buFont typeface="Arial" charset="0"/>
              <a:buChar char="•"/>
            </a:pPr>
            <a:endParaRPr lang="pt-BR" sz="2400" dirty="0" smtClean="0">
              <a:solidFill>
                <a:schemeClr val="bg1">
                  <a:lumMod val="50000"/>
                </a:schemeClr>
              </a:solidFill>
              <a:latin typeface="Arial" pitchFamily="34" charset="0"/>
              <a:cs typeface="Arial" pitchFamily="34" charset="0"/>
            </a:endParaRPr>
          </a:p>
          <a:p>
            <a:pPr>
              <a:buFont typeface="Arial" charset="0"/>
              <a:buChar char="•"/>
            </a:pPr>
            <a:endParaRPr lang="pt-BR" sz="2400" dirty="0" smtClean="0">
              <a:solidFill>
                <a:schemeClr val="bg1">
                  <a:lumMod val="50000"/>
                </a:schemeClr>
              </a:solidFill>
              <a:latin typeface="Arial" pitchFamily="34" charset="0"/>
              <a:cs typeface="Arial" pitchFamily="34" charset="0"/>
            </a:endParaRPr>
          </a:p>
          <a:p>
            <a:pPr>
              <a:buFont typeface="Arial" charset="0"/>
              <a:buChar char="•"/>
            </a:pPr>
            <a:endParaRPr lang="pt-BR" sz="2400" dirty="0" smtClean="0">
              <a:solidFill>
                <a:schemeClr val="bg1">
                  <a:lumMod val="50000"/>
                </a:schemeClr>
              </a:solidFill>
              <a:latin typeface="Arial" pitchFamily="34" charset="0"/>
              <a:cs typeface="Arial" pitchFamily="34" charset="0"/>
            </a:endParaRPr>
          </a:p>
          <a:p>
            <a:pPr>
              <a:buFont typeface="Arial" charset="0"/>
              <a:buChar char="•"/>
            </a:pPr>
            <a:endParaRPr lang="pt-BR" sz="2400" dirty="0" smtClean="0">
              <a:solidFill>
                <a:schemeClr val="bg1">
                  <a:lumMod val="50000"/>
                </a:schemeClr>
              </a:solidFill>
              <a:latin typeface="Arial" pitchFamily="34" charset="0"/>
              <a:cs typeface="Arial" pitchFamily="34" charset="0"/>
            </a:endParaRPr>
          </a:p>
          <a:p>
            <a:r>
              <a:rPr lang="pt-BR" b="1" dirty="0" smtClean="0">
                <a:solidFill>
                  <a:srgbClr val="FFC000"/>
                </a:solidFill>
                <a:latin typeface="Arial" pitchFamily="34" charset="0"/>
                <a:cs typeface="Arial" pitchFamily="34" charset="0"/>
              </a:rPr>
              <a:t>Force</a:t>
            </a:r>
            <a:r>
              <a:rPr lang="pt-BR" dirty="0" smtClean="0">
                <a:solidFill>
                  <a:schemeClr val="bg1">
                    <a:lumMod val="50000"/>
                  </a:schemeClr>
                </a:solidFill>
                <a:latin typeface="Arial" pitchFamily="34" charset="0"/>
                <a:cs typeface="Arial" pitchFamily="34" charset="0"/>
              </a:rPr>
              <a:t> um </a:t>
            </a:r>
            <a:r>
              <a:rPr lang="pt-BR" b="1" dirty="0" smtClean="0">
                <a:solidFill>
                  <a:srgbClr val="FFC000"/>
                </a:solidFill>
                <a:latin typeface="Arial" pitchFamily="34" charset="0"/>
                <a:cs typeface="Arial" pitchFamily="34" charset="0"/>
              </a:rPr>
              <a:t>link</a:t>
            </a:r>
            <a:r>
              <a:rPr lang="pt-BR" dirty="0" smtClean="0">
                <a:solidFill>
                  <a:schemeClr val="bg1">
                    <a:lumMod val="50000"/>
                  </a:schemeClr>
                </a:solidFill>
                <a:latin typeface="Arial" pitchFamily="34" charset="0"/>
                <a:cs typeface="Arial" pitchFamily="34" charset="0"/>
              </a:rPr>
              <a:t> por algo em </a:t>
            </a:r>
            <a:r>
              <a:rPr lang="pt-BR" b="1" dirty="0" smtClean="0">
                <a:solidFill>
                  <a:srgbClr val="FFC000"/>
                </a:solidFill>
                <a:latin typeface="Arial" pitchFamily="34" charset="0"/>
                <a:cs typeface="Arial" pitchFamily="34" charset="0"/>
              </a:rPr>
              <a:t>troca</a:t>
            </a:r>
            <a:r>
              <a:rPr lang="pt-BR" dirty="0" smtClean="0">
                <a:solidFill>
                  <a:schemeClr val="bg1">
                    <a:lumMod val="50000"/>
                  </a:schemeClr>
                </a:solidFill>
                <a:latin typeface="Arial" pitchFamily="34" charset="0"/>
                <a:cs typeface="Arial" pitchFamily="34" charset="0"/>
              </a:rPr>
              <a:t>:</a:t>
            </a:r>
          </a:p>
          <a:p>
            <a:pPr>
              <a:buNone/>
            </a:pPr>
            <a:endParaRPr lang="pt-BR" dirty="0" smtClean="0">
              <a:solidFill>
                <a:schemeClr val="bg1">
                  <a:lumMod val="50000"/>
                </a:schemeClr>
              </a:solidFill>
              <a:latin typeface="Arial" pitchFamily="34" charset="0"/>
              <a:cs typeface="Arial" pitchFamily="34" charset="0"/>
            </a:endParaRPr>
          </a:p>
          <a:p>
            <a:pPr>
              <a:buNone/>
            </a:pPr>
            <a:r>
              <a:rPr lang="pt-BR" dirty="0" smtClean="0">
                <a:solidFill>
                  <a:schemeClr val="bg1">
                    <a:lumMod val="50000"/>
                  </a:schemeClr>
                </a:solidFill>
                <a:latin typeface="Arial" pitchFamily="34" charset="0"/>
                <a:cs typeface="Arial" pitchFamily="34" charset="0"/>
              </a:rPr>
              <a:t>“Faça um </a:t>
            </a:r>
            <a:r>
              <a:rPr lang="pt-BR" b="1" dirty="0" smtClean="0">
                <a:solidFill>
                  <a:srgbClr val="FFC000"/>
                </a:solidFill>
                <a:latin typeface="Arial" pitchFamily="34" charset="0"/>
                <a:cs typeface="Arial" pitchFamily="34" charset="0"/>
              </a:rPr>
              <a:t>link</a:t>
            </a:r>
            <a:r>
              <a:rPr lang="pt-BR" dirty="0" smtClean="0">
                <a:solidFill>
                  <a:schemeClr val="bg1">
                    <a:lumMod val="50000"/>
                  </a:schemeClr>
                </a:solidFill>
                <a:latin typeface="Arial" pitchFamily="34" charset="0"/>
                <a:cs typeface="Arial" pitchFamily="34" charset="0"/>
              </a:rPr>
              <a:t> para gente e </a:t>
            </a:r>
            <a:r>
              <a:rPr lang="pt-BR" b="1" dirty="0" smtClean="0">
                <a:solidFill>
                  <a:srgbClr val="FFC000"/>
                </a:solidFill>
                <a:latin typeface="Arial" pitchFamily="34" charset="0"/>
                <a:cs typeface="Arial" pitchFamily="34" charset="0"/>
              </a:rPr>
              <a:t>receba grátis</a:t>
            </a:r>
            <a:r>
              <a:rPr lang="pt-BR" dirty="0" smtClean="0">
                <a:solidFill>
                  <a:schemeClr val="bg1">
                    <a:lumMod val="50000"/>
                  </a:schemeClr>
                </a:solidFill>
                <a:latin typeface="Arial" pitchFamily="34" charset="0"/>
                <a:cs typeface="Arial" pitchFamily="34" charset="0"/>
              </a:rPr>
              <a:t>..."</a:t>
            </a:r>
          </a:p>
          <a:p>
            <a:pPr>
              <a:buNone/>
            </a:pPr>
            <a:r>
              <a:rPr lang="pt-BR" dirty="0" smtClean="0">
                <a:solidFill>
                  <a:schemeClr val="bg1">
                    <a:lumMod val="50000"/>
                  </a:schemeClr>
                </a:solidFill>
                <a:latin typeface="Arial" pitchFamily="34" charset="0"/>
                <a:cs typeface="Arial" pitchFamily="34" charset="0"/>
              </a:rPr>
              <a:t>“Faça um </a:t>
            </a:r>
            <a:r>
              <a:rPr lang="pt-BR" b="1" dirty="0" smtClean="0">
                <a:solidFill>
                  <a:srgbClr val="FFC000"/>
                </a:solidFill>
                <a:latin typeface="Arial" pitchFamily="34" charset="0"/>
                <a:cs typeface="Arial" pitchFamily="34" charset="0"/>
              </a:rPr>
              <a:t>link</a:t>
            </a:r>
            <a:r>
              <a:rPr lang="pt-BR" dirty="0" smtClean="0">
                <a:solidFill>
                  <a:schemeClr val="bg1">
                    <a:lumMod val="50000"/>
                  </a:schemeClr>
                </a:solidFill>
                <a:latin typeface="Arial" pitchFamily="34" charset="0"/>
                <a:cs typeface="Arial" pitchFamily="34" charset="0"/>
              </a:rPr>
              <a:t> para gente e </a:t>
            </a:r>
            <a:r>
              <a:rPr lang="pt-BR" b="1" dirty="0" smtClean="0">
                <a:solidFill>
                  <a:srgbClr val="FFC000"/>
                </a:solidFill>
                <a:latin typeface="Arial" pitchFamily="34" charset="0"/>
                <a:cs typeface="Arial" pitchFamily="34" charset="0"/>
              </a:rPr>
              <a:t>concorra</a:t>
            </a:r>
            <a:r>
              <a:rPr lang="pt-BR" dirty="0" smtClean="0">
                <a:solidFill>
                  <a:schemeClr val="bg1">
                    <a:lumMod val="50000"/>
                  </a:schemeClr>
                </a:solidFill>
                <a:latin typeface="Arial" pitchFamily="34" charset="0"/>
                <a:cs typeface="Arial" pitchFamily="34" charset="0"/>
              </a:rPr>
              <a:t>..."</a:t>
            </a:r>
          </a:p>
          <a:p>
            <a:pPr>
              <a:buNone/>
            </a:pPr>
            <a:r>
              <a:rPr lang="pt-BR" dirty="0" smtClean="0">
                <a:solidFill>
                  <a:schemeClr val="bg1">
                    <a:lumMod val="50000"/>
                  </a:schemeClr>
                </a:solidFill>
                <a:latin typeface="Arial" pitchFamily="34" charset="0"/>
                <a:cs typeface="Arial" pitchFamily="34" charset="0"/>
              </a:rPr>
              <a:t>“Escreva um </a:t>
            </a:r>
            <a:r>
              <a:rPr lang="pt-BR" b="1" dirty="0" smtClean="0">
                <a:solidFill>
                  <a:srgbClr val="FFC000"/>
                </a:solidFill>
                <a:latin typeface="Arial" pitchFamily="34" charset="0"/>
                <a:cs typeface="Arial" pitchFamily="34" charset="0"/>
              </a:rPr>
              <a:t>artigo</a:t>
            </a:r>
            <a:r>
              <a:rPr lang="pt-BR" dirty="0" smtClean="0">
                <a:solidFill>
                  <a:schemeClr val="bg1">
                    <a:lumMod val="50000"/>
                  </a:schemeClr>
                </a:solidFill>
                <a:latin typeface="Arial" pitchFamily="34" charset="0"/>
                <a:cs typeface="Arial" pitchFamily="34" charset="0"/>
              </a:rPr>
              <a:t> e faça um </a:t>
            </a:r>
            <a:r>
              <a:rPr lang="pt-BR" b="1" dirty="0" smtClean="0">
                <a:solidFill>
                  <a:srgbClr val="FFC000"/>
                </a:solidFill>
                <a:latin typeface="Arial" pitchFamily="34" charset="0"/>
                <a:cs typeface="Arial" pitchFamily="34" charset="0"/>
              </a:rPr>
              <a:t>link</a:t>
            </a:r>
            <a:r>
              <a:rPr lang="pt-BR" dirty="0" smtClean="0">
                <a:solidFill>
                  <a:schemeClr val="bg1">
                    <a:lumMod val="50000"/>
                  </a:schemeClr>
                </a:solidFill>
                <a:latin typeface="Arial" pitchFamily="34" charset="0"/>
                <a:cs typeface="Arial" pitchFamily="34" charset="0"/>
              </a:rPr>
              <a:t> para”</a:t>
            </a:r>
          </a:p>
          <a:p>
            <a:pPr>
              <a:buNone/>
            </a:pPr>
            <a:endParaRPr lang="pt-BR" sz="2400" dirty="0" smtClean="0">
              <a:solidFill>
                <a:schemeClr val="bg1">
                  <a:lumMod val="50000"/>
                </a:schemeClr>
              </a:solidFill>
              <a:latin typeface="Arial" pitchFamily="34" charset="0"/>
              <a:cs typeface="Arial" pitchFamily="34" charset="0"/>
            </a:endParaRPr>
          </a:p>
          <a:p>
            <a:pPr>
              <a:buNone/>
            </a:pPr>
            <a:endParaRPr lang="pt-BR" sz="2100" dirty="0" smtClean="0">
              <a:solidFill>
                <a:schemeClr val="bg1">
                  <a:lumMod val="50000"/>
                </a:schemeClr>
              </a:solidFill>
              <a:latin typeface="Arial" pitchFamily="34" charset="0"/>
              <a:cs typeface="Arial" pitchFamily="34" charset="0"/>
            </a:endParaRPr>
          </a:p>
        </p:txBody>
      </p:sp>
      <p:sp>
        <p:nvSpPr>
          <p:cNvPr id="5" name="Título 1"/>
          <p:cNvSpPr txBox="1">
            <a:spLocks/>
          </p:cNvSpPr>
          <p:nvPr/>
        </p:nvSpPr>
        <p:spPr>
          <a:xfrm>
            <a:off x="611560" y="476672"/>
            <a:ext cx="8229600" cy="1143000"/>
          </a:xfrm>
          <a:prstGeom prst="rect">
            <a:avLst/>
          </a:prstGeom>
        </p:spPr>
        <p:txBody>
          <a:bodyPr vert="horz" lIns="91440" tIns="45720" rIns="91440" bIns="45720" rtlCol="0" anchor="ct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pt-BR" sz="4400" b="0"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Explorando </a:t>
            </a:r>
            <a:r>
              <a:rPr kumimoji="0" lang="pt-BR" sz="6600" b="1"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Oportunidades</a:t>
            </a:r>
            <a:endParaRPr kumimoji="0" lang="en-US" sz="6600" b="0" i="0" u="none" strike="noStrike" kern="1200" cap="none" spc="0" normalizeH="0" baseline="0" noProof="0" dirty="0">
              <a:ln>
                <a:noFill/>
              </a:ln>
              <a:solidFill>
                <a:srgbClr val="FFC000"/>
              </a:solidFill>
              <a:effectLst/>
              <a:uLnTx/>
              <a:uFillTx/>
              <a:latin typeface="Arial" pitchFamily="34" charset="0"/>
              <a:ea typeface="+mj-ea"/>
              <a:cs typeface="Arial"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Espaço Reservado para Conteúdo 2"/>
          <p:cNvSpPr>
            <a:spLocks noGrp="1"/>
          </p:cNvSpPr>
          <p:nvPr>
            <p:ph idx="1"/>
          </p:nvPr>
        </p:nvSpPr>
        <p:spPr>
          <a:xfrm>
            <a:off x="251520" y="1600200"/>
            <a:ext cx="8640960" cy="5069160"/>
          </a:xfrm>
        </p:spPr>
        <p:txBody>
          <a:bodyPr>
            <a:normAutofit fontScale="70000" lnSpcReduction="20000"/>
          </a:bodyPr>
          <a:lstStyle/>
          <a:p>
            <a:pPr>
              <a:buNone/>
            </a:pPr>
            <a:endParaRPr lang="pt-BR" b="1" dirty="0" smtClean="0">
              <a:solidFill>
                <a:srgbClr val="FFC000"/>
              </a:solidFill>
              <a:latin typeface="Arial" pitchFamily="34" charset="0"/>
              <a:cs typeface="Arial" pitchFamily="34" charset="0"/>
            </a:endParaRPr>
          </a:p>
          <a:p>
            <a:pPr>
              <a:buNone/>
            </a:pPr>
            <a:endParaRPr lang="pt-BR" b="1" dirty="0" smtClean="0">
              <a:solidFill>
                <a:srgbClr val="FFC000"/>
              </a:solidFill>
              <a:latin typeface="Arial" pitchFamily="34" charset="0"/>
              <a:cs typeface="Arial" pitchFamily="34" charset="0"/>
            </a:endParaRPr>
          </a:p>
          <a:p>
            <a:pPr>
              <a:buNone/>
            </a:pPr>
            <a:r>
              <a:rPr lang="pt-BR" b="1" dirty="0" smtClean="0">
                <a:solidFill>
                  <a:srgbClr val="FFC000"/>
                </a:solidFill>
                <a:latin typeface="Arial" pitchFamily="34" charset="0"/>
                <a:cs typeface="Arial" pitchFamily="34" charset="0"/>
              </a:rPr>
              <a:t>Depoimentos/Reviews</a:t>
            </a:r>
          </a:p>
          <a:p>
            <a:pPr>
              <a:buNone/>
            </a:pPr>
            <a:endParaRPr lang="pt-BR" dirty="0" smtClean="0">
              <a:solidFill>
                <a:schemeClr val="bg1">
                  <a:lumMod val="50000"/>
                </a:schemeClr>
              </a:solidFill>
              <a:latin typeface="Arial" pitchFamily="34" charset="0"/>
              <a:cs typeface="Arial" pitchFamily="34" charset="0"/>
            </a:endParaRPr>
          </a:p>
          <a:p>
            <a:r>
              <a:rPr lang="pt-BR" dirty="0" smtClean="0">
                <a:solidFill>
                  <a:schemeClr val="bg1">
                    <a:lumMod val="50000"/>
                  </a:schemeClr>
                </a:solidFill>
                <a:latin typeface="Arial" pitchFamily="34" charset="0"/>
                <a:cs typeface="Arial" pitchFamily="34" charset="0"/>
              </a:rPr>
              <a:t>Busque por locais onde aceita-se </a:t>
            </a:r>
            <a:r>
              <a:rPr lang="pt-BR" b="1" dirty="0" smtClean="0">
                <a:solidFill>
                  <a:schemeClr val="bg1">
                    <a:lumMod val="50000"/>
                  </a:schemeClr>
                </a:solidFill>
                <a:latin typeface="Arial" pitchFamily="34" charset="0"/>
                <a:cs typeface="Arial" pitchFamily="34" charset="0"/>
              </a:rPr>
              <a:t>enviar </a:t>
            </a:r>
            <a:r>
              <a:rPr lang="pt-BR" b="1" dirty="0" smtClean="0">
                <a:solidFill>
                  <a:srgbClr val="FFC000"/>
                </a:solidFill>
                <a:latin typeface="Arial" pitchFamily="34" charset="0"/>
                <a:cs typeface="Arial" pitchFamily="34" charset="0"/>
              </a:rPr>
              <a:t>depoimentos e reviews</a:t>
            </a:r>
            <a:r>
              <a:rPr lang="pt-BR" dirty="0" smtClean="0">
                <a:solidFill>
                  <a:schemeClr val="bg1">
                    <a:lumMod val="50000"/>
                  </a:schemeClr>
                </a:solidFill>
                <a:latin typeface="Arial" pitchFamily="34" charset="0"/>
                <a:cs typeface="Arial" pitchFamily="34" charset="0"/>
              </a:rPr>
              <a:t>, e que permitem um </a:t>
            </a:r>
            <a:r>
              <a:rPr lang="pt-BR" b="1" dirty="0" smtClean="0">
                <a:solidFill>
                  <a:srgbClr val="FFC000"/>
                </a:solidFill>
                <a:latin typeface="Arial" pitchFamily="34" charset="0"/>
                <a:cs typeface="Arial" pitchFamily="34" charset="0"/>
              </a:rPr>
              <a:t>link para você</a:t>
            </a:r>
            <a:r>
              <a:rPr lang="pt-BR" dirty="0" smtClean="0">
                <a:solidFill>
                  <a:schemeClr val="bg1">
                    <a:lumMod val="50000"/>
                  </a:schemeClr>
                </a:solidFill>
                <a:latin typeface="Arial" pitchFamily="34" charset="0"/>
                <a:cs typeface="Arial" pitchFamily="34" charset="0"/>
              </a:rPr>
              <a:t>.</a:t>
            </a:r>
          </a:p>
          <a:p>
            <a:pPr>
              <a:buNone/>
            </a:pPr>
            <a:endParaRPr lang="pt-BR" dirty="0" smtClean="0">
              <a:solidFill>
                <a:schemeClr val="tx1">
                  <a:lumMod val="65000"/>
                  <a:lumOff val="35000"/>
                </a:schemeClr>
              </a:solidFill>
              <a:latin typeface="Arial" pitchFamily="34" charset="0"/>
              <a:cs typeface="Arial" pitchFamily="34" charset="0"/>
            </a:endParaRPr>
          </a:p>
          <a:p>
            <a:pPr>
              <a:buNone/>
            </a:pPr>
            <a:endParaRPr lang="pt-BR" dirty="0" smtClean="0">
              <a:solidFill>
                <a:schemeClr val="tx1">
                  <a:lumMod val="65000"/>
                  <a:lumOff val="35000"/>
                </a:schemeClr>
              </a:solidFill>
              <a:latin typeface="Arial" pitchFamily="34" charset="0"/>
              <a:cs typeface="Arial" pitchFamily="34" charset="0"/>
            </a:endParaRPr>
          </a:p>
          <a:p>
            <a:pPr>
              <a:buNone/>
            </a:pPr>
            <a:r>
              <a:rPr lang="pt-BR" dirty="0" smtClean="0">
                <a:solidFill>
                  <a:srgbClr val="FFC000"/>
                </a:solidFill>
                <a:latin typeface="Arial" pitchFamily="34" charset="0"/>
                <a:cs typeface="Arial" pitchFamily="34" charset="0"/>
              </a:rPr>
              <a:t>"palavra chave" + "enviar depoimento"</a:t>
            </a:r>
          </a:p>
          <a:p>
            <a:pPr>
              <a:buNone/>
            </a:pPr>
            <a:r>
              <a:rPr lang="pt-BR" dirty="0" smtClean="0">
                <a:solidFill>
                  <a:srgbClr val="FFC000"/>
                </a:solidFill>
                <a:latin typeface="Arial" pitchFamily="34" charset="0"/>
                <a:cs typeface="Arial" pitchFamily="34" charset="0"/>
              </a:rPr>
              <a:t>"palavra chave" + "envie seu depoimento"</a:t>
            </a:r>
          </a:p>
          <a:p>
            <a:pPr>
              <a:buNone/>
            </a:pPr>
            <a:r>
              <a:rPr lang="pt-BR" dirty="0" smtClean="0">
                <a:solidFill>
                  <a:srgbClr val="FFC000"/>
                </a:solidFill>
                <a:latin typeface="Arial" pitchFamily="34" charset="0"/>
                <a:cs typeface="Arial" pitchFamily="34" charset="0"/>
              </a:rPr>
              <a:t>"palavra chave" + "deixar depoimento"</a:t>
            </a:r>
          </a:p>
          <a:p>
            <a:pPr>
              <a:buNone/>
            </a:pPr>
            <a:r>
              <a:rPr lang="pt-BR" dirty="0" smtClean="0">
                <a:solidFill>
                  <a:srgbClr val="FFC000"/>
                </a:solidFill>
                <a:latin typeface="Arial" pitchFamily="34" charset="0"/>
                <a:cs typeface="Arial" pitchFamily="34" charset="0"/>
              </a:rPr>
              <a:t>"palavra chave" + "deixe seu depoimento"</a:t>
            </a:r>
          </a:p>
          <a:p>
            <a:pPr>
              <a:buNone/>
            </a:pPr>
            <a:r>
              <a:rPr lang="pt-BR" dirty="0" smtClean="0">
                <a:solidFill>
                  <a:srgbClr val="FFC000"/>
                </a:solidFill>
                <a:latin typeface="Arial" pitchFamily="34" charset="0"/>
                <a:cs typeface="Arial" pitchFamily="34" charset="0"/>
              </a:rPr>
              <a:t>"palavra chave" + "enviar </a:t>
            </a:r>
            <a:r>
              <a:rPr lang="pt-BR" dirty="0" err="1" smtClean="0">
                <a:solidFill>
                  <a:srgbClr val="FFC000"/>
                </a:solidFill>
                <a:latin typeface="Arial" pitchFamily="34" charset="0"/>
                <a:cs typeface="Arial" pitchFamily="34" charset="0"/>
              </a:rPr>
              <a:t>review</a:t>
            </a:r>
            <a:r>
              <a:rPr lang="pt-BR" dirty="0" smtClean="0">
                <a:solidFill>
                  <a:srgbClr val="FFC000"/>
                </a:solidFill>
                <a:latin typeface="Arial" pitchFamily="34" charset="0"/>
                <a:cs typeface="Arial" pitchFamily="34" charset="0"/>
              </a:rPr>
              <a:t>"</a:t>
            </a:r>
          </a:p>
          <a:p>
            <a:pPr>
              <a:buNone/>
            </a:pPr>
            <a:r>
              <a:rPr lang="pt-BR" dirty="0" smtClean="0">
                <a:solidFill>
                  <a:srgbClr val="FFC000"/>
                </a:solidFill>
                <a:latin typeface="Arial" pitchFamily="34" charset="0"/>
                <a:cs typeface="Arial" pitchFamily="34" charset="0"/>
              </a:rPr>
              <a:t>"palavra chave" + "deixe seu </a:t>
            </a:r>
            <a:r>
              <a:rPr lang="pt-BR" dirty="0" err="1" smtClean="0">
                <a:solidFill>
                  <a:srgbClr val="FFC000"/>
                </a:solidFill>
                <a:latin typeface="Arial" pitchFamily="34" charset="0"/>
                <a:cs typeface="Arial" pitchFamily="34" charset="0"/>
              </a:rPr>
              <a:t>review</a:t>
            </a:r>
            <a:r>
              <a:rPr lang="pt-BR" dirty="0" smtClean="0">
                <a:solidFill>
                  <a:srgbClr val="FFC000"/>
                </a:solidFill>
                <a:latin typeface="Arial" pitchFamily="34" charset="0"/>
                <a:cs typeface="Arial" pitchFamily="34" charset="0"/>
              </a:rPr>
              <a:t>"</a:t>
            </a:r>
          </a:p>
          <a:p>
            <a:pPr>
              <a:buNone/>
            </a:pPr>
            <a:r>
              <a:rPr lang="pt-BR" dirty="0" smtClean="0">
                <a:solidFill>
                  <a:srgbClr val="FFC000"/>
                </a:solidFill>
                <a:latin typeface="Arial" pitchFamily="34" charset="0"/>
                <a:cs typeface="Arial" pitchFamily="34" charset="0"/>
              </a:rPr>
              <a:t>"palavra chave" + "</a:t>
            </a:r>
            <a:r>
              <a:rPr lang="pt-BR" dirty="0" err="1" smtClean="0">
                <a:solidFill>
                  <a:srgbClr val="FFC000"/>
                </a:solidFill>
                <a:latin typeface="Arial" pitchFamily="34" charset="0"/>
                <a:cs typeface="Arial" pitchFamily="34" charset="0"/>
              </a:rPr>
              <a:t>testimonial</a:t>
            </a:r>
            <a:r>
              <a:rPr lang="pt-BR" dirty="0" smtClean="0">
                <a:solidFill>
                  <a:srgbClr val="FFC000"/>
                </a:solidFill>
                <a:latin typeface="Arial" pitchFamily="34" charset="0"/>
                <a:cs typeface="Arial" pitchFamily="34" charset="0"/>
              </a:rPr>
              <a:t>"</a:t>
            </a:r>
            <a:endParaRPr lang="pt-BR" sz="2100" dirty="0" smtClean="0">
              <a:solidFill>
                <a:srgbClr val="FFC000"/>
              </a:solidFill>
              <a:latin typeface="Arial" pitchFamily="34" charset="0"/>
              <a:cs typeface="Arial" pitchFamily="34" charset="0"/>
            </a:endParaRPr>
          </a:p>
        </p:txBody>
      </p:sp>
      <p:sp>
        <p:nvSpPr>
          <p:cNvPr id="5" name="Título 1"/>
          <p:cNvSpPr txBox="1">
            <a:spLocks/>
          </p:cNvSpPr>
          <p:nvPr/>
        </p:nvSpPr>
        <p:spPr>
          <a:xfrm>
            <a:off x="611560" y="476672"/>
            <a:ext cx="8229600" cy="1143000"/>
          </a:xfrm>
          <a:prstGeom prst="rect">
            <a:avLst/>
          </a:prstGeom>
        </p:spPr>
        <p:txBody>
          <a:bodyPr vert="horz" lIns="91440" tIns="45720" rIns="91440" bIns="45720" rtlCol="0" anchor="ct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pt-BR" sz="4400" b="0"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Explorando </a:t>
            </a:r>
            <a:r>
              <a:rPr kumimoji="0" lang="pt-BR" sz="6600" b="1"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Oportunidades</a:t>
            </a:r>
            <a:endParaRPr kumimoji="0" lang="en-US" sz="6600" b="0" i="0" u="none" strike="noStrike" kern="1200" cap="none" spc="0" normalizeH="0" baseline="0" noProof="0" dirty="0">
              <a:ln>
                <a:noFill/>
              </a:ln>
              <a:solidFill>
                <a:srgbClr val="FFC000"/>
              </a:solidFill>
              <a:effectLst/>
              <a:uLnTx/>
              <a:uFillTx/>
              <a:latin typeface="Arial" pitchFamily="34" charset="0"/>
              <a:ea typeface="+mj-ea"/>
              <a:cs typeface="Arial" pitchFamily="34"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Espaço Reservado para Conteúdo 2"/>
          <p:cNvSpPr>
            <a:spLocks noGrp="1"/>
          </p:cNvSpPr>
          <p:nvPr>
            <p:ph idx="1"/>
          </p:nvPr>
        </p:nvSpPr>
        <p:spPr>
          <a:xfrm>
            <a:off x="251520" y="1744216"/>
            <a:ext cx="8640960" cy="5069160"/>
          </a:xfrm>
        </p:spPr>
        <p:txBody>
          <a:bodyPr>
            <a:normAutofit fontScale="70000" lnSpcReduction="20000"/>
          </a:bodyPr>
          <a:lstStyle/>
          <a:p>
            <a:pPr>
              <a:buNone/>
            </a:pPr>
            <a:endParaRPr lang="pt-BR" b="1" dirty="0" smtClean="0">
              <a:solidFill>
                <a:srgbClr val="FFC000"/>
              </a:solidFill>
              <a:latin typeface="Arial" pitchFamily="34" charset="0"/>
              <a:cs typeface="Arial" pitchFamily="34" charset="0"/>
            </a:endParaRPr>
          </a:p>
          <a:p>
            <a:pPr>
              <a:buNone/>
            </a:pPr>
            <a:r>
              <a:rPr lang="pt-BR" b="1" dirty="0" smtClean="0">
                <a:solidFill>
                  <a:srgbClr val="FFC000"/>
                </a:solidFill>
                <a:latin typeface="Arial" pitchFamily="34" charset="0"/>
                <a:cs typeface="Arial" pitchFamily="34" charset="0"/>
              </a:rPr>
              <a:t>Sugestão de Onde encontrar</a:t>
            </a:r>
          </a:p>
          <a:p>
            <a:endParaRPr lang="pt-BR" dirty="0" smtClean="0">
              <a:solidFill>
                <a:schemeClr val="bg1">
                  <a:lumMod val="50000"/>
                </a:schemeClr>
              </a:solidFill>
              <a:latin typeface="Arial" pitchFamily="34" charset="0"/>
              <a:cs typeface="Arial" pitchFamily="34" charset="0"/>
            </a:endParaRPr>
          </a:p>
          <a:p>
            <a:r>
              <a:rPr lang="pt-BR" dirty="0" smtClean="0">
                <a:solidFill>
                  <a:schemeClr val="bg1">
                    <a:lumMod val="50000"/>
                  </a:schemeClr>
                </a:solidFill>
                <a:latin typeface="Arial" pitchFamily="34" charset="0"/>
                <a:cs typeface="Arial" pitchFamily="34" charset="0"/>
              </a:rPr>
              <a:t>Busque por sites que sugerem locais para </a:t>
            </a:r>
            <a:r>
              <a:rPr lang="pt-BR" b="1" dirty="0" smtClean="0">
                <a:solidFill>
                  <a:srgbClr val="FFC000"/>
                </a:solidFill>
                <a:latin typeface="Arial" pitchFamily="34" charset="0"/>
                <a:cs typeface="Arial" pitchFamily="34" charset="0"/>
              </a:rPr>
              <a:t>compra de produtos</a:t>
            </a:r>
            <a:r>
              <a:rPr lang="pt-BR" dirty="0" smtClean="0">
                <a:solidFill>
                  <a:srgbClr val="FFC000"/>
                </a:solidFill>
                <a:latin typeface="Arial" pitchFamily="34" charset="0"/>
                <a:cs typeface="Arial" pitchFamily="34" charset="0"/>
              </a:rPr>
              <a:t>, </a:t>
            </a:r>
            <a:r>
              <a:rPr lang="pt-BR" b="1" dirty="0" smtClean="0">
                <a:solidFill>
                  <a:srgbClr val="FFC000"/>
                </a:solidFill>
                <a:latin typeface="Arial" pitchFamily="34" charset="0"/>
                <a:cs typeface="Arial" pitchFamily="34" charset="0"/>
              </a:rPr>
              <a:t>ou serviços</a:t>
            </a:r>
            <a:r>
              <a:rPr lang="pt-BR" dirty="0" smtClean="0">
                <a:solidFill>
                  <a:schemeClr val="bg1">
                    <a:lumMod val="50000"/>
                  </a:schemeClr>
                </a:solidFill>
                <a:latin typeface="Arial" pitchFamily="34" charset="0"/>
                <a:cs typeface="Arial" pitchFamily="34" charset="0"/>
              </a:rPr>
              <a:t>, e entre em contato para você ser </a:t>
            </a:r>
            <a:r>
              <a:rPr lang="pt-BR" b="1" dirty="0" smtClean="0">
                <a:solidFill>
                  <a:srgbClr val="FFC000"/>
                </a:solidFill>
                <a:latin typeface="Arial" pitchFamily="34" charset="0"/>
                <a:cs typeface="Arial" pitchFamily="34" charset="0"/>
              </a:rPr>
              <a:t>referenciado</a:t>
            </a:r>
            <a:r>
              <a:rPr lang="pt-BR" dirty="0" smtClean="0">
                <a:solidFill>
                  <a:schemeClr val="bg1">
                    <a:lumMod val="50000"/>
                  </a:schemeClr>
                </a:solidFill>
                <a:latin typeface="Arial" pitchFamily="34" charset="0"/>
                <a:cs typeface="Arial" pitchFamily="34" charset="0"/>
              </a:rPr>
              <a:t>.</a:t>
            </a:r>
          </a:p>
          <a:p>
            <a:pPr>
              <a:buNone/>
            </a:pPr>
            <a:r>
              <a:rPr lang="pt-BR" dirty="0" smtClean="0">
                <a:solidFill>
                  <a:schemeClr val="bg1">
                    <a:lumMod val="50000"/>
                  </a:schemeClr>
                </a:solidFill>
                <a:latin typeface="Arial" pitchFamily="34" charset="0"/>
                <a:cs typeface="Arial" pitchFamily="34" charset="0"/>
              </a:rPr>
              <a:t> </a:t>
            </a:r>
            <a:endParaRPr lang="pt-BR" dirty="0" smtClean="0">
              <a:latin typeface="Arial" pitchFamily="34" charset="0"/>
              <a:cs typeface="Arial" pitchFamily="34" charset="0"/>
            </a:endParaRPr>
          </a:p>
          <a:p>
            <a:pPr>
              <a:buNone/>
            </a:pPr>
            <a:r>
              <a:rPr lang="pt-BR" dirty="0" smtClean="0">
                <a:solidFill>
                  <a:srgbClr val="FFC000"/>
                </a:solidFill>
                <a:latin typeface="Arial" pitchFamily="34" charset="0"/>
                <a:cs typeface="Arial" pitchFamily="34" charset="0"/>
              </a:rPr>
              <a:t>"palavra chave" + “</a:t>
            </a:r>
            <a:r>
              <a:rPr lang="pt-BR" dirty="0" err="1" smtClean="0">
                <a:solidFill>
                  <a:srgbClr val="FFC000"/>
                </a:solidFill>
                <a:latin typeface="Arial" pitchFamily="34" charset="0"/>
                <a:cs typeface="Arial" pitchFamily="34" charset="0"/>
              </a:rPr>
              <a:t>resources</a:t>
            </a:r>
            <a:r>
              <a:rPr lang="pt-BR" dirty="0" smtClean="0">
                <a:solidFill>
                  <a:srgbClr val="FFC000"/>
                </a:solidFill>
                <a:latin typeface="Arial" pitchFamily="34" charset="0"/>
                <a:cs typeface="Arial" pitchFamily="34" charset="0"/>
              </a:rPr>
              <a:t>” </a:t>
            </a:r>
          </a:p>
          <a:p>
            <a:pPr>
              <a:buNone/>
            </a:pPr>
            <a:r>
              <a:rPr lang="pt-BR" dirty="0" smtClean="0">
                <a:solidFill>
                  <a:srgbClr val="FFC000"/>
                </a:solidFill>
                <a:latin typeface="Arial" pitchFamily="34" charset="0"/>
                <a:cs typeface="Arial" pitchFamily="34" charset="0"/>
              </a:rPr>
              <a:t>"palavra chave" + “</a:t>
            </a:r>
            <a:r>
              <a:rPr lang="pt-BR" dirty="0" err="1" smtClean="0">
                <a:solidFill>
                  <a:srgbClr val="FFC000"/>
                </a:solidFill>
                <a:latin typeface="Arial" pitchFamily="34" charset="0"/>
                <a:cs typeface="Arial" pitchFamily="34" charset="0"/>
              </a:rPr>
              <a:t>where</a:t>
            </a:r>
            <a:r>
              <a:rPr lang="pt-BR" dirty="0" smtClean="0">
                <a:solidFill>
                  <a:srgbClr val="FFC000"/>
                </a:solidFill>
                <a:latin typeface="Arial" pitchFamily="34" charset="0"/>
                <a:cs typeface="Arial" pitchFamily="34" charset="0"/>
              </a:rPr>
              <a:t> to </a:t>
            </a:r>
            <a:r>
              <a:rPr lang="pt-BR" dirty="0" err="1" smtClean="0">
                <a:solidFill>
                  <a:srgbClr val="FFC000"/>
                </a:solidFill>
                <a:latin typeface="Arial" pitchFamily="34" charset="0"/>
                <a:cs typeface="Arial" pitchFamily="34" charset="0"/>
              </a:rPr>
              <a:t>buy</a:t>
            </a:r>
            <a:r>
              <a:rPr lang="pt-BR" dirty="0" smtClean="0">
                <a:solidFill>
                  <a:srgbClr val="FFC000"/>
                </a:solidFill>
                <a:latin typeface="Arial" pitchFamily="34" charset="0"/>
                <a:cs typeface="Arial" pitchFamily="34" charset="0"/>
              </a:rPr>
              <a:t>”</a:t>
            </a:r>
          </a:p>
          <a:p>
            <a:pPr>
              <a:buNone/>
            </a:pPr>
            <a:r>
              <a:rPr lang="pt-BR" dirty="0" smtClean="0">
                <a:solidFill>
                  <a:srgbClr val="FFC000"/>
                </a:solidFill>
                <a:latin typeface="Arial" pitchFamily="34" charset="0"/>
                <a:cs typeface="Arial" pitchFamily="34" charset="0"/>
              </a:rPr>
              <a:t>"palavra-chave" + "onde comprar"</a:t>
            </a:r>
          </a:p>
          <a:p>
            <a:pPr>
              <a:buNone/>
            </a:pPr>
            <a:r>
              <a:rPr lang="pt-BR" dirty="0" smtClean="0">
                <a:solidFill>
                  <a:srgbClr val="FFC000"/>
                </a:solidFill>
                <a:latin typeface="Arial" pitchFamily="34" charset="0"/>
                <a:cs typeface="Arial" pitchFamily="34" charset="0"/>
              </a:rPr>
              <a:t>"palavra-chave" + "comprar em"</a:t>
            </a:r>
          </a:p>
          <a:p>
            <a:pPr>
              <a:buNone/>
            </a:pPr>
            <a:r>
              <a:rPr lang="pt-BR" dirty="0" smtClean="0">
                <a:solidFill>
                  <a:srgbClr val="FFC000"/>
                </a:solidFill>
                <a:latin typeface="Arial" pitchFamily="34" charset="0"/>
                <a:cs typeface="Arial" pitchFamily="34" charset="0"/>
              </a:rPr>
              <a:t>"palavra-chave" + "encontre em"</a:t>
            </a:r>
          </a:p>
          <a:p>
            <a:pPr>
              <a:buNone/>
            </a:pPr>
            <a:r>
              <a:rPr lang="pt-BR" dirty="0" smtClean="0">
                <a:solidFill>
                  <a:srgbClr val="FFC000"/>
                </a:solidFill>
                <a:latin typeface="Arial" pitchFamily="34" charset="0"/>
                <a:cs typeface="Arial" pitchFamily="34" charset="0"/>
              </a:rPr>
              <a:t>"palavra-chave" + "onde encontrar"</a:t>
            </a:r>
          </a:p>
          <a:p>
            <a:pPr>
              <a:buNone/>
            </a:pPr>
            <a:r>
              <a:rPr lang="pt-BR" dirty="0" smtClean="0">
                <a:solidFill>
                  <a:srgbClr val="FFC000"/>
                </a:solidFill>
                <a:latin typeface="Arial" pitchFamily="34" charset="0"/>
                <a:cs typeface="Arial" pitchFamily="34" charset="0"/>
              </a:rPr>
              <a:t>"palavra-chave" + "onde achar"</a:t>
            </a:r>
          </a:p>
          <a:p>
            <a:pPr>
              <a:buNone/>
            </a:pPr>
            <a:r>
              <a:rPr lang="pt-BR" dirty="0" smtClean="0">
                <a:solidFill>
                  <a:srgbClr val="FFC000"/>
                </a:solidFill>
                <a:latin typeface="Arial" pitchFamily="34" charset="0"/>
                <a:cs typeface="Arial" pitchFamily="34" charset="0"/>
              </a:rPr>
              <a:t>"palavra-chave" + "lojas relacionadas"</a:t>
            </a:r>
            <a:endParaRPr lang="pt-BR" sz="2100" dirty="0" smtClean="0">
              <a:solidFill>
                <a:srgbClr val="FFC000"/>
              </a:solidFill>
              <a:latin typeface="Arial" pitchFamily="34" charset="0"/>
              <a:cs typeface="Arial" pitchFamily="34" charset="0"/>
            </a:endParaRPr>
          </a:p>
        </p:txBody>
      </p:sp>
      <p:sp>
        <p:nvSpPr>
          <p:cNvPr id="5" name="Título 1"/>
          <p:cNvSpPr txBox="1">
            <a:spLocks/>
          </p:cNvSpPr>
          <p:nvPr/>
        </p:nvSpPr>
        <p:spPr>
          <a:xfrm>
            <a:off x="611560" y="476672"/>
            <a:ext cx="8229600" cy="1143000"/>
          </a:xfrm>
          <a:prstGeom prst="rect">
            <a:avLst/>
          </a:prstGeom>
        </p:spPr>
        <p:txBody>
          <a:bodyPr vert="horz" lIns="91440" tIns="45720" rIns="91440" bIns="45720" rtlCol="0" anchor="ct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pt-BR" sz="4400" b="0"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Explorando </a:t>
            </a:r>
            <a:r>
              <a:rPr kumimoji="0" lang="pt-BR" sz="6600" b="1"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Oportunidades</a:t>
            </a:r>
            <a:endParaRPr kumimoji="0" lang="en-US" sz="6600" b="0" i="0" u="none" strike="noStrike" kern="1200" cap="none" spc="0" normalizeH="0" baseline="0" noProof="0" dirty="0">
              <a:ln>
                <a:noFill/>
              </a:ln>
              <a:solidFill>
                <a:srgbClr val="FFC000"/>
              </a:solidFill>
              <a:effectLst/>
              <a:uLnTx/>
              <a:uFillTx/>
              <a:latin typeface="Arial" pitchFamily="34" charset="0"/>
              <a:ea typeface="+mj-ea"/>
              <a:cs typeface="Arial"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Espaço Reservado para Conteúdo 2"/>
          <p:cNvSpPr>
            <a:spLocks noGrp="1"/>
          </p:cNvSpPr>
          <p:nvPr>
            <p:ph idx="1"/>
          </p:nvPr>
        </p:nvSpPr>
        <p:spPr>
          <a:xfrm>
            <a:off x="251520" y="1600200"/>
            <a:ext cx="8640960" cy="4997152"/>
          </a:xfrm>
        </p:spPr>
        <p:txBody>
          <a:bodyPr>
            <a:normAutofit fontScale="92500" lnSpcReduction="20000"/>
          </a:bodyPr>
          <a:lstStyle/>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r>
              <a:rPr lang="pt-BR" dirty="0" smtClean="0">
                <a:solidFill>
                  <a:schemeClr val="bg1">
                    <a:lumMod val="50000"/>
                  </a:schemeClr>
                </a:solidFill>
                <a:latin typeface="Arial" pitchFamily="34" charset="0"/>
                <a:cs typeface="Arial" pitchFamily="34" charset="0"/>
              </a:rPr>
              <a:t>Campanha </a:t>
            </a:r>
            <a:r>
              <a:rPr lang="pt-BR" b="1" dirty="0" smtClean="0">
                <a:solidFill>
                  <a:srgbClr val="FFC000"/>
                </a:solidFill>
                <a:latin typeface="Arial" pitchFamily="34" charset="0"/>
                <a:cs typeface="Arial" pitchFamily="34" charset="0"/>
              </a:rPr>
              <a:t>Viral</a:t>
            </a:r>
            <a:r>
              <a:rPr lang="pt-BR" dirty="0" smtClean="0">
                <a:solidFill>
                  <a:schemeClr val="bg1">
                    <a:lumMod val="50000"/>
                  </a:schemeClr>
                </a:solidFill>
                <a:latin typeface="Arial" pitchFamily="34" charset="0"/>
                <a:cs typeface="Arial" pitchFamily="34" charset="0"/>
              </a:rPr>
              <a:t> (vídeos e imagens);</a:t>
            </a:r>
          </a:p>
          <a:p>
            <a:pPr>
              <a:buNone/>
            </a:pPr>
            <a:r>
              <a:rPr lang="pt-BR" dirty="0" smtClean="0">
                <a:solidFill>
                  <a:schemeClr val="bg1">
                    <a:lumMod val="50000"/>
                  </a:schemeClr>
                </a:solidFill>
                <a:latin typeface="Arial" pitchFamily="34" charset="0"/>
                <a:cs typeface="Arial" pitchFamily="34" charset="0"/>
              </a:rPr>
              <a:t>   *Uso do </a:t>
            </a:r>
            <a:r>
              <a:rPr lang="pt-BR" b="1" dirty="0" smtClean="0">
                <a:solidFill>
                  <a:srgbClr val="FFC000"/>
                </a:solidFill>
                <a:latin typeface="Arial" pitchFamily="34" charset="0"/>
                <a:cs typeface="Arial" pitchFamily="34" charset="0"/>
              </a:rPr>
              <a:t>humor</a:t>
            </a:r>
            <a:r>
              <a:rPr lang="pt-BR" dirty="0" smtClean="0">
                <a:solidFill>
                  <a:schemeClr val="bg1">
                    <a:lumMod val="50000"/>
                  </a:schemeClr>
                </a:solidFill>
                <a:latin typeface="Arial" pitchFamily="34" charset="0"/>
                <a:cs typeface="Arial" pitchFamily="34" charset="0"/>
              </a:rPr>
              <a:t> funciona muito bem</a:t>
            </a:r>
          </a:p>
          <a:p>
            <a:endParaRPr lang="pt-BR" dirty="0" smtClean="0">
              <a:solidFill>
                <a:schemeClr val="bg1">
                  <a:lumMod val="50000"/>
                </a:schemeClr>
              </a:solidFill>
              <a:latin typeface="Arial" pitchFamily="34" charset="0"/>
              <a:cs typeface="Arial" pitchFamily="34" charset="0"/>
            </a:endParaRPr>
          </a:p>
          <a:p>
            <a:r>
              <a:rPr lang="pt-BR" dirty="0" smtClean="0">
                <a:solidFill>
                  <a:schemeClr val="bg1">
                    <a:lumMod val="50000"/>
                  </a:schemeClr>
                </a:solidFill>
                <a:latin typeface="Arial" pitchFamily="34" charset="0"/>
                <a:cs typeface="Arial" pitchFamily="34" charset="0"/>
              </a:rPr>
              <a:t>Infográficos;</a:t>
            </a:r>
          </a:p>
        </p:txBody>
      </p:sp>
      <p:sp>
        <p:nvSpPr>
          <p:cNvPr id="5" name="Título 1"/>
          <p:cNvSpPr txBox="1">
            <a:spLocks/>
          </p:cNvSpPr>
          <p:nvPr/>
        </p:nvSpPr>
        <p:spPr>
          <a:xfrm>
            <a:off x="611560" y="476672"/>
            <a:ext cx="8229600" cy="1143000"/>
          </a:xfrm>
          <a:prstGeom prst="rect">
            <a:avLst/>
          </a:prstGeom>
        </p:spPr>
        <p:txBody>
          <a:bodyPr vert="horz" lIns="91440" tIns="45720" rIns="91440" bIns="45720" rtlCol="0" anchor="ct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pt-BR" sz="4400" b="0"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Explorando </a:t>
            </a:r>
            <a:r>
              <a:rPr kumimoji="0" lang="pt-BR" sz="6600" b="1"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Oportunidades</a:t>
            </a:r>
            <a:endParaRPr kumimoji="0" lang="en-US" sz="6600" b="0" i="0" u="none" strike="noStrike" kern="1200" cap="none" spc="0" normalizeH="0" baseline="0" noProof="0" dirty="0">
              <a:ln>
                <a:noFill/>
              </a:ln>
              <a:solidFill>
                <a:srgbClr val="FFC000"/>
              </a:solidFill>
              <a:effectLst/>
              <a:uLnTx/>
              <a:uFillTx/>
              <a:latin typeface="Arial" pitchFamily="34" charset="0"/>
              <a:ea typeface="+mj-ea"/>
              <a:cs typeface="Arial" pitchFamily="34"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Espaço Reservado para Conteúdo 2"/>
          <p:cNvSpPr>
            <a:spLocks noGrp="1"/>
          </p:cNvSpPr>
          <p:nvPr>
            <p:ph idx="1"/>
          </p:nvPr>
        </p:nvSpPr>
        <p:spPr>
          <a:xfrm>
            <a:off x="251520" y="1600200"/>
            <a:ext cx="8640960" cy="5069160"/>
          </a:xfrm>
        </p:spPr>
        <p:txBody>
          <a:bodyPr>
            <a:normAutofit/>
          </a:bodyPr>
          <a:lstStyle/>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pPr>
              <a:buNone/>
            </a:pPr>
            <a:endParaRPr lang="pt-BR" dirty="0" smtClean="0">
              <a:latin typeface="Arial" pitchFamily="34" charset="0"/>
              <a:cs typeface="Arial" pitchFamily="34" charset="0"/>
            </a:endParaRPr>
          </a:p>
          <a:p>
            <a:r>
              <a:rPr lang="pt-BR" dirty="0" smtClean="0">
                <a:solidFill>
                  <a:srgbClr val="FFC000"/>
                </a:solidFill>
                <a:latin typeface="Arial" pitchFamily="34" charset="0"/>
                <a:cs typeface="Arial" pitchFamily="34" charset="0"/>
              </a:rPr>
              <a:t>Patrocínio</a:t>
            </a:r>
            <a:r>
              <a:rPr lang="pt-BR" dirty="0" smtClean="0">
                <a:solidFill>
                  <a:schemeClr val="bg1">
                    <a:lumMod val="50000"/>
                  </a:schemeClr>
                </a:solidFill>
                <a:latin typeface="Arial" pitchFamily="34" charset="0"/>
                <a:cs typeface="Arial" pitchFamily="34" charset="0"/>
              </a:rPr>
              <a:t> em Eventos.</a:t>
            </a:r>
            <a:endParaRPr lang="pt-BR" sz="2100" dirty="0" smtClean="0">
              <a:solidFill>
                <a:schemeClr val="bg1">
                  <a:lumMod val="50000"/>
                </a:schemeClr>
              </a:solidFill>
              <a:latin typeface="Arial" pitchFamily="34" charset="0"/>
              <a:cs typeface="Arial" pitchFamily="34" charset="0"/>
            </a:endParaRPr>
          </a:p>
        </p:txBody>
      </p:sp>
      <p:sp>
        <p:nvSpPr>
          <p:cNvPr id="5" name="Título 1"/>
          <p:cNvSpPr txBox="1">
            <a:spLocks/>
          </p:cNvSpPr>
          <p:nvPr/>
        </p:nvSpPr>
        <p:spPr>
          <a:xfrm>
            <a:off x="611560" y="476672"/>
            <a:ext cx="8229600" cy="1143000"/>
          </a:xfrm>
          <a:prstGeom prst="rect">
            <a:avLst/>
          </a:prstGeom>
        </p:spPr>
        <p:txBody>
          <a:bodyPr vert="horz" lIns="91440" tIns="45720" rIns="91440" bIns="45720" rtlCol="0" anchor="ct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pt-BR" sz="4400" b="0"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Explorando </a:t>
            </a:r>
            <a:r>
              <a:rPr kumimoji="0" lang="pt-BR" sz="6600" b="1"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Oportunidades</a:t>
            </a:r>
            <a:endParaRPr kumimoji="0" lang="en-US" sz="6600" b="0" i="0" u="none" strike="noStrike" kern="1200" cap="none" spc="0" normalizeH="0" baseline="0" noProof="0" dirty="0">
              <a:ln>
                <a:noFill/>
              </a:ln>
              <a:solidFill>
                <a:srgbClr val="FFC000"/>
              </a:solidFill>
              <a:effectLst/>
              <a:uLnTx/>
              <a:uFillTx/>
              <a:latin typeface="Arial" pitchFamily="34" charset="0"/>
              <a:ea typeface="+mj-ea"/>
              <a:cs typeface="Arial"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413792"/>
            <a:ext cx="8229600" cy="1143000"/>
          </a:xfrm>
        </p:spPr>
        <p:txBody>
          <a:bodyPr>
            <a:noAutofit/>
          </a:bodyPr>
          <a:lstStyle/>
          <a:p>
            <a:pPr algn="r"/>
            <a:r>
              <a:rPr lang="pt-BR" sz="6600" b="1" dirty="0" smtClean="0">
                <a:solidFill>
                  <a:srgbClr val="FFC000"/>
                </a:solidFill>
                <a:latin typeface="Arial" pitchFamily="34" charset="0"/>
                <a:cs typeface="Arial" pitchFamily="34" charset="0"/>
              </a:rPr>
              <a:t>Colaboração com </a:t>
            </a:r>
            <a:r>
              <a:rPr lang="pt-BR" b="1" dirty="0" smtClean="0">
                <a:solidFill>
                  <a:srgbClr val="FFC000"/>
                </a:solidFill>
                <a:latin typeface="Arial" pitchFamily="34" charset="0"/>
                <a:cs typeface="Arial" pitchFamily="34" charset="0"/>
              </a:rPr>
              <a:t>Instituições</a:t>
            </a:r>
            <a:endParaRPr lang="en-US" dirty="0">
              <a:solidFill>
                <a:srgbClr val="FFC0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fontScale="92500" lnSpcReduction="20000"/>
          </a:bodyPr>
          <a:lstStyle/>
          <a:p>
            <a:pPr algn="ctr">
              <a:buNone/>
            </a:pPr>
            <a:endParaRPr lang="pt-BR" dirty="0" smtClean="0">
              <a:latin typeface="Arial" pitchFamily="34" charset="0"/>
              <a:cs typeface="Arial" pitchFamily="34" charset="0"/>
            </a:endParaRPr>
          </a:p>
          <a:p>
            <a:pPr algn="ctr">
              <a:buNone/>
            </a:pPr>
            <a:r>
              <a:rPr lang="pt-BR" dirty="0" smtClean="0">
                <a:solidFill>
                  <a:schemeClr val="bg1">
                    <a:lumMod val="50000"/>
                  </a:schemeClr>
                </a:solidFill>
                <a:latin typeface="Arial" pitchFamily="34" charset="0"/>
                <a:cs typeface="Arial" pitchFamily="34" charset="0"/>
              </a:rPr>
              <a:t>"Faça uma doação e ajude o próximo, </a:t>
            </a:r>
          </a:p>
          <a:p>
            <a:pPr algn="ctr">
              <a:buNone/>
            </a:pPr>
            <a:r>
              <a:rPr lang="pt-BR" dirty="0" smtClean="0">
                <a:solidFill>
                  <a:schemeClr val="bg1">
                    <a:lumMod val="50000"/>
                  </a:schemeClr>
                </a:solidFill>
                <a:latin typeface="Arial" pitchFamily="34" charset="0"/>
                <a:cs typeface="Arial" pitchFamily="34" charset="0"/>
              </a:rPr>
              <a:t>Isso estará ajudando você"</a:t>
            </a:r>
          </a:p>
          <a:p>
            <a:pPr>
              <a:buNone/>
            </a:pPr>
            <a:endParaRPr lang="pt-BR" dirty="0" smtClean="0">
              <a:latin typeface="Arial" pitchFamily="34" charset="0"/>
              <a:cs typeface="Arial" pitchFamily="34" charset="0"/>
            </a:endParaRPr>
          </a:p>
          <a:p>
            <a:pPr>
              <a:buNone/>
            </a:pPr>
            <a:r>
              <a:rPr lang="pt-BR" sz="2300" dirty="0" smtClean="0">
                <a:solidFill>
                  <a:srgbClr val="FFC000"/>
                </a:solidFill>
                <a:latin typeface="Arial" pitchFamily="34" charset="0"/>
                <a:cs typeface="Arial" pitchFamily="34" charset="0"/>
              </a:rPr>
              <a:t>    * site:.org.br "Patrocinadores"</a:t>
            </a:r>
          </a:p>
          <a:p>
            <a:pPr>
              <a:buNone/>
            </a:pPr>
            <a:r>
              <a:rPr lang="pt-BR" sz="2300" dirty="0" smtClean="0">
                <a:solidFill>
                  <a:srgbClr val="FFC000"/>
                </a:solidFill>
                <a:latin typeface="Arial" pitchFamily="34" charset="0"/>
                <a:cs typeface="Arial" pitchFamily="34" charset="0"/>
              </a:rPr>
              <a:t>    * site:.</a:t>
            </a:r>
            <a:r>
              <a:rPr lang="pt-BR" sz="2300" dirty="0" err="1" smtClean="0">
                <a:solidFill>
                  <a:srgbClr val="FFC000"/>
                </a:solidFill>
                <a:latin typeface="Arial" pitchFamily="34" charset="0"/>
                <a:cs typeface="Arial" pitchFamily="34" charset="0"/>
              </a:rPr>
              <a:t>org.br</a:t>
            </a:r>
            <a:r>
              <a:rPr lang="pt-BR" sz="2300" dirty="0" smtClean="0">
                <a:solidFill>
                  <a:srgbClr val="FFC000"/>
                </a:solidFill>
                <a:latin typeface="Arial" pitchFamily="34" charset="0"/>
                <a:cs typeface="Arial" pitchFamily="34" charset="0"/>
              </a:rPr>
              <a:t> "Nossos Patrocinadores"</a:t>
            </a:r>
          </a:p>
          <a:p>
            <a:pPr>
              <a:buNone/>
            </a:pPr>
            <a:r>
              <a:rPr lang="pt-BR" sz="2300" dirty="0" smtClean="0">
                <a:solidFill>
                  <a:srgbClr val="FFC000"/>
                </a:solidFill>
                <a:latin typeface="Arial" pitchFamily="34" charset="0"/>
                <a:cs typeface="Arial" pitchFamily="34" charset="0"/>
              </a:rPr>
              <a:t>    * site:.</a:t>
            </a:r>
            <a:r>
              <a:rPr lang="pt-BR" sz="2300" dirty="0" err="1" smtClean="0">
                <a:solidFill>
                  <a:srgbClr val="FFC000"/>
                </a:solidFill>
                <a:latin typeface="Arial" pitchFamily="34" charset="0"/>
                <a:cs typeface="Arial" pitchFamily="34" charset="0"/>
              </a:rPr>
              <a:t>org.br</a:t>
            </a:r>
            <a:r>
              <a:rPr lang="pt-BR" sz="2300" dirty="0" smtClean="0">
                <a:solidFill>
                  <a:srgbClr val="FFC000"/>
                </a:solidFill>
                <a:latin typeface="Arial" pitchFamily="34" charset="0"/>
                <a:cs typeface="Arial" pitchFamily="34" charset="0"/>
              </a:rPr>
              <a:t> "Agradecimentos"</a:t>
            </a:r>
          </a:p>
          <a:p>
            <a:pPr>
              <a:buNone/>
            </a:pPr>
            <a:r>
              <a:rPr lang="pt-BR" sz="2300" dirty="0" smtClean="0">
                <a:solidFill>
                  <a:srgbClr val="FFC000"/>
                </a:solidFill>
                <a:latin typeface="Arial" pitchFamily="34" charset="0"/>
                <a:cs typeface="Arial" pitchFamily="34" charset="0"/>
              </a:rPr>
              <a:t>    * site:.</a:t>
            </a:r>
            <a:r>
              <a:rPr lang="pt-BR" sz="2300" dirty="0" err="1" smtClean="0">
                <a:solidFill>
                  <a:srgbClr val="FFC000"/>
                </a:solidFill>
                <a:latin typeface="Arial" pitchFamily="34" charset="0"/>
                <a:cs typeface="Arial" pitchFamily="34" charset="0"/>
              </a:rPr>
              <a:t>org.br</a:t>
            </a:r>
            <a:r>
              <a:rPr lang="pt-BR" sz="2300" dirty="0" smtClean="0">
                <a:solidFill>
                  <a:srgbClr val="FFC000"/>
                </a:solidFill>
                <a:latin typeface="Arial" pitchFamily="34" charset="0"/>
                <a:cs typeface="Arial" pitchFamily="34" charset="0"/>
              </a:rPr>
              <a:t> "Apoio"</a:t>
            </a:r>
          </a:p>
          <a:p>
            <a:pPr>
              <a:buNone/>
            </a:pPr>
            <a:r>
              <a:rPr lang="pt-BR" sz="2300" dirty="0" smtClean="0">
                <a:solidFill>
                  <a:srgbClr val="FFC000"/>
                </a:solidFill>
                <a:latin typeface="Arial" pitchFamily="34" charset="0"/>
                <a:cs typeface="Arial" pitchFamily="34" charset="0"/>
              </a:rPr>
              <a:t>    * site:.</a:t>
            </a:r>
            <a:r>
              <a:rPr lang="pt-BR" sz="2300" dirty="0" err="1" smtClean="0">
                <a:solidFill>
                  <a:srgbClr val="FFC000"/>
                </a:solidFill>
                <a:latin typeface="Arial" pitchFamily="34" charset="0"/>
                <a:cs typeface="Arial" pitchFamily="34" charset="0"/>
              </a:rPr>
              <a:t>org.br</a:t>
            </a:r>
            <a:r>
              <a:rPr lang="pt-BR" sz="2300" dirty="0" smtClean="0">
                <a:solidFill>
                  <a:srgbClr val="FFC000"/>
                </a:solidFill>
                <a:latin typeface="Arial" pitchFamily="34" charset="0"/>
                <a:cs typeface="Arial" pitchFamily="34" charset="0"/>
              </a:rPr>
              <a:t> "Apadrinhe agora"</a:t>
            </a:r>
          </a:p>
          <a:p>
            <a:pPr>
              <a:buNone/>
            </a:pPr>
            <a:r>
              <a:rPr lang="pt-BR" sz="2300" dirty="0" smtClean="0">
                <a:solidFill>
                  <a:srgbClr val="FFC000"/>
                </a:solidFill>
                <a:latin typeface="Arial" pitchFamily="34" charset="0"/>
                <a:cs typeface="Arial" pitchFamily="34" charset="0"/>
              </a:rPr>
              <a:t>    * site:.</a:t>
            </a:r>
            <a:r>
              <a:rPr lang="pt-BR" sz="2300" dirty="0" err="1" smtClean="0">
                <a:solidFill>
                  <a:srgbClr val="FFC000"/>
                </a:solidFill>
                <a:latin typeface="Arial" pitchFamily="34" charset="0"/>
                <a:cs typeface="Arial" pitchFamily="34" charset="0"/>
              </a:rPr>
              <a:t>org.br</a:t>
            </a:r>
            <a:r>
              <a:rPr lang="pt-BR" sz="2300" dirty="0" smtClean="0">
                <a:solidFill>
                  <a:srgbClr val="FFC000"/>
                </a:solidFill>
                <a:latin typeface="Arial" pitchFamily="34" charset="0"/>
                <a:cs typeface="Arial" pitchFamily="34" charset="0"/>
              </a:rPr>
              <a:t> "Nossos Doadores"</a:t>
            </a:r>
          </a:p>
          <a:p>
            <a:pPr>
              <a:buNone/>
            </a:pPr>
            <a:r>
              <a:rPr lang="pt-BR" sz="2300" dirty="0" smtClean="0">
                <a:solidFill>
                  <a:srgbClr val="FFC000"/>
                </a:solidFill>
                <a:latin typeface="Arial" pitchFamily="34" charset="0"/>
                <a:cs typeface="Arial" pitchFamily="34" charset="0"/>
              </a:rPr>
              <a:t>    * site:.</a:t>
            </a:r>
            <a:r>
              <a:rPr lang="pt-BR" sz="2300" dirty="0" err="1" smtClean="0">
                <a:solidFill>
                  <a:srgbClr val="FFC000"/>
                </a:solidFill>
                <a:latin typeface="Arial" pitchFamily="34" charset="0"/>
                <a:cs typeface="Arial" pitchFamily="34" charset="0"/>
              </a:rPr>
              <a:t>org.br</a:t>
            </a:r>
            <a:r>
              <a:rPr lang="pt-BR" sz="2300" dirty="0" smtClean="0">
                <a:solidFill>
                  <a:srgbClr val="FFC000"/>
                </a:solidFill>
                <a:latin typeface="Arial" pitchFamily="34" charset="0"/>
                <a:cs typeface="Arial" pitchFamily="34" charset="0"/>
              </a:rPr>
              <a:t> "Nossos </a:t>
            </a:r>
            <a:r>
              <a:rPr lang="pt-BR" sz="2300" dirty="0" err="1" smtClean="0">
                <a:solidFill>
                  <a:srgbClr val="FFC000"/>
                </a:solidFill>
                <a:latin typeface="Arial" pitchFamily="34" charset="0"/>
                <a:cs typeface="Arial" pitchFamily="34" charset="0"/>
              </a:rPr>
              <a:t>Contribuidores</a:t>
            </a:r>
            <a:r>
              <a:rPr lang="pt-BR" sz="2300" dirty="0" smtClean="0">
                <a:solidFill>
                  <a:srgbClr val="FFC000"/>
                </a:solidFill>
                <a:latin typeface="Arial" pitchFamily="34" charset="0"/>
                <a:cs typeface="Arial" pitchFamily="34" charset="0"/>
              </a:rPr>
              <a:t>"</a:t>
            </a:r>
          </a:p>
          <a:p>
            <a:pPr>
              <a:buNone/>
            </a:pPr>
            <a:r>
              <a:rPr lang="pt-BR" sz="2300" dirty="0" smtClean="0">
                <a:solidFill>
                  <a:srgbClr val="FFC000"/>
                </a:solidFill>
                <a:latin typeface="Arial" pitchFamily="34" charset="0"/>
                <a:cs typeface="Arial" pitchFamily="34" charset="0"/>
              </a:rPr>
              <a:t>    * site:.</a:t>
            </a:r>
            <a:r>
              <a:rPr lang="pt-BR" sz="2300" dirty="0" err="1" smtClean="0">
                <a:solidFill>
                  <a:srgbClr val="FFC000"/>
                </a:solidFill>
                <a:latin typeface="Arial" pitchFamily="34" charset="0"/>
                <a:cs typeface="Arial" pitchFamily="34" charset="0"/>
              </a:rPr>
              <a:t>org.br</a:t>
            </a:r>
            <a:r>
              <a:rPr lang="pt-BR" sz="2300" dirty="0" smtClean="0">
                <a:solidFill>
                  <a:srgbClr val="FFC000"/>
                </a:solidFill>
                <a:latin typeface="Arial" pitchFamily="34" charset="0"/>
                <a:cs typeface="Arial" pitchFamily="34" charset="0"/>
              </a:rPr>
              <a:t> "Fundadores"</a:t>
            </a:r>
          </a:p>
          <a:p>
            <a:pPr>
              <a:buNone/>
            </a:pPr>
            <a:r>
              <a:rPr lang="pt-BR" sz="2300" dirty="0" smtClean="0">
                <a:solidFill>
                  <a:srgbClr val="FFC000"/>
                </a:solidFill>
                <a:latin typeface="Arial" pitchFamily="34" charset="0"/>
                <a:cs typeface="Arial" pitchFamily="34" charset="0"/>
              </a:rPr>
              <a:t>    * site:.</a:t>
            </a:r>
            <a:r>
              <a:rPr lang="pt-BR" sz="2300" dirty="0" err="1" smtClean="0">
                <a:solidFill>
                  <a:srgbClr val="FFC000"/>
                </a:solidFill>
                <a:latin typeface="Arial" pitchFamily="34" charset="0"/>
                <a:cs typeface="Arial" pitchFamily="34" charset="0"/>
              </a:rPr>
              <a:t>org.br</a:t>
            </a:r>
            <a:r>
              <a:rPr lang="pt-BR" sz="2300" dirty="0" smtClean="0">
                <a:solidFill>
                  <a:srgbClr val="FFC000"/>
                </a:solidFill>
                <a:latin typeface="Arial" pitchFamily="34" charset="0"/>
                <a:cs typeface="Arial" pitchFamily="34" charset="0"/>
              </a:rPr>
              <a:t> "Parceiros"</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Espaço Reservado para Conteúdo 2"/>
          <p:cNvSpPr>
            <a:spLocks noGrp="1"/>
          </p:cNvSpPr>
          <p:nvPr>
            <p:ph idx="1"/>
          </p:nvPr>
        </p:nvSpPr>
        <p:spPr>
          <a:xfrm>
            <a:off x="251520" y="1600200"/>
            <a:ext cx="8640960" cy="5069160"/>
          </a:xfrm>
        </p:spPr>
        <p:txBody>
          <a:bodyPr>
            <a:normAutofit lnSpcReduction="10000"/>
          </a:bodyPr>
          <a:lstStyle/>
          <a:p>
            <a:pPr algn="ctr">
              <a:buNone/>
            </a:pPr>
            <a:endParaRPr lang="pt-BR" dirty="0" smtClean="0">
              <a:latin typeface="Arial" pitchFamily="34" charset="0"/>
              <a:cs typeface="Arial" pitchFamily="34" charset="0"/>
            </a:endParaRPr>
          </a:p>
          <a:p>
            <a:pPr algn="ctr">
              <a:buNone/>
            </a:pPr>
            <a:endParaRPr lang="pt-BR" dirty="0" smtClean="0">
              <a:solidFill>
                <a:schemeClr val="tx1">
                  <a:lumMod val="65000"/>
                  <a:lumOff val="35000"/>
                </a:schemeClr>
              </a:solidFill>
              <a:latin typeface="Arial" pitchFamily="34" charset="0"/>
              <a:cs typeface="Arial" pitchFamily="34" charset="0"/>
            </a:endParaRPr>
          </a:p>
          <a:p>
            <a:pPr algn="ctr">
              <a:buNone/>
            </a:pPr>
            <a:r>
              <a:rPr lang="pt-BR" b="1" dirty="0" smtClean="0">
                <a:solidFill>
                  <a:srgbClr val="FFC000"/>
                </a:solidFill>
                <a:latin typeface="Arial" pitchFamily="34" charset="0"/>
                <a:cs typeface="Arial" pitchFamily="34" charset="0"/>
              </a:rPr>
              <a:t>Fortaleça seus links externos</a:t>
            </a:r>
          </a:p>
          <a:p>
            <a:pPr algn="ctr">
              <a:buNone/>
            </a:pPr>
            <a:endParaRPr lang="pt-BR" sz="2400" dirty="0" smtClean="0">
              <a:solidFill>
                <a:schemeClr val="bg1">
                  <a:lumMod val="50000"/>
                </a:schemeClr>
              </a:solidFill>
              <a:latin typeface="Arial" pitchFamily="34" charset="0"/>
              <a:cs typeface="Arial" pitchFamily="34" charset="0"/>
            </a:endParaRPr>
          </a:p>
          <a:p>
            <a:pPr algn="ctr">
              <a:buNone/>
            </a:pPr>
            <a:endParaRPr lang="pt-BR" sz="2400" dirty="0" smtClean="0">
              <a:solidFill>
                <a:schemeClr val="bg1">
                  <a:lumMod val="50000"/>
                </a:schemeClr>
              </a:solidFill>
              <a:latin typeface="Arial" pitchFamily="34" charset="0"/>
              <a:cs typeface="Arial" pitchFamily="34" charset="0"/>
            </a:endParaRPr>
          </a:p>
          <a:p>
            <a:pPr algn="ctr">
              <a:buNone/>
            </a:pPr>
            <a:endParaRPr lang="pt-BR" sz="2400" dirty="0" smtClean="0">
              <a:solidFill>
                <a:schemeClr val="bg1">
                  <a:lumMod val="50000"/>
                </a:schemeClr>
              </a:solidFill>
              <a:latin typeface="Arial" pitchFamily="34" charset="0"/>
              <a:cs typeface="Arial" pitchFamily="34" charset="0"/>
            </a:endParaRPr>
          </a:p>
          <a:p>
            <a:r>
              <a:rPr lang="pt-BR" sz="2400" dirty="0" smtClean="0">
                <a:solidFill>
                  <a:schemeClr val="bg1">
                    <a:lumMod val="50000"/>
                  </a:schemeClr>
                </a:solidFill>
                <a:latin typeface="Arial" pitchFamily="34" charset="0"/>
                <a:cs typeface="Arial" pitchFamily="34" charset="0"/>
              </a:rPr>
              <a:t>Ganhou uma </a:t>
            </a:r>
            <a:r>
              <a:rPr lang="pt-BR" sz="2400" b="1" dirty="0" smtClean="0">
                <a:solidFill>
                  <a:srgbClr val="FFC000"/>
                </a:solidFill>
                <a:latin typeface="Arial" pitchFamily="34" charset="0"/>
                <a:cs typeface="Arial" pitchFamily="34" charset="0"/>
              </a:rPr>
              <a:t>referência</a:t>
            </a:r>
            <a:r>
              <a:rPr lang="pt-BR" sz="2400" dirty="0" smtClean="0">
                <a:solidFill>
                  <a:schemeClr val="bg1">
                    <a:lumMod val="50000"/>
                  </a:schemeClr>
                </a:solidFill>
                <a:latin typeface="Arial" pitchFamily="34" charset="0"/>
                <a:cs typeface="Arial" pitchFamily="34" charset="0"/>
              </a:rPr>
              <a:t> interessante? Faça uma </a:t>
            </a:r>
            <a:r>
              <a:rPr lang="pt-BR" sz="2400" b="1" dirty="0" smtClean="0">
                <a:solidFill>
                  <a:srgbClr val="FFC000"/>
                </a:solidFill>
                <a:latin typeface="Arial" pitchFamily="34" charset="0"/>
                <a:cs typeface="Arial" pitchFamily="34" charset="0"/>
              </a:rPr>
              <a:t>divulgação</a:t>
            </a:r>
            <a:r>
              <a:rPr lang="pt-BR" sz="2400" dirty="0" smtClean="0">
                <a:solidFill>
                  <a:schemeClr val="bg1">
                    <a:lumMod val="50000"/>
                  </a:schemeClr>
                </a:solidFill>
                <a:latin typeface="Arial" pitchFamily="34" charset="0"/>
                <a:cs typeface="Arial" pitchFamily="34" charset="0"/>
              </a:rPr>
              <a:t> no conteúdo que linkou para você;</a:t>
            </a:r>
          </a:p>
          <a:p>
            <a:r>
              <a:rPr lang="pt-BR" sz="2400" dirty="0" smtClean="0">
                <a:solidFill>
                  <a:schemeClr val="bg1">
                    <a:lumMod val="50000"/>
                  </a:schemeClr>
                </a:solidFill>
                <a:latin typeface="Arial" pitchFamily="34" charset="0"/>
                <a:cs typeface="Arial" pitchFamily="34" charset="0"/>
              </a:rPr>
              <a:t>Redes sociais, Agregadores, etc;</a:t>
            </a:r>
          </a:p>
          <a:p>
            <a:r>
              <a:rPr lang="pt-BR" sz="2400" dirty="0" smtClean="0">
                <a:solidFill>
                  <a:schemeClr val="bg1">
                    <a:lumMod val="50000"/>
                  </a:schemeClr>
                </a:solidFill>
                <a:latin typeface="Arial" pitchFamily="34" charset="0"/>
                <a:cs typeface="Arial" pitchFamily="34" charset="0"/>
              </a:rPr>
              <a:t>Fortalecer o conteúdo que referenciou </a:t>
            </a:r>
            <a:r>
              <a:rPr lang="pt-BR" sz="2400" b="1" dirty="0" smtClean="0">
                <a:solidFill>
                  <a:srgbClr val="FFC000"/>
                </a:solidFill>
                <a:latin typeface="Arial" pitchFamily="34" charset="0"/>
                <a:cs typeface="Arial" pitchFamily="34" charset="0"/>
              </a:rPr>
              <a:t>você</a:t>
            </a:r>
            <a:r>
              <a:rPr lang="pt-BR" sz="2400" dirty="0" smtClean="0">
                <a:solidFill>
                  <a:schemeClr val="bg1">
                    <a:lumMod val="50000"/>
                  </a:schemeClr>
                </a:solidFill>
                <a:latin typeface="Arial" pitchFamily="34" charset="0"/>
                <a:cs typeface="Arial" pitchFamily="34" charset="0"/>
              </a:rPr>
              <a:t>, significa fortalecer </a:t>
            </a:r>
            <a:r>
              <a:rPr lang="pt-BR" sz="2400" b="1" dirty="0" smtClean="0">
                <a:solidFill>
                  <a:srgbClr val="FFC000"/>
                </a:solidFill>
                <a:latin typeface="Arial" pitchFamily="34" charset="0"/>
                <a:cs typeface="Arial" pitchFamily="34" charset="0"/>
              </a:rPr>
              <a:t>sua página</a:t>
            </a:r>
            <a:r>
              <a:rPr lang="pt-BR" sz="2400" dirty="0" smtClean="0">
                <a:solidFill>
                  <a:schemeClr val="bg1">
                    <a:lumMod val="50000"/>
                  </a:schemeClr>
                </a:solidFill>
                <a:latin typeface="Arial" pitchFamily="34" charset="0"/>
                <a:cs typeface="Arial" pitchFamily="34" charset="0"/>
              </a:rPr>
              <a:t>.</a:t>
            </a:r>
          </a:p>
          <a:p>
            <a:pPr>
              <a:buFontTx/>
              <a:buChar char="-"/>
            </a:pPr>
            <a:endParaRPr lang="pt-BR" sz="2300" dirty="0" smtClean="0">
              <a:solidFill>
                <a:schemeClr val="tx1">
                  <a:lumMod val="65000"/>
                  <a:lumOff val="35000"/>
                </a:schemeClr>
              </a:solidFill>
              <a:latin typeface="Arial" pitchFamily="34" charset="0"/>
              <a:cs typeface="Arial" pitchFamily="34" charset="0"/>
            </a:endParaRPr>
          </a:p>
          <a:p>
            <a:pPr>
              <a:buFontTx/>
              <a:buChar char="-"/>
            </a:pPr>
            <a:endParaRPr lang="pt-BR" sz="2300" dirty="0" smtClean="0">
              <a:solidFill>
                <a:schemeClr val="tx1">
                  <a:lumMod val="65000"/>
                  <a:lumOff val="35000"/>
                </a:schemeClr>
              </a:solidFill>
              <a:latin typeface="Arial" pitchFamily="34" charset="0"/>
              <a:cs typeface="Arial" pitchFamily="34" charset="0"/>
            </a:endParaRPr>
          </a:p>
          <a:p>
            <a:pPr>
              <a:buFontTx/>
              <a:buChar char="-"/>
            </a:pPr>
            <a:endParaRPr lang="pt-BR" sz="2300" dirty="0" smtClean="0">
              <a:solidFill>
                <a:schemeClr val="tx1">
                  <a:lumMod val="65000"/>
                  <a:lumOff val="35000"/>
                </a:schemeClr>
              </a:solidFill>
              <a:latin typeface="Arial" pitchFamily="34" charset="0"/>
              <a:cs typeface="Arial" pitchFamily="34" charset="0"/>
            </a:endParaRPr>
          </a:p>
          <a:p>
            <a:pPr>
              <a:buFontTx/>
              <a:buChar char="-"/>
            </a:pPr>
            <a:endParaRPr lang="pt-BR" sz="2300" dirty="0" smtClean="0">
              <a:solidFill>
                <a:schemeClr val="tx1">
                  <a:lumMod val="65000"/>
                  <a:lumOff val="35000"/>
                </a:schemeClr>
              </a:solidFill>
              <a:latin typeface="Arial" pitchFamily="34" charset="0"/>
              <a:cs typeface="Arial" pitchFamily="34" charset="0"/>
            </a:endParaRPr>
          </a:p>
          <a:p>
            <a:pPr>
              <a:buFontTx/>
              <a:buChar char="-"/>
            </a:pPr>
            <a:endParaRPr lang="pt-BR" sz="2300" dirty="0" smtClean="0">
              <a:solidFill>
                <a:schemeClr val="tx1">
                  <a:lumMod val="65000"/>
                  <a:lumOff val="35000"/>
                </a:schemeClr>
              </a:solidFill>
              <a:latin typeface="Arial" pitchFamily="34" charset="0"/>
              <a:cs typeface="Arial" pitchFamily="34" charset="0"/>
            </a:endParaRPr>
          </a:p>
        </p:txBody>
      </p:sp>
      <p:sp>
        <p:nvSpPr>
          <p:cNvPr id="5" name="Título 1"/>
          <p:cNvSpPr txBox="1">
            <a:spLocks/>
          </p:cNvSpPr>
          <p:nvPr/>
        </p:nvSpPr>
        <p:spPr>
          <a:xfrm>
            <a:off x="611560" y="476672"/>
            <a:ext cx="8229600" cy="1143000"/>
          </a:xfrm>
          <a:prstGeom prst="rect">
            <a:avLst/>
          </a:prstGeom>
        </p:spPr>
        <p:txBody>
          <a:bodyPr vert="horz" lIns="91440" tIns="45720" rIns="91440" bIns="45720" rtlCol="0" anchor="ct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pt-BR" sz="4400" b="0"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Explorando </a:t>
            </a:r>
            <a:r>
              <a:rPr kumimoji="0" lang="pt-BR" sz="6600" b="1"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Oportunidades</a:t>
            </a:r>
            <a:endParaRPr kumimoji="0" lang="en-US" sz="6600" b="0" i="0" u="none" strike="noStrike" kern="1200" cap="none" spc="0" normalizeH="0" baseline="0" noProof="0" dirty="0">
              <a:ln>
                <a:noFill/>
              </a:ln>
              <a:solidFill>
                <a:srgbClr val="FFC000"/>
              </a:solidFill>
              <a:effectLst/>
              <a:uLnTx/>
              <a:uFillTx/>
              <a:latin typeface="Arial" pitchFamily="34" charset="0"/>
              <a:ea typeface="+mj-ea"/>
              <a:cs typeface="Arial" pitchFamily="34"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Espaço Reservado para Conteúdo 2"/>
          <p:cNvSpPr>
            <a:spLocks noGrp="1"/>
          </p:cNvSpPr>
          <p:nvPr>
            <p:ph idx="1"/>
          </p:nvPr>
        </p:nvSpPr>
        <p:spPr>
          <a:xfrm>
            <a:off x="251520" y="1600200"/>
            <a:ext cx="8640960" cy="5069160"/>
          </a:xfrm>
        </p:spPr>
        <p:txBody>
          <a:bodyPr>
            <a:normAutofit/>
          </a:bodyPr>
          <a:lstStyle/>
          <a:p>
            <a:pPr algn="ctr">
              <a:buNone/>
            </a:pPr>
            <a:endParaRPr lang="pt-BR" dirty="0" smtClean="0">
              <a:latin typeface="Arial" pitchFamily="34" charset="0"/>
              <a:cs typeface="Arial" pitchFamily="34" charset="0"/>
            </a:endParaRPr>
          </a:p>
          <a:p>
            <a:pPr algn="ctr">
              <a:buNone/>
            </a:pPr>
            <a:endParaRPr lang="pt-BR" dirty="0" smtClean="0">
              <a:latin typeface="Arial" pitchFamily="34" charset="0"/>
              <a:cs typeface="Arial" pitchFamily="34" charset="0"/>
            </a:endParaRPr>
          </a:p>
          <a:p>
            <a:pPr algn="ctr">
              <a:buNone/>
            </a:pPr>
            <a:endParaRPr lang="pt-BR" sz="2400" dirty="0" smtClean="0">
              <a:latin typeface="Arial" pitchFamily="34" charset="0"/>
              <a:cs typeface="Arial" pitchFamily="34" charset="0"/>
            </a:endParaRPr>
          </a:p>
          <a:p>
            <a:pPr algn="ctr">
              <a:buNone/>
            </a:pPr>
            <a:endParaRPr lang="pt-BR" sz="2400" dirty="0" smtClean="0">
              <a:latin typeface="Arial" pitchFamily="34" charset="0"/>
              <a:cs typeface="Arial" pitchFamily="34" charset="0"/>
            </a:endParaRPr>
          </a:p>
          <a:p>
            <a:pPr algn="ctr">
              <a:buNone/>
            </a:pPr>
            <a:endParaRPr lang="pt-BR" sz="2400" dirty="0" smtClean="0">
              <a:latin typeface="Arial" pitchFamily="34" charset="0"/>
              <a:cs typeface="Arial" pitchFamily="34" charset="0"/>
            </a:endParaRPr>
          </a:p>
          <a:p>
            <a:pPr algn="ctr">
              <a:buNone/>
            </a:pPr>
            <a:endParaRPr lang="pt-BR" sz="2400" dirty="0" smtClean="0">
              <a:latin typeface="Arial" pitchFamily="34" charset="0"/>
              <a:cs typeface="Arial" pitchFamily="34" charset="0"/>
            </a:endParaRPr>
          </a:p>
          <a:p>
            <a:r>
              <a:rPr lang="pt-BR" sz="2400" dirty="0" smtClean="0">
                <a:solidFill>
                  <a:schemeClr val="bg1">
                    <a:lumMod val="50000"/>
                  </a:schemeClr>
                </a:solidFill>
                <a:latin typeface="Arial" pitchFamily="34" charset="0"/>
                <a:cs typeface="Arial" pitchFamily="34" charset="0"/>
              </a:rPr>
              <a:t>Criação de </a:t>
            </a:r>
            <a:r>
              <a:rPr lang="pt-BR" sz="2400" b="1" dirty="0" smtClean="0">
                <a:solidFill>
                  <a:srgbClr val="FFC000"/>
                </a:solidFill>
                <a:latin typeface="Arial" pitchFamily="34" charset="0"/>
                <a:cs typeface="Arial" pitchFamily="34" charset="0"/>
              </a:rPr>
              <a:t>Design/</a:t>
            </a:r>
            <a:r>
              <a:rPr lang="pt-BR" sz="2400" b="1" dirty="0" err="1" smtClean="0">
                <a:solidFill>
                  <a:srgbClr val="FFC000"/>
                </a:solidFill>
                <a:latin typeface="Arial" pitchFamily="34" charset="0"/>
                <a:cs typeface="Arial" pitchFamily="34" charset="0"/>
              </a:rPr>
              <a:t>Template</a:t>
            </a:r>
            <a:r>
              <a:rPr lang="pt-BR" sz="2400" b="1" dirty="0" smtClean="0">
                <a:solidFill>
                  <a:srgbClr val="FFC000"/>
                </a:solidFill>
                <a:latin typeface="Arial" pitchFamily="34" charset="0"/>
                <a:cs typeface="Arial" pitchFamily="34" charset="0"/>
              </a:rPr>
              <a:t>/</a:t>
            </a:r>
            <a:r>
              <a:rPr lang="pt-BR" sz="2400" b="1" dirty="0" err="1" smtClean="0">
                <a:solidFill>
                  <a:srgbClr val="FFC000"/>
                </a:solidFill>
                <a:latin typeface="Arial" pitchFamily="34" charset="0"/>
                <a:cs typeface="Arial" pitchFamily="34" charset="0"/>
              </a:rPr>
              <a:t>Theme</a:t>
            </a:r>
            <a:r>
              <a:rPr lang="pt-BR" sz="2400" dirty="0" smtClean="0">
                <a:solidFill>
                  <a:schemeClr val="bg1">
                    <a:lumMod val="50000"/>
                  </a:schemeClr>
                </a:solidFill>
                <a:latin typeface="Arial" pitchFamily="34" charset="0"/>
                <a:cs typeface="Arial" pitchFamily="34" charset="0"/>
              </a:rPr>
              <a:t> interessante no seu </a:t>
            </a:r>
            <a:r>
              <a:rPr lang="pt-BR" sz="2400" b="1" dirty="0" smtClean="0">
                <a:solidFill>
                  <a:srgbClr val="FFC000"/>
                </a:solidFill>
                <a:latin typeface="Arial" pitchFamily="34" charset="0"/>
                <a:cs typeface="Arial" pitchFamily="34" charset="0"/>
              </a:rPr>
              <a:t>nicho</a:t>
            </a:r>
            <a:r>
              <a:rPr lang="pt-BR" sz="2400" dirty="0" smtClean="0">
                <a:solidFill>
                  <a:schemeClr val="bg1">
                    <a:lumMod val="50000"/>
                  </a:schemeClr>
                </a:solidFill>
                <a:latin typeface="Arial" pitchFamily="34" charset="0"/>
                <a:cs typeface="Arial" pitchFamily="34" charset="0"/>
              </a:rPr>
              <a:t>;</a:t>
            </a:r>
          </a:p>
          <a:p>
            <a:r>
              <a:rPr lang="pt-BR" sz="2400" dirty="0" smtClean="0">
                <a:solidFill>
                  <a:schemeClr val="bg1">
                    <a:lumMod val="50000"/>
                  </a:schemeClr>
                </a:solidFill>
                <a:latin typeface="Arial" pitchFamily="34" charset="0"/>
                <a:cs typeface="Arial" pitchFamily="34" charset="0"/>
              </a:rPr>
              <a:t>Deixe sua </a:t>
            </a:r>
            <a:r>
              <a:rPr lang="pt-BR" sz="2400" b="1" dirty="0" smtClean="0">
                <a:solidFill>
                  <a:srgbClr val="FFC000"/>
                </a:solidFill>
                <a:latin typeface="Arial" pitchFamily="34" charset="0"/>
                <a:cs typeface="Arial" pitchFamily="34" charset="0"/>
              </a:rPr>
              <a:t>assinatura</a:t>
            </a:r>
            <a:r>
              <a:rPr lang="pt-BR" sz="2400" dirty="0" smtClean="0">
                <a:solidFill>
                  <a:schemeClr val="bg1">
                    <a:lumMod val="50000"/>
                  </a:schemeClr>
                </a:solidFill>
                <a:latin typeface="Arial" pitchFamily="34" charset="0"/>
                <a:cs typeface="Arial" pitchFamily="34" charset="0"/>
              </a:rPr>
              <a:t>;</a:t>
            </a:r>
          </a:p>
          <a:p>
            <a:r>
              <a:rPr lang="pt-BR" sz="2400" b="1" dirty="0" smtClean="0">
                <a:solidFill>
                  <a:srgbClr val="FFC000"/>
                </a:solidFill>
                <a:latin typeface="Arial" pitchFamily="34" charset="0"/>
                <a:cs typeface="Arial" pitchFamily="34" charset="0"/>
              </a:rPr>
              <a:t>Distribua</a:t>
            </a:r>
            <a:r>
              <a:rPr lang="pt-BR" sz="2400" dirty="0" smtClean="0">
                <a:solidFill>
                  <a:schemeClr val="bg1">
                    <a:lumMod val="50000"/>
                  </a:schemeClr>
                </a:solidFill>
                <a:latin typeface="Arial" pitchFamily="34" charset="0"/>
                <a:cs typeface="Arial" pitchFamily="34" charset="0"/>
              </a:rPr>
              <a:t> em diversos locais, use o </a:t>
            </a:r>
            <a:r>
              <a:rPr lang="pt-BR" sz="2400" dirty="0" err="1" smtClean="0">
                <a:solidFill>
                  <a:schemeClr val="bg1">
                    <a:lumMod val="50000"/>
                  </a:schemeClr>
                </a:solidFill>
                <a:latin typeface="Arial" pitchFamily="34" charset="0"/>
                <a:cs typeface="Arial" pitchFamily="34" charset="0"/>
              </a:rPr>
              <a:t>google</a:t>
            </a:r>
            <a:r>
              <a:rPr lang="pt-BR" sz="2400" dirty="0" smtClean="0">
                <a:solidFill>
                  <a:schemeClr val="bg1">
                    <a:lumMod val="50000"/>
                  </a:schemeClr>
                </a:solidFill>
                <a:latin typeface="Arial" pitchFamily="34" charset="0"/>
                <a:cs typeface="Arial" pitchFamily="34" charset="0"/>
              </a:rPr>
              <a:t> para encontrar; </a:t>
            </a:r>
            <a:endParaRPr lang="pt-BR" sz="2300" dirty="0" smtClean="0">
              <a:solidFill>
                <a:schemeClr val="bg1">
                  <a:lumMod val="50000"/>
                </a:schemeClr>
              </a:solidFill>
              <a:latin typeface="Arial" pitchFamily="34" charset="0"/>
              <a:cs typeface="Arial" pitchFamily="34" charset="0"/>
            </a:endParaRPr>
          </a:p>
          <a:p>
            <a:pPr>
              <a:buFontTx/>
              <a:buChar char="-"/>
            </a:pPr>
            <a:endParaRPr lang="pt-BR" sz="2300" dirty="0" smtClean="0">
              <a:latin typeface="Arial" pitchFamily="34" charset="0"/>
              <a:cs typeface="Arial" pitchFamily="34" charset="0"/>
            </a:endParaRPr>
          </a:p>
          <a:p>
            <a:pPr>
              <a:buFontTx/>
              <a:buChar char="-"/>
            </a:pPr>
            <a:endParaRPr lang="pt-BR" sz="2300" dirty="0" smtClean="0">
              <a:latin typeface="Arial" pitchFamily="34" charset="0"/>
              <a:cs typeface="Arial" pitchFamily="34" charset="0"/>
            </a:endParaRPr>
          </a:p>
          <a:p>
            <a:pPr>
              <a:buFontTx/>
              <a:buChar char="-"/>
            </a:pPr>
            <a:endParaRPr lang="pt-BR" sz="2300" dirty="0" smtClean="0">
              <a:latin typeface="Arial" pitchFamily="34" charset="0"/>
              <a:cs typeface="Arial" pitchFamily="34" charset="0"/>
            </a:endParaRPr>
          </a:p>
          <a:p>
            <a:pPr>
              <a:buFontTx/>
              <a:buChar char="-"/>
            </a:pPr>
            <a:endParaRPr lang="pt-BR" sz="2300" dirty="0" smtClean="0">
              <a:latin typeface="Arial" pitchFamily="34" charset="0"/>
              <a:cs typeface="Arial" pitchFamily="34" charset="0"/>
            </a:endParaRPr>
          </a:p>
        </p:txBody>
      </p:sp>
      <p:sp>
        <p:nvSpPr>
          <p:cNvPr id="5" name="Título 1"/>
          <p:cNvSpPr txBox="1">
            <a:spLocks/>
          </p:cNvSpPr>
          <p:nvPr/>
        </p:nvSpPr>
        <p:spPr>
          <a:xfrm>
            <a:off x="611560" y="476672"/>
            <a:ext cx="8229600" cy="1143000"/>
          </a:xfrm>
          <a:prstGeom prst="rect">
            <a:avLst/>
          </a:prstGeom>
        </p:spPr>
        <p:txBody>
          <a:bodyPr vert="horz" lIns="91440" tIns="45720" rIns="91440" bIns="45720" rtlCol="0" anchor="ct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pt-BR" sz="4400" b="0"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Explorando </a:t>
            </a:r>
            <a:r>
              <a:rPr kumimoji="0" lang="pt-BR" sz="6600" b="1"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Oportunidades</a:t>
            </a:r>
            <a:endParaRPr kumimoji="0" lang="en-US" sz="6600" b="0" i="0" u="none" strike="noStrike" kern="1200" cap="none" spc="0" normalizeH="0" baseline="0" noProof="0" dirty="0">
              <a:ln>
                <a:noFill/>
              </a:ln>
              <a:solidFill>
                <a:srgbClr val="FFC000"/>
              </a:solidFill>
              <a:effectLst/>
              <a:uLnTx/>
              <a:uFillTx/>
              <a:latin typeface="Arial" pitchFamily="34" charset="0"/>
              <a:ea typeface="+mj-ea"/>
              <a:cs typeface="Arial"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9" name="Espaço Reservado para Conteúdo 2"/>
          <p:cNvSpPr>
            <a:spLocks noGrp="1"/>
          </p:cNvSpPr>
          <p:nvPr>
            <p:ph idx="1"/>
          </p:nvPr>
        </p:nvSpPr>
        <p:spPr>
          <a:xfrm>
            <a:off x="251520" y="1600200"/>
            <a:ext cx="8640960" cy="5069160"/>
          </a:xfrm>
        </p:spPr>
        <p:txBody>
          <a:bodyPr>
            <a:normAutofit/>
          </a:bodyPr>
          <a:lstStyle/>
          <a:p>
            <a:pPr algn="ctr">
              <a:buNone/>
            </a:pPr>
            <a:endParaRPr lang="pt-BR" dirty="0" smtClean="0">
              <a:latin typeface="Arial" pitchFamily="34" charset="0"/>
              <a:cs typeface="Arial" pitchFamily="34" charset="0"/>
            </a:endParaRPr>
          </a:p>
          <a:p>
            <a:pPr>
              <a:buNone/>
            </a:pPr>
            <a:r>
              <a:rPr lang="pt-BR" sz="2400" dirty="0" smtClean="0">
                <a:solidFill>
                  <a:schemeClr val="bg1">
                    <a:lumMod val="50000"/>
                  </a:schemeClr>
                </a:solidFill>
                <a:latin typeface="Arial" pitchFamily="34" charset="0"/>
                <a:cs typeface="Arial" pitchFamily="34" charset="0"/>
              </a:rPr>
              <a:t>Mais consultas que podem te ajudar:</a:t>
            </a:r>
          </a:p>
          <a:p>
            <a:pPr>
              <a:buNone/>
            </a:pPr>
            <a:endParaRPr lang="pt-BR" dirty="0" smtClean="0">
              <a:solidFill>
                <a:schemeClr val="bg1">
                  <a:lumMod val="50000"/>
                </a:schemeClr>
              </a:solidFill>
              <a:latin typeface="Arial" pitchFamily="34" charset="0"/>
              <a:cs typeface="Arial" pitchFamily="34" charset="0"/>
            </a:endParaRPr>
          </a:p>
          <a:p>
            <a:pPr>
              <a:buNone/>
            </a:pPr>
            <a:r>
              <a:rPr lang="pt-BR" sz="2000" b="1" dirty="0" smtClean="0">
                <a:solidFill>
                  <a:schemeClr val="bg1">
                    <a:lumMod val="50000"/>
                  </a:schemeClr>
                </a:solidFill>
                <a:latin typeface="Arial" pitchFamily="34" charset="0"/>
                <a:cs typeface="Arial" pitchFamily="34" charset="0"/>
              </a:rPr>
              <a:t>Procure páginas que aceitam links:</a:t>
            </a:r>
          </a:p>
          <a:p>
            <a:pPr>
              <a:buNone/>
            </a:pPr>
            <a:endParaRPr lang="pt-BR" sz="2000" dirty="0" smtClean="0">
              <a:solidFill>
                <a:schemeClr val="tx1">
                  <a:lumMod val="65000"/>
                  <a:lumOff val="35000"/>
                </a:schemeClr>
              </a:solidFill>
              <a:latin typeface="Arial" pitchFamily="34" charset="0"/>
              <a:cs typeface="Arial" pitchFamily="34" charset="0"/>
            </a:endParaRPr>
          </a:p>
          <a:p>
            <a:pPr>
              <a:buNone/>
            </a:pPr>
            <a:r>
              <a:rPr lang="pt-BR" sz="2000" dirty="0" smtClean="0">
                <a:solidFill>
                  <a:srgbClr val="FFC000"/>
                </a:solidFill>
                <a:latin typeface="Arial" pitchFamily="34" charset="0"/>
                <a:cs typeface="Arial" pitchFamily="34" charset="0"/>
              </a:rPr>
              <a:t>    * site:.</a:t>
            </a:r>
            <a:r>
              <a:rPr lang="pt-BR" sz="2000" dirty="0" err="1" smtClean="0">
                <a:solidFill>
                  <a:srgbClr val="FFC000"/>
                </a:solidFill>
                <a:latin typeface="Arial" pitchFamily="34" charset="0"/>
                <a:cs typeface="Arial" pitchFamily="34" charset="0"/>
              </a:rPr>
              <a:t>org.br</a:t>
            </a:r>
            <a:r>
              <a:rPr lang="pt-BR" sz="2000" dirty="0" smtClean="0">
                <a:solidFill>
                  <a:srgbClr val="FFC000"/>
                </a:solidFill>
                <a:latin typeface="Arial" pitchFamily="34" charset="0"/>
                <a:cs typeface="Arial" pitchFamily="34" charset="0"/>
              </a:rPr>
              <a:t> "links recomendados"</a:t>
            </a:r>
          </a:p>
          <a:p>
            <a:pPr>
              <a:buNone/>
            </a:pPr>
            <a:r>
              <a:rPr lang="pt-BR" sz="2000" dirty="0" smtClean="0">
                <a:solidFill>
                  <a:srgbClr val="FFC000"/>
                </a:solidFill>
                <a:latin typeface="Arial" pitchFamily="34" charset="0"/>
                <a:cs typeface="Arial" pitchFamily="34" charset="0"/>
              </a:rPr>
              <a:t>    * site:.</a:t>
            </a:r>
            <a:r>
              <a:rPr lang="pt-BR" sz="2000" dirty="0" err="1" smtClean="0">
                <a:solidFill>
                  <a:srgbClr val="FFC000"/>
                </a:solidFill>
                <a:latin typeface="Arial" pitchFamily="34" charset="0"/>
                <a:cs typeface="Arial" pitchFamily="34" charset="0"/>
              </a:rPr>
              <a:t>edu</a:t>
            </a:r>
            <a:r>
              <a:rPr lang="pt-BR" sz="2000" dirty="0" smtClean="0">
                <a:solidFill>
                  <a:srgbClr val="FFC000"/>
                </a:solidFill>
                <a:latin typeface="Arial" pitchFamily="34" charset="0"/>
                <a:cs typeface="Arial" pitchFamily="34" charset="0"/>
              </a:rPr>
              <a:t>.</a:t>
            </a:r>
            <a:r>
              <a:rPr lang="pt-BR" sz="2000" dirty="0" err="1" smtClean="0">
                <a:solidFill>
                  <a:srgbClr val="FFC000"/>
                </a:solidFill>
                <a:latin typeface="Arial" pitchFamily="34" charset="0"/>
                <a:cs typeface="Arial" pitchFamily="34" charset="0"/>
              </a:rPr>
              <a:t>br</a:t>
            </a:r>
            <a:r>
              <a:rPr lang="pt-BR" sz="2000" dirty="0" smtClean="0">
                <a:solidFill>
                  <a:srgbClr val="FFC000"/>
                </a:solidFill>
                <a:latin typeface="Arial" pitchFamily="34" charset="0"/>
                <a:cs typeface="Arial" pitchFamily="34" charset="0"/>
              </a:rPr>
              <a:t> "links recomendados"</a:t>
            </a:r>
          </a:p>
          <a:p>
            <a:pPr>
              <a:buNone/>
            </a:pPr>
            <a:endParaRPr lang="pt-BR" sz="2000" dirty="0" smtClean="0">
              <a:solidFill>
                <a:schemeClr val="tx1">
                  <a:lumMod val="65000"/>
                  <a:lumOff val="35000"/>
                </a:schemeClr>
              </a:solidFill>
              <a:latin typeface="Arial" pitchFamily="34" charset="0"/>
              <a:cs typeface="Arial" pitchFamily="34" charset="0"/>
            </a:endParaRPr>
          </a:p>
          <a:p>
            <a:pPr>
              <a:buNone/>
            </a:pPr>
            <a:r>
              <a:rPr lang="pt-BR" sz="2000" b="1" dirty="0" smtClean="0">
                <a:solidFill>
                  <a:schemeClr val="bg1">
                    <a:lumMod val="50000"/>
                  </a:schemeClr>
                </a:solidFill>
                <a:latin typeface="Arial" pitchFamily="34" charset="0"/>
                <a:cs typeface="Arial" pitchFamily="34" charset="0"/>
              </a:rPr>
              <a:t>Procure por emails de alguém:</a:t>
            </a:r>
          </a:p>
          <a:p>
            <a:pPr>
              <a:buNone/>
            </a:pPr>
            <a:endParaRPr lang="pt-BR" sz="2000" dirty="0" smtClean="0">
              <a:solidFill>
                <a:schemeClr val="tx1">
                  <a:lumMod val="65000"/>
                  <a:lumOff val="35000"/>
                </a:schemeClr>
              </a:solidFill>
              <a:latin typeface="Arial" pitchFamily="34" charset="0"/>
              <a:cs typeface="Arial" pitchFamily="34" charset="0"/>
            </a:endParaRPr>
          </a:p>
          <a:p>
            <a:pPr>
              <a:buNone/>
            </a:pPr>
            <a:r>
              <a:rPr lang="pt-BR" sz="2000" dirty="0" smtClean="0">
                <a:solidFill>
                  <a:srgbClr val="FF9900"/>
                </a:solidFill>
                <a:latin typeface="Arial" pitchFamily="34" charset="0"/>
                <a:cs typeface="Arial" pitchFamily="34" charset="0"/>
              </a:rPr>
              <a:t>    * site:[sitedaempresa.com] + [nome] + email</a:t>
            </a:r>
          </a:p>
          <a:p>
            <a:pPr>
              <a:buNone/>
            </a:pPr>
            <a:r>
              <a:rPr lang="pt-BR" sz="2000" dirty="0" smtClean="0">
                <a:solidFill>
                  <a:srgbClr val="FF9900"/>
                </a:solidFill>
                <a:latin typeface="Arial" pitchFamily="34" charset="0"/>
                <a:cs typeface="Arial" pitchFamily="34" charset="0"/>
              </a:rPr>
              <a:t>    * site:[sitepessoal.com] + [nome] + contato</a:t>
            </a:r>
          </a:p>
        </p:txBody>
      </p:sp>
      <p:sp>
        <p:nvSpPr>
          <p:cNvPr id="5" name="Título 1"/>
          <p:cNvSpPr txBox="1">
            <a:spLocks/>
          </p:cNvSpPr>
          <p:nvPr/>
        </p:nvSpPr>
        <p:spPr>
          <a:xfrm>
            <a:off x="611560" y="476672"/>
            <a:ext cx="8229600" cy="1143000"/>
          </a:xfrm>
          <a:prstGeom prst="rect">
            <a:avLst/>
          </a:prstGeom>
        </p:spPr>
        <p:txBody>
          <a:bodyPr vert="horz" lIns="91440" tIns="45720" rIns="91440" bIns="45720" rtlCol="0" anchor="ct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pt-BR" sz="4400" b="0"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Explorando </a:t>
            </a:r>
            <a:r>
              <a:rPr kumimoji="0" lang="pt-BR" sz="6600" b="1" i="0" u="none" strike="noStrike" kern="1200" cap="none" spc="0" normalizeH="0" baseline="0" noProof="0" dirty="0" smtClean="0">
                <a:ln>
                  <a:noFill/>
                </a:ln>
                <a:solidFill>
                  <a:srgbClr val="FFC000"/>
                </a:solidFill>
                <a:effectLst/>
                <a:uLnTx/>
                <a:uFillTx/>
                <a:latin typeface="Arial" pitchFamily="34" charset="0"/>
                <a:ea typeface="+mj-ea"/>
                <a:cs typeface="Arial" pitchFamily="34" charset="0"/>
              </a:rPr>
              <a:t>Oportunidades</a:t>
            </a:r>
            <a:endParaRPr kumimoji="0" lang="en-US" sz="6600" b="0" i="0" u="none" strike="noStrike" kern="1200" cap="none" spc="0" normalizeH="0" baseline="0" noProof="0" dirty="0">
              <a:ln>
                <a:noFill/>
              </a:ln>
              <a:solidFill>
                <a:srgbClr val="FFC000"/>
              </a:solidFill>
              <a:effectLst/>
              <a:uLnTx/>
              <a:uFillTx/>
              <a:latin typeface="Arial" pitchFamily="34" charset="0"/>
              <a:ea typeface="+mj-ea"/>
              <a:cs typeface="Arial" pitchFamily="34"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341784"/>
            <a:ext cx="8229600" cy="1143000"/>
          </a:xfrm>
        </p:spPr>
        <p:txBody>
          <a:bodyPr>
            <a:noAutofit/>
          </a:bodyPr>
          <a:lstStyle/>
          <a:p>
            <a:pPr algn="r"/>
            <a:r>
              <a:rPr lang="pt-BR" sz="6600" b="1" dirty="0" smtClean="0">
                <a:solidFill>
                  <a:srgbClr val="FF9900"/>
                </a:solidFill>
                <a:latin typeface="Arial" pitchFamily="34" charset="0"/>
                <a:cs typeface="Arial" pitchFamily="34" charset="0"/>
              </a:rPr>
              <a:t>Link Building</a:t>
            </a:r>
            <a:endParaRPr lang="en-US" sz="6600" dirty="0">
              <a:solidFill>
                <a:srgbClr val="FF99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a:bodyPr>
          <a:lstStyle/>
          <a:p>
            <a:pPr>
              <a:buNone/>
            </a:pPr>
            <a:r>
              <a:rPr lang="pt-BR" sz="2400" dirty="0" smtClean="0">
                <a:solidFill>
                  <a:schemeClr val="bg1">
                    <a:lumMod val="65000"/>
                  </a:schemeClr>
                </a:solidFill>
                <a:latin typeface="Arial" pitchFamily="34" charset="0"/>
                <a:cs typeface="Arial" pitchFamily="34" charset="0"/>
              </a:rPr>
              <a:t>Para Refletir...</a:t>
            </a:r>
          </a:p>
          <a:p>
            <a:pPr>
              <a:buNone/>
            </a:pPr>
            <a:endParaRPr lang="pt-BR" sz="2400" dirty="0" smtClean="0">
              <a:solidFill>
                <a:schemeClr val="bg1">
                  <a:lumMod val="65000"/>
                </a:schemeClr>
              </a:solidFill>
              <a:latin typeface="Arial" pitchFamily="34" charset="0"/>
              <a:cs typeface="Arial" pitchFamily="34" charset="0"/>
            </a:endParaRPr>
          </a:p>
          <a:p>
            <a:pPr>
              <a:buNone/>
            </a:pPr>
            <a:endParaRPr lang="pt-BR" sz="2400" dirty="0" smtClean="0">
              <a:solidFill>
                <a:schemeClr val="bg1">
                  <a:lumMod val="65000"/>
                </a:schemeClr>
              </a:solidFill>
              <a:latin typeface="Arial" pitchFamily="34" charset="0"/>
              <a:cs typeface="Arial" pitchFamily="34" charset="0"/>
            </a:endParaRPr>
          </a:p>
          <a:p>
            <a:pPr algn="ctr">
              <a:buNone/>
            </a:pPr>
            <a:r>
              <a:rPr lang="pt-BR" sz="2400" dirty="0" smtClean="0">
                <a:solidFill>
                  <a:schemeClr val="bg1">
                    <a:lumMod val="65000"/>
                  </a:schemeClr>
                </a:solidFill>
                <a:latin typeface="Arial" pitchFamily="34" charset="0"/>
                <a:cs typeface="Arial" pitchFamily="34" charset="0"/>
              </a:rPr>
              <a:t>“</a:t>
            </a:r>
            <a:r>
              <a:rPr lang="pt-BR" sz="2400" b="1" dirty="0" smtClean="0">
                <a:solidFill>
                  <a:srgbClr val="FF9900"/>
                </a:solidFill>
                <a:latin typeface="Arial" pitchFamily="34" charset="0"/>
                <a:cs typeface="Arial" pitchFamily="34" charset="0"/>
              </a:rPr>
              <a:t>SEO nº2</a:t>
            </a:r>
            <a:r>
              <a:rPr lang="pt-BR" sz="2400" dirty="0" smtClean="0">
                <a:solidFill>
                  <a:schemeClr val="bg1">
                    <a:lumMod val="65000"/>
                  </a:schemeClr>
                </a:solidFill>
                <a:latin typeface="Arial" pitchFamily="34" charset="0"/>
                <a:cs typeface="Arial" pitchFamily="34" charset="0"/>
              </a:rPr>
              <a:t>, as long as you keep copying </a:t>
            </a:r>
            <a:r>
              <a:rPr lang="pt-BR" sz="2400" b="1" dirty="0" smtClean="0">
                <a:solidFill>
                  <a:srgbClr val="FF9900"/>
                </a:solidFill>
                <a:latin typeface="Arial" pitchFamily="34" charset="0"/>
                <a:cs typeface="Arial" pitchFamily="34" charset="0"/>
              </a:rPr>
              <a:t>SEO nº1 </a:t>
            </a:r>
            <a:r>
              <a:rPr lang="pt-BR" sz="2400" dirty="0" smtClean="0">
                <a:solidFill>
                  <a:schemeClr val="bg1">
                    <a:lumMod val="65000"/>
                  </a:schemeClr>
                </a:solidFill>
                <a:latin typeface="Arial" pitchFamily="34" charset="0"/>
                <a:cs typeface="Arial" pitchFamily="34" charset="0"/>
              </a:rPr>
              <a:t>you will always be </a:t>
            </a:r>
            <a:r>
              <a:rPr lang="pt-BR" sz="2400" b="1" dirty="0" smtClean="0">
                <a:solidFill>
                  <a:srgbClr val="FF9900"/>
                </a:solidFill>
                <a:latin typeface="Arial" pitchFamily="34" charset="0"/>
                <a:cs typeface="Arial" pitchFamily="34" charset="0"/>
              </a:rPr>
              <a:t>nº2</a:t>
            </a:r>
            <a:r>
              <a:rPr lang="pt-BR" sz="2400" dirty="0" smtClean="0">
                <a:solidFill>
                  <a:schemeClr val="bg1">
                    <a:lumMod val="65000"/>
                  </a:schemeClr>
                </a:solidFill>
                <a:latin typeface="Arial" pitchFamily="34" charset="0"/>
                <a:cs typeface="Arial" pitchFamily="34" charset="0"/>
              </a:rPr>
              <a:t>” - </a:t>
            </a:r>
            <a:r>
              <a:rPr lang="pt-BR" sz="2400" dirty="0" smtClean="0">
                <a:solidFill>
                  <a:srgbClr val="FF9900"/>
                </a:solidFill>
                <a:latin typeface="Arial" pitchFamily="34" charset="0"/>
                <a:cs typeface="Arial" pitchFamily="34" charset="0"/>
              </a:rPr>
              <a:t>Pedro Dias</a:t>
            </a:r>
          </a:p>
          <a:p>
            <a:pPr algn="ctr">
              <a:buNone/>
            </a:pPr>
            <a:endParaRPr lang="pt-BR" sz="2400" dirty="0" smtClean="0">
              <a:solidFill>
                <a:schemeClr val="bg1">
                  <a:lumMod val="65000"/>
                </a:schemeClr>
              </a:solidFill>
              <a:latin typeface="Arial" pitchFamily="34" charset="0"/>
              <a:cs typeface="Arial" pitchFamily="34" charset="0"/>
            </a:endParaRPr>
          </a:p>
          <a:p>
            <a:pPr algn="ctr">
              <a:buNone/>
            </a:pPr>
            <a:endParaRPr lang="pt-BR" sz="2400" dirty="0" smtClean="0">
              <a:solidFill>
                <a:schemeClr val="bg1">
                  <a:lumMod val="65000"/>
                </a:schemeClr>
              </a:solidFill>
              <a:latin typeface="Arial" pitchFamily="34" charset="0"/>
              <a:cs typeface="Arial" pitchFamily="34" charset="0"/>
            </a:endParaRPr>
          </a:p>
          <a:p>
            <a:pPr algn="ctr">
              <a:buNone/>
            </a:pPr>
            <a:r>
              <a:rPr lang="pt-BR" sz="2400" dirty="0" smtClean="0">
                <a:solidFill>
                  <a:schemeClr val="bg1">
                    <a:lumMod val="65000"/>
                  </a:schemeClr>
                </a:solidFill>
                <a:latin typeface="Arial" pitchFamily="34" charset="0"/>
                <a:cs typeface="Arial" pitchFamily="34" charset="0"/>
              </a:rPr>
              <a:t>“Os </a:t>
            </a:r>
            <a:r>
              <a:rPr lang="pt-BR" sz="2400" b="1" dirty="0" smtClean="0">
                <a:solidFill>
                  <a:srgbClr val="FF9900"/>
                </a:solidFill>
                <a:latin typeface="Arial" pitchFamily="34" charset="0"/>
                <a:cs typeface="Arial" pitchFamily="34" charset="0"/>
              </a:rPr>
              <a:t>links</a:t>
            </a:r>
            <a:r>
              <a:rPr lang="pt-BR" sz="2400" dirty="0" smtClean="0">
                <a:solidFill>
                  <a:schemeClr val="bg1">
                    <a:lumMod val="65000"/>
                  </a:schemeClr>
                </a:solidFill>
                <a:latin typeface="Arial" pitchFamily="34" charset="0"/>
                <a:cs typeface="Arial" pitchFamily="34" charset="0"/>
              </a:rPr>
              <a:t> mais importantes de um site serão aqueles que seus concorrentes </a:t>
            </a:r>
            <a:r>
              <a:rPr lang="pt-BR" sz="2400" b="1" dirty="0" smtClean="0">
                <a:solidFill>
                  <a:srgbClr val="FF9900"/>
                </a:solidFill>
                <a:latin typeface="Arial" pitchFamily="34" charset="0"/>
                <a:cs typeface="Arial" pitchFamily="34" charset="0"/>
              </a:rPr>
              <a:t>não</a:t>
            </a:r>
            <a:r>
              <a:rPr lang="pt-BR" sz="2400" dirty="0" smtClean="0">
                <a:solidFill>
                  <a:schemeClr val="bg1">
                    <a:lumMod val="65000"/>
                  </a:schemeClr>
                </a:solidFill>
                <a:latin typeface="Arial" pitchFamily="34" charset="0"/>
                <a:cs typeface="Arial" pitchFamily="34" charset="0"/>
              </a:rPr>
              <a:t> conseguirão”</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8" name="Título 1"/>
          <p:cNvSpPr>
            <a:spLocks noGrp="1"/>
          </p:cNvSpPr>
          <p:nvPr>
            <p:ph type="title"/>
          </p:nvPr>
        </p:nvSpPr>
        <p:spPr>
          <a:xfrm>
            <a:off x="611560" y="341784"/>
            <a:ext cx="8229600" cy="1143000"/>
          </a:xfrm>
        </p:spPr>
        <p:txBody>
          <a:bodyPr>
            <a:noAutofit/>
          </a:bodyPr>
          <a:lstStyle/>
          <a:p>
            <a:pPr algn="r"/>
            <a:r>
              <a:rPr lang="pt-BR" sz="6600" b="1" dirty="0" smtClean="0">
                <a:solidFill>
                  <a:srgbClr val="FF9900"/>
                </a:solidFill>
                <a:latin typeface="Arial" pitchFamily="34" charset="0"/>
                <a:cs typeface="Arial" pitchFamily="34" charset="0"/>
              </a:rPr>
              <a:t>Link Building</a:t>
            </a:r>
            <a:endParaRPr lang="en-US" sz="6600" dirty="0">
              <a:solidFill>
                <a:srgbClr val="FF990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a:bodyPr>
          <a:lstStyle/>
          <a:p>
            <a:pPr>
              <a:buNone/>
            </a:pPr>
            <a:endParaRPr lang="pt-BR" sz="2400" dirty="0" smtClean="0">
              <a:solidFill>
                <a:schemeClr val="tx1">
                  <a:lumMod val="65000"/>
                  <a:lumOff val="35000"/>
                </a:schemeClr>
              </a:solidFill>
              <a:latin typeface="Arial" pitchFamily="34" charset="0"/>
              <a:cs typeface="Arial" pitchFamily="34" charset="0"/>
            </a:endParaRPr>
          </a:p>
          <a:p>
            <a:pPr>
              <a:buNone/>
            </a:pPr>
            <a:endParaRPr lang="pt-BR" sz="2400" dirty="0" smtClean="0">
              <a:solidFill>
                <a:schemeClr val="tx1">
                  <a:lumMod val="65000"/>
                  <a:lumOff val="35000"/>
                </a:schemeClr>
              </a:solidFill>
              <a:latin typeface="Arial" pitchFamily="34" charset="0"/>
              <a:cs typeface="Arial" pitchFamily="34" charset="0"/>
            </a:endParaRPr>
          </a:p>
          <a:p>
            <a:pPr>
              <a:buNone/>
            </a:pPr>
            <a:r>
              <a:rPr lang="pt-BR" sz="2400" dirty="0" smtClean="0">
                <a:solidFill>
                  <a:schemeClr val="bg1">
                    <a:lumMod val="65000"/>
                  </a:schemeClr>
                </a:solidFill>
                <a:latin typeface="Arial" pitchFamily="34" charset="0"/>
                <a:cs typeface="Arial" pitchFamily="34" charset="0"/>
              </a:rPr>
              <a:t>O seu maior </a:t>
            </a:r>
            <a:r>
              <a:rPr lang="pt-BR" sz="2400" b="1" dirty="0" smtClean="0">
                <a:solidFill>
                  <a:srgbClr val="FF9900"/>
                </a:solidFill>
                <a:latin typeface="Arial" pitchFamily="34" charset="0"/>
                <a:cs typeface="Arial" pitchFamily="34" charset="0"/>
              </a:rPr>
              <a:t>aliado</a:t>
            </a:r>
            <a:r>
              <a:rPr lang="pt-BR" sz="2400" dirty="0" smtClean="0">
                <a:solidFill>
                  <a:schemeClr val="bg1">
                    <a:lumMod val="65000"/>
                  </a:schemeClr>
                </a:solidFill>
                <a:latin typeface="Arial" pitchFamily="34" charset="0"/>
                <a:cs typeface="Arial" pitchFamily="34" charset="0"/>
              </a:rPr>
              <a:t> na busca por links é o </a:t>
            </a:r>
            <a:r>
              <a:rPr lang="pt-BR" sz="2400" b="1" dirty="0" smtClean="0">
                <a:solidFill>
                  <a:srgbClr val="FF9900"/>
                </a:solidFill>
                <a:latin typeface="Arial" pitchFamily="34" charset="0"/>
                <a:cs typeface="Arial" pitchFamily="34" charset="0"/>
              </a:rPr>
              <a:t>Google</a:t>
            </a:r>
            <a:r>
              <a:rPr lang="pt-BR" sz="2400" dirty="0" smtClean="0">
                <a:solidFill>
                  <a:schemeClr val="bg1">
                    <a:lumMod val="65000"/>
                  </a:schemeClr>
                </a:solidFill>
                <a:latin typeface="Arial" pitchFamily="34" charset="0"/>
                <a:cs typeface="Arial" pitchFamily="34" charset="0"/>
              </a:rPr>
              <a:t>.</a:t>
            </a:r>
          </a:p>
          <a:p>
            <a:pPr>
              <a:buNone/>
            </a:pPr>
            <a:endParaRPr lang="pt-BR" sz="2400" dirty="0" smtClean="0">
              <a:solidFill>
                <a:schemeClr val="bg1">
                  <a:lumMod val="65000"/>
                </a:schemeClr>
              </a:solidFill>
              <a:latin typeface="Arial" pitchFamily="34" charset="0"/>
              <a:cs typeface="Arial" pitchFamily="34" charset="0"/>
            </a:endParaRPr>
          </a:p>
          <a:p>
            <a:pPr>
              <a:buNone/>
            </a:pPr>
            <a:endParaRPr lang="pt-BR" sz="2400" dirty="0" smtClean="0">
              <a:solidFill>
                <a:schemeClr val="bg1">
                  <a:lumMod val="65000"/>
                </a:schemeClr>
              </a:solidFill>
              <a:latin typeface="Arial" pitchFamily="34" charset="0"/>
              <a:cs typeface="Arial" pitchFamily="34" charset="0"/>
            </a:endParaRPr>
          </a:p>
          <a:p>
            <a:pPr>
              <a:buNone/>
            </a:pPr>
            <a:endParaRPr lang="pt-BR" sz="2400" dirty="0" smtClean="0">
              <a:solidFill>
                <a:schemeClr val="bg1">
                  <a:lumMod val="65000"/>
                </a:schemeClr>
              </a:solidFill>
              <a:latin typeface="Arial" pitchFamily="34" charset="0"/>
              <a:cs typeface="Arial" pitchFamily="34" charset="0"/>
            </a:endParaRPr>
          </a:p>
          <a:p>
            <a:pPr marL="0" indent="0">
              <a:buNone/>
            </a:pPr>
            <a:r>
              <a:rPr lang="pt-BR" sz="2400" b="1" dirty="0" smtClean="0">
                <a:solidFill>
                  <a:srgbClr val="FF9900"/>
                </a:solidFill>
                <a:latin typeface="Arial" pitchFamily="34" charset="0"/>
                <a:cs typeface="Arial" pitchFamily="34" charset="0"/>
              </a:rPr>
              <a:t>Pense, busque, analise, dedique-se, teste</a:t>
            </a:r>
            <a:r>
              <a:rPr lang="pt-BR" sz="2400" dirty="0" smtClean="0">
                <a:solidFill>
                  <a:schemeClr val="bg1">
                    <a:lumMod val="65000"/>
                  </a:schemeClr>
                </a:solidFill>
                <a:latin typeface="Arial" pitchFamily="34" charset="0"/>
                <a:cs typeface="Arial" pitchFamily="34" charset="0"/>
              </a:rPr>
              <a:t>. O limite para link building </a:t>
            </a:r>
            <a:r>
              <a:rPr lang="pt-BR" sz="2400" b="1" dirty="0" smtClean="0">
                <a:solidFill>
                  <a:srgbClr val="FF9900"/>
                </a:solidFill>
                <a:latin typeface="Arial" pitchFamily="34" charset="0"/>
                <a:cs typeface="Arial" pitchFamily="34" charset="0"/>
              </a:rPr>
              <a:t>depende da sua criatividade</a:t>
            </a:r>
            <a:r>
              <a:rPr lang="pt-BR" sz="2400" dirty="0" smtClean="0">
                <a:solidFill>
                  <a:srgbClr val="FF9900"/>
                </a:solidFill>
                <a:latin typeface="Arial" pitchFamily="34" charset="0"/>
                <a:cs typeface="Arial" pitchFamily="34" charset="0"/>
              </a:rPr>
              <a:t> </a:t>
            </a:r>
            <a:r>
              <a:rPr lang="pt-BR" sz="2400" dirty="0" smtClean="0">
                <a:solidFill>
                  <a:schemeClr val="bg1">
                    <a:lumMod val="65000"/>
                  </a:schemeClr>
                </a:solidFill>
                <a:latin typeface="Arial" pitchFamily="34" charset="0"/>
                <a:cs typeface="Arial" pitchFamily="34" charset="0"/>
              </a:rPr>
              <a:t>na hora de buscar.</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6" name="Picture 4" descr="C:\Users\hp\Desktop\searchlabs\RocknRoll_Pattern_CS4.jpg"/>
          <p:cNvPicPr>
            <a:picLocks noChangeAspect="1" noChangeArrowheads="1"/>
          </p:cNvPicPr>
          <p:nvPr/>
        </p:nvPicPr>
        <p:blipFill>
          <a:blip r:embed="rId2" cstate="print"/>
          <a:srcRect/>
          <a:stretch>
            <a:fillRect/>
          </a:stretch>
        </p:blipFill>
        <p:spPr bwMode="auto">
          <a:xfrm>
            <a:off x="-394854" y="-142486"/>
            <a:ext cx="9754632" cy="9766086"/>
          </a:xfrm>
          <a:prstGeom prst="rect">
            <a:avLst/>
          </a:prstGeom>
          <a:noFill/>
        </p:spPr>
      </p:pic>
      <p:sp>
        <p:nvSpPr>
          <p:cNvPr id="8" name="Título 1"/>
          <p:cNvSpPr>
            <a:spLocks noGrp="1"/>
          </p:cNvSpPr>
          <p:nvPr>
            <p:ph type="title"/>
          </p:nvPr>
        </p:nvSpPr>
        <p:spPr>
          <a:xfrm>
            <a:off x="611560" y="341784"/>
            <a:ext cx="8229600" cy="1143000"/>
          </a:xfrm>
        </p:spPr>
        <p:txBody>
          <a:bodyPr>
            <a:noAutofit/>
          </a:bodyPr>
          <a:lstStyle/>
          <a:p>
            <a:pPr algn="r"/>
            <a:r>
              <a:rPr lang="pt-BR" sz="6600" b="1" dirty="0" smtClean="0">
                <a:solidFill>
                  <a:srgbClr val="00B0F0"/>
                </a:solidFill>
                <a:latin typeface="Arial" pitchFamily="34" charset="0"/>
                <a:cs typeface="Arial" pitchFamily="34" charset="0"/>
              </a:rPr>
              <a:t>FIM</a:t>
            </a:r>
            <a:endParaRPr lang="en-US" sz="6600" dirty="0">
              <a:solidFill>
                <a:srgbClr val="00B0F0"/>
              </a:solidFill>
              <a:latin typeface="Arial" pitchFamily="34" charset="0"/>
              <a:cs typeface="Arial" pitchFamily="34" charset="0"/>
            </a:endParaRPr>
          </a:p>
        </p:txBody>
      </p:sp>
      <p:sp>
        <p:nvSpPr>
          <p:cNvPr id="9" name="Espaço Reservado para Conteúdo 2"/>
          <p:cNvSpPr>
            <a:spLocks noGrp="1"/>
          </p:cNvSpPr>
          <p:nvPr>
            <p:ph idx="1"/>
          </p:nvPr>
        </p:nvSpPr>
        <p:spPr>
          <a:xfrm>
            <a:off x="251520" y="1600200"/>
            <a:ext cx="8640960" cy="5069160"/>
          </a:xfrm>
        </p:spPr>
        <p:txBody>
          <a:bodyPr>
            <a:normAutofit/>
          </a:bodyPr>
          <a:lstStyle/>
          <a:p>
            <a:pPr algn="ctr">
              <a:buNone/>
            </a:pPr>
            <a:endParaRPr lang="pt-BR" dirty="0" smtClean="0">
              <a:latin typeface="Arial" pitchFamily="34" charset="0"/>
              <a:cs typeface="Arial" pitchFamily="34" charset="0"/>
            </a:endParaRPr>
          </a:p>
          <a:p>
            <a:pPr>
              <a:buNone/>
            </a:pPr>
            <a:r>
              <a:rPr lang="pt-BR" sz="2400" b="1" dirty="0" smtClean="0">
                <a:solidFill>
                  <a:srgbClr val="00B0F0"/>
                </a:solidFill>
                <a:latin typeface="Arial" pitchFamily="34" charset="0"/>
                <a:cs typeface="Arial" pitchFamily="34" charset="0"/>
              </a:rPr>
              <a:t>Obrigado</a:t>
            </a:r>
            <a:r>
              <a:rPr lang="pt-BR" sz="2400" dirty="0" smtClean="0">
                <a:solidFill>
                  <a:schemeClr val="tx1">
                    <a:lumMod val="50000"/>
                    <a:lumOff val="50000"/>
                  </a:schemeClr>
                </a:solidFill>
                <a:latin typeface="Arial" pitchFamily="34" charset="0"/>
                <a:cs typeface="Arial" pitchFamily="34" charset="0"/>
              </a:rPr>
              <a:t> </a:t>
            </a:r>
            <a:r>
              <a:rPr lang="pt-BR" sz="2400" dirty="0" smtClean="0">
                <a:solidFill>
                  <a:schemeClr val="bg1">
                    <a:lumMod val="75000"/>
                  </a:schemeClr>
                </a:solidFill>
                <a:latin typeface="Arial" pitchFamily="34" charset="0"/>
                <a:cs typeface="Arial" pitchFamily="34" charset="0"/>
              </a:rPr>
              <a:t>pela atenção de </a:t>
            </a:r>
            <a:r>
              <a:rPr lang="pt-BR" sz="2400" b="1" dirty="0" smtClean="0">
                <a:solidFill>
                  <a:srgbClr val="00B0F0"/>
                </a:solidFill>
                <a:latin typeface="Arial" pitchFamily="34" charset="0"/>
                <a:cs typeface="Arial" pitchFamily="34" charset="0"/>
              </a:rPr>
              <a:t>todos</a:t>
            </a:r>
            <a:r>
              <a:rPr lang="pt-BR" sz="2400" dirty="0" smtClean="0">
                <a:solidFill>
                  <a:schemeClr val="tx1">
                    <a:lumMod val="50000"/>
                    <a:lumOff val="50000"/>
                  </a:schemeClr>
                </a:solidFill>
                <a:latin typeface="Arial" pitchFamily="34" charset="0"/>
                <a:cs typeface="Arial" pitchFamily="34" charset="0"/>
              </a:rPr>
              <a:t>.</a:t>
            </a:r>
          </a:p>
          <a:p>
            <a:pPr>
              <a:buNone/>
            </a:pPr>
            <a:endParaRPr lang="pt-BR" sz="2400" dirty="0" smtClean="0">
              <a:solidFill>
                <a:schemeClr val="tx1">
                  <a:lumMod val="50000"/>
                  <a:lumOff val="50000"/>
                </a:schemeClr>
              </a:solidFill>
              <a:latin typeface="Arial" pitchFamily="34" charset="0"/>
              <a:cs typeface="Arial" pitchFamily="34" charset="0"/>
            </a:endParaRPr>
          </a:p>
          <a:p>
            <a:pPr>
              <a:buNone/>
            </a:pPr>
            <a:endParaRPr lang="pt-BR" sz="2400" dirty="0" smtClean="0">
              <a:solidFill>
                <a:schemeClr val="tx1">
                  <a:lumMod val="50000"/>
                  <a:lumOff val="50000"/>
                </a:schemeClr>
              </a:solidFill>
              <a:latin typeface="Arial" pitchFamily="34" charset="0"/>
              <a:cs typeface="Arial" pitchFamily="34" charset="0"/>
            </a:endParaRPr>
          </a:p>
          <a:p>
            <a:pPr>
              <a:buNone/>
            </a:pPr>
            <a:r>
              <a:rPr lang="pt-BR" sz="2400" b="1" dirty="0" smtClean="0">
                <a:solidFill>
                  <a:srgbClr val="00B0F0"/>
                </a:solidFill>
                <a:latin typeface="Arial" pitchFamily="34" charset="0"/>
                <a:cs typeface="Arial" pitchFamily="34" charset="0"/>
              </a:rPr>
              <a:t>Gostou</a:t>
            </a:r>
            <a:r>
              <a:rPr lang="pt-BR" sz="2400" dirty="0" smtClean="0">
                <a:solidFill>
                  <a:schemeClr val="tx1">
                    <a:lumMod val="50000"/>
                    <a:lumOff val="50000"/>
                  </a:schemeClr>
                </a:solidFill>
                <a:latin typeface="Arial" pitchFamily="34" charset="0"/>
                <a:cs typeface="Arial" pitchFamily="34" charset="0"/>
              </a:rPr>
              <a:t> </a:t>
            </a:r>
            <a:r>
              <a:rPr lang="pt-BR" sz="2400" dirty="0" smtClean="0">
                <a:solidFill>
                  <a:schemeClr val="bg1">
                    <a:lumMod val="75000"/>
                  </a:schemeClr>
                </a:solidFill>
                <a:latin typeface="Arial" pitchFamily="34" charset="0"/>
                <a:cs typeface="Arial" pitchFamily="34" charset="0"/>
              </a:rPr>
              <a:t>da apresentação? Então </a:t>
            </a:r>
            <a:r>
              <a:rPr lang="pt-BR" sz="2400" b="1" dirty="0" smtClean="0">
                <a:solidFill>
                  <a:srgbClr val="00B0F0"/>
                </a:solidFill>
                <a:latin typeface="Arial" pitchFamily="34" charset="0"/>
                <a:cs typeface="Arial" pitchFamily="34" charset="0"/>
              </a:rPr>
              <a:t>faça um Link </a:t>
            </a:r>
            <a:r>
              <a:rPr lang="pt-BR" sz="2400" dirty="0" smtClean="0">
                <a:solidFill>
                  <a:schemeClr val="bg1">
                    <a:lumMod val="75000"/>
                  </a:schemeClr>
                </a:solidFill>
                <a:latin typeface="Arial" pitchFamily="34" charset="0"/>
                <a:cs typeface="Arial" pitchFamily="34" charset="0"/>
              </a:rPr>
              <a:t>para ela ;)</a:t>
            </a:r>
          </a:p>
          <a:p>
            <a:pPr>
              <a:buNone/>
            </a:pPr>
            <a:endParaRPr lang="pt-BR" sz="2400" dirty="0" smtClean="0">
              <a:solidFill>
                <a:schemeClr val="bg1"/>
              </a:solidFill>
              <a:latin typeface="Arial" pitchFamily="34" charset="0"/>
              <a:cs typeface="Arial" pitchFamily="34" charset="0"/>
            </a:endParaRPr>
          </a:p>
          <a:p>
            <a:pPr>
              <a:buNone/>
            </a:pPr>
            <a:endParaRPr lang="pt-BR" sz="2400" dirty="0" smtClean="0">
              <a:solidFill>
                <a:schemeClr val="bg1"/>
              </a:solidFill>
              <a:latin typeface="Arial" pitchFamily="34" charset="0"/>
              <a:cs typeface="Arial" pitchFamily="34" charset="0"/>
            </a:endParaRPr>
          </a:p>
          <a:p>
            <a:pPr>
              <a:buNone/>
            </a:pPr>
            <a:endParaRPr lang="pt-BR" sz="2400" dirty="0" smtClean="0">
              <a:solidFill>
                <a:schemeClr val="bg1"/>
              </a:solidFill>
              <a:latin typeface="Arial" pitchFamily="34" charset="0"/>
              <a:cs typeface="Arial" pitchFamily="34" charset="0"/>
            </a:endParaRPr>
          </a:p>
          <a:p>
            <a:pPr>
              <a:buNone/>
            </a:pPr>
            <a:r>
              <a:rPr lang="pt-BR" sz="2400" b="1" dirty="0" smtClean="0">
                <a:solidFill>
                  <a:srgbClr val="00B0F0"/>
                </a:solidFill>
                <a:latin typeface="Arial" pitchFamily="34" charset="0"/>
                <a:cs typeface="Arial" pitchFamily="34" charset="0"/>
              </a:rPr>
              <a:t>Cassiano </a:t>
            </a:r>
            <a:r>
              <a:rPr lang="pt-BR" sz="2400" b="1" dirty="0" err="1" smtClean="0">
                <a:solidFill>
                  <a:srgbClr val="00B0F0"/>
                </a:solidFill>
                <a:latin typeface="Arial" pitchFamily="34" charset="0"/>
                <a:cs typeface="Arial" pitchFamily="34" charset="0"/>
              </a:rPr>
              <a:t>Murbach</a:t>
            </a:r>
            <a:r>
              <a:rPr lang="pt-BR" sz="2400" b="1" dirty="0" smtClean="0">
                <a:solidFill>
                  <a:srgbClr val="00B0F0"/>
                </a:solidFill>
                <a:latin typeface="Arial" pitchFamily="34" charset="0"/>
                <a:cs typeface="Arial" pitchFamily="34" charset="0"/>
              </a:rPr>
              <a:t> </a:t>
            </a:r>
            <a:r>
              <a:rPr lang="pt-BR" sz="2400" b="1" dirty="0" err="1" smtClean="0">
                <a:solidFill>
                  <a:srgbClr val="00B0F0"/>
                </a:solidFill>
                <a:latin typeface="Arial" pitchFamily="34" charset="0"/>
                <a:cs typeface="Arial" pitchFamily="34" charset="0"/>
              </a:rPr>
              <a:t>Travareli</a:t>
            </a:r>
            <a:endParaRPr lang="pt-BR" sz="2400" b="1" dirty="0" smtClean="0">
              <a:solidFill>
                <a:srgbClr val="00B0F0"/>
              </a:solidFill>
              <a:latin typeface="Arial" pitchFamily="34" charset="0"/>
              <a:cs typeface="Arial" pitchFamily="34" charset="0"/>
            </a:endParaRPr>
          </a:p>
          <a:p>
            <a:pPr>
              <a:buNone/>
            </a:pPr>
            <a:r>
              <a:rPr lang="pt-BR" sz="2400" b="1" dirty="0" smtClean="0">
                <a:solidFill>
                  <a:srgbClr val="00B0F0"/>
                </a:solidFill>
                <a:latin typeface="Arial" pitchFamily="34" charset="0"/>
                <a:cs typeface="Arial" pitchFamily="34" charset="0"/>
              </a:rPr>
              <a:t>   `  </a:t>
            </a:r>
            <a:r>
              <a:rPr lang="pt-BR" sz="2400" dirty="0" smtClean="0">
                <a:solidFill>
                  <a:srgbClr val="FFCC00"/>
                </a:solidFill>
                <a:latin typeface="Arial" pitchFamily="34" charset="0"/>
                <a:cs typeface="Arial" pitchFamily="34" charset="0"/>
                <a:hlinkClick r:id="rId3"/>
              </a:rPr>
              <a:t>@cassy82</a:t>
            </a:r>
            <a:endParaRPr lang="pt-BR" sz="2400" dirty="0" smtClean="0">
              <a:solidFill>
                <a:srgbClr val="FFCC00"/>
              </a:solidFill>
              <a:latin typeface="Arial" pitchFamily="34" charset="0"/>
              <a:cs typeface="Arial" pitchFamily="34" charset="0"/>
            </a:endParaRPr>
          </a:p>
          <a:p>
            <a:pPr>
              <a:buNone/>
            </a:pPr>
            <a:r>
              <a:rPr lang="pt-BR" sz="2400" dirty="0" smtClean="0">
                <a:solidFill>
                  <a:schemeClr val="bg1">
                    <a:lumMod val="75000"/>
                  </a:schemeClr>
                </a:solidFill>
                <a:latin typeface="Arial" pitchFamily="34" charset="0"/>
                <a:cs typeface="Arial" pitchFamily="34" charset="0"/>
              </a:rPr>
              <a:t>http://www.brasilseo.com.br/               design       </a:t>
            </a:r>
            <a:r>
              <a:rPr lang="pt-BR" sz="2400" dirty="0" smtClean="0">
                <a:solidFill>
                  <a:srgbClr val="FFCC00"/>
                </a:solidFill>
                <a:latin typeface="Arial" pitchFamily="34" charset="0"/>
                <a:cs typeface="Arial" pitchFamily="34" charset="0"/>
                <a:hlinkClick r:id="rId4"/>
              </a:rPr>
              <a:t>@alineideias        </a:t>
            </a:r>
            <a:endParaRPr lang="pt-BR" sz="2000" dirty="0" smtClean="0">
              <a:solidFill>
                <a:srgbClr val="FFCC00"/>
              </a:solidFill>
              <a:latin typeface="Arial" pitchFamily="34" charset="0"/>
              <a:cs typeface="Arial" pitchFamily="34" charset="0"/>
            </a:endParaRPr>
          </a:p>
        </p:txBody>
      </p:sp>
      <p:pic>
        <p:nvPicPr>
          <p:cNvPr id="4" name="Picture 2" descr="C:\Users\Brivin\Desktop\apresentacao-cassiano\twitter-02.jpg"/>
          <p:cNvPicPr>
            <a:picLocks noChangeAspect="1" noChangeArrowheads="1"/>
          </p:cNvPicPr>
          <p:nvPr/>
        </p:nvPicPr>
        <p:blipFill>
          <a:blip r:embed="rId5" cstate="print"/>
          <a:srcRect/>
          <a:stretch>
            <a:fillRect/>
          </a:stretch>
        </p:blipFill>
        <p:spPr bwMode="auto">
          <a:xfrm>
            <a:off x="323528" y="5674586"/>
            <a:ext cx="409801" cy="418710"/>
          </a:xfrm>
          <a:prstGeom prst="rect">
            <a:avLst/>
          </a:prstGeom>
          <a:noFill/>
        </p:spPr>
      </p:pic>
      <p:pic>
        <p:nvPicPr>
          <p:cNvPr id="5" name="Picture 2" descr="C:\Users\Brivin\Desktop\apresentacao-cassiano\twitter-02.jpg"/>
          <p:cNvPicPr>
            <a:picLocks noChangeAspect="1" noChangeArrowheads="1"/>
          </p:cNvPicPr>
          <p:nvPr/>
        </p:nvPicPr>
        <p:blipFill>
          <a:blip r:embed="rId5" cstate="print"/>
          <a:srcRect/>
          <a:stretch>
            <a:fillRect/>
          </a:stretch>
        </p:blipFill>
        <p:spPr bwMode="auto">
          <a:xfrm>
            <a:off x="6372200" y="6093296"/>
            <a:ext cx="409801" cy="41871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1500</TotalTime>
  <Words>2540</Words>
  <Application>Microsoft Office PowerPoint</Application>
  <PresentationFormat>Apresentação na tela (4:3)</PresentationFormat>
  <Paragraphs>738</Paragraphs>
  <Slides>58</Slides>
  <Notes>0</Notes>
  <HiddenSlides>0</HiddenSlides>
  <MMClips>0</MMClips>
  <ScaleCrop>false</ScaleCrop>
  <HeadingPairs>
    <vt:vector size="4" baseType="variant">
      <vt:variant>
        <vt:lpstr>Tema</vt:lpstr>
      </vt:variant>
      <vt:variant>
        <vt:i4>1</vt:i4>
      </vt:variant>
      <vt:variant>
        <vt:lpstr>Títulos de slides</vt:lpstr>
      </vt:variant>
      <vt:variant>
        <vt:i4>58</vt:i4>
      </vt:variant>
    </vt:vector>
  </HeadingPairs>
  <TitlesOfParts>
    <vt:vector size="59" baseType="lpstr">
      <vt:lpstr>Tema do Office</vt:lpstr>
      <vt:lpstr>Slide 1</vt:lpstr>
      <vt:lpstr>Importância  dos Links</vt:lpstr>
      <vt:lpstr>Link Building:  Conteúdo e Visibilidade</vt:lpstr>
      <vt:lpstr>Link Bait</vt:lpstr>
      <vt:lpstr>Link Bait</vt:lpstr>
      <vt:lpstr>Link Bait</vt:lpstr>
      <vt:lpstr>WORLD TRACKER LABS</vt:lpstr>
      <vt:lpstr>Link Building:  Por onde começar?</vt:lpstr>
      <vt:lpstr>Ferramentas de Análise de BackLinks</vt:lpstr>
      <vt:lpstr>Open Site Explorer</vt:lpstr>
      <vt:lpstr>Slide 11</vt:lpstr>
      <vt:lpstr>Open Site Explorer</vt:lpstr>
      <vt:lpstr>Competitive Link Finder Link Intersect </vt:lpstr>
      <vt:lpstr> Link Intersect </vt:lpstr>
      <vt:lpstr>Diretórios </vt:lpstr>
      <vt:lpstr>Diretórios </vt:lpstr>
      <vt:lpstr>Diretórios </vt:lpstr>
      <vt:lpstr>Diretórios </vt:lpstr>
      <vt:lpstr> </vt:lpstr>
      <vt:lpstr>Diretórios </vt:lpstr>
      <vt:lpstr>Diretórios </vt:lpstr>
      <vt:lpstr>Diretório de Artigos  (Article Submission) </vt:lpstr>
      <vt:lpstr>Diretório de Artigos  (Article Submission) </vt:lpstr>
      <vt:lpstr>Diretório de Artigos  (Article Submission) </vt:lpstr>
      <vt:lpstr>Press Releases </vt:lpstr>
      <vt:lpstr>Guest Posts </vt:lpstr>
      <vt:lpstr>Guest Posts </vt:lpstr>
      <vt:lpstr>Guest Posts </vt:lpstr>
      <vt:lpstr>RSS/FEED Submission</vt:lpstr>
      <vt:lpstr>Redes Sociais</vt:lpstr>
      <vt:lpstr>Redes Sociais</vt:lpstr>
      <vt:lpstr>Agregadores de Notícias</vt:lpstr>
      <vt:lpstr>Agregadores de Notícias</vt:lpstr>
      <vt:lpstr>Agregadores de Notícias</vt:lpstr>
      <vt:lpstr>Slide 35</vt:lpstr>
      <vt:lpstr>Widgets</vt:lpstr>
      <vt:lpstr>Facilitando a Propagação</vt:lpstr>
      <vt:lpstr>Participação em Blogs/Fóruns</vt:lpstr>
      <vt:lpstr>Encontrando Blogs/Fóruns</vt:lpstr>
      <vt:lpstr>Blogs DOFOLLOW</vt:lpstr>
      <vt:lpstr>Blogs DOFOLLOW</vt:lpstr>
      <vt:lpstr>Blogs</vt:lpstr>
      <vt:lpstr>Links em Domínios Expirados</vt:lpstr>
      <vt:lpstr>Troca de Links</vt:lpstr>
      <vt:lpstr>Compra de Links</vt:lpstr>
      <vt:lpstr>Explorando Oportunidades</vt:lpstr>
      <vt:lpstr>Slide 47</vt:lpstr>
      <vt:lpstr>Slide 48</vt:lpstr>
      <vt:lpstr>Slide 49</vt:lpstr>
      <vt:lpstr>Slide 50</vt:lpstr>
      <vt:lpstr>Slide 51</vt:lpstr>
      <vt:lpstr>Colaboração com Instituições</vt:lpstr>
      <vt:lpstr>Slide 53</vt:lpstr>
      <vt:lpstr>Slide 54</vt:lpstr>
      <vt:lpstr>Slide 55</vt:lpstr>
      <vt:lpstr>Link Building</vt:lpstr>
      <vt:lpstr>Link Building</vt:lpstr>
      <vt:lpstr>FIM</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Brivin</dc:creator>
  <cp:lastModifiedBy>Brivin</cp:lastModifiedBy>
  <cp:revision>109</cp:revision>
  <dcterms:created xsi:type="dcterms:W3CDTF">2010-07-20T20:46:14Z</dcterms:created>
  <dcterms:modified xsi:type="dcterms:W3CDTF">2010-08-04T18:08:50Z</dcterms:modified>
</cp:coreProperties>
</file>