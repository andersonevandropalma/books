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12" r:id="rId3"/>
    <p:sldId id="257" r:id="rId4"/>
    <p:sldId id="299" r:id="rId5"/>
    <p:sldId id="300" r:id="rId6"/>
    <p:sldId id="288" r:id="rId7"/>
    <p:sldId id="313" r:id="rId8"/>
    <p:sldId id="281" r:id="rId9"/>
    <p:sldId id="284" r:id="rId10"/>
    <p:sldId id="285" r:id="rId11"/>
    <p:sldId id="286" r:id="rId12"/>
    <p:sldId id="287" r:id="rId13"/>
    <p:sldId id="283" r:id="rId14"/>
    <p:sldId id="311" r:id="rId15"/>
    <p:sldId id="282" r:id="rId16"/>
    <p:sldId id="272" r:id="rId17"/>
    <p:sldId id="273" r:id="rId18"/>
    <p:sldId id="275" r:id="rId19"/>
    <p:sldId id="276" r:id="rId20"/>
    <p:sldId id="277" r:id="rId21"/>
    <p:sldId id="278" r:id="rId22"/>
    <p:sldId id="268" r:id="rId23"/>
    <p:sldId id="297" r:id="rId24"/>
    <p:sldId id="310" r:id="rId25"/>
    <p:sldId id="261" r:id="rId26"/>
    <p:sldId id="293" r:id="rId27"/>
    <p:sldId id="292" r:id="rId28"/>
    <p:sldId id="289" r:id="rId29"/>
    <p:sldId id="263" r:id="rId30"/>
    <p:sldId id="295" r:id="rId31"/>
    <p:sldId id="264" r:id="rId32"/>
    <p:sldId id="294" r:id="rId33"/>
    <p:sldId id="266" r:id="rId34"/>
    <p:sldId id="267" r:id="rId35"/>
    <p:sldId id="296" r:id="rId36"/>
    <p:sldId id="291" r:id="rId37"/>
    <p:sldId id="270" r:id="rId38"/>
    <p:sldId id="290" r:id="rId39"/>
    <p:sldId id="302" r:id="rId40"/>
    <p:sldId id="303" r:id="rId41"/>
    <p:sldId id="304" r:id="rId42"/>
    <p:sldId id="305" r:id="rId43"/>
    <p:sldId id="309" r:id="rId44"/>
    <p:sldId id="307" r:id="rId45"/>
    <p:sldId id="306" r:id="rId46"/>
    <p:sldId id="308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377" autoAdjust="0"/>
  </p:normalViewPr>
  <p:slideViewPr>
    <p:cSldViewPr>
      <p:cViewPr varScale="1">
        <p:scale>
          <a:sx n="78" d="100"/>
          <a:sy n="78" d="100"/>
        </p:scale>
        <p:origin x="-161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09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3BF65-3A69-40A0-A2D6-0B06811BB6C5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4EF9D-76D1-4F47-B999-CB1FF46D4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undo-mestreseo-inicial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365104"/>
            <a:ext cx="7772400" cy="86409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323656"/>
            <a:ext cx="6400800" cy="6256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undo-mestrese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500958" y="5929330"/>
            <a:ext cx="1574470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@fabioricotta</a:t>
            </a:r>
            <a:endParaRPr lang="en-US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/>
          <a:lstStyle>
            <a:lvl1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3556991"/>
          </a:xfrm>
        </p:spPr>
        <p:txBody>
          <a:bodyPr/>
          <a:lstStyle>
            <a:lvl1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98A24-D74B-437E-B399-CF995F0C260A}" type="datetimeFigureOut">
              <a:rPr lang="en-US" smtClean="0"/>
              <a:pPr/>
              <a:t>8/24/2010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D6F39-5E5A-493C-A1B6-F45C5EC9C2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br/imgres?imgurl=http://elitehp.blogs.sapo.pt/arquivo/Bandeira%20Brasil.gif&amp;imgrefurl=http://elitehp.blogs.sapo.pt/arquivo/2005_07.html&amp;usg=__neBc6rEJ0PO9wskV5vkmiKf7Yt8=&amp;h=330&amp;w=476&amp;sz=5&amp;hl=pt-BR&amp;start=1&amp;um=1&amp;itbs=1&amp;tbnid=svlwclAd2adKMM:&amp;tbnh=89&amp;tbnw=129&amp;prev=/images?q=bandeira+brasil&amp;um=1&amp;hl=pt-BR&amp;sa=N&amp;tbs=isch: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br/imgres?imgurl=http://elitehp.blogs.sapo.pt/arquivo/Bandeira%20Brasil.gif&amp;imgrefurl=http://elitehp.blogs.sapo.pt/arquivo/2005_07.html&amp;usg=__neBc6rEJ0PO9wskV5vkmiKf7Yt8=&amp;h=330&amp;w=476&amp;sz=5&amp;hl=pt-BR&amp;start=1&amp;um=1&amp;itbs=1&amp;tbnid=svlwclAd2adKMM:&amp;tbnh=89&amp;tbnw=129&amp;prev=/images?q=bandeira+brasil&amp;um=1&amp;hl=pt-BR&amp;sa=N&amp;tbs=isch:1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br/imgres?imgurl=http://elitehp.blogs.sapo.pt/arquivo/Bandeira%20Brasil.gif&amp;imgrefurl=http://elitehp.blogs.sapo.pt/arquivo/2005_07.html&amp;usg=__neBc6rEJ0PO9wskV5vkmiKf7Yt8=&amp;h=330&amp;w=476&amp;sz=5&amp;hl=pt-BR&amp;start=1&amp;um=1&amp;itbs=1&amp;tbnid=svlwclAd2adKMM:&amp;tbnh=89&amp;tbnw=129&amp;prev=/images?q=bandeira+brasil&amp;um=1&amp;hl=pt-BR&amp;sa=N&amp;tbs=isch:1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br/imgres?imgurl=http://elitehp.blogs.sapo.pt/arquivo/Bandeira%20Brasil.gif&amp;imgrefurl=http://elitehp.blogs.sapo.pt/arquivo/2005_07.html&amp;usg=__neBc6rEJ0PO9wskV5vkmiKf7Yt8=&amp;h=330&amp;w=476&amp;sz=5&amp;hl=pt-BR&amp;start=1&amp;um=1&amp;itbs=1&amp;tbnid=svlwclAd2adKMM:&amp;tbnh=89&amp;tbnw=129&amp;prev=/images?q=bandeira+brasil&amp;um=1&amp;hl=pt-BR&amp;sa=N&amp;tbs=isch: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local/add/businessCenter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e-Commerce SEO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 smtClean="0"/>
              <a:t>Dicas de SEO para melhorar a sua loja virtual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4882554"/>
          </a:xfrm>
        </p:spPr>
        <p:txBody>
          <a:bodyPr/>
          <a:lstStyle/>
          <a:p>
            <a:r>
              <a:rPr lang="pt-BR" sz="4800" dirty="0" smtClean="0"/>
              <a:t>Busca Orgânica e Lojas Virtuais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Alguns dados para motivar o nosso bate-papo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e-Commerce Brasileiro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000" dirty="0" smtClean="0"/>
              <a:t>35% do Tráfego vem de Buscadores</a:t>
            </a:r>
            <a:endParaRPr lang="pt-BR" sz="48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4139952" y="4869160"/>
            <a:ext cx="47836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1600" i="1" dirty="0" smtClean="0"/>
              <a:t>Serasa Experian Hitwise Brasil em Agosto de 2010</a:t>
            </a:r>
            <a:endParaRPr lang="en-US" sz="1600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r="6357"/>
          <a:stretch>
            <a:fillRect/>
          </a:stretch>
        </p:blipFill>
        <p:spPr bwMode="auto">
          <a:xfrm>
            <a:off x="148902" y="2323138"/>
            <a:ext cx="8743578" cy="22742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32" descr="http://t0.gstatic.com/images?q=tbn:svlwclAd2adKMM:http://elitehp.blogs.sapo.pt/arquivo/Bandeira%2520Brasil.gif">
            <a:hlinkClick r:id="rId3"/>
          </p:cNvPr>
          <p:cNvPicPr>
            <a:picLocks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8388424" y="2420888"/>
            <a:ext cx="405514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Termos mais Buscados no Varejo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600200"/>
            <a:ext cx="2867189" cy="3557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4644008" y="2060848"/>
            <a:ext cx="3600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 </a:t>
            </a:r>
            <a:r>
              <a:rPr lang="en-US" sz="2400" dirty="0" err="1" smtClean="0"/>
              <a:t>palavra</a:t>
            </a:r>
            <a:r>
              <a:rPr lang="en-US" sz="2400" dirty="0" smtClean="0"/>
              <a:t> “</a:t>
            </a:r>
            <a:r>
              <a:rPr lang="en-US" sz="2400" dirty="0" err="1" smtClean="0"/>
              <a:t>celulares</a:t>
            </a:r>
            <a:r>
              <a:rPr lang="en-US" sz="2400" dirty="0" smtClean="0"/>
              <a:t>” </a:t>
            </a:r>
            <a:r>
              <a:rPr lang="en-US" sz="2400" dirty="0" err="1" smtClean="0"/>
              <a:t>ocupa</a:t>
            </a:r>
            <a:r>
              <a:rPr lang="en-US" sz="2400" dirty="0" smtClean="0"/>
              <a:t> o </a:t>
            </a:r>
            <a:r>
              <a:rPr lang="en-US" sz="2400" dirty="0" err="1" smtClean="0"/>
              <a:t>primeiro</a:t>
            </a:r>
            <a:r>
              <a:rPr lang="en-US" sz="2400" dirty="0" smtClean="0"/>
              <a:t> </a:t>
            </a:r>
            <a:r>
              <a:rPr lang="en-US" sz="2400" dirty="0" err="1" smtClean="0"/>
              <a:t>lugar</a:t>
            </a:r>
            <a:r>
              <a:rPr lang="en-US" sz="2400" dirty="0" smtClean="0"/>
              <a:t> com 0.15% das </a:t>
            </a:r>
            <a:r>
              <a:rPr lang="en-US" sz="2400" dirty="0" err="1" smtClean="0"/>
              <a:t>buscas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pt-BR" sz="2400" dirty="0" smtClean="0"/>
              <a:t>O curioso é que o 2º, 4º e 5º lugares são variações do termo “celular”.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139952" y="4869160"/>
            <a:ext cx="47836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1600" i="1" dirty="0" smtClean="0"/>
              <a:t>Serasa Experian Hitwise Brasil em Agosto de 2010</a:t>
            </a:r>
            <a:endParaRPr lang="en-US" sz="1600" i="1" dirty="0"/>
          </a:p>
        </p:txBody>
      </p:sp>
      <p:pic>
        <p:nvPicPr>
          <p:cNvPr id="7" name="Picture 32" descr="http://t0.gstatic.com/images?q=tbn:svlwclAd2adKMM:http://elitehp.blogs.sapo.pt/arquivo/Bandeira%2520Brasil.gif">
            <a:hlinkClick r:id="rId3"/>
          </p:cNvPr>
          <p:cNvPicPr>
            <a:picLocks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3635896" y="1700808"/>
            <a:ext cx="405514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os Usuários Pesquisam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 l="38090" t="22146" r="38876" b="60354"/>
          <a:stretch>
            <a:fillRect/>
          </a:stretch>
        </p:blipFill>
        <p:spPr bwMode="auto">
          <a:xfrm>
            <a:off x="251520" y="2060848"/>
            <a:ext cx="2808312" cy="288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aixaDeTexto 5"/>
          <p:cNvSpPr txBox="1"/>
          <p:nvPr/>
        </p:nvSpPr>
        <p:spPr>
          <a:xfrm>
            <a:off x="3347864" y="2780928"/>
            <a:ext cx="4879541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pt-BR" sz="2400" b="1" dirty="0" smtClean="0"/>
              <a:t>Buscas por palavras no Brasil</a:t>
            </a:r>
          </a:p>
          <a:p>
            <a:pPr marL="342900" indent="-342900"/>
            <a:r>
              <a:rPr lang="pt-BR" sz="4400" b="1" dirty="0" smtClean="0"/>
              <a:t>36,97% </a:t>
            </a:r>
            <a:r>
              <a:rPr lang="pt-BR" sz="2400" dirty="0" smtClean="0"/>
              <a:t>têm 4 ou mais palavras</a:t>
            </a:r>
            <a:endParaRPr lang="pt-BR" dirty="0"/>
          </a:p>
        </p:txBody>
      </p:sp>
      <p:pic>
        <p:nvPicPr>
          <p:cNvPr id="6" name="Picture 32" descr="http://t0.gstatic.com/images?q=tbn:svlwclAd2adKMM:http://elitehp.blogs.sapo.pt/arquivo/Bandeira%2520Brasil.gif">
            <a:hlinkClick r:id="rId3"/>
          </p:cNvPr>
          <p:cNvPicPr>
            <a:picLocks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2555776" y="2132856"/>
            <a:ext cx="405514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139952" y="4869160"/>
            <a:ext cx="47836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1600" i="1" dirty="0" smtClean="0"/>
              <a:t>Serasa Experian Hitwise Brasil em Agosto de 2010</a:t>
            </a:r>
            <a:endParaRPr lang="en-US" sz="16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A Internet Brasileira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Mais de 96% das buscas na Internet no Brasil são feitas através do Google.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7855" y="5065439"/>
            <a:ext cx="42280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1400" i="1" dirty="0" smtClean="0"/>
              <a:t>Serasa Experian Hitwise Brasil em Agosto de 2010</a:t>
            </a:r>
            <a:endParaRPr lang="en-US" sz="1400" i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20954" t="35218" r="2565" b="13045"/>
          <a:stretch>
            <a:fillRect/>
          </a:stretch>
        </p:blipFill>
        <p:spPr bwMode="auto">
          <a:xfrm>
            <a:off x="2051719" y="2564904"/>
            <a:ext cx="4968553" cy="2340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2" descr="http://t0.gstatic.com/images?q=tbn:svlwclAd2adKMM:http://elitehp.blogs.sapo.pt/arquivo/Bandeira%2520Brasil.gif">
            <a:hlinkClick r:id="rId3"/>
          </p:cNvPr>
          <p:cNvPicPr>
            <a:picLocks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6588224" y="2636912"/>
            <a:ext cx="405514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4882554"/>
          </a:xfrm>
        </p:spPr>
        <p:txBody>
          <a:bodyPr/>
          <a:lstStyle/>
          <a:p>
            <a:r>
              <a:rPr lang="pt-BR" sz="6600" dirty="0" smtClean="0"/>
              <a:t>Entendendo o Google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Entender o grande player é fundamental para o sucesso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Entendendo o Google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alphaModFix/>
            <a:lum/>
          </a:blip>
          <a:srcRect/>
          <a:stretch>
            <a:fillRect/>
          </a:stretch>
        </p:blipFill>
        <p:spPr>
          <a:xfrm>
            <a:off x="1130199" y="1412776"/>
            <a:ext cx="6826177" cy="3744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051720" y="2204864"/>
            <a:ext cx="4221155" cy="288032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1520" y="4275093"/>
            <a:ext cx="2376264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800" b="1" dirty="0" smtClean="0">
                <a:solidFill>
                  <a:srgbClr val="FF0000"/>
                </a:solidFill>
              </a:rPr>
              <a:t>Resultados Orgânicos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Entendendo o Google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b="24019"/>
          <a:stretch>
            <a:fillRect/>
          </a:stretch>
        </p:blipFill>
        <p:spPr bwMode="auto">
          <a:xfrm>
            <a:off x="815586" y="1556792"/>
            <a:ext cx="7716854" cy="34711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827584" y="1556792"/>
            <a:ext cx="4221155" cy="432048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76056" y="1412776"/>
            <a:ext cx="117371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FF0000"/>
                </a:solidFill>
              </a:rPr>
              <a:t>Título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Entendendo o Google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b="24019"/>
          <a:stretch>
            <a:fillRect/>
          </a:stretch>
        </p:blipFill>
        <p:spPr bwMode="auto">
          <a:xfrm>
            <a:off x="815586" y="1556792"/>
            <a:ext cx="7716854" cy="34711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827584" y="1844824"/>
            <a:ext cx="7272808" cy="576064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20072" y="2492896"/>
            <a:ext cx="1823704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FF0000"/>
                </a:solidFill>
              </a:rPr>
              <a:t>Descrição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Entendendo o Google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b="24019"/>
          <a:stretch>
            <a:fillRect/>
          </a:stretch>
        </p:blipFill>
        <p:spPr bwMode="auto">
          <a:xfrm>
            <a:off x="815586" y="1556792"/>
            <a:ext cx="7716854" cy="34711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827584" y="2276872"/>
            <a:ext cx="4221155" cy="36004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20072" y="2132856"/>
            <a:ext cx="856325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FF0000"/>
                </a:solidFill>
              </a:rPr>
              <a:t>URL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Entendendo o Google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b="24019"/>
          <a:stretch>
            <a:fillRect/>
          </a:stretch>
        </p:blipFill>
        <p:spPr bwMode="auto">
          <a:xfrm>
            <a:off x="815586" y="1556792"/>
            <a:ext cx="7716854" cy="34711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827584" y="2564904"/>
            <a:ext cx="4221155" cy="1008112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20072" y="2772217"/>
            <a:ext cx="160293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FF0000"/>
                </a:solidFill>
              </a:rPr>
              <a:t>Sitelinks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O </a:t>
            </a:r>
            <a:r>
              <a:rPr lang="pt-BR" dirty="0" smtClean="0"/>
              <a:t>q</a:t>
            </a: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ue é SEO?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Content Placeholder 3" descr="2764675971_5d8b28c331_b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633" y="1457337"/>
            <a:ext cx="4914900" cy="3686175"/>
          </a:xfrm>
          <a:ln w="19050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12855" y="3571876"/>
            <a:ext cx="2668423" cy="707886"/>
          </a:xfrm>
          <a:prstGeom prst="rect">
            <a:avLst/>
          </a:prstGeom>
          <a:solidFill>
            <a:srgbClr val="33CC33"/>
          </a:solidFill>
        </p:spPr>
        <p:txBody>
          <a:bodyPr wrap="none" rtlCol="0">
            <a:spAutoFit/>
          </a:bodyPr>
          <a:lstStyle/>
          <a:p>
            <a:r>
              <a:rPr lang="pt-BR" sz="4000" dirty="0" smtClean="0">
                <a:solidFill>
                  <a:schemeClr val="bg1"/>
                </a:solidFill>
              </a:rPr>
              <a:t>+ conversão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12855" y="2814659"/>
            <a:ext cx="2816797" cy="76944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pt-BR" sz="4400" dirty="0" smtClean="0">
                <a:solidFill>
                  <a:schemeClr val="bg1"/>
                </a:solidFill>
              </a:rPr>
              <a:t>Visibilidade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4882554"/>
          </a:xfrm>
        </p:spPr>
        <p:txBody>
          <a:bodyPr/>
          <a:lstStyle/>
          <a:p>
            <a:r>
              <a:rPr lang="pt-BR" sz="6200" dirty="0" smtClean="0"/>
              <a:t>Estrutura do CMS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Organizar a casa é um bom começo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Entendendo a Nossa Página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5758" r="15472"/>
          <a:stretch>
            <a:fillRect/>
          </a:stretch>
        </p:blipFill>
        <p:spPr bwMode="auto">
          <a:xfrm>
            <a:off x="1520509" y="1412776"/>
            <a:ext cx="6031545" cy="3629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Título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r="29794"/>
          <a:stretch>
            <a:fillRect/>
          </a:stretch>
        </p:blipFill>
        <p:spPr bwMode="auto">
          <a:xfrm>
            <a:off x="755576" y="1484784"/>
            <a:ext cx="7573255" cy="36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1403648" y="2204864"/>
            <a:ext cx="4221155" cy="36004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Título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 hangingPunct="0">
              <a:lnSpc>
                <a:spcPct val="100000"/>
              </a:lnSpc>
            </a:pPr>
            <a:r>
              <a:rPr lang="en-US" sz="20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Keywords e Nome do Site</a:t>
            </a:r>
            <a:endParaRPr lang="en-US" sz="20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 rtl="0" hangingPunct="0">
              <a:lnSpc>
                <a:spcPct val="100000"/>
              </a:lnSpc>
            </a:pP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Preferencialmente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o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nome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do site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deve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vir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depois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do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título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contextualizado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da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página</a:t>
            </a:r>
            <a:endParaRPr lang="en-US" sz="1600" b="0" i="0" kern="1200" dirty="0" smtClean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rtl="0" hangingPunct="0">
              <a:lnSpc>
                <a:spcPct val="100000"/>
              </a:lnSpc>
            </a:pPr>
            <a:r>
              <a:rPr lang="en-US" sz="20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Quantidade</a:t>
            </a:r>
            <a:r>
              <a:rPr lang="en-US" sz="20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de </a:t>
            </a:r>
            <a:r>
              <a:rPr lang="en-US" sz="20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Caracteres</a:t>
            </a:r>
            <a:endParaRPr lang="en-US" sz="2000" b="0" i="0" kern="1200" dirty="0" smtClean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 rtl="0" hangingPunct="0">
              <a:lnSpc>
                <a:spcPct val="100000"/>
              </a:lnSpc>
            </a:pP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Utilizar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no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máximo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63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caracteres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para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que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os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usuários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tenham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visão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de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todo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o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título</a:t>
            </a:r>
            <a:endParaRPr lang="en-US" sz="1600" b="0" i="0" kern="1200" dirty="0" smtClean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rtl="0" hangingPunct="0">
              <a:lnSpc>
                <a:spcPct val="100000"/>
              </a:lnSpc>
            </a:pPr>
            <a:r>
              <a:rPr lang="en-US" sz="20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Sopa</a:t>
            </a:r>
            <a:r>
              <a:rPr lang="en-US" sz="20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de </a:t>
            </a:r>
            <a:r>
              <a:rPr lang="en-US" sz="20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Letrinhas</a:t>
            </a:r>
            <a:r>
              <a:rPr lang="en-US" sz="20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0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ou</a:t>
            </a:r>
            <a:r>
              <a:rPr lang="en-US" sz="20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0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Manchetes</a:t>
            </a:r>
            <a:r>
              <a:rPr lang="en-US" sz="20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?</a:t>
            </a:r>
            <a:endParaRPr lang="en-US" sz="20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 rtl="0" hangingPunct="0">
              <a:lnSpc>
                <a:spcPct val="100000"/>
              </a:lnSpc>
            </a:pP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Crie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um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título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chamativo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e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criativo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informativo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e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curioso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para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de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fato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atrair</a:t>
            </a:r>
            <a:r>
              <a:rPr lang="en-US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o clique do </a:t>
            </a:r>
            <a:r>
              <a:rPr lang="en-US" sz="16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usuário</a:t>
            </a:r>
            <a:endParaRPr lang="en-US" sz="1600" b="0" i="0" kern="1200" dirty="0" smtClean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rtl="0" hangingPunct="0">
              <a:lnSpc>
                <a:spcPct val="100000"/>
              </a:lnSpc>
            </a:pPr>
            <a:r>
              <a:rPr lang="pt-BR" sz="20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Marca no Título?</a:t>
            </a:r>
            <a:endParaRPr lang="en-US" sz="20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>
              <a:lnSpc>
                <a:spcPct val="100000"/>
              </a:lnSpc>
            </a:pPr>
            <a:r>
              <a:rPr lang="pt-BR" sz="16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Antes ou depois do texto principal, depende do seu nicho e dos seus testes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Meta Description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r="29794"/>
          <a:stretch>
            <a:fillRect/>
          </a:stretch>
        </p:blipFill>
        <p:spPr bwMode="auto">
          <a:xfrm>
            <a:off x="755576" y="1484784"/>
            <a:ext cx="7573255" cy="36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187624" y="2414383"/>
            <a:ext cx="7147634" cy="36654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Meta Description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rtl="0" hangingPunct="0">
              <a:lnSpc>
                <a:spcPct val="110000"/>
              </a:lnSpc>
            </a:pP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Para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uma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pessoa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a meta description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precisa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ser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chamativa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interessante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informativa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curiosa e com um toque de call-for-action.</a:t>
            </a:r>
            <a:endParaRPr lang="en-US" sz="32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rtl="0" hangingPunct="0">
              <a:lnSpc>
                <a:spcPct val="110000"/>
              </a:lnSpc>
            </a:pP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Pode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mas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não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deve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conter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mais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do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que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160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caracteres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  <a:endParaRPr lang="en-US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342900" marR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Não possui influência em rankings, ou seja, não pense em inserir palavras desnecessárias.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URL Amigáveis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hangingPunct="0">
              <a:lnSpc>
                <a:spcPct val="100000"/>
              </a:lnSpc>
            </a:pP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Uma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URL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óbvia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é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uma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ótima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URL;</a:t>
            </a:r>
            <a:endParaRPr lang="en-US" sz="32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rtl="0" hangingPunct="0">
              <a:lnSpc>
                <a:spcPct val="100000"/>
              </a:lnSpc>
            </a:pP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Quando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se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olha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para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a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barra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de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endereços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do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navegador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e se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consegue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saber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qual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o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conteúdo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página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antes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mesmo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de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carregar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esse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conteúdo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temos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uma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URL </a:t>
            </a:r>
            <a:r>
              <a:rPr lang="en-US" sz="3200" b="0" i="0" kern="1200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perfeita</a:t>
            </a:r>
            <a:r>
              <a:rPr lang="en-US" sz="3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;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URLs </a:t>
            </a:r>
            <a:r>
              <a:rPr lang="en-US" dirty="0" err="1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Amigáveis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URL Antiga:</a:t>
            </a:r>
          </a:p>
          <a:p>
            <a:pPr>
              <a:lnSpc>
                <a:spcPct val="100000"/>
              </a:lnSpc>
            </a:pPr>
            <a:endParaRPr lang="pt-BR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lnSpc>
                <a:spcPct val="100000"/>
              </a:lnSpc>
            </a:pPr>
            <a:endParaRPr lang="pt-BR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lnSpc>
                <a:spcPct val="100000"/>
              </a:lnSpc>
            </a:pPr>
            <a:r>
              <a:rPr lang="pt-BR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URL Nova(reescrita):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r="76872" b="91600"/>
          <a:stretch>
            <a:fillRect/>
          </a:stretch>
        </p:blipFill>
        <p:spPr bwMode="auto">
          <a:xfrm>
            <a:off x="1475656" y="2420888"/>
            <a:ext cx="6696744" cy="720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 r="76872" b="91600"/>
          <a:stretch>
            <a:fillRect/>
          </a:stretch>
        </p:blipFill>
        <p:spPr bwMode="auto">
          <a:xfrm>
            <a:off x="1475656" y="4149080"/>
            <a:ext cx="6696744" cy="720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Produtos</a:t>
            </a:r>
            <a:r>
              <a:rPr lang="pt-BR" baseline="0" dirty="0" smtClean="0"/>
              <a:t> Relacionados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É muito interessante que você </a:t>
            </a:r>
            <a:r>
              <a:rPr lang="pt-BR" dirty="0" smtClean="0"/>
              <a:t>tenha </a:t>
            </a:r>
            <a:r>
              <a:rPr lang="pt-BR" dirty="0" smtClean="0"/>
              <a:t>uma listagem de produtos relacionados na sua página de produtos, desta</a:t>
            </a:r>
            <a:r>
              <a:rPr lang="pt-BR" baseline="0" dirty="0" smtClean="0"/>
              <a:t> forma os seus usuários e os mecanismos de busca conseguem “enxergar” esta conexão.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Produtos</a:t>
            </a:r>
            <a:r>
              <a:rPr lang="pt-BR" baseline="0" dirty="0" smtClean="0"/>
              <a:t> Relacionados</a:t>
            </a:r>
            <a:endParaRPr lang="en-US" dirty="0"/>
          </a:p>
        </p:txBody>
      </p:sp>
      <p:pic>
        <p:nvPicPr>
          <p:cNvPr id="512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8097" y="1600200"/>
            <a:ext cx="3876368" cy="3557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627784" y="1916832"/>
            <a:ext cx="3456384" cy="576064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4882554"/>
          </a:xfrm>
        </p:spPr>
        <p:txBody>
          <a:bodyPr/>
          <a:lstStyle/>
          <a:p>
            <a:r>
              <a:rPr lang="pt-BR" sz="6200" dirty="0" smtClean="0"/>
              <a:t>Conteúdo de Qualidade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Ter um bom conteúdo pode atrair consumidores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Descrição de Fabricante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Normalmente as lojas virtuais replicam as descrições que vem dos fabricantes, gerando conteúdo duplicado na Internet;</a:t>
            </a:r>
          </a:p>
          <a:p>
            <a:r>
              <a:rPr lang="pt-BR" dirty="0" smtClean="0"/>
              <a:t>Veja este exemplo: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Descrição de Fabricante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766" y="1600200"/>
            <a:ext cx="7683031" cy="3557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987824" y="4653136"/>
            <a:ext cx="5310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/>
              <a:t>Forno Microondas Inox 30L BMX35AR - Brastemp</a:t>
            </a:r>
            <a:endParaRPr lang="pt-BR" b="1" dirty="0"/>
          </a:p>
        </p:txBody>
      </p:sp>
      <p:sp>
        <p:nvSpPr>
          <p:cNvPr id="6" name="Rectangle 5"/>
          <p:cNvSpPr/>
          <p:nvPr/>
        </p:nvSpPr>
        <p:spPr>
          <a:xfrm>
            <a:off x="1619672" y="3212976"/>
            <a:ext cx="6715586" cy="36004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Descrição de Fabricante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r="40163"/>
          <a:stretch>
            <a:fillRect/>
          </a:stretch>
        </p:blipFill>
        <p:spPr bwMode="auto">
          <a:xfrm>
            <a:off x="694766" y="1600200"/>
            <a:ext cx="4597314" cy="3557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5868144" y="2132856"/>
            <a:ext cx="28803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>
                <a:solidFill>
                  <a:srgbClr val="FF0000"/>
                </a:solidFill>
              </a:rPr>
              <a:t>Aproximadamente</a:t>
            </a:r>
            <a:r>
              <a:rPr lang="en-US" sz="2800" dirty="0" smtClean="0">
                <a:solidFill>
                  <a:srgbClr val="FF0000"/>
                </a:solidFill>
              </a:rPr>
              <a:t> 143 </a:t>
            </a:r>
            <a:r>
              <a:rPr lang="en-US" sz="2800" dirty="0" err="1" smtClean="0">
                <a:solidFill>
                  <a:srgbClr val="FF0000"/>
                </a:solidFill>
              </a:rPr>
              <a:t>resultados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Descrição de Fabricante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 dica é sempre que puder, crie as páginas do seu produto, oferecendo:</a:t>
            </a:r>
          </a:p>
          <a:p>
            <a:pPr lvl="1"/>
            <a:r>
              <a:rPr lang="pt-BR" dirty="0" smtClean="0"/>
              <a:t>Informações técnicas do produto</a:t>
            </a:r>
          </a:p>
          <a:p>
            <a:pPr lvl="1"/>
            <a:r>
              <a:rPr lang="pt-BR" dirty="0" smtClean="0"/>
              <a:t>Dúvidas frequentes sobre o produto (Consulte</a:t>
            </a:r>
            <a:r>
              <a:rPr lang="pt-BR" baseline="0" dirty="0" smtClean="0"/>
              <a:t> o Mercado Livre ou ainda o Yahoo! Respostas);</a:t>
            </a:r>
          </a:p>
          <a:p>
            <a:pPr lvl="1"/>
            <a:r>
              <a:rPr lang="pt-BR" baseline="0" dirty="0" smtClean="0"/>
              <a:t>Comparativos, vídeos e fotos.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Datas Especiais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aseline="0" dirty="0" smtClean="0"/>
              <a:t>Tenha anotado quais são as principais datas do ano em que aumentam as vendas do seu nicho;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320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Prepare-se</a:t>
            </a:r>
            <a:r>
              <a:rPr lang="pt-BR" sz="3200" kern="1200" baseline="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para as principais datas do ano, oferencendo páginas especiais, que possuem:</a:t>
            </a:r>
          </a:p>
          <a:p>
            <a:pPr marL="74295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2800" dirty="0" smtClean="0"/>
              <a:t>Produtos com descontos;</a:t>
            </a:r>
          </a:p>
          <a:p>
            <a:pPr marL="74295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2800" dirty="0" smtClean="0"/>
              <a:t>Dicas</a:t>
            </a:r>
            <a:r>
              <a:rPr lang="pt-BR" sz="2800" baseline="0" dirty="0" smtClean="0"/>
              <a:t> para os usuários;</a:t>
            </a:r>
          </a:p>
          <a:p>
            <a:pPr marL="74295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2800" baseline="0" dirty="0" smtClean="0"/>
              <a:t>Imagens ilustrativas;</a:t>
            </a:r>
          </a:p>
          <a:p>
            <a:pPr marL="74295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2800" baseline="0" dirty="0" smtClean="0"/>
              <a:t>Comparativos.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Datas Especiais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aseline="0" dirty="0" smtClean="0"/>
              <a:t>Use o Google Insights para saber quando o seu nicho possui o maior</a:t>
            </a:r>
            <a:r>
              <a:rPr lang="pt-BR" dirty="0" smtClean="0"/>
              <a:t> tráfego:</a:t>
            </a:r>
            <a:endParaRPr 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3559" y="2708920"/>
            <a:ext cx="6396793" cy="2410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Comentários</a:t>
            </a:r>
            <a:r>
              <a:rPr lang="pt-BR" baseline="0" dirty="0" smtClean="0"/>
              <a:t> e Reviews de Usuários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Os usuários podem lhe dar uma ótima fonte de conteúdo único na Internet,</a:t>
            </a:r>
            <a:r>
              <a:rPr lang="pt-BR" baseline="0" dirty="0" smtClean="0"/>
              <a:t> basta deixar que eles expressem as suas opiniões sobre os produtos;</a:t>
            </a:r>
          </a:p>
          <a:p>
            <a:r>
              <a:rPr lang="pt-BR" baseline="0" dirty="0" smtClean="0"/>
              <a:t>Sempre que alguém comprar um produto, solicite um review desde comprador depois de 1 ou 2 semanas.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Comentários e Reviews de Usuários</a:t>
            </a:r>
            <a:endParaRPr lang="en-US" dirty="0"/>
          </a:p>
        </p:txBody>
      </p:sp>
      <p:pic>
        <p:nvPicPr>
          <p:cNvPr id="481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766" y="1600200"/>
            <a:ext cx="7683031" cy="3557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267744" y="3717032"/>
            <a:ext cx="4536504" cy="144016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Guias de Compra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Uma forma muito interessante de se criar conteúdo para e-Commerce</a:t>
            </a:r>
            <a:r>
              <a:rPr lang="pt-BR" baseline="0" dirty="0" smtClean="0"/>
              <a:t> é criar guias, que educam os usuários, esclarecendo dúvidas sobre determinados produtos.</a:t>
            </a:r>
          </a:p>
          <a:p>
            <a:r>
              <a:rPr lang="pt-BR" dirty="0" smtClean="0"/>
              <a:t>Eles atraem referências externas (links) de pessoas que discutem o tema na Internet.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Comparativos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Uma outra forma de atrair a atenção</a:t>
            </a:r>
            <a:r>
              <a:rPr lang="pt-BR" baseline="0" dirty="0" smtClean="0"/>
              <a:t> e referência de usuários é a criação de comparativos entre produtos similares ou concorrentes;</a:t>
            </a:r>
          </a:p>
          <a:p>
            <a:r>
              <a:rPr lang="pt-BR" baseline="0" dirty="0" smtClean="0"/>
              <a:t>Exibir as qualidades e defeitos de cada um pode ajudar os usuários na escolha do produto.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Comparativos</a:t>
            </a:r>
            <a:endParaRPr lang="en-US" dirty="0"/>
          </a:p>
        </p:txBody>
      </p:sp>
      <p:pic>
        <p:nvPicPr>
          <p:cNvPr id="501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00200"/>
            <a:ext cx="5481920" cy="3557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6300192" y="2435404"/>
            <a:ext cx="25202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Aproximadamente</a:t>
            </a:r>
            <a:r>
              <a:rPr lang="en-US" sz="2400" dirty="0" smtClean="0"/>
              <a:t> </a:t>
            </a:r>
            <a:r>
              <a:rPr lang="en-US" sz="2400" b="1" dirty="0" smtClean="0"/>
              <a:t>1.200 links </a:t>
            </a:r>
            <a:r>
              <a:rPr lang="en-US" sz="2400" dirty="0" err="1" smtClean="0"/>
              <a:t>apontam</a:t>
            </a:r>
            <a:r>
              <a:rPr lang="en-US" sz="2400" dirty="0" smtClean="0"/>
              <a:t> </a:t>
            </a:r>
            <a:r>
              <a:rPr lang="en-US" sz="2400" dirty="0" err="1" smtClean="0"/>
              <a:t>para</a:t>
            </a:r>
            <a:r>
              <a:rPr lang="en-US" sz="2400" dirty="0" smtClean="0"/>
              <a:t> </a:t>
            </a:r>
            <a:r>
              <a:rPr lang="en-US" sz="2400" dirty="0" err="1" smtClean="0"/>
              <a:t>este</a:t>
            </a:r>
            <a:r>
              <a:rPr lang="en-US" sz="2400" dirty="0" smtClean="0"/>
              <a:t> </a:t>
            </a:r>
            <a:r>
              <a:rPr lang="en-US" sz="2400" dirty="0" err="1" smtClean="0"/>
              <a:t>comparativo</a:t>
            </a:r>
            <a:r>
              <a:rPr lang="en-US" sz="2400" dirty="0" smtClean="0"/>
              <a:t>!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4882554"/>
          </a:xfrm>
        </p:spPr>
        <p:txBody>
          <a:bodyPr/>
          <a:lstStyle/>
          <a:p>
            <a:r>
              <a:rPr lang="pt-BR" sz="6600" dirty="0" smtClean="0"/>
              <a:t>Conteúdo Duplicado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Quando URLs diferentes apresentam o mesmo conteúdo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Conteúdo Duplicado</a:t>
            </a:r>
            <a:endParaRPr lang="en-US" dirty="0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9633" y="1814182"/>
            <a:ext cx="6384696" cy="3343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Oval 6"/>
          <p:cNvSpPr/>
          <p:nvPr/>
        </p:nvSpPr>
        <p:spPr>
          <a:xfrm>
            <a:off x="2051720" y="1844824"/>
            <a:ext cx="1082830" cy="421101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75656" y="1412776"/>
            <a:ext cx="2419252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http://200.194.222.32/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Conteúdo Duplicado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r="37351"/>
          <a:stretch>
            <a:fillRect/>
          </a:stretch>
        </p:blipFill>
        <p:spPr bwMode="auto">
          <a:xfrm>
            <a:off x="694766" y="1600200"/>
            <a:ext cx="4813338" cy="3557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5868144" y="2402885"/>
            <a:ext cx="28803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>
                <a:solidFill>
                  <a:srgbClr val="FF0000"/>
                </a:solidFill>
              </a:rPr>
              <a:t>Aproximadamente</a:t>
            </a:r>
            <a:r>
              <a:rPr lang="en-US" sz="2800" dirty="0" smtClean="0">
                <a:solidFill>
                  <a:srgbClr val="FF0000"/>
                </a:solidFill>
              </a:rPr>
              <a:t> 44.700 </a:t>
            </a:r>
            <a:r>
              <a:rPr lang="en-US" sz="2800" dirty="0" err="1" smtClean="0">
                <a:solidFill>
                  <a:srgbClr val="FF0000"/>
                </a:solidFill>
              </a:rPr>
              <a:t>resultados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Exemplo: Classificado de Carros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CompreAuto.com.br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214554"/>
            <a:ext cx="7211961" cy="2970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Segmentação de Modelos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412776"/>
            <a:ext cx="6984776" cy="3746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Títulos Iguais em URLs Diferentes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70724"/>
            <a:ext cx="7713684" cy="812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399418"/>
            <a:ext cx="7715304" cy="804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3399549"/>
            <a:ext cx="7715304" cy="81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560" y="4399682"/>
            <a:ext cx="7715304" cy="753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6826666" y="1871044"/>
            <a:ext cx="1500198" cy="35719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26666" y="2799738"/>
            <a:ext cx="1500198" cy="35719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26666" y="3799871"/>
            <a:ext cx="1500198" cy="35719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26666" y="4800002"/>
            <a:ext cx="1500198" cy="35719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Títulos Indexados no Google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t="4606" r="44067" b="15555"/>
          <a:stretch>
            <a:fillRect/>
          </a:stretch>
        </p:blipFill>
        <p:spPr bwMode="auto">
          <a:xfrm>
            <a:off x="1259632" y="1442416"/>
            <a:ext cx="6581242" cy="371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4882554"/>
          </a:xfrm>
        </p:spPr>
        <p:txBody>
          <a:bodyPr/>
          <a:lstStyle/>
          <a:p>
            <a:r>
              <a:rPr lang="pt-BR" sz="6600" dirty="0" smtClean="0"/>
              <a:t>Resultados Locais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Atinja um nicho de consumidores próximos a você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Os Resultados com</a:t>
            </a:r>
            <a:r>
              <a:rPr lang="pt-BR" baseline="0" dirty="0" smtClean="0"/>
              <a:t> Mapas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600200"/>
            <a:ext cx="4508677" cy="3557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613585" y="3284984"/>
            <a:ext cx="3672408" cy="1872208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358001" y="3356992"/>
            <a:ext cx="2195735" cy="10772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rgbClr val="FF0000"/>
                </a:solidFill>
              </a:rPr>
              <a:t>Resultados Locais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Google Places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42961" y="1340768"/>
            <a:ext cx="4186641" cy="355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475656" y="4941168"/>
            <a:ext cx="5958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hlinkClick r:id="rId3"/>
              </a:rPr>
              <a:t>http://www.google.com/local/add/businessCenter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Muito Obrigado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1800" y="1600200"/>
            <a:ext cx="6120680" cy="3556991"/>
          </a:xfrm>
        </p:spPr>
        <p:txBody>
          <a:bodyPr>
            <a:normAutofit/>
          </a:bodyPr>
          <a:lstStyle/>
          <a:p>
            <a:r>
              <a:rPr lang="pt-BR" sz="5400" dirty="0" smtClean="0"/>
              <a:t>Dúvidas?</a:t>
            </a:r>
          </a:p>
          <a:p>
            <a:endParaRPr lang="pt-BR" dirty="0" smtClean="0"/>
          </a:p>
          <a:p>
            <a:r>
              <a:rPr lang="pt-BR" dirty="0" smtClean="0"/>
              <a:t>Contato:</a:t>
            </a:r>
          </a:p>
          <a:p>
            <a:pPr lvl="1"/>
            <a:r>
              <a:rPr lang="pt-BR" sz="2400" b="1" dirty="0" smtClean="0"/>
              <a:t>Email: </a:t>
            </a:r>
            <a:r>
              <a:rPr lang="pt-BR" sz="2400" dirty="0" smtClean="0"/>
              <a:t>fabioricotta@mestreseo.com.br</a:t>
            </a:r>
          </a:p>
          <a:p>
            <a:pPr lvl="1"/>
            <a:r>
              <a:rPr lang="pt-BR" sz="2400" b="1" dirty="0" smtClean="0"/>
              <a:t>Website: </a:t>
            </a:r>
            <a:r>
              <a:rPr lang="pt-BR" sz="2400" dirty="0" smtClean="0"/>
              <a:t>www.mestreseo.com.br</a:t>
            </a:r>
          </a:p>
          <a:p>
            <a:pPr lvl="1"/>
            <a:r>
              <a:rPr lang="pt-BR" sz="2400" b="1" dirty="0" smtClean="0"/>
              <a:t>Twitter: </a:t>
            </a:r>
            <a:r>
              <a:rPr lang="pt-BR" sz="2400" dirty="0" smtClean="0"/>
              <a:t>@fabioricotta</a:t>
            </a:r>
            <a:endParaRPr lang="en-US" sz="2400" dirty="0"/>
          </a:p>
        </p:txBody>
      </p:sp>
      <p:pic>
        <p:nvPicPr>
          <p:cNvPr id="4" name="Picture 3" descr="fabioricot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1844824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762</Words>
  <Application>Microsoft Office PowerPoint</Application>
  <PresentationFormat>On-screen Show (4:3)</PresentationFormat>
  <Paragraphs>116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e-Commerce SEO</vt:lpstr>
      <vt:lpstr>Busca Orgânica e Lojas Virtuais Alguns dados para motivar o nosso bate-papo</vt:lpstr>
      <vt:lpstr>e-Commerce Brasileiro</vt:lpstr>
      <vt:lpstr>Termos mais Buscados no Varejo</vt:lpstr>
      <vt:lpstr>Como os Usuários Pesquisam</vt:lpstr>
      <vt:lpstr>A Internet Brasileira</vt:lpstr>
      <vt:lpstr>Entendendo o Google Entender o grande player é fundamental para o sucesso</vt:lpstr>
      <vt:lpstr>Entendendo o Google</vt:lpstr>
      <vt:lpstr>Entendendo o Google</vt:lpstr>
      <vt:lpstr>Entendendo o Google</vt:lpstr>
      <vt:lpstr>Entendendo o Google</vt:lpstr>
      <vt:lpstr>Entendendo o Google</vt:lpstr>
      <vt:lpstr>O que é SEO?</vt:lpstr>
      <vt:lpstr>Estrutura do CMS Organizar a casa é um bom começo</vt:lpstr>
      <vt:lpstr>Entendendo a Nossa Página</vt:lpstr>
      <vt:lpstr>Título</vt:lpstr>
      <vt:lpstr>Título</vt:lpstr>
      <vt:lpstr>Meta Description</vt:lpstr>
      <vt:lpstr>Meta Description</vt:lpstr>
      <vt:lpstr>URL Amigáveis</vt:lpstr>
      <vt:lpstr>URLs Amigáveis</vt:lpstr>
      <vt:lpstr>Produtos Relacionados</vt:lpstr>
      <vt:lpstr>Produtos Relacionados</vt:lpstr>
      <vt:lpstr>Conteúdo de Qualidade Ter um bom conteúdo pode atrair consumidores</vt:lpstr>
      <vt:lpstr>Descrição de Fabricante</vt:lpstr>
      <vt:lpstr>Descrição de Fabricante</vt:lpstr>
      <vt:lpstr>Descrição de Fabricante</vt:lpstr>
      <vt:lpstr>Descrição de Fabricante</vt:lpstr>
      <vt:lpstr>Datas Especiais</vt:lpstr>
      <vt:lpstr>Datas Especiais</vt:lpstr>
      <vt:lpstr>Comentários e Reviews de Usuários</vt:lpstr>
      <vt:lpstr>Comentários e Reviews de Usuários</vt:lpstr>
      <vt:lpstr>Guias de Compra</vt:lpstr>
      <vt:lpstr>Comparativos</vt:lpstr>
      <vt:lpstr>Comparativos</vt:lpstr>
      <vt:lpstr>Conteúdo Duplicado Quando URLs diferentes apresentam o mesmo conteúdo</vt:lpstr>
      <vt:lpstr>Conteúdo Duplicado</vt:lpstr>
      <vt:lpstr>Conteúdo Duplicado</vt:lpstr>
      <vt:lpstr>Exemplo: Classificado de Carros</vt:lpstr>
      <vt:lpstr>Segmentação de Modelos</vt:lpstr>
      <vt:lpstr>Títulos Iguais em URLs Diferentes</vt:lpstr>
      <vt:lpstr>Títulos Indexados no Google</vt:lpstr>
      <vt:lpstr>Resultados Locais Atinja um nicho de consumidores próximos a você</vt:lpstr>
      <vt:lpstr>Os Resultados com Mapas</vt:lpstr>
      <vt:lpstr>O Google Places</vt:lpstr>
      <vt:lpstr>Muito Obrigado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fabioricotta</dc:creator>
  <cp:lastModifiedBy>fabioricotta</cp:lastModifiedBy>
  <cp:revision>55</cp:revision>
  <dcterms:created xsi:type="dcterms:W3CDTF">2010-08-18T19:56:14Z</dcterms:created>
  <dcterms:modified xsi:type="dcterms:W3CDTF">2010-08-24T15:24:52Z</dcterms:modified>
</cp:coreProperties>
</file>