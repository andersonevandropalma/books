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commentAuthors.xml" ContentType="application/vnd.openxmlformats-officedocument.presentationml.commentAuthor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70" r:id="rId2"/>
  </p:sldMasterIdLst>
  <p:notesMasterIdLst>
    <p:notesMasterId r:id="rId32"/>
  </p:notesMasterIdLst>
  <p:handoutMasterIdLst>
    <p:handoutMasterId r:id="rId33"/>
  </p:handoutMasterIdLst>
  <p:sldIdLst>
    <p:sldId id="276" r:id="rId3"/>
    <p:sldId id="408" r:id="rId4"/>
    <p:sldId id="460" r:id="rId5"/>
    <p:sldId id="412" r:id="rId6"/>
    <p:sldId id="453" r:id="rId7"/>
    <p:sldId id="411" r:id="rId8"/>
    <p:sldId id="456" r:id="rId9"/>
    <p:sldId id="449" r:id="rId10"/>
    <p:sldId id="414" r:id="rId11"/>
    <p:sldId id="458" r:id="rId12"/>
    <p:sldId id="459" r:id="rId13"/>
    <p:sldId id="447" r:id="rId14"/>
    <p:sldId id="438" r:id="rId15"/>
    <p:sldId id="439" r:id="rId16"/>
    <p:sldId id="440" r:id="rId17"/>
    <p:sldId id="457" r:id="rId18"/>
    <p:sldId id="441" r:id="rId19"/>
    <p:sldId id="442" r:id="rId20"/>
    <p:sldId id="407" r:id="rId21"/>
    <p:sldId id="461" r:id="rId22"/>
    <p:sldId id="462" r:id="rId23"/>
    <p:sldId id="445" r:id="rId24"/>
    <p:sldId id="446" r:id="rId25"/>
    <p:sldId id="448" r:id="rId26"/>
    <p:sldId id="468" r:id="rId27"/>
    <p:sldId id="464" r:id="rId28"/>
    <p:sldId id="469" r:id="rId29"/>
    <p:sldId id="470" r:id="rId30"/>
    <p:sldId id="368" r:id="rId31"/>
  </p:sldIdLst>
  <p:sldSz cx="9144000" cy="6858000" type="screen4x3"/>
  <p:notesSz cx="6858000" cy="9144000"/>
  <p:defaultTextStyle>
    <a:defPPr>
      <a:defRPr lang="pt-BR"/>
    </a:defPPr>
    <a:lvl1pPr marL="0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6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12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0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26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32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40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44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52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runo Lino" initials="B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A74B9"/>
    <a:srgbClr val="FBAC3E"/>
    <a:srgbClr val="89C43F"/>
    <a:srgbClr val="0A9644"/>
    <a:srgbClr val="5C636C"/>
    <a:srgbClr val="A7A9AC"/>
    <a:srgbClr val="D77D2F"/>
    <a:srgbClr val="1DA1D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44" autoAdjust="0"/>
    <p:restoredTop sz="94660"/>
  </p:normalViewPr>
  <p:slideViewPr>
    <p:cSldViewPr>
      <p:cViewPr varScale="1">
        <p:scale>
          <a:sx n="110" d="100"/>
          <a:sy n="110" d="100"/>
        </p:scale>
        <p:origin x="-8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616" y="-7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E304-CB66-4273-88CA-3F2D9AA1F660}" type="datetimeFigureOut">
              <a:rPr lang="pt-BR" smtClean="0"/>
              <a:pPr/>
              <a:t>17/05/2012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A205E-0AB3-4775-9603-CCB86C95EB4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73119483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44615-C7FA-4828-B7C9-C17149ED3C71}" type="datetimeFigureOut">
              <a:rPr lang="pt-BR" smtClean="0"/>
              <a:pPr/>
              <a:t>17/05/2012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F2BB52-387B-4F1F-896E-A0A54E1898D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8601616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06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12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20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26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32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640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44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852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Escura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2638654"/>
            <a:ext cx="9144000" cy="1608133"/>
          </a:xfrm>
          <a:prstGeom prst="rect">
            <a:avLst/>
          </a:prstGeom>
          <a:solidFill>
            <a:schemeClr val="tx1">
              <a:lumMod val="75000"/>
              <a:lumOff val="25000"/>
              <a:alpha val="25000"/>
            </a:schemeClr>
          </a:solidFill>
        </p:spPr>
        <p:txBody>
          <a:bodyPr>
            <a:normAutofit/>
          </a:bodyPr>
          <a:lstStyle>
            <a:lvl1pPr algn="ctr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Principal: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36</a:t>
            </a:r>
            <a:b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</a:b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Secundário: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20</a:t>
            </a:r>
            <a:endParaRPr lang="pt-BR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</a:endParaRPr>
          </a:p>
        </p:txBody>
      </p:sp>
      <p:sp>
        <p:nvSpPr>
          <p:cNvPr id="5" name="Espaço Reservado para Imagem 9"/>
          <p:cNvSpPr>
            <a:spLocks noGrp="1"/>
          </p:cNvSpPr>
          <p:nvPr>
            <p:ph type="pic" sz="quarter" idx="10" hasCustomPrompt="1"/>
          </p:nvPr>
        </p:nvSpPr>
        <p:spPr>
          <a:xfrm>
            <a:off x="323280" y="333376"/>
            <a:ext cx="2736552" cy="1799481"/>
          </a:xfrm>
          <a:prstGeom prst="rect">
            <a:avLst/>
          </a:prstGeom>
        </p:spPr>
        <p:txBody>
          <a:bodyPr lIns="91421" tIns="45711" rIns="91421" bIns="45711" anchor="ctr">
            <a:norm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 smtClean="0"/>
              <a:t>Adicione o Logo do Cliente</a:t>
            </a:r>
            <a:endParaRPr lang="pt-BR" dirty="0"/>
          </a:p>
        </p:txBody>
      </p:sp>
      <p:pic>
        <p:nvPicPr>
          <p:cNvPr id="7" name="Picture 3" descr="C:\Users\bruno.lino\Desktop\Logos\DP6_escuro_Moto_pqn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5566"/>
          <a:stretch/>
        </p:blipFill>
        <p:spPr bwMode="auto">
          <a:xfrm>
            <a:off x="5918519" y="5751925"/>
            <a:ext cx="3117977" cy="9894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:\Users\marcus.paladino\Desktop\Logos Clientes Novos\capa_pp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179512" y="116632"/>
            <a:ext cx="4536504" cy="18722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164003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Branc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2638654"/>
            <a:ext cx="9144000" cy="1608133"/>
          </a:xfrm>
          <a:prstGeom prst="rect">
            <a:avLst/>
          </a:prstGeom>
          <a:solidFill>
            <a:schemeClr val="tx1">
              <a:lumMod val="75000"/>
              <a:lumOff val="25000"/>
              <a:alpha val="75000"/>
            </a:schemeClr>
          </a:solidFill>
        </p:spPr>
        <p:txBody>
          <a:bodyPr>
            <a:normAutofit/>
          </a:bodyPr>
          <a:lstStyle>
            <a:lvl1pPr algn="ctr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Principal: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36</a:t>
            </a:r>
            <a:b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</a:b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Secundário: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20</a:t>
            </a:r>
            <a:endParaRPr lang="pt-BR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</a:endParaRPr>
          </a:p>
        </p:txBody>
      </p:sp>
      <p:sp>
        <p:nvSpPr>
          <p:cNvPr id="5" name="Espaço Reservado para Imagem 9"/>
          <p:cNvSpPr>
            <a:spLocks noGrp="1"/>
          </p:cNvSpPr>
          <p:nvPr>
            <p:ph type="pic" sz="quarter" idx="10" hasCustomPrompt="1"/>
          </p:nvPr>
        </p:nvSpPr>
        <p:spPr>
          <a:xfrm>
            <a:off x="323280" y="333376"/>
            <a:ext cx="2736552" cy="1799481"/>
          </a:xfrm>
          <a:prstGeom prst="rect">
            <a:avLst/>
          </a:prstGeom>
        </p:spPr>
        <p:txBody>
          <a:bodyPr lIns="91421" tIns="45711" rIns="91421" bIns="45711" anchor="ctr">
            <a:norm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 smtClean="0"/>
              <a:t>Adicione o Logo do Cliente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81627" y="5730060"/>
            <a:ext cx="3326877" cy="108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49400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>
          <a:xfrm>
            <a:off x="179388" y="1268760"/>
            <a:ext cx="8785225" cy="5268565"/>
          </a:xfrm>
          <a:prstGeom prst="rect">
            <a:avLst/>
          </a:prstGeom>
        </p:spPr>
        <p:txBody>
          <a:bodyPr lIns="91421" tIns="45711" rIns="91421" bIns="45711">
            <a:normAutofit/>
          </a:bodyPr>
          <a:lstStyle>
            <a:lvl1pPr marL="342830" indent="-342830">
              <a:buFontTx/>
              <a:buBlip>
                <a:blip r:embed="rId2"/>
              </a:buBlip>
              <a:defRPr sz="2400"/>
            </a:lvl1pPr>
            <a:lvl2pPr marL="742798" indent="-285692">
              <a:buFontTx/>
              <a:buBlip>
                <a:blip r:embed="rId2"/>
              </a:buBlip>
              <a:defRPr sz="2000"/>
            </a:lvl2pPr>
            <a:lvl3pPr marL="1142765" indent="-228552">
              <a:buFontTx/>
              <a:buBlip>
                <a:blip r:embed="rId2"/>
              </a:buBlip>
              <a:defRPr sz="1800"/>
            </a:lvl3pPr>
            <a:lvl4pPr marL="1599872" indent="-228552">
              <a:buFontTx/>
              <a:buBlip>
                <a:blip r:embed="rId2"/>
              </a:buBlip>
              <a:defRPr sz="1600"/>
            </a:lvl4pPr>
            <a:lvl5pPr marL="2056980" indent="-228552">
              <a:buFontTx/>
              <a:buBlip>
                <a:blip r:embed="rId2"/>
              </a:buBlip>
              <a:defRPr sz="1600"/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212850" y="182567"/>
            <a:ext cx="7756525" cy="870173"/>
          </a:xfrm>
          <a:prstGeom prst="rect">
            <a:avLst/>
          </a:prstGeom>
        </p:spPr>
        <p:txBody>
          <a:bodyPr lIns="91421" tIns="45711" rIns="91421" bIns="45711"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AGENDA</a:t>
            </a:r>
          </a:p>
        </p:txBody>
      </p:sp>
      <p:pic>
        <p:nvPicPr>
          <p:cNvPr id="11" name="Picture 3" descr="C:\Users\bruno.lino\Desktop\Logos\Tira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4514" y="0"/>
            <a:ext cx="9267034" cy="5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ector reto 11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7055" t="36022" r="7563" b="14016"/>
          <a:stretch/>
        </p:blipFill>
        <p:spPr bwMode="auto">
          <a:xfrm>
            <a:off x="107504" y="233352"/>
            <a:ext cx="1050877" cy="791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2804830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/>
          <p:cNvSpPr>
            <a:spLocks noGrp="1"/>
          </p:cNvSpPr>
          <p:nvPr>
            <p:ph type="pic" sz="quarter" idx="12" hasCustomPrompt="1"/>
          </p:nvPr>
        </p:nvSpPr>
        <p:spPr>
          <a:xfrm>
            <a:off x="7702550" y="184149"/>
            <a:ext cx="1263650" cy="868587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pt-BR" dirty="0" smtClean="0"/>
              <a:t>Adicionar o Logo do Cliente</a:t>
            </a:r>
            <a:endParaRPr lang="pt-BR" dirty="0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165224" y="1262199"/>
            <a:ext cx="8799264" cy="438610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ctr">
              <a:lnSpc>
                <a:spcPct val="100000"/>
              </a:lnSpc>
              <a:buFont typeface="Arial" pitchFamily="34" charset="0"/>
              <a:buNone/>
              <a:defRPr sz="1600" baseline="0"/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o nome do gráfico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2" y="182567"/>
            <a:ext cx="7435451" cy="870173"/>
          </a:xfrm>
          <a:prstGeom prst="rect">
            <a:avLst/>
          </a:prstGeom>
        </p:spPr>
        <p:txBody>
          <a:bodyPr lIns="91421" tIns="45711" rIns="91421" bIns="45711" anchor="ctr">
            <a:normAutofit/>
          </a:bodyPr>
          <a:lstStyle>
            <a:lvl1pPr marL="0" indent="0" algn="just">
              <a:lnSpc>
                <a:spcPct val="100000"/>
              </a:lnSpc>
              <a:buNone/>
              <a:defRPr sz="1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aqui para editar o título do slide</a:t>
            </a:r>
          </a:p>
        </p:txBody>
      </p:sp>
      <p:sp>
        <p:nvSpPr>
          <p:cNvPr id="9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21" tIns="45711" rIns="91421" bIns="45711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fld id="{DA85CBCF-79E5-48DE-A102-6E8347A1A2B6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10" name="Conector reto 9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3" descr="C:\Users\bruno.lino\Desktop\Logos\Tira.png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4514" y="0"/>
            <a:ext cx="9267034" cy="5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ço Reservado para Texto 14"/>
          <p:cNvSpPr>
            <a:spLocks noGrp="1"/>
          </p:cNvSpPr>
          <p:nvPr>
            <p:ph type="body" sz="quarter" idx="13" hasCustomPrompt="1"/>
          </p:nvPr>
        </p:nvSpPr>
        <p:spPr>
          <a:xfrm>
            <a:off x="6595171" y="6653386"/>
            <a:ext cx="2548833" cy="204615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</p:spTree>
    <p:extLst>
      <p:ext uri="{BB962C8B-B14F-4D97-AF65-F5344CB8AC3E}">
        <p14:creationId xmlns:p14="http://schemas.microsoft.com/office/powerpoint/2010/main" xmlns="" val="25106251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/>
          <p:cNvSpPr>
            <a:spLocks noGrp="1"/>
          </p:cNvSpPr>
          <p:nvPr>
            <p:ph type="pic" sz="quarter" idx="12" hasCustomPrompt="1"/>
          </p:nvPr>
        </p:nvSpPr>
        <p:spPr>
          <a:xfrm>
            <a:off x="7702550" y="184149"/>
            <a:ext cx="1263650" cy="868587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pt-BR" dirty="0" smtClean="0"/>
              <a:t>Adicionar o Logo do Cliente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2" y="182567"/>
            <a:ext cx="7435451" cy="870173"/>
          </a:xfrm>
          <a:prstGeom prst="rect">
            <a:avLst/>
          </a:prstGeom>
        </p:spPr>
        <p:txBody>
          <a:bodyPr lIns="91421" tIns="45711" rIns="91421" bIns="45711" anchor="ctr">
            <a:normAutofit/>
          </a:bodyPr>
          <a:lstStyle>
            <a:lvl1pPr marL="0" indent="0" algn="just">
              <a:lnSpc>
                <a:spcPct val="100000"/>
              </a:lnSpc>
              <a:buNone/>
              <a:defRPr sz="1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aqui para editar o título do slide</a:t>
            </a:r>
          </a:p>
        </p:txBody>
      </p:sp>
      <p:cxnSp>
        <p:nvCxnSpPr>
          <p:cNvPr id="13" name="Conector reto 12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179388" y="1268760"/>
            <a:ext cx="8785225" cy="5268565"/>
          </a:xfrm>
          <a:prstGeom prst="rect">
            <a:avLst/>
          </a:prstGeom>
        </p:spPr>
        <p:txBody>
          <a:bodyPr lIns="91421" tIns="45711" rIns="91421" bIns="45711">
            <a:normAutofit/>
          </a:bodyPr>
          <a:lstStyle>
            <a:lvl1pPr marL="342830" indent="-342830">
              <a:buFontTx/>
              <a:buBlip>
                <a:blip r:embed="rId2"/>
              </a:buBlip>
              <a:defRPr sz="1800"/>
            </a:lvl1pPr>
            <a:lvl2pPr marL="742798" indent="-285692">
              <a:buFontTx/>
              <a:buBlip>
                <a:blip r:embed="rId2"/>
              </a:buBlip>
              <a:defRPr sz="1600"/>
            </a:lvl2pPr>
            <a:lvl3pPr marL="1142765" indent="-228552">
              <a:buFontTx/>
              <a:buBlip>
                <a:blip r:embed="rId2"/>
              </a:buBlip>
              <a:defRPr sz="1400"/>
            </a:lvl3pPr>
            <a:lvl4pPr marL="1599872" indent="-228552">
              <a:buFontTx/>
              <a:buBlip>
                <a:blip r:embed="rId2"/>
              </a:buBlip>
              <a:defRPr sz="1200"/>
            </a:lvl4pPr>
            <a:lvl5pPr marL="2056980" indent="-228552">
              <a:buFontTx/>
              <a:buBlip>
                <a:blip r:embed="rId2"/>
              </a:buBlip>
              <a:defRPr sz="1200"/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pic>
        <p:nvPicPr>
          <p:cNvPr id="9" name="Picture 3" descr="C:\Users\bruno.lino\Desktop\Logos\Tira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4514" y="0"/>
            <a:ext cx="9267034" cy="5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21" tIns="45711" rIns="91421" bIns="45711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fld id="{DA85CBCF-79E5-48DE-A102-6E8347A1A2B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6595171" y="6653386"/>
            <a:ext cx="2548833" cy="204615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</p:spTree>
    <p:extLst>
      <p:ext uri="{BB962C8B-B14F-4D97-AF65-F5344CB8AC3E}">
        <p14:creationId xmlns:p14="http://schemas.microsoft.com/office/powerpoint/2010/main" xmlns="" val="5406701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 +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/>
          <p:cNvSpPr>
            <a:spLocks noGrp="1"/>
          </p:cNvSpPr>
          <p:nvPr>
            <p:ph type="pic" sz="quarter" idx="12" hasCustomPrompt="1"/>
          </p:nvPr>
        </p:nvSpPr>
        <p:spPr>
          <a:xfrm>
            <a:off x="7702550" y="184149"/>
            <a:ext cx="1263650" cy="868587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pt-BR" dirty="0" smtClean="0"/>
              <a:t>Adicionar o Logo do Cliente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2" y="182567"/>
            <a:ext cx="7435451" cy="870173"/>
          </a:xfrm>
          <a:prstGeom prst="rect">
            <a:avLst/>
          </a:prstGeom>
        </p:spPr>
        <p:txBody>
          <a:bodyPr lIns="91421" tIns="45711" rIns="91421" bIns="45711" anchor="ctr">
            <a:normAutofit/>
          </a:bodyPr>
          <a:lstStyle>
            <a:lvl1pPr marL="0" indent="0" algn="just">
              <a:lnSpc>
                <a:spcPct val="100000"/>
              </a:lnSpc>
              <a:buNone/>
              <a:defRPr sz="1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aqui para editar o título do slide</a:t>
            </a:r>
          </a:p>
        </p:txBody>
      </p:sp>
      <p:cxnSp>
        <p:nvCxnSpPr>
          <p:cNvPr id="10" name="Conector reto 9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3" descr="C:\Users\bruno.lino\Desktop\Logos\Tira.png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4514" y="0"/>
            <a:ext cx="9267034" cy="5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21" tIns="45711" rIns="91421" bIns="45711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fld id="{DA85CBCF-79E5-48DE-A102-6E8347A1A2B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3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6595171" y="6653386"/>
            <a:ext cx="2548833" cy="204615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</p:spTree>
    <p:extLst>
      <p:ext uri="{BB962C8B-B14F-4D97-AF65-F5344CB8AC3E}">
        <p14:creationId xmlns:p14="http://schemas.microsoft.com/office/powerpoint/2010/main" xmlns="" val="32243898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 userDrawn="1"/>
        </p:nvCxnSpPr>
        <p:spPr>
          <a:xfrm>
            <a:off x="578830" y="6485235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:\Users\bruno.lino\Desktop\Logos\Tira.png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4514" y="0"/>
            <a:ext cx="9267034" cy="5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21" tIns="45711" rIns="91421" bIns="45711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fld id="{DA85CBCF-79E5-48DE-A102-6E8347A1A2B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6595171" y="6653386"/>
            <a:ext cx="2548833" cy="204615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</p:spTree>
    <p:extLst>
      <p:ext uri="{BB962C8B-B14F-4D97-AF65-F5344CB8AC3E}">
        <p14:creationId xmlns:p14="http://schemas.microsoft.com/office/powerpoint/2010/main" xmlns="" val="11877851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21" tIns="45711" rIns="91421" bIns="45711" rtlCol="0" anchor="ctr"/>
          <a:lstStyle/>
          <a:p>
            <a:pPr algn="ctr"/>
            <a:endParaRPr lang="pt-BR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2807498" y="3814741"/>
            <a:ext cx="3529013" cy="1526519"/>
          </a:xfrm>
          <a:prstGeom prst="rect">
            <a:avLst/>
          </a:prstGeom>
        </p:spPr>
        <p:txBody>
          <a:bodyPr lIns="91421" tIns="45711" rIns="91421" bIns="45711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aseline="0">
                <a:solidFill>
                  <a:srgbClr val="A7A9AC"/>
                </a:solidFill>
              </a:defRPr>
            </a:lvl1pPr>
          </a:lstStyle>
          <a:p>
            <a:pPr lvl="0"/>
            <a:r>
              <a:rPr lang="pt-BR" dirty="0" smtClean="0"/>
              <a:t>Nome: </a:t>
            </a:r>
            <a:r>
              <a:rPr lang="pt-BR" dirty="0" err="1" smtClean="0"/>
              <a:t>Size</a:t>
            </a:r>
            <a:r>
              <a:rPr lang="pt-BR" dirty="0" smtClean="0"/>
              <a:t> 20                    E-mail: </a:t>
            </a:r>
            <a:r>
              <a:rPr lang="pt-BR" dirty="0" err="1" smtClean="0"/>
              <a:t>Size</a:t>
            </a:r>
            <a:r>
              <a:rPr lang="pt-BR" dirty="0" smtClean="0"/>
              <a:t> 14               Telefone Fixo: </a:t>
            </a:r>
            <a:r>
              <a:rPr lang="pt-BR" dirty="0" err="1" smtClean="0"/>
              <a:t>Size</a:t>
            </a:r>
            <a:r>
              <a:rPr lang="pt-BR" dirty="0" smtClean="0"/>
              <a:t> 14           Celular: </a:t>
            </a:r>
            <a:r>
              <a:rPr lang="pt-BR" dirty="0" err="1" smtClean="0"/>
              <a:t>Size</a:t>
            </a:r>
            <a:r>
              <a:rPr lang="pt-BR" dirty="0" smtClean="0"/>
              <a:t> 14</a:t>
            </a:r>
            <a:endParaRPr lang="pt-BR" dirty="0"/>
          </a:p>
        </p:txBody>
      </p:sp>
      <p:pic>
        <p:nvPicPr>
          <p:cNvPr id="6" name="Picture 3" descr="C:\Users\bruno.lino\Desktop\Logos\DP6_escuro_Moto_pq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9486" y="1981555"/>
            <a:ext cx="4565030" cy="171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113288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891" y="1302620"/>
            <a:ext cx="8608219" cy="5113362"/>
          </a:xfrm>
          <a:prstGeom prst="rect">
            <a:avLst/>
          </a:prstGeom>
        </p:spPr>
        <p:txBody>
          <a:bodyPr lIns="64277" tIns="32139" rIns="64277" bIns="3213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2" y="6642572"/>
            <a:ext cx="433090" cy="246682"/>
          </a:xfrm>
          <a:prstGeom prst="rect">
            <a:avLst/>
          </a:prstGeom>
          <a:ln/>
        </p:spPr>
        <p:txBody>
          <a:bodyPr lIns="64277" tIns="32139" rIns="64277" bIns="32139"/>
          <a:lstStyle>
            <a:lvl1pPr>
              <a:defRPr/>
            </a:lvl1pPr>
          </a:lstStyle>
          <a:p>
            <a:pPr>
              <a:defRPr/>
            </a:pPr>
            <a:fld id="{43F0B858-381F-4FFD-BD92-4AE5DD1BCF2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871920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4" y="6642573"/>
            <a:ext cx="352723" cy="245566"/>
          </a:xfrm>
          <a:prstGeom prst="rect">
            <a:avLst/>
          </a:prstGeom>
        </p:spPr>
        <p:txBody>
          <a:bodyPr lIns="64291" tIns="32146" rIns="64291" bIns="32146"/>
          <a:lstStyle>
            <a:lvl1pPr>
              <a:defRPr>
                <a:latin typeface="Trebuchet MS" pitchFamily="34" charset="0"/>
                <a:ea typeface="+mn-ea"/>
              </a:defRPr>
            </a:lvl1pPr>
          </a:lstStyle>
          <a:p>
            <a:pPr>
              <a:defRPr/>
            </a:pPr>
            <a:fld id="{76C7CA86-AF3B-402A-A545-C0209601B98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77908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834656" y="6642367"/>
            <a:ext cx="2133600" cy="22873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23F77-FA02-4F58-A571-A00E9F5145D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773796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 branco +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0" y="182563"/>
            <a:ext cx="7435451" cy="87017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just">
              <a:lnSpc>
                <a:spcPct val="100000"/>
              </a:lnSpc>
              <a:buNone/>
              <a:defRPr sz="1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aqui para editar o título do slide</a:t>
            </a:r>
          </a:p>
        </p:txBody>
      </p:sp>
      <p:cxnSp>
        <p:nvCxnSpPr>
          <p:cNvPr id="10" name="Conector reto 9"/>
          <p:cNvCxnSpPr/>
          <p:nvPr userDrawn="1"/>
        </p:nvCxnSpPr>
        <p:spPr>
          <a:xfrm>
            <a:off x="578829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0" y="6629264"/>
            <a:ext cx="2133600" cy="2287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fld id="{DA85CBCF-79E5-48DE-A102-6E8347A1A2B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3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6595167" y="6653385"/>
            <a:ext cx="2548833" cy="20461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05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2078"/>
            <a:ext cx="9144000" cy="41563"/>
            <a:chOff x="0" y="4319385"/>
            <a:chExt cx="9144000" cy="45719"/>
          </a:xfr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tângulo 13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xmlns="" val="33349651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Cinza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2420889"/>
            <a:ext cx="9144000" cy="1608133"/>
          </a:xfrm>
          <a:prstGeom prst="rect">
            <a:avLst/>
          </a:prstGeom>
          <a:noFill/>
        </p:spPr>
        <p:txBody>
          <a:bodyPr lIns="71993" tIns="71993" rIns="71993" bIns="71993">
            <a:normAutofit/>
          </a:bodyPr>
          <a:lstStyle>
            <a:lvl1pPr algn="ctr">
              <a:defRPr sz="32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Principal: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36</a:t>
            </a:r>
            <a:b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</a:b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Secundário: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20</a:t>
            </a:r>
            <a:endParaRPr lang="pt-BR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</a:endParaRPr>
          </a:p>
        </p:txBody>
      </p:sp>
      <p:sp>
        <p:nvSpPr>
          <p:cNvPr id="23" name="Espaço Reservado para Imagem 9"/>
          <p:cNvSpPr>
            <a:spLocks noGrp="1"/>
          </p:cNvSpPr>
          <p:nvPr>
            <p:ph type="pic" sz="quarter" idx="10" hasCustomPrompt="1"/>
          </p:nvPr>
        </p:nvSpPr>
        <p:spPr>
          <a:xfrm>
            <a:off x="323280" y="333376"/>
            <a:ext cx="2736552" cy="1799481"/>
          </a:xfrm>
          <a:prstGeom prst="rect">
            <a:avLst/>
          </a:prstGeom>
        </p:spPr>
        <p:txBody>
          <a:bodyPr lIns="91430" tIns="45716" rIns="91430" bIns="45716" anchor="ctr">
            <a:norm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 smtClean="0"/>
              <a:t>Adicione o Logo do Cliente</a:t>
            </a:r>
            <a:endParaRPr lang="pt-BR" dirty="0"/>
          </a:p>
        </p:txBody>
      </p:sp>
      <p:pic>
        <p:nvPicPr>
          <p:cNvPr id="24" name="Imagem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81627" y="5730060"/>
            <a:ext cx="3326877" cy="1083317"/>
          </a:xfrm>
          <a:prstGeom prst="rect">
            <a:avLst/>
          </a:prstGeom>
          <a:effectLst>
            <a:innerShdw blurRad="63500" dist="12700" dir="13500000">
              <a:prstClr val="black">
                <a:alpha val="50000"/>
              </a:prstClr>
            </a:innerShdw>
          </a:effectLst>
        </p:spPr>
      </p:pic>
      <p:grpSp>
        <p:nvGrpSpPr>
          <p:cNvPr id="25" name="Grupo 24"/>
          <p:cNvGrpSpPr/>
          <p:nvPr userDrawn="1"/>
        </p:nvGrpSpPr>
        <p:grpSpPr>
          <a:xfrm>
            <a:off x="0" y="4029023"/>
            <a:ext cx="9144000" cy="45719"/>
            <a:chOff x="0" y="4319385"/>
            <a:chExt cx="9144000" cy="45719"/>
          </a:xfrm>
        </p:grpSpPr>
        <p:sp>
          <p:nvSpPr>
            <p:cNvPr id="26" name="Retângulo 25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27" name="Retângulo 26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28" name="Retângulo 27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  <p:sp>
        <p:nvSpPr>
          <p:cNvPr id="29" name="CaixaDeTexto 28"/>
          <p:cNvSpPr txBox="1"/>
          <p:nvPr userDrawn="1"/>
        </p:nvSpPr>
        <p:spPr>
          <a:xfrm>
            <a:off x="250963" y="6604085"/>
            <a:ext cx="3232363" cy="265451"/>
          </a:xfrm>
          <a:prstGeom prst="rect">
            <a:avLst/>
          </a:prstGeom>
          <a:noFill/>
        </p:spPr>
        <p:txBody>
          <a:bodyPr wrap="none" lIns="91430" tIns="45716" rIns="91430" bIns="45716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pt-BR" sz="110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</a:t>
            </a:r>
            <a:r>
              <a:rPr lang="pt-BR" sz="1100" i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2011</a:t>
            </a:r>
            <a:r>
              <a:rPr lang="pt-BR" sz="110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 </a:t>
            </a:r>
            <a:r>
              <a:rPr lang="pt-BR" sz="1100" b="1" i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dp6 </a:t>
            </a:r>
            <a:r>
              <a:rPr lang="pt-BR" sz="1100" i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</a:rPr>
              <a:t>- </a:t>
            </a:r>
            <a:r>
              <a:rPr lang="pt-BR" sz="1100" i="1" dirty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</a:rPr>
              <a:t>todos os direitos reservados</a:t>
            </a:r>
            <a:endParaRPr lang="pt-BR" sz="1100" dirty="0">
              <a:solidFill>
                <a:srgbClr val="000000">
                  <a:lumMod val="50000"/>
                  <a:lumOff val="50000"/>
                </a:srgbClr>
              </a:solidFill>
              <a:latin typeface="Verdana" pitchFamily="34" charset="0"/>
              <a:cs typeface="Arial" pitchFamily="34" charset="0"/>
            </a:endParaRPr>
          </a:p>
        </p:txBody>
      </p:sp>
      <p:pic>
        <p:nvPicPr>
          <p:cNvPr id="30" name="Imagem 2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496" y="6597352"/>
            <a:ext cx="324328" cy="21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988679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Branc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2420889"/>
            <a:ext cx="9144000" cy="160813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txBody>
          <a:bodyPr lIns="71993" tIns="71993" rIns="71993" bIns="71993">
            <a:normAutofit/>
          </a:bodyPr>
          <a:lstStyle>
            <a:lvl1pPr algn="ctr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Principal: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36</a:t>
            </a:r>
            <a:b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</a:b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Secundário: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20</a:t>
            </a:r>
            <a:endParaRPr lang="pt-BR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</a:endParaRPr>
          </a:p>
        </p:txBody>
      </p:sp>
      <p:sp>
        <p:nvSpPr>
          <p:cNvPr id="5" name="Espaço Reservado para Imagem 9"/>
          <p:cNvSpPr>
            <a:spLocks noGrp="1"/>
          </p:cNvSpPr>
          <p:nvPr>
            <p:ph type="pic" sz="quarter" idx="10" hasCustomPrompt="1"/>
          </p:nvPr>
        </p:nvSpPr>
        <p:spPr>
          <a:xfrm>
            <a:off x="323280" y="333376"/>
            <a:ext cx="2736552" cy="1799481"/>
          </a:xfrm>
          <a:prstGeom prst="rect">
            <a:avLst/>
          </a:prstGeom>
        </p:spPr>
        <p:txBody>
          <a:bodyPr lIns="91430" tIns="45716" rIns="91430" bIns="45716" anchor="ctr">
            <a:norm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 smtClean="0"/>
              <a:t>Adicione o Logo do Cliente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81627" y="5730060"/>
            <a:ext cx="3326877" cy="1083317"/>
          </a:xfrm>
          <a:prstGeom prst="rect">
            <a:avLst/>
          </a:prstGeom>
          <a:effectLst>
            <a:innerShdw blurRad="63500" dist="12700" dir="13500000">
              <a:prstClr val="black">
                <a:alpha val="50000"/>
              </a:prstClr>
            </a:innerShdw>
          </a:effectLst>
        </p:spPr>
      </p:pic>
      <p:grpSp>
        <p:nvGrpSpPr>
          <p:cNvPr id="9" name="Grupo 8"/>
          <p:cNvGrpSpPr/>
          <p:nvPr userDrawn="1"/>
        </p:nvGrpSpPr>
        <p:grpSpPr>
          <a:xfrm>
            <a:off x="0" y="4029023"/>
            <a:ext cx="9144000" cy="45719"/>
            <a:chOff x="0" y="4319385"/>
            <a:chExt cx="9144000" cy="45719"/>
          </a:xfrm>
        </p:grpSpPr>
        <p:sp>
          <p:nvSpPr>
            <p:cNvPr id="4" name="Retângulo 3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6" name="Retângulo 5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7" name="Retângulo 6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373679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751" y="257335"/>
            <a:ext cx="1042437" cy="867409"/>
          </a:xfrm>
          <a:prstGeom prst="rect">
            <a:avLst/>
          </a:prstGeom>
        </p:spPr>
      </p:pic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>
          <a:xfrm>
            <a:off x="179388" y="1268760"/>
            <a:ext cx="8785225" cy="5268565"/>
          </a:xfrm>
          <a:prstGeom prst="rect">
            <a:avLst/>
          </a:prstGeom>
        </p:spPr>
        <p:txBody>
          <a:bodyPr lIns="91430" tIns="45716" rIns="91430" bIns="45716">
            <a:normAutofit/>
          </a:bodyPr>
          <a:lstStyle>
            <a:lvl1pPr marL="342865" indent="-342865">
              <a:buFontTx/>
              <a:buBlip>
                <a:blip r:embed="rId3"/>
              </a:buBlip>
              <a:defRPr sz="2400"/>
            </a:lvl1pPr>
            <a:lvl2pPr marL="742874" indent="-285722">
              <a:buFontTx/>
              <a:buBlip>
                <a:blip r:embed="rId3"/>
              </a:buBlip>
              <a:defRPr sz="2000"/>
            </a:lvl2pPr>
            <a:lvl3pPr marL="1142883" indent="-228576">
              <a:buFontTx/>
              <a:buBlip>
                <a:blip r:embed="rId3"/>
              </a:buBlip>
              <a:defRPr sz="1800"/>
            </a:lvl3pPr>
            <a:lvl4pPr marL="1600036" indent="-228576">
              <a:buFontTx/>
              <a:buBlip>
                <a:blip r:embed="rId3"/>
              </a:buBlip>
              <a:defRPr sz="1600"/>
            </a:lvl4pPr>
            <a:lvl5pPr marL="2057190" indent="-228576">
              <a:buFontTx/>
              <a:buBlip>
                <a:blip r:embed="rId3"/>
              </a:buBlip>
              <a:defRPr sz="1600"/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1212850" y="182565"/>
            <a:ext cx="7756525" cy="870173"/>
          </a:xfrm>
          <a:prstGeom prst="rect">
            <a:avLst/>
          </a:prstGeom>
        </p:spPr>
        <p:txBody>
          <a:bodyPr lIns="91430" tIns="45716" rIns="91430" bIns="45716"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>
                <a:solidFill>
                  <a:srgbClr val="5C636C"/>
                </a:solidFill>
              </a:defRPr>
            </a:lvl1pPr>
          </a:lstStyle>
          <a:p>
            <a:pPr lvl="0"/>
            <a:endParaRPr lang="pt-BR" dirty="0" smtClean="0"/>
          </a:p>
        </p:txBody>
      </p:sp>
      <p:cxnSp>
        <p:nvCxnSpPr>
          <p:cNvPr id="12" name="Conector reto 11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o 6"/>
          <p:cNvGrpSpPr/>
          <p:nvPr userDrawn="1"/>
        </p:nvGrpSpPr>
        <p:grpSpPr>
          <a:xfrm>
            <a:off x="0" y="2079"/>
            <a:ext cx="9144000" cy="41563"/>
            <a:chOff x="0" y="4319385"/>
            <a:chExt cx="9144000" cy="45719"/>
          </a:xfr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Retângulo 9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3" name="Retângulo 12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4" name="Retângulo 13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552868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/>
          <p:cNvSpPr>
            <a:spLocks noGrp="1"/>
          </p:cNvSpPr>
          <p:nvPr>
            <p:ph type="pic" sz="quarter" idx="12" hasCustomPrompt="1"/>
          </p:nvPr>
        </p:nvSpPr>
        <p:spPr>
          <a:xfrm>
            <a:off x="7702550" y="184149"/>
            <a:ext cx="1263650" cy="868587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pt-BR" dirty="0" smtClean="0"/>
              <a:t>Adicionar o Logo do Cliente</a:t>
            </a:r>
            <a:endParaRPr lang="pt-BR" dirty="0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165224" y="1262199"/>
            <a:ext cx="8799264" cy="438610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ctr">
              <a:lnSpc>
                <a:spcPct val="100000"/>
              </a:lnSpc>
              <a:buFont typeface="Arial" pitchFamily="34" charset="0"/>
              <a:buNone/>
              <a:defRPr sz="1600" baseline="0"/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o nome do gráfico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2" y="182565"/>
            <a:ext cx="7435451" cy="870173"/>
          </a:xfrm>
          <a:prstGeom prst="rect">
            <a:avLst/>
          </a:prstGeom>
        </p:spPr>
        <p:txBody>
          <a:bodyPr lIns="91430" tIns="45716" rIns="91430" bIns="45716" anchor="ctr">
            <a:normAutofit/>
          </a:bodyPr>
          <a:lstStyle>
            <a:lvl1pPr marL="0" indent="0" algn="just">
              <a:lnSpc>
                <a:spcPct val="100000"/>
              </a:lnSpc>
              <a:buNone/>
              <a:defRPr sz="1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aqui para editar o título do slide</a:t>
            </a:r>
          </a:p>
        </p:txBody>
      </p:sp>
      <p:sp>
        <p:nvSpPr>
          <p:cNvPr id="9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30" tIns="45716" rIns="91430" bIns="45716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DA85CBCF-79E5-48DE-A102-6E8347A1A2B6}" type="slidenum">
              <a:rPr lang="pt-BR" smtClean="0"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pt-BR">
              <a:latin typeface="Verdana" pitchFamily="34" charset="0"/>
              <a:cs typeface="Arial" pitchFamily="34" charset="0"/>
            </a:endParaRPr>
          </a:p>
        </p:txBody>
      </p:sp>
      <p:cxnSp>
        <p:nvCxnSpPr>
          <p:cNvPr id="10" name="Conector reto 9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Texto 14"/>
          <p:cNvSpPr>
            <a:spLocks noGrp="1"/>
          </p:cNvSpPr>
          <p:nvPr>
            <p:ph type="body" sz="quarter" idx="13" hasCustomPrompt="1"/>
          </p:nvPr>
        </p:nvSpPr>
        <p:spPr>
          <a:xfrm>
            <a:off x="6595169" y="6653386"/>
            <a:ext cx="2548833" cy="204615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2079"/>
            <a:ext cx="9144000" cy="41563"/>
            <a:chOff x="0" y="4319385"/>
            <a:chExt cx="9144000" cy="45719"/>
          </a:xfr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tângulo 13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6" name="Retângulo 15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7" name="Retângulo 16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674010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/>
          <p:cNvSpPr>
            <a:spLocks noGrp="1"/>
          </p:cNvSpPr>
          <p:nvPr>
            <p:ph type="pic" sz="quarter" idx="12" hasCustomPrompt="1"/>
          </p:nvPr>
        </p:nvSpPr>
        <p:spPr>
          <a:xfrm>
            <a:off x="7702550" y="184149"/>
            <a:ext cx="1263650" cy="868587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pt-BR" dirty="0" smtClean="0"/>
              <a:t>Adicionar o Logo do Cliente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2" y="182565"/>
            <a:ext cx="7435451" cy="870173"/>
          </a:xfrm>
          <a:prstGeom prst="rect">
            <a:avLst/>
          </a:prstGeom>
        </p:spPr>
        <p:txBody>
          <a:bodyPr lIns="91430" tIns="45716" rIns="91430" bIns="45716" anchor="ctr">
            <a:normAutofit/>
          </a:bodyPr>
          <a:lstStyle>
            <a:lvl1pPr marL="0" indent="0" algn="just">
              <a:lnSpc>
                <a:spcPct val="100000"/>
              </a:lnSpc>
              <a:buNone/>
              <a:defRPr sz="1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aqui para editar o título do slide</a:t>
            </a:r>
          </a:p>
        </p:txBody>
      </p:sp>
      <p:cxnSp>
        <p:nvCxnSpPr>
          <p:cNvPr id="13" name="Conector reto 12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179388" y="1268760"/>
            <a:ext cx="8785225" cy="5268565"/>
          </a:xfrm>
          <a:prstGeom prst="rect">
            <a:avLst/>
          </a:prstGeom>
        </p:spPr>
        <p:txBody>
          <a:bodyPr lIns="91430" tIns="45716" rIns="91430" bIns="45716">
            <a:normAutofit/>
          </a:bodyPr>
          <a:lstStyle>
            <a:lvl1pPr marL="342865" indent="-342865">
              <a:buFontTx/>
              <a:buBlip>
                <a:blip r:embed="rId2"/>
              </a:buBlip>
              <a:defRPr sz="1800"/>
            </a:lvl1pPr>
            <a:lvl2pPr marL="742874" indent="-285722">
              <a:buFontTx/>
              <a:buBlip>
                <a:blip r:embed="rId2"/>
              </a:buBlip>
              <a:defRPr sz="1600"/>
            </a:lvl2pPr>
            <a:lvl3pPr marL="1142883" indent="-228576">
              <a:buFontTx/>
              <a:buBlip>
                <a:blip r:embed="rId2"/>
              </a:buBlip>
              <a:defRPr sz="1400"/>
            </a:lvl3pPr>
            <a:lvl4pPr marL="1600036" indent="-228576">
              <a:buFontTx/>
              <a:buBlip>
                <a:blip r:embed="rId2"/>
              </a:buBlip>
              <a:defRPr sz="1200"/>
            </a:lvl4pPr>
            <a:lvl5pPr marL="2057190" indent="-228576">
              <a:buFontTx/>
              <a:buBlip>
                <a:blip r:embed="rId2"/>
              </a:buBlip>
              <a:defRPr sz="1200"/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14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30" tIns="45716" rIns="91430" bIns="45716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DA85CBCF-79E5-48DE-A102-6E8347A1A2B6}" type="slidenum">
              <a:rPr lang="pt-BR" smtClean="0"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pt-BR">
              <a:latin typeface="Verdana" pitchFamily="34" charset="0"/>
              <a:cs typeface="Arial" pitchFamily="34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6595169" y="6653386"/>
            <a:ext cx="2548833" cy="204615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2079"/>
            <a:ext cx="9144000" cy="41563"/>
            <a:chOff x="0" y="4319385"/>
            <a:chExt cx="9144000" cy="45719"/>
          </a:xfr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Retângulo 11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6" name="Retângulo 15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7" name="Retângulo 16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1053238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 +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/>
          <p:cNvSpPr>
            <a:spLocks noGrp="1"/>
          </p:cNvSpPr>
          <p:nvPr>
            <p:ph type="pic" sz="quarter" idx="12" hasCustomPrompt="1"/>
          </p:nvPr>
        </p:nvSpPr>
        <p:spPr>
          <a:xfrm>
            <a:off x="7702550" y="184149"/>
            <a:ext cx="1263650" cy="868587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pt-BR" dirty="0" smtClean="0"/>
              <a:t>Adicionar o Logo do Cliente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2" y="182565"/>
            <a:ext cx="7435451" cy="870173"/>
          </a:xfrm>
          <a:prstGeom prst="rect">
            <a:avLst/>
          </a:prstGeom>
        </p:spPr>
        <p:txBody>
          <a:bodyPr lIns="91430" tIns="45716" rIns="91430" bIns="45716" anchor="ctr">
            <a:normAutofit/>
          </a:bodyPr>
          <a:lstStyle>
            <a:lvl1pPr marL="0" indent="0" algn="just">
              <a:lnSpc>
                <a:spcPct val="100000"/>
              </a:lnSpc>
              <a:buNone/>
              <a:defRPr sz="1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aqui para editar o título do slide</a:t>
            </a:r>
          </a:p>
        </p:txBody>
      </p:sp>
      <p:cxnSp>
        <p:nvCxnSpPr>
          <p:cNvPr id="10" name="Conector reto 9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30" tIns="45716" rIns="91430" bIns="45716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DA85CBCF-79E5-48DE-A102-6E8347A1A2B6}" type="slidenum">
              <a:rPr lang="pt-BR" smtClean="0"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pt-BR">
              <a:latin typeface="Verdana" pitchFamily="34" charset="0"/>
              <a:cs typeface="Arial" pitchFamily="34" charset="0"/>
            </a:endParaRPr>
          </a:p>
        </p:txBody>
      </p:sp>
      <p:sp>
        <p:nvSpPr>
          <p:cNvPr id="13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6595169" y="6653386"/>
            <a:ext cx="2548833" cy="204615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2079"/>
            <a:ext cx="9144000" cy="41563"/>
            <a:chOff x="0" y="4319385"/>
            <a:chExt cx="9144000" cy="45719"/>
          </a:xfr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tângulo 13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5" name="Retângulo 14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6" name="Retângulo 15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5162091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30" tIns="45716" rIns="91430" bIns="45716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DA85CBCF-79E5-48DE-A102-6E8347A1A2B6}" type="slidenum">
              <a:rPr lang="pt-BR" smtClean="0"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pt-BR">
              <a:latin typeface="Verdana" pitchFamily="34" charset="0"/>
              <a:cs typeface="Arial" pitchFamily="34" charset="0"/>
            </a:endParaRPr>
          </a:p>
        </p:txBody>
      </p:sp>
      <p:sp>
        <p:nvSpPr>
          <p:cNvPr id="8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6595169" y="6653386"/>
            <a:ext cx="2548833" cy="204615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2079"/>
            <a:ext cx="9144000" cy="41563"/>
            <a:chOff x="0" y="4319385"/>
            <a:chExt cx="9144000" cy="45719"/>
          </a:xfr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Retângulo 9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1" name="Retângulo 10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2" name="Retângulo 11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422808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-br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94199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-capa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30" tIns="45716" rIns="91430" bIns="45716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pt-BR">
              <a:solidFill>
                <a:srgbClr val="FFFFFF"/>
              </a:solidFill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2807496" y="3814739"/>
            <a:ext cx="3529013" cy="1526519"/>
          </a:xfrm>
          <a:prstGeom prst="rect">
            <a:avLst/>
          </a:prstGeom>
        </p:spPr>
        <p:txBody>
          <a:bodyPr lIns="91430" tIns="45716" rIns="91430" bIns="45716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aseline="0">
                <a:solidFill>
                  <a:srgbClr val="A7A9AC"/>
                </a:solidFill>
              </a:defRPr>
            </a:lvl1pPr>
          </a:lstStyle>
          <a:p>
            <a:pPr lvl="0"/>
            <a:r>
              <a:rPr lang="pt-BR" dirty="0" smtClean="0"/>
              <a:t>Nome: </a:t>
            </a:r>
            <a:r>
              <a:rPr lang="pt-BR" dirty="0" err="1" smtClean="0"/>
              <a:t>Size</a:t>
            </a:r>
            <a:r>
              <a:rPr lang="pt-BR" dirty="0" smtClean="0"/>
              <a:t> 20                    E-mail: </a:t>
            </a:r>
            <a:r>
              <a:rPr lang="pt-BR" dirty="0" err="1" smtClean="0"/>
              <a:t>Size</a:t>
            </a:r>
            <a:r>
              <a:rPr lang="pt-BR" dirty="0" smtClean="0"/>
              <a:t> 14               Telefone Fixo: </a:t>
            </a:r>
            <a:r>
              <a:rPr lang="pt-BR" dirty="0" err="1" smtClean="0"/>
              <a:t>Size</a:t>
            </a:r>
            <a:r>
              <a:rPr lang="pt-BR" dirty="0" smtClean="0"/>
              <a:t> 14           Celular: </a:t>
            </a:r>
            <a:r>
              <a:rPr lang="pt-BR" dirty="0" err="1" smtClean="0"/>
              <a:t>Size</a:t>
            </a:r>
            <a:r>
              <a:rPr lang="pt-BR" dirty="0" smtClean="0"/>
              <a:t> 14</a:t>
            </a:r>
            <a:endParaRPr lang="pt-BR" dirty="0"/>
          </a:p>
        </p:txBody>
      </p:sp>
      <p:pic>
        <p:nvPicPr>
          <p:cNvPr id="6" name="Picture 3" descr="C:\Users\bruno.lino\Desktop\Logos\DP6_escuro_Moto_pq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9486" y="1981555"/>
            <a:ext cx="4565030" cy="1715714"/>
          </a:xfrm>
          <a:prstGeom prst="rect">
            <a:avLst/>
          </a:prstGeom>
          <a:noFill/>
          <a:effectLst>
            <a:innerShdw blurRad="50800" dist="127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746166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>
          <a:xfrm>
            <a:off x="179388" y="1484786"/>
            <a:ext cx="8785225" cy="5052541"/>
          </a:xfrm>
          <a:prstGeom prst="rect">
            <a:avLst/>
          </a:prstGeom>
        </p:spPr>
        <p:txBody>
          <a:bodyPr lIns="91411" tIns="45706" rIns="91411" bIns="45706"/>
          <a:lstStyle/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1212850" y="182564"/>
            <a:ext cx="7756525" cy="1036637"/>
          </a:xfrm>
          <a:prstGeom prst="rect">
            <a:avLst/>
          </a:prstGeom>
        </p:spPr>
        <p:txBody>
          <a:bodyPr lIns="91411" tIns="45706" rIns="91411" bIns="45706" anchor="ctr"/>
          <a:lstStyle>
            <a:lvl1pPr marL="0" indent="0">
              <a:buNone/>
              <a:defRPr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pic>
        <p:nvPicPr>
          <p:cNvPr id="4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1011"/>
            <a:ext cx="844898" cy="55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bruno.lino\Desktop\Logos\Tira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4513" y="1378199"/>
            <a:ext cx="8806350" cy="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89126" y="6592529"/>
            <a:ext cx="376091" cy="24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3279503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>
          <a:xfrm>
            <a:off x="179388" y="1484786"/>
            <a:ext cx="8785225" cy="5052541"/>
          </a:xfrm>
          <a:prstGeom prst="rect">
            <a:avLst/>
          </a:prstGeom>
        </p:spPr>
        <p:txBody>
          <a:bodyPr lIns="91411" tIns="45706" rIns="91411" bIns="45706"/>
          <a:lstStyle/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1212850" y="182564"/>
            <a:ext cx="7756525" cy="1036637"/>
          </a:xfrm>
          <a:prstGeom prst="rect">
            <a:avLst/>
          </a:prstGeom>
        </p:spPr>
        <p:txBody>
          <a:bodyPr lIns="91411" tIns="45706" rIns="91411" bIns="45706" anchor="ctr"/>
          <a:lstStyle>
            <a:lvl1pPr marL="0" indent="0">
              <a:buNone/>
              <a:defRPr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pic>
        <p:nvPicPr>
          <p:cNvPr id="4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1011"/>
            <a:ext cx="844898" cy="55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bruno.lino\Desktop\Logos\Tira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4513" y="1378199"/>
            <a:ext cx="8806350" cy="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89126" y="6592529"/>
            <a:ext cx="376091" cy="24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0046769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>
          <a:xfrm>
            <a:off x="179388" y="1484786"/>
            <a:ext cx="8785225" cy="5052541"/>
          </a:xfrm>
          <a:prstGeom prst="rect">
            <a:avLst/>
          </a:prstGeom>
        </p:spPr>
        <p:txBody>
          <a:bodyPr lIns="91411" tIns="45706" rIns="91411" bIns="45706"/>
          <a:lstStyle/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1212850" y="182564"/>
            <a:ext cx="7756525" cy="1036637"/>
          </a:xfrm>
          <a:prstGeom prst="rect">
            <a:avLst/>
          </a:prstGeom>
        </p:spPr>
        <p:txBody>
          <a:bodyPr lIns="91411" tIns="45706" rIns="91411" bIns="45706" anchor="ctr"/>
          <a:lstStyle>
            <a:lvl1pPr marL="0" indent="0">
              <a:buNone/>
              <a:defRPr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pic>
        <p:nvPicPr>
          <p:cNvPr id="4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1011"/>
            <a:ext cx="844898" cy="55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bruno.lino\Desktop\Logos\Tira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4513" y="1378199"/>
            <a:ext cx="8806350" cy="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89126" y="6592529"/>
            <a:ext cx="376091" cy="24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632246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>
          <a:xfrm>
            <a:off x="179388" y="1484786"/>
            <a:ext cx="8785225" cy="5052541"/>
          </a:xfrm>
          <a:prstGeom prst="rect">
            <a:avLst/>
          </a:prstGeom>
        </p:spPr>
        <p:txBody>
          <a:bodyPr lIns="91411" tIns="45706" rIns="91411" bIns="45706"/>
          <a:lstStyle/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1212850" y="182564"/>
            <a:ext cx="7756525" cy="1036637"/>
          </a:xfrm>
          <a:prstGeom prst="rect">
            <a:avLst/>
          </a:prstGeom>
        </p:spPr>
        <p:txBody>
          <a:bodyPr lIns="91411" tIns="45706" rIns="91411" bIns="45706" anchor="ctr"/>
          <a:lstStyle>
            <a:lvl1pPr marL="0" indent="0">
              <a:buNone/>
              <a:defRPr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pic>
        <p:nvPicPr>
          <p:cNvPr id="4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1011"/>
            <a:ext cx="844898" cy="55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bruno.lino\Desktop\Logos\Tira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4513" y="1378199"/>
            <a:ext cx="8806350" cy="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89126" y="6592529"/>
            <a:ext cx="376091" cy="24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400522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>
          <a:xfrm>
            <a:off x="179388" y="1484786"/>
            <a:ext cx="8785225" cy="5052541"/>
          </a:xfrm>
          <a:prstGeom prst="rect">
            <a:avLst/>
          </a:prstGeom>
        </p:spPr>
        <p:txBody>
          <a:bodyPr lIns="91411" tIns="45706" rIns="91411" bIns="45706"/>
          <a:lstStyle/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1212850" y="182564"/>
            <a:ext cx="7756525" cy="1036637"/>
          </a:xfrm>
          <a:prstGeom prst="rect">
            <a:avLst/>
          </a:prstGeom>
        </p:spPr>
        <p:txBody>
          <a:bodyPr lIns="91411" tIns="45706" rIns="91411" bIns="45706" anchor="ctr"/>
          <a:lstStyle>
            <a:lvl1pPr marL="0" indent="0">
              <a:buNone/>
              <a:defRPr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pic>
        <p:nvPicPr>
          <p:cNvPr id="4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1011"/>
            <a:ext cx="844898" cy="55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bruno.lino\Desktop\Logos\Tira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4513" y="1378199"/>
            <a:ext cx="8806350" cy="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89126" y="6592529"/>
            <a:ext cx="376091" cy="24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966692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891" y="1302620"/>
            <a:ext cx="8608219" cy="5113362"/>
          </a:xfrm>
          <a:prstGeom prst="rect">
            <a:avLst/>
          </a:prstGeom>
        </p:spPr>
        <p:txBody>
          <a:bodyPr lIns="64270" tIns="32135" rIns="64270" bIns="32135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2" y="6642572"/>
            <a:ext cx="433090" cy="246682"/>
          </a:xfrm>
          <a:prstGeom prst="rect">
            <a:avLst/>
          </a:prstGeom>
          <a:ln/>
        </p:spPr>
        <p:txBody>
          <a:bodyPr lIns="64270" tIns="32135" rIns="64270" bIns="32135"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3F0B858-381F-4FFD-BD92-4AE5DD1BCF2C}" type="slidenum">
              <a:rPr lang="en-US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687276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891" y="1302620"/>
            <a:ext cx="4250531" cy="5113362"/>
          </a:xfrm>
          <a:prstGeom prst="rect">
            <a:avLst/>
          </a:prstGeom>
        </p:spPr>
        <p:txBody>
          <a:bodyPr lIns="64284" tIns="32142" rIns="64284" bIns="32142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5578" y="1302620"/>
            <a:ext cx="4250531" cy="5113362"/>
          </a:xfrm>
          <a:prstGeom prst="rect">
            <a:avLst/>
          </a:prstGeom>
        </p:spPr>
        <p:txBody>
          <a:bodyPr lIns="64284" tIns="32142" rIns="64284" bIns="32142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2" y="6642571"/>
            <a:ext cx="427508" cy="241102"/>
          </a:xfrm>
          <a:prstGeom prst="rect">
            <a:avLst/>
          </a:prstGeom>
          <a:ln/>
        </p:spPr>
        <p:txBody>
          <a:bodyPr lIns="64284" tIns="32142" rIns="64284" bIns="32142"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5C55DA0-7310-4F09-B2EE-D10F510E9E4D}" type="slidenum">
              <a:rPr lang="en-US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17684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57200" y="6356375"/>
            <a:ext cx="2133600" cy="365125"/>
          </a:xfrm>
          <a:prstGeom prst="rect">
            <a:avLst/>
          </a:prstGeom>
        </p:spPr>
        <p:txBody>
          <a:bodyPr lIns="91321" tIns="45661" rIns="91321" bIns="4566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6DC0BAAF-A709-41F0-B2F5-58C6EF6ACEEF}" type="datetimeFigureOut">
              <a:rPr lang="pt-BR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17/05/2012</a:t>
            </a:fld>
            <a:endParaRPr lang="pt-BR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1" y="6356375"/>
            <a:ext cx="2895600" cy="365125"/>
          </a:xfrm>
          <a:prstGeom prst="rect">
            <a:avLst/>
          </a:prstGeom>
        </p:spPr>
        <p:txBody>
          <a:bodyPr lIns="91321" tIns="45661" rIns="91321" bIns="4566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pt-BR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7020272" y="6538816"/>
            <a:ext cx="2133600" cy="365125"/>
          </a:xfrm>
          <a:prstGeom prst="rect">
            <a:avLst/>
          </a:prstGeom>
        </p:spPr>
        <p:txBody>
          <a:bodyPr lIns="91430" tIns="45716" rIns="91430" bIns="45716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248CF8D-7940-42DE-82F4-DD85CDB16693}" type="slidenum">
              <a:rPr lang="pt-BR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pt-BR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1592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62" y="340447"/>
            <a:ext cx="8658448" cy="810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67891" y="1302620"/>
            <a:ext cx="4250531" cy="5113362"/>
          </a:xfrm>
          <a:prstGeom prst="rect">
            <a:avLst/>
          </a:prstGeom>
        </p:spPr>
        <p:txBody>
          <a:bodyPr lIns="64284" tIns="32142" rIns="64284" bIns="32142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25578" y="1302621"/>
            <a:ext cx="4250531" cy="2502545"/>
          </a:xfrm>
          <a:prstGeom prst="rect">
            <a:avLst/>
          </a:prstGeom>
        </p:spPr>
        <p:txBody>
          <a:bodyPr lIns="64284" tIns="32142" rIns="64284" bIns="32142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25578" y="3912320"/>
            <a:ext cx="4250531" cy="2503661"/>
          </a:xfrm>
          <a:prstGeom prst="rect">
            <a:avLst/>
          </a:prstGeom>
        </p:spPr>
        <p:txBody>
          <a:bodyPr lIns="64284" tIns="32142" rIns="64284" bIns="32142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2" y="6642571"/>
            <a:ext cx="427508" cy="241102"/>
          </a:xfrm>
          <a:prstGeom prst="rect">
            <a:avLst/>
          </a:prstGeom>
          <a:ln/>
        </p:spPr>
        <p:txBody>
          <a:bodyPr lIns="64284" tIns="32142" rIns="64284" bIns="32142"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642DFB9C-DFE3-4619-A224-035F794DBA44}" type="slidenum">
              <a:rPr lang="en-US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484458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9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685354" y="2674442"/>
            <a:ext cx="7773293" cy="552525"/>
          </a:xfrm>
        </p:spPr>
        <p:txBody>
          <a:bodyPr anchor="t">
            <a:spAutoFit/>
          </a:bodyPr>
          <a:lstStyle>
            <a:lvl1pPr algn="ctr">
              <a:spcBef>
                <a:spcPct val="50000"/>
              </a:spcBef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0341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824" y="3530576"/>
            <a:ext cx="6400354" cy="530911"/>
          </a:xfrm>
          <a:prstGeom prst="rect">
            <a:avLst/>
          </a:prstGeom>
          <a:ln algn="ctr"/>
        </p:spPr>
        <p:txBody>
          <a:bodyPr lIns="91435" tIns="45718" rIns="91435" bIns="45718">
            <a:spAutoFit/>
          </a:bodyPr>
          <a:lstStyle>
            <a:lvl1pPr marL="0" indent="0" algn="ctr">
              <a:spcBef>
                <a:spcPct val="50000"/>
              </a:spcBef>
              <a:buFont typeface="Wingdings" pitchFamily="2" charset="2"/>
              <a:buNone/>
              <a:defRPr sz="19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2121650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62" y="340445"/>
            <a:ext cx="8658448" cy="810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67891" y="1302619"/>
            <a:ext cx="4250531" cy="5113362"/>
          </a:xfrm>
          <a:prstGeom prst="rect">
            <a:avLst/>
          </a:prstGeom>
        </p:spPr>
        <p:txBody>
          <a:bodyPr lIns="64291" tIns="32146" rIns="64291" bIns="32146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5578" y="1302619"/>
            <a:ext cx="4250531" cy="5113362"/>
          </a:xfrm>
          <a:prstGeom prst="rect">
            <a:avLst/>
          </a:prstGeom>
        </p:spPr>
        <p:txBody>
          <a:bodyPr lIns="64291" tIns="32146" rIns="64291" bIns="32146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2" y="6642571"/>
            <a:ext cx="427508" cy="241102"/>
          </a:xfrm>
          <a:prstGeom prst="rect">
            <a:avLst/>
          </a:prstGeom>
          <a:ln/>
        </p:spPr>
        <p:txBody>
          <a:bodyPr lIns="64291" tIns="32146" rIns="64291" bIns="32146"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F78A8794-CC16-477A-A6B6-30464D001E82}" type="slidenum">
              <a:rPr lang="en-US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44906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62" y="340445"/>
            <a:ext cx="8658448" cy="810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267891" y="1302619"/>
            <a:ext cx="8608219" cy="5113362"/>
          </a:xfrm>
          <a:prstGeom prst="rect">
            <a:avLst/>
          </a:prstGeom>
        </p:spPr>
        <p:txBody>
          <a:bodyPr lIns="64291" tIns="32146" rIns="64291" bIns="32146"/>
          <a:lstStyle/>
          <a:p>
            <a:pPr lvl="0"/>
            <a:endParaRPr lang="pt-BR" noProof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2" y="6642571"/>
            <a:ext cx="427508" cy="241102"/>
          </a:xfrm>
          <a:prstGeom prst="rect">
            <a:avLst/>
          </a:prstGeom>
          <a:ln/>
        </p:spPr>
        <p:txBody>
          <a:bodyPr lIns="64291" tIns="32146" rIns="64291" bIns="32146"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D67A3AF4-EC04-497F-8392-764CFCDF5BE9}" type="slidenum">
              <a:rPr lang="en-US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25580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62" y="340445"/>
            <a:ext cx="8658448" cy="810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67891" y="1302619"/>
            <a:ext cx="4250531" cy="5113362"/>
          </a:xfrm>
          <a:prstGeom prst="rect">
            <a:avLst/>
          </a:prstGeom>
        </p:spPr>
        <p:txBody>
          <a:bodyPr lIns="64291" tIns="32146" rIns="64291" bIns="32146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25578" y="1302619"/>
            <a:ext cx="4250531" cy="5113362"/>
          </a:xfrm>
          <a:prstGeom prst="rect">
            <a:avLst/>
          </a:prstGeom>
        </p:spPr>
        <p:txBody>
          <a:bodyPr lIns="64291" tIns="32146" rIns="64291" bIns="32146"/>
          <a:lstStyle/>
          <a:p>
            <a:pPr lvl="0"/>
            <a:endParaRPr lang="pt-BR" noProof="0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2" y="6642571"/>
            <a:ext cx="427508" cy="241102"/>
          </a:xfrm>
          <a:prstGeom prst="rect">
            <a:avLst/>
          </a:prstGeom>
          <a:ln/>
        </p:spPr>
        <p:txBody>
          <a:bodyPr lIns="64291" tIns="32146" rIns="64291" bIns="32146"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1FF5896-524D-4656-B713-3DB298F28F9B}" type="slidenum">
              <a:rPr lang="en-US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0838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image" Target="../media/image8.png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251521" y="182567"/>
            <a:ext cx="8717854" cy="870173"/>
          </a:xfrm>
          <a:prstGeom prst="rect">
            <a:avLst/>
          </a:prstGeom>
        </p:spPr>
        <p:txBody>
          <a:bodyPr vert="horz" lIns="91421" tIns="45711" rIns="91421" bIns="45711" rtlCol="0" anchor="ctr">
            <a:normAutofit/>
          </a:bodyPr>
          <a:lstStyle/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6" name="TextBox 5"/>
          <p:cNvSpPr txBox="1"/>
          <p:nvPr/>
        </p:nvSpPr>
        <p:spPr>
          <a:xfrm>
            <a:off x="35496" y="6475943"/>
            <a:ext cx="2645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andre.folli@dp6.com.br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9882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58" r:id="rId3"/>
    <p:sldLayoutId id="2147483655" r:id="rId4"/>
    <p:sldLayoutId id="2147483661" r:id="rId5"/>
    <p:sldLayoutId id="2147483662" r:id="rId6"/>
    <p:sldLayoutId id="2147483659" r:id="rId7"/>
    <p:sldLayoutId id="2147483650" r:id="rId8"/>
    <p:sldLayoutId id="2147483668" r:id="rId9"/>
    <p:sldLayoutId id="2147483670" r:id="rId10"/>
    <p:sldLayoutId id="2147483793" r:id="rId11"/>
    <p:sldLayoutId id="2147483794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212" rtl="0" eaLnBrk="1" latinLnBrk="0" hangingPunct="1">
        <a:spcBef>
          <a:spcPct val="0"/>
        </a:spcBef>
        <a:buNone/>
        <a:defRPr sz="3200" kern="1200">
          <a:solidFill>
            <a:srgbClr val="5C636C"/>
          </a:solidFill>
          <a:latin typeface="+mj-lt"/>
          <a:ea typeface="+mj-ea"/>
          <a:cs typeface="+mj-cs"/>
        </a:defRPr>
      </a:lvl1pPr>
    </p:titleStyle>
    <p:bodyStyle>
      <a:lvl1pPr marL="342830" indent="-342830" algn="l" defTabSz="914212" rtl="0" eaLnBrk="1" latinLnBrk="0" hangingPunct="1">
        <a:lnSpc>
          <a:spcPct val="150000"/>
        </a:lnSpc>
        <a:spcBef>
          <a:spcPts val="0"/>
        </a:spcBef>
        <a:buFontTx/>
        <a:buBlip>
          <a:blip r:embed="rId14"/>
        </a:buBlip>
        <a:defRPr sz="3200" kern="1200">
          <a:solidFill>
            <a:srgbClr val="5C636C"/>
          </a:solidFill>
          <a:latin typeface="+mn-lt"/>
          <a:ea typeface="+mn-ea"/>
          <a:cs typeface="+mn-cs"/>
        </a:defRPr>
      </a:lvl1pPr>
      <a:lvl2pPr marL="742798" indent="-285692" algn="l" defTabSz="914212" rtl="0" eaLnBrk="1" latinLnBrk="0" hangingPunct="1">
        <a:lnSpc>
          <a:spcPct val="150000"/>
        </a:lnSpc>
        <a:spcBef>
          <a:spcPts val="0"/>
        </a:spcBef>
        <a:buFontTx/>
        <a:buBlip>
          <a:blip r:embed="rId15"/>
        </a:buBlip>
        <a:defRPr sz="2800" kern="1200">
          <a:solidFill>
            <a:srgbClr val="5C636C"/>
          </a:solidFill>
          <a:latin typeface="+mn-lt"/>
          <a:ea typeface="+mn-ea"/>
          <a:cs typeface="+mn-cs"/>
        </a:defRPr>
      </a:lvl2pPr>
      <a:lvl3pPr marL="1142765" indent="-228552" algn="l" defTabSz="914212" rtl="0" eaLnBrk="1" latinLnBrk="0" hangingPunct="1">
        <a:lnSpc>
          <a:spcPct val="150000"/>
        </a:lnSpc>
        <a:spcBef>
          <a:spcPts val="0"/>
        </a:spcBef>
        <a:buFontTx/>
        <a:buBlip>
          <a:blip r:embed="rId15"/>
        </a:buBlip>
        <a:defRPr sz="2400" kern="1200">
          <a:solidFill>
            <a:srgbClr val="5C636C"/>
          </a:solidFill>
          <a:latin typeface="+mn-lt"/>
          <a:ea typeface="+mn-ea"/>
          <a:cs typeface="+mn-cs"/>
        </a:defRPr>
      </a:lvl3pPr>
      <a:lvl4pPr marL="1599872" indent="-228552" algn="l" defTabSz="914212" rtl="0" eaLnBrk="1" latinLnBrk="0" hangingPunct="1">
        <a:lnSpc>
          <a:spcPct val="150000"/>
        </a:lnSpc>
        <a:spcBef>
          <a:spcPts val="0"/>
        </a:spcBef>
        <a:buFontTx/>
        <a:buBlip>
          <a:blip r:embed="rId15"/>
        </a:buBlip>
        <a:defRPr sz="2000" kern="1200">
          <a:solidFill>
            <a:srgbClr val="5C636C"/>
          </a:solidFill>
          <a:latin typeface="+mn-lt"/>
          <a:ea typeface="+mn-ea"/>
          <a:cs typeface="+mn-cs"/>
        </a:defRPr>
      </a:lvl4pPr>
      <a:lvl5pPr marL="2056980" indent="-228552" algn="l" defTabSz="914212" rtl="0" eaLnBrk="1" latinLnBrk="0" hangingPunct="1">
        <a:lnSpc>
          <a:spcPct val="150000"/>
        </a:lnSpc>
        <a:spcBef>
          <a:spcPts val="0"/>
        </a:spcBef>
        <a:buFontTx/>
        <a:buBlip>
          <a:blip r:embed="rId15"/>
        </a:buBlip>
        <a:defRPr sz="2000" kern="1200">
          <a:solidFill>
            <a:srgbClr val="5C636C"/>
          </a:solidFill>
          <a:latin typeface="+mn-lt"/>
          <a:ea typeface="+mn-ea"/>
          <a:cs typeface="+mn-cs"/>
        </a:defRPr>
      </a:lvl5pPr>
      <a:lvl6pPr marL="2514087" indent="-228552" algn="l" defTabSz="9142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92" indent="-228552" algn="l" defTabSz="9142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99" indent="-228552" algn="l" defTabSz="9142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04" indent="-228552" algn="l" defTabSz="9142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6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2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0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26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32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40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44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52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251521" y="182564"/>
            <a:ext cx="8717854" cy="870173"/>
          </a:xfrm>
          <a:prstGeom prst="rect">
            <a:avLst/>
          </a:prstGeom>
        </p:spPr>
        <p:txBody>
          <a:bodyPr vert="horz" lIns="91435" tIns="45718" rIns="91435" bIns="45718" rtlCol="0" anchor="ctr">
            <a:normAutofit/>
          </a:bodyPr>
          <a:lstStyle/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250963" y="6604084"/>
            <a:ext cx="3164639" cy="261606"/>
          </a:xfrm>
          <a:prstGeom prst="rect">
            <a:avLst/>
          </a:prstGeom>
          <a:noFill/>
        </p:spPr>
        <p:txBody>
          <a:bodyPr wrap="none" lIns="91435" tIns="45718" rIns="91435" bIns="45718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pt-BR" sz="110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</a:t>
            </a:r>
            <a:r>
              <a:rPr lang="pt-BR" sz="1100" i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2011</a:t>
            </a:r>
            <a:r>
              <a:rPr lang="pt-BR" sz="110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 </a:t>
            </a:r>
            <a:r>
              <a:rPr lang="pt-BR" sz="1100" b="1" i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dp6 </a:t>
            </a:r>
            <a:r>
              <a:rPr lang="pt-BR" sz="1100" i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</a:rPr>
              <a:t>- </a:t>
            </a:r>
            <a:r>
              <a:rPr lang="pt-BR" sz="1100" i="1" dirty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</a:rPr>
              <a:t>todos os direitos reservados</a:t>
            </a:r>
            <a:endParaRPr lang="pt-BR" sz="1100" dirty="0">
              <a:solidFill>
                <a:srgbClr val="000000">
                  <a:lumMod val="50000"/>
                  <a:lumOff val="50000"/>
                </a:srgbClr>
              </a:solidFill>
              <a:latin typeface="Verdana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496" y="6597352"/>
            <a:ext cx="324328" cy="212867"/>
          </a:xfrm>
          <a:prstGeom prst="rect">
            <a:avLst/>
          </a:prstGeom>
        </p:spPr>
      </p:pic>
      <p:grpSp>
        <p:nvGrpSpPr>
          <p:cNvPr id="5" name="Grupo 8"/>
          <p:cNvGrpSpPr/>
          <p:nvPr/>
        </p:nvGrpSpPr>
        <p:grpSpPr>
          <a:xfrm>
            <a:off x="0" y="2079"/>
            <a:ext cx="9144000" cy="41563"/>
            <a:chOff x="0" y="4319385"/>
            <a:chExt cx="9144000" cy="45719"/>
          </a:xfr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tângulo 9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7" name="Retângulo 10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0" name="Retângulo 11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94330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788" r:id="rId18"/>
    <p:sldLayoutId id="2147483789" r:id="rId19"/>
    <p:sldLayoutId id="2147483790" r:id="rId20"/>
    <p:sldLayoutId id="2147483791" r:id="rId21"/>
    <p:sldLayoutId id="2147483792" r:id="rId2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353" rtl="0" eaLnBrk="1" latinLnBrk="0" hangingPunct="1">
        <a:spcBef>
          <a:spcPct val="0"/>
        </a:spcBef>
        <a:buNone/>
        <a:defRPr sz="3200" kern="1200">
          <a:solidFill>
            <a:srgbClr val="5C636C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914353" rtl="0" eaLnBrk="1" latinLnBrk="0" hangingPunct="1">
        <a:lnSpc>
          <a:spcPct val="150000"/>
        </a:lnSpc>
        <a:spcBef>
          <a:spcPts val="0"/>
        </a:spcBef>
        <a:buFontTx/>
        <a:buBlip>
          <a:blip r:embed="rId25"/>
        </a:buBlip>
        <a:defRPr sz="3200" kern="1200">
          <a:solidFill>
            <a:srgbClr val="5C636C"/>
          </a:solidFill>
          <a:latin typeface="+mn-lt"/>
          <a:ea typeface="+mn-ea"/>
          <a:cs typeface="+mn-cs"/>
        </a:defRPr>
      </a:lvl1pPr>
      <a:lvl2pPr marL="742912" indent="-285736" algn="l" defTabSz="914353" rtl="0" eaLnBrk="1" latinLnBrk="0" hangingPunct="1">
        <a:lnSpc>
          <a:spcPct val="150000"/>
        </a:lnSpc>
        <a:spcBef>
          <a:spcPts val="0"/>
        </a:spcBef>
        <a:buFontTx/>
        <a:buBlip>
          <a:blip r:embed="rId26"/>
        </a:buBlip>
        <a:defRPr sz="2800" kern="1200">
          <a:solidFill>
            <a:srgbClr val="5C636C"/>
          </a:solidFill>
          <a:latin typeface="+mn-lt"/>
          <a:ea typeface="+mn-ea"/>
          <a:cs typeface="+mn-cs"/>
        </a:defRPr>
      </a:lvl2pPr>
      <a:lvl3pPr marL="1142942" indent="-228588" algn="l" defTabSz="914353" rtl="0" eaLnBrk="1" latinLnBrk="0" hangingPunct="1">
        <a:lnSpc>
          <a:spcPct val="150000"/>
        </a:lnSpc>
        <a:spcBef>
          <a:spcPts val="0"/>
        </a:spcBef>
        <a:buFontTx/>
        <a:buBlip>
          <a:blip r:embed="rId26"/>
        </a:buBlip>
        <a:defRPr sz="2400" kern="1200">
          <a:solidFill>
            <a:srgbClr val="5C636C"/>
          </a:solidFill>
          <a:latin typeface="+mn-lt"/>
          <a:ea typeface="+mn-ea"/>
          <a:cs typeface="+mn-cs"/>
        </a:defRPr>
      </a:lvl3pPr>
      <a:lvl4pPr marL="1600118" indent="-228588" algn="l" defTabSz="914353" rtl="0" eaLnBrk="1" latinLnBrk="0" hangingPunct="1">
        <a:lnSpc>
          <a:spcPct val="150000"/>
        </a:lnSpc>
        <a:spcBef>
          <a:spcPts val="0"/>
        </a:spcBef>
        <a:buFontTx/>
        <a:buBlip>
          <a:blip r:embed="rId26"/>
        </a:buBlip>
        <a:defRPr sz="2000" kern="1200">
          <a:solidFill>
            <a:srgbClr val="5C636C"/>
          </a:solidFill>
          <a:latin typeface="+mn-lt"/>
          <a:ea typeface="+mn-ea"/>
          <a:cs typeface="+mn-cs"/>
        </a:defRPr>
      </a:lvl4pPr>
      <a:lvl5pPr marL="2057295" indent="-228588" algn="l" defTabSz="914353" rtl="0" eaLnBrk="1" latinLnBrk="0" hangingPunct="1">
        <a:lnSpc>
          <a:spcPct val="150000"/>
        </a:lnSpc>
        <a:spcBef>
          <a:spcPts val="0"/>
        </a:spcBef>
        <a:buFontTx/>
        <a:buBlip>
          <a:blip r:embed="rId26"/>
        </a:buBlip>
        <a:defRPr sz="2000" kern="1200">
          <a:solidFill>
            <a:srgbClr val="5C636C"/>
          </a:solidFill>
          <a:latin typeface="+mn-lt"/>
          <a:ea typeface="+mn-ea"/>
          <a:cs typeface="+mn-cs"/>
        </a:defRPr>
      </a:lvl5pPr>
      <a:lvl6pPr marL="251447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jpeg"/><Relationship Id="rId7" Type="http://schemas.openxmlformats.org/officeDocument/2006/relationships/image" Target="../media/image26.gi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gif"/><Relationship Id="rId5" Type="http://schemas.openxmlformats.org/officeDocument/2006/relationships/image" Target="../media/image24.gif"/><Relationship Id="rId4" Type="http://schemas.openxmlformats.org/officeDocument/2006/relationships/image" Target="../media/image2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4.png"/><Relationship Id="rId7" Type="http://schemas.openxmlformats.org/officeDocument/2006/relationships/image" Target="../media/image44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jpeg"/><Relationship Id="rId5" Type="http://schemas.openxmlformats.org/officeDocument/2006/relationships/image" Target="../media/image42.jpeg"/><Relationship Id="rId10" Type="http://schemas.openxmlformats.org/officeDocument/2006/relationships/image" Target="../media/image47.jpeg"/><Relationship Id="rId4" Type="http://schemas.openxmlformats.org/officeDocument/2006/relationships/image" Target="../media/image41.jpeg"/><Relationship Id="rId9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p6.com.br/" TargetMode="External"/><Relationship Id="rId2" Type="http://schemas.openxmlformats.org/officeDocument/2006/relationships/hyperlink" Target="mailto:gerson.ribeiro@dp6.com.br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0" y="2290520"/>
            <a:ext cx="9144000" cy="1608133"/>
          </a:xfrm>
          <a:solidFill>
            <a:schemeClr val="bg2">
              <a:lumMod val="50000"/>
              <a:alpha val="67000"/>
            </a:schemeClr>
          </a:solidFill>
        </p:spPr>
        <p:txBody>
          <a:bodyPr vert="horz" lIns="91421" tIns="45711" rIns="91421" bIns="45711" rtlCol="0" anchor="ctr">
            <a:normAutofit/>
          </a:bodyPr>
          <a:lstStyle/>
          <a:p>
            <a:pPr fontAlgn="base"/>
            <a:r>
              <a:rPr lang="pt-BR" b="1" dirty="0" smtClean="0"/>
              <a:t>SEARCH INTELLIGENCE</a:t>
            </a:r>
            <a:br>
              <a:rPr lang="pt-BR" b="1" dirty="0" smtClean="0"/>
            </a:br>
            <a:r>
              <a:rPr lang="pt-BR" sz="1400" b="1" dirty="0" smtClean="0"/>
              <a:t/>
            </a:r>
            <a:br>
              <a:rPr lang="pt-BR" sz="1400" b="1" dirty="0" smtClean="0"/>
            </a:br>
            <a:r>
              <a:rPr lang="pt-BR" sz="2700" b="1" dirty="0" smtClean="0"/>
              <a:t>COMO ANALISAR RESULTADOS DE CAMPANHAS DE BUSCA</a:t>
            </a:r>
            <a:endParaRPr lang="pt-BR" sz="2700" b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69810" y="3892112"/>
            <a:ext cx="9266238" cy="5556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547762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32674" y="332656"/>
            <a:ext cx="32928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Apresentação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s://fbcdn-sphotos-a.akamaihd.net/hphotos-ak-prn1/538574_3818130536412_1372101138_3567149_1773506115_n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9230" t="3724" r="30791" b="47708"/>
          <a:stretch/>
        </p:blipFill>
        <p:spPr bwMode="auto">
          <a:xfrm>
            <a:off x="251520" y="332656"/>
            <a:ext cx="2730322" cy="444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6840958" y="1340768"/>
            <a:ext cx="19303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 algn="r">
              <a:defRPr sz="4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pt-BR" sz="2800" dirty="0"/>
              <a:t>André </a:t>
            </a:r>
            <a:r>
              <a:rPr lang="pt-BR" sz="2800" dirty="0" err="1"/>
              <a:t>Folli</a:t>
            </a:r>
            <a:endParaRPr lang="pt-BR" sz="28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5398255" y="2160311"/>
            <a:ext cx="3373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 algn="r">
              <a:defRPr sz="4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pt-BR" sz="2000" dirty="0" smtClean="0"/>
              <a:t>4,5 anos no mercado digital</a:t>
            </a:r>
            <a:endParaRPr lang="pt-BR" sz="20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2981842" y="2708920"/>
            <a:ext cx="58752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r">
              <a:defRPr sz="4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pt-BR" sz="2000" dirty="0" smtClean="0"/>
              <a:t>Experiência com Web </a:t>
            </a:r>
            <a:r>
              <a:rPr lang="pt-BR" sz="2000" dirty="0" err="1" smtClean="0"/>
              <a:t>Analytics</a:t>
            </a:r>
            <a:r>
              <a:rPr lang="pt-BR" sz="2000" dirty="0" smtClean="0"/>
              <a:t>, Links Patrocinados, Análise de Sites e Campanhas, SEO e Análise de </a:t>
            </a:r>
            <a:r>
              <a:rPr lang="pt-BR" sz="2000" dirty="0"/>
              <a:t>M</a:t>
            </a:r>
            <a:r>
              <a:rPr lang="pt-BR" sz="2000" dirty="0" smtClean="0"/>
              <a:t>ídias </a:t>
            </a:r>
            <a:r>
              <a:rPr lang="pt-BR" sz="2000" dirty="0"/>
              <a:t>S</a:t>
            </a:r>
            <a:r>
              <a:rPr lang="pt-BR" sz="2000" dirty="0" smtClean="0"/>
              <a:t>ociais </a:t>
            </a:r>
            <a:endParaRPr lang="pt-BR" sz="2000" dirty="0"/>
          </a:p>
        </p:txBody>
      </p:sp>
      <p:pic>
        <p:nvPicPr>
          <p:cNvPr id="10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780051"/>
            <a:ext cx="2037094" cy="66517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:\Users\daniel.carrer\Documents\Logos Inc\logos_inc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09036" y="3494475"/>
            <a:ext cx="3019756" cy="115481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7" descr="http://www.digitalflow.com.br/wp-content/uploads/2011/11/logo_final_baixa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89785" y="4803656"/>
            <a:ext cx="1701135" cy="6179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dp6.com.br/assinaturas/cube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24069" y="4803654"/>
            <a:ext cx="1606710" cy="617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fbcdn-sphotos-a.akamaihd.net/hphotos-ak-ash4/297874_228074580578378_159410887444748_666366_4700501_n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998580" y="4624952"/>
            <a:ext cx="1037916" cy="1056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ixaDeTexto 13"/>
          <p:cNvSpPr txBox="1"/>
          <p:nvPr/>
        </p:nvSpPr>
        <p:spPr>
          <a:xfrm>
            <a:off x="448544" y="5733256"/>
            <a:ext cx="8226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r">
              <a:defRPr sz="4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pt-BR" sz="2800" dirty="0" smtClean="0"/>
              <a:t>Não gosto de quem comenta CTR!  #</a:t>
            </a:r>
            <a:r>
              <a:rPr lang="pt-BR" sz="2800" dirty="0" err="1" smtClean="0"/>
              <a:t>prontofalei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xmlns="" val="126357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4" name="Picture 12" descr="C:\Users\bruno.lino\Desktop\Proposta Comercial - LP\Imagens\LPGoogle1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899592" y="1843072"/>
            <a:ext cx="7600950" cy="4191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C:\Users\bruno.lino\Desktop\Proposta Comercial - LP\Imagens\LPGoogle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899592" y="1843073"/>
            <a:ext cx="7600950" cy="419275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83" name="Picture 11" descr="C:\Users\bruno.lino\Desktop\Proposta Comercial - LP\Imagens\LPGoogle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899592" y="1843072"/>
            <a:ext cx="7600950" cy="4191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:\Users\bruno.lino\Desktop\Proposta Comercial - LP\Imagens\LPGoogle7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899593" y="1843073"/>
            <a:ext cx="7600950" cy="419099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87" name="Picture 15" descr="C:\Users\bruno.lino\Desktop\Proposta Comercial - LP\Imagens\LPGoogle8.gi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899593" y="1843073"/>
            <a:ext cx="7600950" cy="419275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15"/>
          <p:cNvSpPr txBox="1"/>
          <p:nvPr/>
        </p:nvSpPr>
        <p:spPr>
          <a:xfrm>
            <a:off x="3183587" y="380007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 smtClean="0">
                <a:latin typeface="Arial" pitchFamily="34" charset="0"/>
                <a:ea typeface="Verdana" pitchFamily="34" charset="0"/>
                <a:cs typeface="Arial" pitchFamily="34" charset="0"/>
              </a:rPr>
              <a:t>s</a:t>
            </a:r>
            <a:endParaRPr lang="pt-BR" b="1" dirty="0">
              <a:latin typeface="Arial" pitchFamily="34" charset="0"/>
              <a:ea typeface="Verdana" pitchFamily="34" charset="0"/>
              <a:cs typeface="Arial" pitchFamily="34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2867130" y="380444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 smtClean="0">
                <a:latin typeface="Arial" pitchFamily="34" charset="0"/>
                <a:ea typeface="Verdana" pitchFamily="34" charset="0"/>
                <a:cs typeface="Arial" pitchFamily="34" charset="0"/>
              </a:rPr>
              <a:t>a</a:t>
            </a:r>
            <a:endParaRPr lang="pt-BR" b="1" dirty="0">
              <a:latin typeface="Arial" pitchFamily="34" charset="0"/>
              <a:ea typeface="Verdana" pitchFamily="34" charset="0"/>
              <a:cs typeface="Arial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2949720" y="380007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 smtClean="0">
                <a:latin typeface="Arial" pitchFamily="34" charset="0"/>
                <a:ea typeface="Verdana" pitchFamily="34" charset="0"/>
                <a:cs typeface="Arial" pitchFamily="34" charset="0"/>
              </a:rPr>
              <a:t>u</a:t>
            </a:r>
            <a:endParaRPr lang="pt-BR" b="1" dirty="0">
              <a:latin typeface="Arial" pitchFamily="34" charset="0"/>
              <a:ea typeface="Verdana" pitchFamily="34" charset="0"/>
              <a:cs typeface="Arial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3039894" y="3803329"/>
            <a:ext cx="2359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 smtClean="0">
                <a:latin typeface="Arial" pitchFamily="34" charset="0"/>
                <a:ea typeface="Verdana" pitchFamily="34" charset="0"/>
                <a:cs typeface="Arial" pitchFamily="34" charset="0"/>
              </a:rPr>
              <a:t>t</a:t>
            </a:r>
            <a:endParaRPr lang="pt-BR" b="1" dirty="0">
              <a:latin typeface="Arial" pitchFamily="34" charset="0"/>
              <a:ea typeface="Verdana" pitchFamily="34" charset="0"/>
              <a:cs typeface="Arial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3092998" y="380007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 smtClean="0">
                <a:latin typeface="Arial" pitchFamily="34" charset="0"/>
                <a:ea typeface="Verdana" pitchFamily="34" charset="0"/>
                <a:cs typeface="Arial" pitchFamily="34" charset="0"/>
              </a:rPr>
              <a:t>o</a:t>
            </a:r>
            <a:endParaRPr lang="pt-BR" b="1" dirty="0">
              <a:latin typeface="Arial" pitchFamily="34" charset="0"/>
              <a:ea typeface="Verdana" pitchFamily="34" charset="0"/>
              <a:cs typeface="Arial" pitchFamily="34" charset="0"/>
            </a:endParaRPr>
          </a:p>
        </p:txBody>
      </p:sp>
      <p:pic>
        <p:nvPicPr>
          <p:cNvPr id="3081" name="Picture 9" descr="C:\Users\bruno.lino\Desktop\Proposta Comercial - LP\Imagens\LPGoogle4.gif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3767956" y="4106912"/>
            <a:ext cx="969143" cy="23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:\Users\bruno.lino\Desktop\Proposta Comercial - LP\Imagens\vista_aero_cursors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9385710" y="5794197"/>
            <a:ext cx="152400" cy="24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aixaDeTexto 31"/>
          <p:cNvSpPr txBox="1"/>
          <p:nvPr/>
        </p:nvSpPr>
        <p:spPr>
          <a:xfrm>
            <a:off x="2010266" y="4404464"/>
            <a:ext cx="2444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 smtClean="0"/>
              <a:t>Busca Orgânica</a:t>
            </a:r>
            <a:endParaRPr lang="pt-BR" sz="2800" b="1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2343894" y="4681287"/>
            <a:ext cx="17940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 smtClean="0"/>
              <a:t>S E 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828838" y="5440914"/>
            <a:ext cx="2807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Search Engine Optimization</a:t>
            </a:r>
            <a:endParaRPr lang="en-US" sz="1600" b="1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1766108" y="2771606"/>
            <a:ext cx="29482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 smtClean="0"/>
              <a:t>Links Patrocinados</a:t>
            </a:r>
            <a:endParaRPr lang="pt-BR" sz="2800" b="1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2275359" y="3048429"/>
            <a:ext cx="19463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 smtClean="0"/>
              <a:t>S E M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1964846" y="3808056"/>
            <a:ext cx="2550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Search Engine Marketing</a:t>
            </a:r>
            <a:endParaRPr lang="en-US" sz="1600" b="1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3" name="TextBox 2"/>
          <p:cNvSpPr txBox="1"/>
          <p:nvPr/>
        </p:nvSpPr>
        <p:spPr>
          <a:xfrm>
            <a:off x="2010501" y="704890"/>
            <a:ext cx="70150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 que são Links Patrocinados?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725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24" presetID="5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89017E-6 L -0.07344 -0.08393 C -0.08663 -0.09734 -0.10156 -0.11792 -0.12673 -0.10959 C -0.15555 -0.10219 -0.20087 -0.03815 -0.246 -0.03884 C -0.30087 -0.00878 -0.40659 -0.12809 -0.39757 -0.11399 L -0.56337 -0.21896 " pathEditMode="relative" rAng="0" ptsTypes="FfafFF">
                                      <p:cBhvr>
                                        <p:cTn id="25" dur="13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177" y="-109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15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50"/>
                            </p:stCondLst>
                            <p:childTnLst>
                              <p:par>
                                <p:cTn id="36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6337 -0.21896 L -0.7059 -0.16208 C -0.73576 -0.14913 -0.78003 -0.14173 -0.82673 -0.14173 C -0.87969 -0.14173 -0.92205 -0.14913 -0.95191 -0.16208 L -1.09392 -0.21896 " pathEditMode="relative" rAng="0" ptsTypes="FffFF">
                                      <p:cBhvr>
                                        <p:cTn id="37" dur="2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528" y="3861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6" grpId="1" build="allAtOnce"/>
      <p:bldP spid="12" grpId="0" build="p"/>
      <p:bldP spid="12" grpId="1" build="allAtOnce"/>
      <p:bldP spid="13" grpId="0" build="p"/>
      <p:bldP spid="13" grpId="1" build="allAtOnce"/>
      <p:bldP spid="14" grpId="0" build="p"/>
      <p:bldP spid="14" grpId="1" build="allAtOnce"/>
      <p:bldP spid="15" grpId="0" build="p"/>
      <p:bldP spid="15" grpId="1" build="allAtOnce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  <p:bldP spid="36" grpId="0"/>
      <p:bldP spid="36" grpId="1"/>
      <p:bldP spid="37" grpId="0"/>
      <p:bldP spid="3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gosslercashforcars.com/images/cash-money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365" y="3080222"/>
            <a:ext cx="1318275" cy="120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19960" y="704890"/>
            <a:ext cx="497924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 Funil de conversão</a:t>
            </a:r>
          </a:p>
          <a:p>
            <a:pPr algn="r"/>
            <a:r>
              <a:rPr lang="pt-BR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Métricas e </a:t>
            </a:r>
            <a:r>
              <a:rPr lang="pt-BR" sz="2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KPIs</a:t>
            </a:r>
            <a:endParaRPr lang="pt-BR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564030" y="2276872"/>
            <a:ext cx="720080" cy="2808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2400" dirty="0" smtClean="0"/>
              <a:t>IMPRESSÕES</a:t>
            </a:r>
            <a:endParaRPr lang="pt-BR" sz="2400" dirty="0"/>
          </a:p>
        </p:txBody>
      </p:sp>
      <p:sp>
        <p:nvSpPr>
          <p:cNvPr id="6" name="Retângulo 5"/>
          <p:cNvSpPr/>
          <p:nvPr/>
        </p:nvSpPr>
        <p:spPr>
          <a:xfrm>
            <a:off x="3333771" y="2456892"/>
            <a:ext cx="720080" cy="24482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2400" dirty="0"/>
              <a:t>CLIQUES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5103512" y="2636912"/>
            <a:ext cx="720080" cy="20882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2400" dirty="0"/>
              <a:t>VISITAS</a:t>
            </a:r>
          </a:p>
        </p:txBody>
      </p:sp>
      <p:sp>
        <p:nvSpPr>
          <p:cNvPr id="9" name="Retângulo 8"/>
          <p:cNvSpPr/>
          <p:nvPr/>
        </p:nvSpPr>
        <p:spPr>
          <a:xfrm>
            <a:off x="6873253" y="2815038"/>
            <a:ext cx="720080" cy="1731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2400" dirty="0"/>
              <a:t>AQUISIÇÕES</a:t>
            </a:r>
          </a:p>
        </p:txBody>
      </p:sp>
      <p:sp>
        <p:nvSpPr>
          <p:cNvPr id="13" name="Triângulo isósceles 12"/>
          <p:cNvSpPr/>
          <p:nvPr/>
        </p:nvSpPr>
        <p:spPr>
          <a:xfrm rot="5400000">
            <a:off x="1485583" y="3388588"/>
            <a:ext cx="2646715" cy="584881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pt-BR" dirty="0"/>
          </a:p>
        </p:txBody>
      </p:sp>
      <p:sp>
        <p:nvSpPr>
          <p:cNvPr id="14" name="Triângulo isósceles 13"/>
          <p:cNvSpPr/>
          <p:nvPr/>
        </p:nvSpPr>
        <p:spPr>
          <a:xfrm rot="5400000">
            <a:off x="3568676" y="3388588"/>
            <a:ext cx="2020012" cy="584881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15" name="Triângulo isósceles 14"/>
          <p:cNvSpPr/>
          <p:nvPr/>
        </p:nvSpPr>
        <p:spPr>
          <a:xfrm rot="5400000">
            <a:off x="5502329" y="3388588"/>
            <a:ext cx="1692188" cy="584881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1592708" y="1628800"/>
            <a:ext cx="2043188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2"/>
                </a:solidFill>
              </a:rPr>
              <a:t>TAXA DE CLIQUES</a:t>
            </a:r>
          </a:p>
          <a:p>
            <a:pPr algn="ctr"/>
            <a:r>
              <a:rPr lang="pt-BR" b="1" dirty="0" smtClean="0">
                <a:solidFill>
                  <a:schemeClr val="accent2"/>
                </a:solidFill>
              </a:rPr>
              <a:t>(CTR)</a:t>
            </a:r>
            <a:endParaRPr lang="pt-BR" b="1" dirty="0">
              <a:solidFill>
                <a:schemeClr val="accent2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3836613" y="1970695"/>
            <a:ext cx="134482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2"/>
                </a:solidFill>
              </a:rPr>
              <a:t>CONNECT RATE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99806" y="2009332"/>
            <a:ext cx="197426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2"/>
                </a:solidFill>
              </a:rPr>
              <a:t>TAXA DE CONVERSÃO</a:t>
            </a:r>
          </a:p>
        </p:txBody>
      </p:sp>
      <p:pic>
        <p:nvPicPr>
          <p:cNvPr id="20" name="Picture 2" descr="http://www.gosslercashforcars.com/images/cash-money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825725" y="3080222"/>
            <a:ext cx="1318275" cy="120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ector reto 3"/>
          <p:cNvCxnSpPr/>
          <p:nvPr/>
        </p:nvCxnSpPr>
        <p:spPr>
          <a:xfrm>
            <a:off x="672502" y="4547018"/>
            <a:ext cx="0" cy="141064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 flipH="1">
            <a:off x="672502" y="5957664"/>
            <a:ext cx="7851651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8524153" y="4547018"/>
            <a:ext cx="0" cy="141064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/>
          <p:cNvSpPr/>
          <p:nvPr/>
        </p:nvSpPr>
        <p:spPr>
          <a:xfrm>
            <a:off x="1442285" y="5517232"/>
            <a:ext cx="952470" cy="86409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CPM</a:t>
            </a:r>
            <a:endParaRPr lang="pt-BR" sz="2000" dirty="0"/>
          </a:p>
        </p:txBody>
      </p:sp>
      <p:sp>
        <p:nvSpPr>
          <p:cNvPr id="28" name="Elipse 27"/>
          <p:cNvSpPr/>
          <p:nvPr/>
        </p:nvSpPr>
        <p:spPr>
          <a:xfrm>
            <a:off x="3220612" y="5517232"/>
            <a:ext cx="952470" cy="86409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CPC</a:t>
            </a:r>
            <a:endParaRPr lang="pt-BR" sz="2000" dirty="0"/>
          </a:p>
        </p:txBody>
      </p:sp>
      <p:sp>
        <p:nvSpPr>
          <p:cNvPr id="29" name="Elipse 28"/>
          <p:cNvSpPr/>
          <p:nvPr/>
        </p:nvSpPr>
        <p:spPr>
          <a:xfrm>
            <a:off x="4998939" y="5517232"/>
            <a:ext cx="952470" cy="86409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CPV</a:t>
            </a:r>
            <a:endParaRPr lang="pt-BR" sz="2000" dirty="0"/>
          </a:p>
        </p:txBody>
      </p:sp>
      <p:sp>
        <p:nvSpPr>
          <p:cNvPr id="30" name="Elipse 29"/>
          <p:cNvSpPr/>
          <p:nvPr/>
        </p:nvSpPr>
        <p:spPr>
          <a:xfrm>
            <a:off x="6777266" y="5517232"/>
            <a:ext cx="952470" cy="86409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CPA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xmlns="" val="116665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2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9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26" grpId="0" animBg="1"/>
      <p:bldP spid="28" grpId="0" animBg="1"/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Conector reto 24"/>
          <p:cNvCxnSpPr/>
          <p:nvPr/>
        </p:nvCxnSpPr>
        <p:spPr>
          <a:xfrm flipH="1" flipV="1">
            <a:off x="755577" y="879206"/>
            <a:ext cx="2880319" cy="375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www.gosslercashforcars.com/images/cash-money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365" y="3080222"/>
            <a:ext cx="1318275" cy="120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564030" y="2276872"/>
            <a:ext cx="720080" cy="2808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2400" dirty="0" smtClean="0"/>
              <a:t>IMPRESSÕES</a:t>
            </a:r>
            <a:endParaRPr lang="pt-BR" sz="2400" dirty="0"/>
          </a:p>
        </p:txBody>
      </p:sp>
      <p:sp>
        <p:nvSpPr>
          <p:cNvPr id="6" name="Retângulo 5"/>
          <p:cNvSpPr/>
          <p:nvPr/>
        </p:nvSpPr>
        <p:spPr>
          <a:xfrm>
            <a:off x="3333771" y="2456892"/>
            <a:ext cx="720080" cy="24482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2400" dirty="0"/>
              <a:t>CLIQUES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5103512" y="2636912"/>
            <a:ext cx="720080" cy="20882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2400" dirty="0"/>
              <a:t>VISITAS</a:t>
            </a:r>
          </a:p>
        </p:txBody>
      </p:sp>
      <p:sp>
        <p:nvSpPr>
          <p:cNvPr id="9" name="Retângulo 8"/>
          <p:cNvSpPr/>
          <p:nvPr/>
        </p:nvSpPr>
        <p:spPr>
          <a:xfrm>
            <a:off x="6873253" y="2815038"/>
            <a:ext cx="720080" cy="1731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2400" dirty="0"/>
              <a:t>AQUISIÇÕES</a:t>
            </a:r>
          </a:p>
        </p:txBody>
      </p:sp>
      <p:sp>
        <p:nvSpPr>
          <p:cNvPr id="13" name="Triângulo isósceles 12"/>
          <p:cNvSpPr/>
          <p:nvPr/>
        </p:nvSpPr>
        <p:spPr>
          <a:xfrm rot="5400000">
            <a:off x="1485583" y="3388588"/>
            <a:ext cx="2646715" cy="584881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pt-BR" dirty="0"/>
          </a:p>
        </p:txBody>
      </p:sp>
      <p:sp>
        <p:nvSpPr>
          <p:cNvPr id="14" name="Triângulo isósceles 13"/>
          <p:cNvSpPr/>
          <p:nvPr/>
        </p:nvSpPr>
        <p:spPr>
          <a:xfrm rot="5400000">
            <a:off x="3568676" y="3388588"/>
            <a:ext cx="2020012" cy="584881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15" name="Triângulo isósceles 14"/>
          <p:cNvSpPr/>
          <p:nvPr/>
        </p:nvSpPr>
        <p:spPr>
          <a:xfrm rot="5400000">
            <a:off x="5502329" y="3388588"/>
            <a:ext cx="1692188" cy="584881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1592708" y="1628800"/>
            <a:ext cx="2043188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2"/>
                </a:solidFill>
              </a:rPr>
              <a:t>TAXA DE CLIQUES</a:t>
            </a:r>
          </a:p>
          <a:p>
            <a:pPr algn="ctr"/>
            <a:r>
              <a:rPr lang="pt-BR" b="1" dirty="0" smtClean="0">
                <a:solidFill>
                  <a:schemeClr val="accent2"/>
                </a:solidFill>
              </a:rPr>
              <a:t>(CTR)</a:t>
            </a:r>
            <a:endParaRPr lang="pt-BR" b="1" dirty="0">
              <a:solidFill>
                <a:schemeClr val="accent2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3836613" y="1970695"/>
            <a:ext cx="134482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2"/>
                </a:solidFill>
              </a:rPr>
              <a:t>CONNECT RATE</a:t>
            </a:r>
          </a:p>
        </p:txBody>
      </p:sp>
      <p:pic>
        <p:nvPicPr>
          <p:cNvPr id="20" name="Picture 2" descr="http://www.gosslercashforcars.com/images/cash-money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825725" y="3080222"/>
            <a:ext cx="1318275" cy="120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ector reto 3"/>
          <p:cNvCxnSpPr/>
          <p:nvPr/>
        </p:nvCxnSpPr>
        <p:spPr>
          <a:xfrm>
            <a:off x="672502" y="4547018"/>
            <a:ext cx="0" cy="141064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 flipH="1">
            <a:off x="672502" y="5957664"/>
            <a:ext cx="7851651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8524153" y="4547018"/>
            <a:ext cx="0" cy="141064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/>
          <p:cNvSpPr/>
          <p:nvPr/>
        </p:nvSpPr>
        <p:spPr>
          <a:xfrm>
            <a:off x="1442285" y="5517232"/>
            <a:ext cx="952470" cy="86409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CPM</a:t>
            </a:r>
            <a:endParaRPr lang="pt-BR" sz="2000" dirty="0"/>
          </a:p>
        </p:txBody>
      </p:sp>
      <p:sp>
        <p:nvSpPr>
          <p:cNvPr id="28" name="Elipse 27"/>
          <p:cNvSpPr/>
          <p:nvPr/>
        </p:nvSpPr>
        <p:spPr>
          <a:xfrm>
            <a:off x="3220612" y="5517232"/>
            <a:ext cx="952470" cy="86409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CPC</a:t>
            </a:r>
            <a:endParaRPr lang="pt-BR" sz="2000" dirty="0"/>
          </a:p>
        </p:txBody>
      </p:sp>
      <p:sp>
        <p:nvSpPr>
          <p:cNvPr id="29" name="Elipse 28"/>
          <p:cNvSpPr/>
          <p:nvPr/>
        </p:nvSpPr>
        <p:spPr>
          <a:xfrm>
            <a:off x="4998939" y="5517232"/>
            <a:ext cx="952470" cy="86409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CPV</a:t>
            </a:r>
            <a:endParaRPr lang="pt-BR" sz="2000" dirty="0"/>
          </a:p>
        </p:txBody>
      </p:sp>
      <p:sp>
        <p:nvSpPr>
          <p:cNvPr id="30" name="Elipse 29"/>
          <p:cNvSpPr/>
          <p:nvPr/>
        </p:nvSpPr>
        <p:spPr>
          <a:xfrm>
            <a:off x="6777266" y="5517232"/>
            <a:ext cx="952470" cy="86409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CPA</a:t>
            </a:r>
            <a:endParaRPr lang="pt-BR" sz="20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991635" y="343417"/>
            <a:ext cx="148309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600" dirty="0" smtClean="0"/>
              <a:t>ROI</a:t>
            </a:r>
            <a:endParaRPr lang="pt-BR" sz="6600" dirty="0"/>
          </a:p>
        </p:txBody>
      </p:sp>
      <p:cxnSp>
        <p:nvCxnSpPr>
          <p:cNvPr id="24" name="Conector reto 23"/>
          <p:cNvCxnSpPr/>
          <p:nvPr/>
        </p:nvCxnSpPr>
        <p:spPr>
          <a:xfrm>
            <a:off x="755576" y="882962"/>
            <a:ext cx="0" cy="141064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/>
          <p:nvPr/>
        </p:nvCxnSpPr>
        <p:spPr>
          <a:xfrm>
            <a:off x="8607227" y="882962"/>
            <a:ext cx="0" cy="141064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/>
          <p:nvPr/>
        </p:nvCxnSpPr>
        <p:spPr>
          <a:xfrm flipH="1" flipV="1">
            <a:off x="5729452" y="882962"/>
            <a:ext cx="2880319" cy="375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5399806" y="2009332"/>
            <a:ext cx="197426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2"/>
                </a:solidFill>
              </a:rPr>
              <a:t>TAXA DE CONVERSÃO</a:t>
            </a:r>
          </a:p>
        </p:txBody>
      </p:sp>
    </p:spTree>
    <p:extLst>
      <p:ext uri="{BB962C8B-B14F-4D97-AF65-F5344CB8AC3E}">
        <p14:creationId xmlns:p14="http://schemas.microsoft.com/office/powerpoint/2010/main" xmlns="" val="208176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50451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de cantos arredondados 4"/>
          <p:cNvSpPr/>
          <p:nvPr/>
        </p:nvSpPr>
        <p:spPr>
          <a:xfrm>
            <a:off x="5103512" y="1991457"/>
            <a:ext cx="2722213" cy="3330243"/>
          </a:xfrm>
          <a:prstGeom prst="roundRect">
            <a:avLst>
              <a:gd name="adj" fmla="val 777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pt-BR" dirty="0" smtClean="0">
                <a:solidFill>
                  <a:schemeClr val="tx1"/>
                </a:solidFill>
              </a:rPr>
              <a:t>Web </a:t>
            </a:r>
            <a:r>
              <a:rPr lang="pt-BR" dirty="0" err="1" smtClean="0">
                <a:solidFill>
                  <a:schemeClr val="tx1"/>
                </a:solidFill>
              </a:rPr>
              <a:t>Analytics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25" name="Conector reto 24"/>
          <p:cNvCxnSpPr/>
          <p:nvPr/>
        </p:nvCxnSpPr>
        <p:spPr>
          <a:xfrm flipH="1" flipV="1">
            <a:off x="755577" y="879206"/>
            <a:ext cx="2880319" cy="375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www.gosslercashforcars.com/images/cash-money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365" y="3080222"/>
            <a:ext cx="1318275" cy="120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564030" y="2276872"/>
            <a:ext cx="720080" cy="2808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2400" dirty="0" smtClean="0"/>
              <a:t>IMPRESSÕES</a:t>
            </a:r>
            <a:endParaRPr lang="pt-BR" sz="2400" dirty="0"/>
          </a:p>
        </p:txBody>
      </p:sp>
      <p:sp>
        <p:nvSpPr>
          <p:cNvPr id="6" name="Retângulo 5"/>
          <p:cNvSpPr/>
          <p:nvPr/>
        </p:nvSpPr>
        <p:spPr>
          <a:xfrm>
            <a:off x="3333771" y="2456892"/>
            <a:ext cx="720080" cy="24482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2400" dirty="0"/>
              <a:t>CLIQUES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5103512" y="2636912"/>
            <a:ext cx="720080" cy="20882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2400" dirty="0"/>
              <a:t>VISITAS</a:t>
            </a:r>
          </a:p>
        </p:txBody>
      </p:sp>
      <p:sp>
        <p:nvSpPr>
          <p:cNvPr id="9" name="Retângulo 8"/>
          <p:cNvSpPr/>
          <p:nvPr/>
        </p:nvSpPr>
        <p:spPr>
          <a:xfrm>
            <a:off x="6873253" y="2815038"/>
            <a:ext cx="720080" cy="1731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2400" dirty="0"/>
              <a:t>AQUISIÇÕES</a:t>
            </a:r>
          </a:p>
        </p:txBody>
      </p:sp>
      <p:sp>
        <p:nvSpPr>
          <p:cNvPr id="13" name="Triângulo isósceles 12"/>
          <p:cNvSpPr/>
          <p:nvPr/>
        </p:nvSpPr>
        <p:spPr>
          <a:xfrm rot="5400000">
            <a:off x="1485583" y="3388588"/>
            <a:ext cx="2646715" cy="584881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pt-BR" dirty="0"/>
          </a:p>
        </p:txBody>
      </p:sp>
      <p:sp>
        <p:nvSpPr>
          <p:cNvPr id="14" name="Triângulo isósceles 13"/>
          <p:cNvSpPr/>
          <p:nvPr/>
        </p:nvSpPr>
        <p:spPr>
          <a:xfrm rot="5400000">
            <a:off x="3568676" y="3388588"/>
            <a:ext cx="2020012" cy="584881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15" name="Triângulo isósceles 14"/>
          <p:cNvSpPr/>
          <p:nvPr/>
        </p:nvSpPr>
        <p:spPr>
          <a:xfrm rot="5400000">
            <a:off x="5502329" y="3388588"/>
            <a:ext cx="1692188" cy="584881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1592708" y="1628800"/>
            <a:ext cx="2043188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2"/>
                </a:solidFill>
              </a:rPr>
              <a:t>TAXA DE CLIQUES</a:t>
            </a:r>
          </a:p>
          <a:p>
            <a:pPr algn="ctr"/>
            <a:r>
              <a:rPr lang="pt-BR" b="1" dirty="0" smtClean="0">
                <a:solidFill>
                  <a:schemeClr val="accent2"/>
                </a:solidFill>
              </a:rPr>
              <a:t>(CTR)</a:t>
            </a:r>
            <a:endParaRPr lang="pt-BR" b="1" dirty="0">
              <a:solidFill>
                <a:schemeClr val="accent2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3836613" y="1970695"/>
            <a:ext cx="134482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2"/>
                </a:solidFill>
              </a:rPr>
              <a:t>CONNECT RATE</a:t>
            </a:r>
          </a:p>
        </p:txBody>
      </p:sp>
      <p:pic>
        <p:nvPicPr>
          <p:cNvPr id="20" name="Picture 2" descr="http://www.gosslercashforcars.com/images/cash-money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825725" y="3080222"/>
            <a:ext cx="1318275" cy="120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ector reto 3"/>
          <p:cNvCxnSpPr/>
          <p:nvPr/>
        </p:nvCxnSpPr>
        <p:spPr>
          <a:xfrm>
            <a:off x="672502" y="4547018"/>
            <a:ext cx="0" cy="141064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 flipH="1">
            <a:off x="672502" y="5957664"/>
            <a:ext cx="7851651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8524153" y="4547018"/>
            <a:ext cx="0" cy="141064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/>
          <p:cNvSpPr/>
          <p:nvPr/>
        </p:nvSpPr>
        <p:spPr>
          <a:xfrm>
            <a:off x="1442285" y="5517232"/>
            <a:ext cx="952470" cy="86409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CPM</a:t>
            </a:r>
            <a:endParaRPr lang="pt-BR" sz="2000" dirty="0"/>
          </a:p>
        </p:txBody>
      </p:sp>
      <p:sp>
        <p:nvSpPr>
          <p:cNvPr id="28" name="Elipse 27"/>
          <p:cNvSpPr/>
          <p:nvPr/>
        </p:nvSpPr>
        <p:spPr>
          <a:xfrm>
            <a:off x="3220612" y="5517232"/>
            <a:ext cx="952470" cy="86409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CPC</a:t>
            </a:r>
            <a:endParaRPr lang="pt-BR" sz="2000" dirty="0"/>
          </a:p>
        </p:txBody>
      </p:sp>
      <p:sp>
        <p:nvSpPr>
          <p:cNvPr id="29" name="Elipse 28"/>
          <p:cNvSpPr/>
          <p:nvPr/>
        </p:nvSpPr>
        <p:spPr>
          <a:xfrm>
            <a:off x="4998939" y="5517232"/>
            <a:ext cx="952470" cy="86409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CPV</a:t>
            </a:r>
            <a:endParaRPr lang="pt-BR" sz="2000" dirty="0"/>
          </a:p>
        </p:txBody>
      </p:sp>
      <p:sp>
        <p:nvSpPr>
          <p:cNvPr id="30" name="Elipse 29"/>
          <p:cNvSpPr/>
          <p:nvPr/>
        </p:nvSpPr>
        <p:spPr>
          <a:xfrm>
            <a:off x="6777266" y="5517232"/>
            <a:ext cx="952470" cy="86409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CPA</a:t>
            </a:r>
            <a:endParaRPr lang="pt-BR" sz="20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991635" y="343417"/>
            <a:ext cx="148309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600" dirty="0" smtClean="0"/>
              <a:t>ROI</a:t>
            </a:r>
            <a:endParaRPr lang="pt-BR" sz="6600" dirty="0"/>
          </a:p>
        </p:txBody>
      </p:sp>
      <p:cxnSp>
        <p:nvCxnSpPr>
          <p:cNvPr id="24" name="Conector reto 23"/>
          <p:cNvCxnSpPr/>
          <p:nvPr/>
        </p:nvCxnSpPr>
        <p:spPr>
          <a:xfrm>
            <a:off x="755576" y="882962"/>
            <a:ext cx="0" cy="141064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/>
          <p:nvPr/>
        </p:nvCxnSpPr>
        <p:spPr>
          <a:xfrm>
            <a:off x="8607227" y="882962"/>
            <a:ext cx="0" cy="141064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/>
          <p:nvPr/>
        </p:nvCxnSpPr>
        <p:spPr>
          <a:xfrm flipH="1" flipV="1">
            <a:off x="5729452" y="882962"/>
            <a:ext cx="2880319" cy="375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5399806" y="2009332"/>
            <a:ext cx="197426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2"/>
                </a:solidFill>
              </a:rPr>
              <a:t>TAXA DE CONVERSÃO</a:t>
            </a:r>
          </a:p>
        </p:txBody>
      </p:sp>
      <p:sp>
        <p:nvSpPr>
          <p:cNvPr id="32" name="Retângulo de cantos arredondados 31"/>
          <p:cNvSpPr/>
          <p:nvPr/>
        </p:nvSpPr>
        <p:spPr>
          <a:xfrm>
            <a:off x="5088935" y="1991458"/>
            <a:ext cx="4016428" cy="3330242"/>
          </a:xfrm>
          <a:prstGeom prst="roundRect">
            <a:avLst>
              <a:gd name="adj" fmla="val 777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de cantos arredondados 33"/>
          <p:cNvSpPr/>
          <p:nvPr/>
        </p:nvSpPr>
        <p:spPr>
          <a:xfrm>
            <a:off x="3913942" y="343417"/>
            <a:ext cx="1666170" cy="1107996"/>
          </a:xfrm>
          <a:prstGeom prst="roundRect">
            <a:avLst>
              <a:gd name="adj" fmla="val 777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de cantos arredondados 34"/>
          <p:cNvSpPr/>
          <p:nvPr/>
        </p:nvSpPr>
        <p:spPr>
          <a:xfrm>
            <a:off x="6719361" y="5445224"/>
            <a:ext cx="1065477" cy="968030"/>
          </a:xfrm>
          <a:prstGeom prst="roundRect">
            <a:avLst>
              <a:gd name="adj" fmla="val 777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32582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2" grpId="0" animBg="1"/>
      <p:bldP spid="34" grpId="0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76159" y="704890"/>
            <a:ext cx="48494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6 Dicas de Sucesso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www.nunatak.ws/janrro/upload/2006/02/RSE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72816"/>
            <a:ext cx="404812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644703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40416" y="704890"/>
            <a:ext cx="42851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Defina os KPIs</a:t>
            </a:r>
            <a:endParaRPr lang="pt-BR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www.ingestao.net/wp-content/uploads/ecommerc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872" y="934688"/>
            <a:ext cx="2815952" cy="2815953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 bwMode="auto">
          <a:xfrm rot="19940866">
            <a:off x="230588" y="2703502"/>
            <a:ext cx="3584998" cy="792088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4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charset="0"/>
              </a:rPr>
              <a:t>Vender</a:t>
            </a:r>
            <a:endParaRPr kumimoji="0" lang="en-US" sz="4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charset="0"/>
            </a:endParaRPr>
          </a:p>
        </p:txBody>
      </p:sp>
      <p:pic>
        <p:nvPicPr>
          <p:cNvPr id="13" name="Picture 6" descr="http://www.carregacartuchos.com.br/images/atendimento%20online.bm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7704" y="4536418"/>
            <a:ext cx="1800199" cy="1626846"/>
          </a:xfrm>
          <a:prstGeom prst="rect">
            <a:avLst/>
          </a:prstGeom>
          <a:noFill/>
        </p:spPr>
      </p:pic>
      <p:sp>
        <p:nvSpPr>
          <p:cNvPr id="14" name="Rectangle 13"/>
          <p:cNvSpPr/>
          <p:nvPr/>
        </p:nvSpPr>
        <p:spPr bwMode="auto">
          <a:xfrm rot="1610316">
            <a:off x="2469487" y="4195615"/>
            <a:ext cx="3584998" cy="792088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4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charset="0"/>
              </a:rPr>
              <a:t>Atender</a:t>
            </a:r>
            <a:endParaRPr kumimoji="0" lang="en-US" sz="4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charset="0"/>
            </a:endParaRPr>
          </a:p>
        </p:txBody>
      </p:sp>
      <p:pic>
        <p:nvPicPr>
          <p:cNvPr id="16" name="Picture 4" descr="http://herdeirodocaos.com/wp-content/uploads/2009/03/anuncio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95675" y="2071684"/>
            <a:ext cx="3261983" cy="1833809"/>
          </a:xfrm>
          <a:prstGeom prst="rect">
            <a:avLst/>
          </a:prstGeom>
          <a:noFill/>
        </p:spPr>
      </p:pic>
      <p:sp>
        <p:nvSpPr>
          <p:cNvPr id="17" name="Rectangle 16"/>
          <p:cNvSpPr/>
          <p:nvPr/>
        </p:nvSpPr>
        <p:spPr bwMode="auto">
          <a:xfrm rot="19940866">
            <a:off x="5472430" y="3146386"/>
            <a:ext cx="3584998" cy="792088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4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charset="0"/>
              </a:rPr>
              <a:t>Publicidade</a:t>
            </a:r>
            <a:endParaRPr kumimoji="0" lang="en-US" sz="4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98018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7891" y="1303734"/>
            <a:ext cx="8608219" cy="5113363"/>
          </a:xfrm>
          <a:prstGeom prst="rect">
            <a:avLst/>
          </a:prstGeom>
        </p:spPr>
        <p:txBody>
          <a:bodyPr/>
          <a:lstStyle/>
          <a:p>
            <a:r>
              <a:rPr lang="pt-BR" sz="1800" dirty="0"/>
              <a:t>Muitas métricas, poucos </a:t>
            </a:r>
            <a:r>
              <a:rPr lang="pt-BR" sz="1800" dirty="0" err="1"/>
              <a:t>KPIs</a:t>
            </a:r>
            <a:endParaRPr lang="pt-BR" sz="1800" dirty="0"/>
          </a:p>
          <a:p>
            <a:endParaRPr lang="pt-BR" sz="1800" dirty="0"/>
          </a:p>
          <a:p>
            <a:pPr lvl="1"/>
            <a:r>
              <a:rPr lang="pt-BR" sz="1800" dirty="0"/>
              <a:t>Na internet, as métricas são infinitas, cada ferramenta à cada semana tem números novos</a:t>
            </a:r>
          </a:p>
          <a:p>
            <a:endParaRPr lang="pt-BR" sz="1800" dirty="0"/>
          </a:p>
          <a:p>
            <a:pPr lvl="1"/>
            <a:r>
              <a:rPr lang="pt-BR" sz="1800" dirty="0" err="1">
                <a:solidFill>
                  <a:srgbClr val="008000"/>
                </a:solidFill>
              </a:rPr>
              <a:t>KPIs</a:t>
            </a:r>
            <a:r>
              <a:rPr lang="pt-BR" sz="1800" dirty="0">
                <a:solidFill>
                  <a:srgbClr val="008000"/>
                </a:solidFill>
              </a:rPr>
              <a:t> = Key Performance </a:t>
            </a:r>
            <a:r>
              <a:rPr lang="pt-BR" sz="1800" dirty="0" err="1">
                <a:solidFill>
                  <a:srgbClr val="008000"/>
                </a:solidFill>
              </a:rPr>
              <a:t>Indicators</a:t>
            </a:r>
            <a:endParaRPr lang="pt-BR" sz="1800" dirty="0">
              <a:solidFill>
                <a:srgbClr val="008000"/>
              </a:solidFill>
            </a:endParaRPr>
          </a:p>
          <a:p>
            <a:pPr lvl="2"/>
            <a:r>
              <a:rPr lang="pt-BR" sz="1800" dirty="0"/>
              <a:t>Refletem fatores chaves de resultado para o projeto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38" name="Picture 4" descr="dollar army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40475" y="4320282"/>
            <a:ext cx="2857500" cy="227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6"/>
          <p:cNvSpPr>
            <a:spLocks noChangeArrowheads="1"/>
          </p:cNvSpPr>
          <p:nvPr/>
        </p:nvSpPr>
        <p:spPr bwMode="auto">
          <a:xfrm>
            <a:off x="684238" y="5300887"/>
            <a:ext cx="5112246" cy="79139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 anchor="ctr"/>
          <a:lstStyle/>
          <a:p>
            <a:pPr algn="ctr" defTabSz="914145"/>
            <a:r>
              <a:rPr lang="pt-BR" b="1" dirty="0">
                <a:solidFill>
                  <a:schemeClr val="bg1"/>
                </a:solidFill>
                <a:latin typeface="Arial" charset="0"/>
              </a:rPr>
              <a:t>E quais indicadores dizem quando você está chegando lá ou não?</a:t>
            </a:r>
          </a:p>
        </p:txBody>
      </p:sp>
      <p:sp>
        <p:nvSpPr>
          <p:cNvPr id="40" name="TextBox 2"/>
          <p:cNvSpPr txBox="1"/>
          <p:nvPr/>
        </p:nvSpPr>
        <p:spPr>
          <a:xfrm>
            <a:off x="395536" y="332656"/>
            <a:ext cx="8771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2"/>
                </a:solidFill>
              </a:rPr>
              <a:t>Foco </a:t>
            </a:r>
            <a:r>
              <a:rPr lang="pt-BR" sz="4000" dirty="0">
                <a:solidFill>
                  <a:schemeClr val="tx2"/>
                </a:solidFill>
              </a:rPr>
              <a:t>nos indicadores de </a:t>
            </a:r>
            <a:r>
              <a:rPr lang="pt-BR" sz="4000" dirty="0" smtClean="0">
                <a:solidFill>
                  <a:schemeClr val="tx2"/>
                </a:solidFill>
              </a:rPr>
              <a:t>performance</a:t>
            </a:r>
            <a:endParaRPr lang="pt-BR" sz="4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1810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7891" y="1303734"/>
            <a:ext cx="8608219" cy="5113363"/>
          </a:xfrm>
          <a:prstGeom prst="rect">
            <a:avLst/>
          </a:prstGeom>
        </p:spPr>
        <p:txBody>
          <a:bodyPr/>
          <a:lstStyle/>
          <a:p>
            <a:r>
              <a:rPr lang="pt-BR" sz="1800" dirty="0"/>
              <a:t>Oficina de </a:t>
            </a:r>
            <a:r>
              <a:rPr lang="pt-BR" sz="1800" dirty="0" err="1"/>
              <a:t>KPIs</a:t>
            </a:r>
            <a:endParaRPr lang="pt-BR" sz="1800" dirty="0"/>
          </a:p>
          <a:p>
            <a:pPr lvl="1"/>
            <a:r>
              <a:rPr lang="pt-BR" sz="1800" dirty="0"/>
              <a:t>Para cada objetivo e cenário existem conjuntos de indicadores que </a:t>
            </a:r>
            <a:r>
              <a:rPr lang="pt-BR" sz="1800" dirty="0">
                <a:solidFill>
                  <a:schemeClr val="accent1"/>
                </a:solidFill>
              </a:rPr>
              <a:t>resumem rapidamente o cumprimento ou não das metas</a:t>
            </a:r>
          </a:p>
          <a:p>
            <a:pPr lvl="1"/>
            <a:endParaRPr lang="pt-BR" sz="1800" dirty="0"/>
          </a:p>
          <a:p>
            <a:pPr lvl="1"/>
            <a:r>
              <a:rPr lang="pt-BR" sz="1800" dirty="0" err="1" smtClean="0">
                <a:solidFill>
                  <a:schemeClr val="accent1"/>
                </a:solidFill>
              </a:rPr>
              <a:t>KPIs</a:t>
            </a:r>
            <a:r>
              <a:rPr lang="pt-BR" sz="1800" dirty="0" smtClean="0">
                <a:solidFill>
                  <a:schemeClr val="accent1"/>
                </a:solidFill>
              </a:rPr>
              <a:t> </a:t>
            </a:r>
            <a:r>
              <a:rPr lang="pt-BR" sz="1800" dirty="0">
                <a:solidFill>
                  <a:schemeClr val="accent1"/>
                </a:solidFill>
              </a:rPr>
              <a:t>são índices ou taxas calculadas que correlacionam 2 ou mais valores</a:t>
            </a:r>
          </a:p>
          <a:p>
            <a:pPr lvl="1"/>
            <a:endParaRPr lang="pt-BR" sz="1800" dirty="0"/>
          </a:p>
          <a:p>
            <a:pPr lvl="1"/>
            <a:r>
              <a:rPr lang="pt-BR" sz="1800" dirty="0"/>
              <a:t>Procure aplicar </a:t>
            </a:r>
            <a:r>
              <a:rPr lang="pt-BR" sz="1800" b="1" dirty="0">
                <a:solidFill>
                  <a:schemeClr val="accent1"/>
                </a:solidFill>
              </a:rPr>
              <a:t>medidas financeiras</a:t>
            </a:r>
            <a:r>
              <a:rPr lang="pt-BR" sz="1800" dirty="0"/>
              <a:t> para identificar o real valor de cada métrica</a:t>
            </a:r>
          </a:p>
          <a:p>
            <a:pPr marL="914213" lvl="2" indent="0">
              <a:buNone/>
            </a:pPr>
            <a:endParaRPr lang="pt-BR" sz="1800" dirty="0"/>
          </a:p>
          <a:p>
            <a:pPr lvl="1"/>
            <a:r>
              <a:rPr lang="pt-BR" sz="1800" b="1" dirty="0">
                <a:solidFill>
                  <a:schemeClr val="accent1"/>
                </a:solidFill>
              </a:rPr>
              <a:t>Teste, simule e discuta</a:t>
            </a:r>
          </a:p>
          <a:p>
            <a:pPr lvl="2"/>
            <a:r>
              <a:rPr lang="pt-BR" sz="1800" dirty="0"/>
              <a:t>Um indicador pode ser falho e não ter sido posto à prova suficientemente</a:t>
            </a:r>
          </a:p>
          <a:p>
            <a:endParaRPr lang="pt-BR" sz="1400" dirty="0"/>
          </a:p>
        </p:txBody>
      </p:sp>
      <p:sp>
        <p:nvSpPr>
          <p:cNvPr id="11" name="TextBox 2"/>
          <p:cNvSpPr txBox="1"/>
          <p:nvPr/>
        </p:nvSpPr>
        <p:spPr>
          <a:xfrm>
            <a:off x="395536" y="332656"/>
            <a:ext cx="8771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2"/>
                </a:solidFill>
              </a:rPr>
              <a:t>Foco </a:t>
            </a:r>
            <a:r>
              <a:rPr lang="pt-BR" sz="4000" dirty="0">
                <a:solidFill>
                  <a:schemeClr val="tx2"/>
                </a:solidFill>
              </a:rPr>
              <a:t>nos indicadores de </a:t>
            </a:r>
            <a:r>
              <a:rPr lang="pt-BR" sz="4000" dirty="0" smtClean="0">
                <a:solidFill>
                  <a:schemeClr val="tx2"/>
                </a:solidFill>
              </a:rPr>
              <a:t>performance</a:t>
            </a:r>
            <a:endParaRPr lang="pt-BR" sz="4000" b="1" dirty="0">
              <a:solidFill>
                <a:schemeClr val="tx2"/>
              </a:solidFill>
            </a:endParaRPr>
          </a:p>
        </p:txBody>
      </p:sp>
      <p:pic>
        <p:nvPicPr>
          <p:cNvPr id="12" name="Picture 2" descr="http://www.gosslercashforcars.com/images/cash-money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79655" y="4293096"/>
            <a:ext cx="1152128" cy="1050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10693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07903" y="2507412"/>
            <a:ext cx="5040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FBAC3E"/>
                </a:solidFill>
              </a:rPr>
              <a:t>Defina os KPIs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-&gt; CPC, CTR e Visitas não são bons indicadores de sucesso de uma campanha. #searchevendas</a:t>
            </a:r>
            <a:endParaRPr lang="pt-BR" sz="2400" b="1" dirty="0">
              <a:solidFill>
                <a:srgbClr val="FBAC3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5976" y="704890"/>
            <a:ext cx="4543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Frases do Twitter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46" name="Picture 2" descr="http://www.converstations.com/wp-content/uploads/2011/10/twitter-icon-1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2776"/>
            <a:ext cx="360040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445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4.bp.blogspot.com/-V2bQkkqyUos/TxyF6Ro1q9I/AAAAAAAAIWk/3G0EFwpvCSc/s1600/Internetlab_lup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53544" y="1042391"/>
            <a:ext cx="5338936" cy="5338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/>
          <p:cNvSpPr/>
          <p:nvPr/>
        </p:nvSpPr>
        <p:spPr>
          <a:xfrm>
            <a:off x="5345886" y="4941168"/>
            <a:ext cx="1440160" cy="136815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CPA</a:t>
            </a:r>
            <a:endParaRPr lang="pt-BR" dirty="0"/>
          </a:p>
        </p:txBody>
      </p:sp>
      <p:sp>
        <p:nvSpPr>
          <p:cNvPr id="12" name="TextBox 11"/>
          <p:cNvSpPr txBox="1"/>
          <p:nvPr/>
        </p:nvSpPr>
        <p:spPr>
          <a:xfrm>
            <a:off x="3381069" y="704890"/>
            <a:ext cx="56444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pt-B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Métricas de Receita</a:t>
            </a:r>
            <a:endParaRPr lang="pt-BR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3707904" y="4581128"/>
            <a:ext cx="1440160" cy="136815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Margem</a:t>
            </a:r>
            <a:endParaRPr lang="pt-BR" dirty="0"/>
          </a:p>
        </p:txBody>
      </p:sp>
      <p:sp>
        <p:nvSpPr>
          <p:cNvPr id="18" name="Oval 17"/>
          <p:cNvSpPr/>
          <p:nvPr/>
        </p:nvSpPr>
        <p:spPr>
          <a:xfrm>
            <a:off x="2483768" y="3573016"/>
            <a:ext cx="1440160" cy="136815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ROI</a:t>
            </a:r>
            <a:endParaRPr lang="pt-BR" dirty="0"/>
          </a:p>
        </p:txBody>
      </p:sp>
      <p:sp>
        <p:nvSpPr>
          <p:cNvPr id="19" name="Oval 18"/>
          <p:cNvSpPr/>
          <p:nvPr/>
        </p:nvSpPr>
        <p:spPr>
          <a:xfrm>
            <a:off x="2195736" y="2060848"/>
            <a:ext cx="1440160" cy="136815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Saving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351535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07903" y="2507412"/>
            <a:ext cx="5040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 smtClean="0">
                <a:solidFill>
                  <a:srgbClr val="FBAC3E"/>
                </a:solidFill>
              </a:rPr>
              <a:t>Definir as Métricas de Receita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é o primeiro passo para se obter sucesso em Search #searchevendas</a:t>
            </a:r>
            <a:endParaRPr lang="pt-BR" sz="2400" b="1" dirty="0">
              <a:solidFill>
                <a:srgbClr val="FBAC3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5976" y="704890"/>
            <a:ext cx="4543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Frases do Twitter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46" name="Picture 2" descr="http://www.converstations.com/wp-content/uploads/2011/10/twitter-icon-1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2776"/>
            <a:ext cx="360040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4826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70561" y="704890"/>
            <a:ext cx="56717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3# Foco em Resultados</a:t>
            </a:r>
            <a:endParaRPr lang="pt-BR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http://www.faroldenoticias.com.br/site/wp-content/uploads/2011/08/lupa-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401" y="2924944"/>
            <a:ext cx="5701701" cy="341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9609" y="2267580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Cliques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84069" y="2511113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CPC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70352" y="1902224"/>
            <a:ext cx="2244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Indice de Qualidade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5633" y="2699628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CTR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3907" y="2564904"/>
            <a:ext cx="1618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Posição Média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5553" y="3059668"/>
            <a:ext cx="219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Perda de Impressão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76056" y="2780928"/>
            <a:ext cx="2155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Visitas qualificadas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73380" y="3140968"/>
            <a:ext cx="147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Bounce Rate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905228" y="3563724"/>
            <a:ext cx="209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Taxa de Conversão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700383" y="2468620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Conversão por Dia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29901" y="4005064"/>
            <a:ext cx="220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Conversão por Hora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868144" y="4427820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Conversão por Cidade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004048" y="2060848"/>
            <a:ext cx="21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Funil de Conversão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506075" y="4941168"/>
            <a:ext cx="137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Entry Pages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087556" y="4941168"/>
            <a:ext cx="1223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Exit Pages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72200" y="5445224"/>
            <a:ext cx="236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Multi Channel Funnel</a:t>
            </a:r>
            <a:endParaRPr lang="pt-BR" dirty="0">
              <a:solidFill>
                <a:srgbClr val="FBAC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8705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lipse 23"/>
          <p:cNvSpPr/>
          <p:nvPr/>
        </p:nvSpPr>
        <p:spPr>
          <a:xfrm rot="21381719">
            <a:off x="-146738" y="1362091"/>
            <a:ext cx="3374811" cy="2509941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 rot="19468343">
            <a:off x="4661156" y="1241537"/>
            <a:ext cx="4522851" cy="512697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"/>
          <p:cNvSpPr txBox="1"/>
          <p:nvPr/>
        </p:nvSpPr>
        <p:spPr>
          <a:xfrm>
            <a:off x="3748869" y="704890"/>
            <a:ext cx="52934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Lembrando do Funil !</a:t>
            </a:r>
            <a:endParaRPr lang="pt-BR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9609" y="2267580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Cliques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84069" y="2511113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CPC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70352" y="1902224"/>
            <a:ext cx="2244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Indice de Qualidade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5633" y="2699628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CTR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3907" y="2564904"/>
            <a:ext cx="1618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Posição Média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5553" y="3059668"/>
            <a:ext cx="219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Perda de Impressão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76056" y="2780928"/>
            <a:ext cx="2155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Visitas qualificadas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73380" y="3140968"/>
            <a:ext cx="147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Bounce Rate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905228" y="3563724"/>
            <a:ext cx="209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Taxa de Conversão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700383" y="2468620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Conversão por Dia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29901" y="4005064"/>
            <a:ext cx="220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Conversão por Hora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868144" y="4427820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Conversão por Cidade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004048" y="2060848"/>
            <a:ext cx="21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Funil de Conversão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506075" y="4941168"/>
            <a:ext cx="137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Entry Pages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087556" y="4941168"/>
            <a:ext cx="1223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Exit Pages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72200" y="5445224"/>
            <a:ext cx="236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Multi Channel Funnel</a:t>
            </a:r>
            <a:endParaRPr lang="pt-BR" dirty="0">
              <a:solidFill>
                <a:srgbClr val="FBAC3E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9496" y="3580274"/>
            <a:ext cx="4524551" cy="290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13493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07903" y="2507412"/>
            <a:ext cx="5040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 smtClean="0">
                <a:solidFill>
                  <a:srgbClr val="FBAC3E"/>
                </a:solidFill>
              </a:rPr>
              <a:t>Analise o pós clique 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aumente a taxa de conversão da sua campanha! #searchevendas</a:t>
            </a:r>
            <a:endParaRPr lang="pt-BR" sz="2400" b="1" dirty="0">
              <a:solidFill>
                <a:srgbClr val="FBAC3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5976" y="704890"/>
            <a:ext cx="4543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Frases do Twitter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46" name="Picture 2" descr="http://www.converstations.com/wp-content/uploads/2011/10/twitter-icon-1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2776"/>
            <a:ext cx="360040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6239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95357" y="704890"/>
            <a:ext cx="52469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4# Integre PPC e SEO</a:t>
            </a:r>
            <a:endParaRPr lang="pt-BR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ttp://ngerumpi.com/images/medium/lup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233240"/>
            <a:ext cx="4896544" cy="400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35496" y="2132856"/>
            <a:ext cx="5328717" cy="2592288"/>
          </a:xfrm>
          <a:prstGeom prst="rect">
            <a:avLst/>
          </a:prstGeom>
        </p:spPr>
        <p:txBody>
          <a:bodyPr/>
          <a:lstStyle/>
          <a:p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Estudo de Kws integrado </a:t>
            </a:r>
          </a:p>
          <a:p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Quais páginas trabalhar em SEO e PPC</a:t>
            </a:r>
          </a:p>
          <a:p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Estratégia Única</a:t>
            </a:r>
          </a:p>
          <a:p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Resultado Macro</a:t>
            </a:r>
          </a:p>
          <a:p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Mais Economia</a:t>
            </a:r>
          </a:p>
          <a:p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Mais Receita</a:t>
            </a:r>
          </a:p>
          <a:p>
            <a:pPr marL="0" indent="0">
              <a:buNone/>
            </a:pPr>
            <a:endParaRPr lang="pt-BR" sz="20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618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07903" y="2507412"/>
            <a:ext cx="5040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 smtClean="0">
                <a:solidFill>
                  <a:srgbClr val="FBAC3E"/>
                </a:solidFill>
              </a:rPr>
              <a:t>PPC não concorre com SEO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-&gt; Integre suas estratégias e aumente seus resultados em Search  #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earchevendas</a:t>
            </a:r>
            <a:endParaRPr lang="pt-BR" sz="2400" b="1" dirty="0">
              <a:solidFill>
                <a:srgbClr val="FBAC3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5976" y="704890"/>
            <a:ext cx="4543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Frases do Twitter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46" name="Picture 2" descr="http://www.converstations.com/wp-content/uploads/2011/10/twitter-icon-1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2776"/>
            <a:ext cx="360040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26357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://comprar.ai/wp-content/uploads/2009/08/notebook-HP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731737"/>
            <a:ext cx="2354728" cy="200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753405" y="704890"/>
            <a:ext cx="6288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5# Estratégia Cross Media</a:t>
            </a:r>
            <a:endParaRPr lang="pt-BR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97587" y="1918573"/>
            <a:ext cx="4366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smtClean="0">
                <a:solidFill>
                  <a:srgbClr val="FBAC3E"/>
                </a:solidFill>
              </a:rPr>
              <a:t>Tudo gera Buscas!!!</a:t>
            </a:r>
            <a:endParaRPr lang="pt-BR" sz="3600" b="1" dirty="0">
              <a:solidFill>
                <a:srgbClr val="FBAC3E"/>
              </a:solidFill>
            </a:endParaRPr>
          </a:p>
        </p:txBody>
      </p:sp>
      <p:sp>
        <p:nvSpPr>
          <p:cNvPr id="4" name="Divisa 3"/>
          <p:cNvSpPr/>
          <p:nvPr/>
        </p:nvSpPr>
        <p:spPr>
          <a:xfrm>
            <a:off x="323528" y="5589240"/>
            <a:ext cx="2664296" cy="648072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TV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0" name="Divisa 9"/>
          <p:cNvSpPr/>
          <p:nvPr/>
        </p:nvSpPr>
        <p:spPr>
          <a:xfrm>
            <a:off x="3347864" y="5589240"/>
            <a:ext cx="2664296" cy="648072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SOCIAL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1" name="Divisa 10"/>
          <p:cNvSpPr/>
          <p:nvPr/>
        </p:nvSpPr>
        <p:spPr>
          <a:xfrm>
            <a:off x="6372200" y="5589240"/>
            <a:ext cx="2664296" cy="648072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SEARCH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8196" name="Picture 4" descr="http://understech.files.wordpress.com/2012/01/smartpad-tablet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933663"/>
            <a:ext cx="1331945" cy="102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https://encrypted-tbn1.google.com/images?q=tbn:ANd9GcTIuIssT4E8afvEHpkLc14Q3_5PprNCKBDjl4hh3JJKWuoAa2Q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69295" y="2658656"/>
            <a:ext cx="1376579" cy="107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http://3.bp.blogspot.com/-MSGAZQLeVJ4/T2nLux2OYpI/AAAAAAAAAfQ/kYCSTBcxPo4/s1600/tvf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8889" y="2636912"/>
            <a:ext cx="2602197" cy="280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5594" r="13454"/>
          <a:stretch/>
        </p:blipFill>
        <p:spPr>
          <a:xfrm>
            <a:off x="312996" y="3863792"/>
            <a:ext cx="1620466" cy="128120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30918"/>
          <a:stretch/>
        </p:blipFill>
        <p:spPr>
          <a:xfrm>
            <a:off x="6300192" y="3071376"/>
            <a:ext cx="2743226" cy="883651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41321" t="64184" r="6774"/>
          <a:stretch/>
        </p:blipFill>
        <p:spPr>
          <a:xfrm>
            <a:off x="6267341" y="4144617"/>
            <a:ext cx="2868578" cy="1292365"/>
          </a:xfrm>
          <a:prstGeom prst="rect">
            <a:avLst/>
          </a:prstGeom>
        </p:spPr>
      </p:pic>
      <p:pic>
        <p:nvPicPr>
          <p:cNvPr id="8204" name="Picture 12" descr="luiza_canada_619.jpg (619×464)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0052" y="178969"/>
            <a:ext cx="2579869" cy="193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http://1.bp.blogspot.com/_hM2nbll-sng/TJOUhJNLl2I/AAAAAAAAEho/LLsiDla0qTw/s1600/Bandeira+do+Canad%C3%A1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37946" y="1412776"/>
            <a:ext cx="1541966" cy="102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9738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07903" y="1772816"/>
            <a:ext cx="504056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chemeClr val="accent1"/>
                </a:solidFill>
              </a:rPr>
              <a:t>Mídias </a:t>
            </a:r>
            <a:r>
              <a:rPr lang="pt-BR" sz="2400" dirty="0">
                <a:solidFill>
                  <a:schemeClr val="accent1"/>
                </a:solidFill>
              </a:rPr>
              <a:t>se </a:t>
            </a:r>
            <a:r>
              <a:rPr lang="pt-BR" sz="2400" dirty="0" smtClean="0">
                <a:solidFill>
                  <a:schemeClr val="accent1"/>
                </a:solidFill>
              </a:rPr>
              <a:t>conversam! 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-&gt;</a:t>
            </a:r>
            <a:r>
              <a:rPr lang="pt-BR" sz="2400" dirty="0" smtClean="0">
                <a:solidFill>
                  <a:schemeClr val="accent1"/>
                </a:solidFill>
              </a:rPr>
              <a:t>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Sua campanha digital 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deve ter comunicação alinhada com outras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mídias #</a:t>
            </a:r>
            <a:r>
              <a:rPr lang="pt-BR" sz="24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searchevendas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400" dirty="0" smtClean="0">
                <a:solidFill>
                  <a:schemeClr val="accent1"/>
                </a:solidFill>
              </a:rPr>
              <a:t>Aproveite as oportunidades criadas com mídias </a:t>
            </a:r>
            <a:r>
              <a:rPr lang="pt-BR" sz="2400" dirty="0" err="1" smtClean="0">
                <a:solidFill>
                  <a:schemeClr val="accent1"/>
                </a:solidFill>
              </a:rPr>
              <a:t>offline</a:t>
            </a:r>
            <a:r>
              <a:rPr lang="pt-BR" sz="2400" dirty="0" smtClean="0">
                <a:solidFill>
                  <a:schemeClr val="accent1"/>
                </a:solidFill>
              </a:rPr>
              <a:t>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-&gt; Uma 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campanha pode aumentar as buscas por determinadas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palavras #</a:t>
            </a:r>
            <a:r>
              <a:rPr lang="pt-BR" sz="24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searchevendas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5976" y="704890"/>
            <a:ext cx="4543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Frases do Twitter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46" name="Picture 2" descr="http://www.converstations.com/wp-content/uploads/2011/10/twitter-icon-1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2776"/>
            <a:ext cx="360040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9325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91573" y="548680"/>
            <a:ext cx="52507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6# Analise o Mercado</a:t>
            </a:r>
            <a:endParaRPr lang="pt-BR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76548"/>
            <a:ext cx="5713664" cy="4904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 descr="http://www.wilsonweb.com/wmt14/images/google-insights_150x55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51665" y="2204864"/>
            <a:ext cx="2042150" cy="74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02322" y="3385700"/>
            <a:ext cx="2162101" cy="30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491" b="4276"/>
          <a:stretch>
            <a:fillRect/>
          </a:stretch>
        </p:blipFill>
        <p:spPr bwMode="auto">
          <a:xfrm>
            <a:off x="6732240" y="3961764"/>
            <a:ext cx="1510969" cy="64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" descr="http://www.bizreport.com/2010/07/26/experianhitwise/experianhitwise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76257" y="4897868"/>
            <a:ext cx="1224136" cy="48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862553" y="4188933"/>
            <a:ext cx="1008112" cy="320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755576" y="5392162"/>
            <a:ext cx="5472608" cy="5839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1ª posição não necessariamente traz mais cliques</a:t>
            </a:r>
          </a:p>
        </p:txBody>
      </p:sp>
    </p:spTree>
    <p:extLst>
      <p:ext uri="{BB962C8B-B14F-4D97-AF65-F5344CB8AC3E}">
        <p14:creationId xmlns:p14="http://schemas.microsoft.com/office/powerpoint/2010/main" xmlns="" val="29243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07903" y="2507412"/>
            <a:ext cx="5040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 smtClean="0">
                <a:solidFill>
                  <a:srgbClr val="FBAC3E"/>
                </a:solidFill>
              </a:rPr>
              <a:t>Analisar as Tendências do Mercado e Concorrentes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é imprescindível para se obter sucesso em Search #searchevendas</a:t>
            </a:r>
            <a:endParaRPr lang="pt-BR" sz="2400" b="1" dirty="0">
              <a:solidFill>
                <a:srgbClr val="FBAC3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5976" y="704890"/>
            <a:ext cx="4543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Frases do Twitter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46" name="Picture 2" descr="http://www.converstations.com/wp-content/uploads/2011/10/twitter-icon-1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2776"/>
            <a:ext cx="360040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8408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adamsavage.com/images/pix/mythbuster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2375" y="1526912"/>
            <a:ext cx="8136904" cy="4577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140899" y="704890"/>
            <a:ext cx="57583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Os mitos de campanhas!</a:t>
            </a:r>
            <a:endParaRPr lang="pt-BR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4581"/>
          <a:stretch/>
        </p:blipFill>
        <p:spPr>
          <a:xfrm>
            <a:off x="5237373" y="2179671"/>
            <a:ext cx="1534976" cy="145229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7843" t="100" r="2648" b="11694"/>
          <a:stretch/>
        </p:blipFill>
        <p:spPr>
          <a:xfrm rot="1200076">
            <a:off x="2404125" y="1971634"/>
            <a:ext cx="1649550" cy="170500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xmlns="" val="416290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971600" y="548680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campanha teve CTR de 40</a:t>
            </a:r>
            <a:r>
              <a:rPr lang="pt-BR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%!</a:t>
            </a:r>
            <a:endParaRPr lang="pt-BR" sz="28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03748" y="2715855"/>
            <a:ext cx="5040560" cy="3775497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3059832" y="3475250"/>
            <a:ext cx="1368152" cy="5760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251520" y="1412776"/>
            <a:ext cx="311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Que palavras você comprou?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71506" y="2060848"/>
            <a:ext cx="269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Como eram os anúncios?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588224" y="1271358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Qual foi o ROI ?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399964" y="1876639"/>
            <a:ext cx="437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Dada a sua margem o resultado foi bom?</a:t>
            </a:r>
          </a:p>
        </p:txBody>
      </p:sp>
    </p:spTree>
    <p:extLst>
      <p:ext uri="{BB962C8B-B14F-4D97-AF65-F5344CB8AC3E}">
        <p14:creationId xmlns:p14="http://schemas.microsoft.com/office/powerpoint/2010/main" xmlns="" val="166830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/>
      <p:bldP spid="9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251520" y="548680"/>
            <a:ext cx="88569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Conseguimos </a:t>
            </a:r>
            <a:r>
              <a:rPr lang="pt-BR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mais de 5 mil visitas por dia!</a:t>
            </a:r>
          </a:p>
          <a:p>
            <a:pPr algn="r"/>
            <a:endParaRPr lang="pt-BR" sz="28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03748" y="2715855"/>
            <a:ext cx="5040560" cy="3775497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5004048" y="4051314"/>
            <a:ext cx="576064" cy="13939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251520" y="1412776"/>
            <a:ext cx="170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Com qual CPV?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347864" y="1876182"/>
            <a:ext cx="2443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 a taxa de conversão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588224" y="1271358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Qual foi o ROI ?</a:t>
            </a:r>
          </a:p>
        </p:txBody>
      </p:sp>
    </p:spTree>
    <p:extLst>
      <p:ext uri="{BB962C8B-B14F-4D97-AF65-F5344CB8AC3E}">
        <p14:creationId xmlns:p14="http://schemas.microsoft.com/office/powerpoint/2010/main" xmlns="" val="411852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251520" y="548680"/>
            <a:ext cx="8856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Estou sempre na primeira posição</a:t>
            </a:r>
            <a:r>
              <a:rPr lang="pt-BR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!</a:t>
            </a:r>
            <a:endParaRPr lang="pt-B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03748" y="2715855"/>
            <a:ext cx="5040560" cy="3775497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3059832" y="3906648"/>
            <a:ext cx="576064" cy="16825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1058959" y="1412776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 daí?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347864" y="1876182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 daí?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588224" y="1271358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 daí?</a:t>
            </a:r>
          </a:p>
        </p:txBody>
      </p:sp>
      <p:pic>
        <p:nvPicPr>
          <p:cNvPr id="1026" name="Picture 2" descr="http://the-tech-guy.net/wp-content/uploads/genius-mem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24328" y="2060848"/>
            <a:ext cx="1441378" cy="1109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55783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251520" y="548680"/>
            <a:ext cx="8856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Diminuí duas vezes o CPA!!!</a:t>
            </a:r>
            <a:endParaRPr lang="pt-B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03748" y="2715855"/>
            <a:ext cx="5040560" cy="3775497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 flipH="1" flipV="1">
            <a:off x="5940151" y="5589240"/>
            <a:ext cx="718225" cy="720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1058959" y="1412776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Opa! Legal.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2987824" y="2051556"/>
            <a:ext cx="4940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 o volume de conversões? Conseguiu manter?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588224" y="1271358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Qual o ROI?</a:t>
            </a:r>
          </a:p>
        </p:txBody>
      </p:sp>
    </p:spTree>
    <p:extLst>
      <p:ext uri="{BB962C8B-B14F-4D97-AF65-F5344CB8AC3E}">
        <p14:creationId xmlns:p14="http://schemas.microsoft.com/office/powerpoint/2010/main" xmlns="" val="8373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27163" y="4638785"/>
            <a:ext cx="3529013" cy="1526519"/>
          </a:xfrm>
        </p:spPr>
        <p:txBody>
          <a:bodyPr/>
          <a:lstStyle/>
          <a:p>
            <a:r>
              <a:rPr lang="en-US" dirty="0" smtClean="0"/>
              <a:t>André </a:t>
            </a:r>
            <a:r>
              <a:rPr lang="en-US" dirty="0" err="1" smtClean="0"/>
              <a:t>Folli</a:t>
            </a:r>
            <a:endParaRPr lang="en-US" dirty="0" smtClean="0"/>
          </a:p>
          <a:p>
            <a:r>
              <a:rPr lang="en-US" dirty="0" smtClean="0"/>
              <a:t>@</a:t>
            </a:r>
            <a:r>
              <a:rPr lang="en-US" dirty="0" err="1" smtClean="0"/>
              <a:t>folli</a:t>
            </a:r>
            <a:endParaRPr lang="en-US" dirty="0" smtClean="0"/>
          </a:p>
          <a:p>
            <a:r>
              <a:rPr lang="en-US" dirty="0">
                <a:hlinkClick r:id="rId2"/>
              </a:rPr>
              <a:t>a</a:t>
            </a:r>
            <a:r>
              <a:rPr lang="en-US" dirty="0" smtClean="0">
                <a:hlinkClick r:id="rId2"/>
              </a:rPr>
              <a:t>ndre.folli@dp6.com.br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www.dp6.com.br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961197" y="253097"/>
            <a:ext cx="31229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 smtClean="0">
                <a:solidFill>
                  <a:schemeClr val="bg1"/>
                </a:solidFill>
              </a:rPr>
              <a:t>OBRIGADO!</a:t>
            </a:r>
            <a:endParaRPr lang="pt-BR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DP6">
      <a:dk1>
        <a:srgbClr val="000000"/>
      </a:dk1>
      <a:lt1>
        <a:srgbClr val="FFFFFF"/>
      </a:lt1>
      <a:dk2>
        <a:srgbClr val="5C636C"/>
      </a:dk2>
      <a:lt2>
        <a:srgbClr val="A7A9AD"/>
      </a:lt2>
      <a:accent1>
        <a:srgbClr val="FBAC3E"/>
      </a:accent1>
      <a:accent2>
        <a:srgbClr val="1DA1D9"/>
      </a:accent2>
      <a:accent3>
        <a:srgbClr val="89C43E"/>
      </a:accent3>
      <a:accent4>
        <a:srgbClr val="D77D2F"/>
      </a:accent4>
      <a:accent5>
        <a:srgbClr val="0A74B9"/>
      </a:accent5>
      <a:accent6>
        <a:srgbClr val="109644"/>
      </a:accent6>
      <a:hlink>
        <a:srgbClr val="5C636C"/>
      </a:hlink>
      <a:folHlink>
        <a:srgbClr val="A7A9AD"/>
      </a:folHlink>
    </a:clrScheme>
    <a:fontScheme name="DP6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7_Tema do Office">
  <a:themeElements>
    <a:clrScheme name="DP6">
      <a:dk1>
        <a:srgbClr val="000000"/>
      </a:dk1>
      <a:lt1>
        <a:srgbClr val="FFFFFF"/>
      </a:lt1>
      <a:dk2>
        <a:srgbClr val="5C636C"/>
      </a:dk2>
      <a:lt2>
        <a:srgbClr val="A7A9AD"/>
      </a:lt2>
      <a:accent1>
        <a:srgbClr val="FBAC3E"/>
      </a:accent1>
      <a:accent2>
        <a:srgbClr val="1DA1D9"/>
      </a:accent2>
      <a:accent3>
        <a:srgbClr val="89C43E"/>
      </a:accent3>
      <a:accent4>
        <a:srgbClr val="D77D2F"/>
      </a:accent4>
      <a:accent5>
        <a:srgbClr val="0A74B9"/>
      </a:accent5>
      <a:accent6>
        <a:srgbClr val="109644"/>
      </a:accent6>
      <a:hlink>
        <a:srgbClr val="5C636C"/>
      </a:hlink>
      <a:folHlink>
        <a:srgbClr val="A7A9AD"/>
      </a:folHlink>
    </a:clrScheme>
    <a:fontScheme name="DP6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irectPerformance-TequilaSunrise 13">
    <a:dk1>
      <a:srgbClr val="939598"/>
    </a:dk1>
    <a:lt1>
      <a:srgbClr val="FFFFFF"/>
    </a:lt1>
    <a:dk2>
      <a:srgbClr val="F8F8F8"/>
    </a:dk2>
    <a:lt2>
      <a:srgbClr val="E0D7C8"/>
    </a:lt2>
    <a:accent1>
      <a:srgbClr val="F99D1E"/>
    </a:accent1>
    <a:accent2>
      <a:srgbClr val="E7702C"/>
    </a:accent2>
    <a:accent3>
      <a:srgbClr val="FFFFFF"/>
    </a:accent3>
    <a:accent4>
      <a:srgbClr val="7D7E81"/>
    </a:accent4>
    <a:accent5>
      <a:srgbClr val="FBCCAB"/>
    </a:accent5>
    <a:accent6>
      <a:srgbClr val="D16527"/>
    </a:accent6>
    <a:hlink>
      <a:srgbClr val="A63412"/>
    </a:hlink>
    <a:folHlink>
      <a:srgbClr val="AB936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21882</TotalTime>
  <Words>660</Words>
  <Application>Microsoft Office PowerPoint</Application>
  <PresentationFormat>Apresentação na tela (4:3)</PresentationFormat>
  <Paragraphs>174</Paragraphs>
  <Slides>29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29</vt:i4>
      </vt:variant>
    </vt:vector>
  </HeadingPairs>
  <TitlesOfParts>
    <vt:vector size="31" baseType="lpstr">
      <vt:lpstr>Tema do Office</vt:lpstr>
      <vt:lpstr>7_Tema do Office</vt:lpstr>
      <vt:lpstr>SEARCH INTELLIGENCE  COMO ANALISAR RESULTADOS DE CAMPANHAS DE BUSCA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Lino</dc:creator>
  <cp:lastModifiedBy>gsf0</cp:lastModifiedBy>
  <cp:revision>213</cp:revision>
  <dcterms:created xsi:type="dcterms:W3CDTF">2011-10-21T15:07:42Z</dcterms:created>
  <dcterms:modified xsi:type="dcterms:W3CDTF">2012-05-17T14:59:10Z</dcterms:modified>
</cp:coreProperties>
</file>