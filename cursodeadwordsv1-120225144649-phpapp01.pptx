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94"/>
  </p:notesMasterIdLst>
  <p:sldIdLst>
    <p:sldId id="256" r:id="rId2"/>
    <p:sldId id="339" r:id="rId3"/>
    <p:sldId id="340" r:id="rId4"/>
    <p:sldId id="257" r:id="rId5"/>
    <p:sldId id="258" r:id="rId6"/>
    <p:sldId id="259" r:id="rId7"/>
    <p:sldId id="260" r:id="rId8"/>
    <p:sldId id="315" r:id="rId9"/>
    <p:sldId id="316" r:id="rId10"/>
    <p:sldId id="328" r:id="rId11"/>
    <p:sldId id="329" r:id="rId12"/>
    <p:sldId id="317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4" r:id="rId23"/>
    <p:sldId id="275" r:id="rId24"/>
    <p:sldId id="276" r:id="rId25"/>
    <p:sldId id="278" r:id="rId26"/>
    <p:sldId id="279" r:id="rId27"/>
    <p:sldId id="338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47" r:id="rId58"/>
    <p:sldId id="330" r:id="rId59"/>
    <p:sldId id="331" r:id="rId60"/>
    <p:sldId id="332" r:id="rId61"/>
    <p:sldId id="333" r:id="rId62"/>
    <p:sldId id="336" r:id="rId63"/>
    <p:sldId id="334" r:id="rId64"/>
    <p:sldId id="335" r:id="rId65"/>
    <p:sldId id="337" r:id="rId66"/>
    <p:sldId id="309" r:id="rId67"/>
    <p:sldId id="310" r:id="rId68"/>
    <p:sldId id="342" r:id="rId69"/>
    <p:sldId id="343" r:id="rId70"/>
    <p:sldId id="344" r:id="rId71"/>
    <p:sldId id="345" r:id="rId72"/>
    <p:sldId id="348" r:id="rId73"/>
    <p:sldId id="349" r:id="rId74"/>
    <p:sldId id="350" r:id="rId75"/>
    <p:sldId id="351" r:id="rId76"/>
    <p:sldId id="352" r:id="rId77"/>
    <p:sldId id="353" r:id="rId78"/>
    <p:sldId id="355" r:id="rId79"/>
    <p:sldId id="311" r:id="rId80"/>
    <p:sldId id="319" r:id="rId81"/>
    <p:sldId id="320" r:id="rId82"/>
    <p:sldId id="321" r:id="rId83"/>
    <p:sldId id="322" r:id="rId84"/>
    <p:sldId id="346" r:id="rId85"/>
    <p:sldId id="324" r:id="rId86"/>
    <p:sldId id="325" r:id="rId87"/>
    <p:sldId id="326" r:id="rId88"/>
    <p:sldId id="327" r:id="rId89"/>
    <p:sldId id="318" r:id="rId90"/>
    <p:sldId id="341" r:id="rId91"/>
    <p:sldId id="312" r:id="rId92"/>
    <p:sldId id="313" r:id="rId93"/>
  </p:sldIdLst>
  <p:sldSz cx="10080625" cy="7559675"/>
  <p:notesSz cx="7559675" cy="10691813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Gothic" pitchFamily="49" charset="-128"/>
        <a:cs typeface="+mn-cs"/>
      </a:defRPr>
    </a:lvl1pPr>
    <a:lvl2pPr marL="431800" indent="-215900" algn="l" defTabSz="44926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Gothic" pitchFamily="49" charset="-128"/>
        <a:cs typeface="+mn-cs"/>
      </a:defRPr>
    </a:lvl2pPr>
    <a:lvl3pPr marL="647700" indent="-215900" algn="l" defTabSz="44926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Gothic" pitchFamily="49" charset="-128"/>
        <a:cs typeface="+mn-cs"/>
      </a:defRPr>
    </a:lvl3pPr>
    <a:lvl4pPr marL="863600" indent="-215900" algn="l" defTabSz="44926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Gothic" pitchFamily="49" charset="-128"/>
        <a:cs typeface="+mn-cs"/>
      </a:defRPr>
    </a:lvl4pPr>
    <a:lvl5pPr marL="1079500" indent="-215900" algn="l" defTabSz="44926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Gothic" pitchFamily="49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Gothic" pitchFamily="49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Gothic" pitchFamily="49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Gothic" pitchFamily="49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Gothic" pitchFamily="49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FCCCC"/>
    <a:srgbClr val="D49292"/>
    <a:srgbClr val="0000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24" autoAdjust="0"/>
    <p:restoredTop sz="88172" autoAdjust="0"/>
  </p:normalViewPr>
  <p:slideViewPr>
    <p:cSldViewPr>
      <p:cViewPr>
        <p:scale>
          <a:sx n="130" d="100"/>
          <a:sy n="130" d="100"/>
        </p:scale>
        <p:origin x="54" y="1800"/>
      </p:cViewPr>
      <p:guideLst>
        <p:guide orient="horz" pos="2381"/>
        <p:guide pos="31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234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1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36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defRPr/>
            </a:pPr>
            <a:endParaRPr lang="pt-BR"/>
          </a:p>
        </p:txBody>
      </p:sp>
      <p:sp>
        <p:nvSpPr>
          <p:cNvPr id="3074" name="AutoShape 2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3425" cy="5318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hangingPunct="0">
              <a:lnSpc>
                <a:spcPct val="95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281488" y="0"/>
            <a:ext cx="3271837" cy="5318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hangingPunct="0">
              <a:lnSpc>
                <a:spcPct val="95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0902" name="Rectangle 5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60475" y="801688"/>
            <a:ext cx="5037138" cy="4006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sp>
      <p:sp>
        <p:nvSpPr>
          <p:cNvPr id="3078" name="Rectangle 6"/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5200" cy="48085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noProof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ftr"/>
          </p:nvPr>
        </p:nvSpPr>
        <p:spPr bwMode="auto">
          <a:xfrm>
            <a:off x="0" y="10155238"/>
            <a:ext cx="3273425" cy="531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hangingPunct="0">
              <a:lnSpc>
                <a:spcPct val="95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ldNum"/>
          </p:nvPr>
        </p:nvSpPr>
        <p:spPr bwMode="auto">
          <a:xfrm>
            <a:off x="4281488" y="10155238"/>
            <a:ext cx="3271837" cy="531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hangingPunct="0">
              <a:lnSpc>
                <a:spcPct val="95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fld id="{EAD09220-38F6-40E8-9641-0A83BCEB27DA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53706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8F7EFE79-217D-46A2-9CCF-2D7BBCB4F338}" type="slidenum">
              <a:rPr lang="en-GB" smtClean="0"/>
              <a:pPr/>
              <a:t>1</a:t>
            </a:fld>
            <a:endParaRPr lang="en-GB" smtClean="0"/>
          </a:p>
        </p:txBody>
      </p:sp>
      <p:sp>
        <p:nvSpPr>
          <p:cNvPr id="81923" name="Text Box 1"/>
          <p:cNvSpPr txBox="1">
            <a:spLocks noChangeArrowheads="1"/>
          </p:cNvSpPr>
          <p:nvPr/>
        </p:nvSpPr>
        <p:spPr bwMode="auto">
          <a:xfrm>
            <a:off x="1260475" y="801688"/>
            <a:ext cx="5038725" cy="40100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4287" tIns="52144" rIns="104287" bIns="52144" anchor="ctr"/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pt-BR"/>
          </a:p>
        </p:txBody>
      </p:sp>
      <p:sp>
        <p:nvSpPr>
          <p:cNvPr id="81924" name="Rectangle 2"/>
          <p:cNvSpPr>
            <a:spLocks noGrp="1" noChangeArrowheads="1"/>
          </p:cNvSpPr>
          <p:nvPr>
            <p:ph type="body"/>
          </p:nvPr>
        </p:nvSpPr>
        <p:spPr>
          <a:xfrm>
            <a:off x="755650" y="5078413"/>
            <a:ext cx="6046788" cy="4811712"/>
          </a:xfrm>
          <a:noFill/>
          <a:ln/>
        </p:spPr>
        <p:txBody>
          <a:bodyPr wrap="none" anchor="ctr"/>
          <a:lstStyle/>
          <a:p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744A322-08AF-4349-9FC8-5266E4BE2CE9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744A322-08AF-4349-9FC8-5266E4BE2CE9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744A322-08AF-4349-9FC8-5266E4BE2CE9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744A322-08AF-4349-9FC8-5266E4BE2CE9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9011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>
              <a:latin typeface="Times New Roman" pitchFamily="18" charset="0"/>
            </a:endParaRPr>
          </a:p>
        </p:txBody>
      </p:sp>
      <p:sp>
        <p:nvSpPr>
          <p:cNvPr id="90116" name="Espaço Reservado para Número de Slide 3"/>
          <p:cNvSpPr>
            <a:spLocks noGrp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F9FDAEB1-B01E-43EE-AEB6-560433FF2889}" type="slidenum">
              <a:rPr lang="en-GB" smtClean="0"/>
              <a:pPr/>
              <a:t>8</a:t>
            </a:fld>
            <a:endParaRPr lang="en-GB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91139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>
              <a:latin typeface="Times New Roman" pitchFamily="18" charset="0"/>
            </a:endParaRPr>
          </a:p>
        </p:txBody>
      </p:sp>
      <p:sp>
        <p:nvSpPr>
          <p:cNvPr id="91140" name="Espaço Reservado para Número de Slide 3"/>
          <p:cNvSpPr>
            <a:spLocks noGrp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B4A79E9A-EC9A-420D-AB4C-974EC80DF8AE}" type="slidenum">
              <a:rPr lang="en-GB" smtClean="0"/>
              <a:pPr/>
              <a:t>9</a:t>
            </a:fld>
            <a:endParaRPr lang="en-GB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108547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>
              <a:latin typeface="Times New Roman" pitchFamily="18" charset="0"/>
            </a:endParaRPr>
          </a:p>
        </p:txBody>
      </p:sp>
      <p:sp>
        <p:nvSpPr>
          <p:cNvPr id="108548" name="Espaço Reservado para Número de Slide 3"/>
          <p:cNvSpPr>
            <a:spLocks noGrp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3AAC33C-A1EE-48E2-9B5C-208820D2F43A}" type="slidenum">
              <a:rPr lang="en-GB" smtClean="0"/>
              <a:pPr/>
              <a:t>12</a:t>
            </a:fld>
            <a:endParaRPr lang="en-GB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109571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>
              <a:latin typeface="Times New Roman" pitchFamily="18" charset="0"/>
            </a:endParaRPr>
          </a:p>
        </p:txBody>
      </p:sp>
      <p:sp>
        <p:nvSpPr>
          <p:cNvPr id="109572" name="Espaço Reservado para Número de Slide 3"/>
          <p:cNvSpPr>
            <a:spLocks noGrp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9B8BE8BF-599D-4A11-A123-0E55F3372DB4}" type="slidenum">
              <a:rPr lang="en-GB" smtClean="0"/>
              <a:pPr/>
              <a:t>13</a:t>
            </a:fld>
            <a:endParaRPr lang="en-GB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1976F315-16CB-4010-A34B-37ACB395AE24}" type="slidenum">
              <a:rPr lang="en-GB" smtClean="0"/>
              <a:pPr/>
              <a:t>15</a:t>
            </a:fld>
            <a:endParaRPr lang="en-GB" smtClean="0"/>
          </a:p>
        </p:txBody>
      </p:sp>
      <p:sp>
        <p:nvSpPr>
          <p:cNvPr id="110595" name="Text Box 1"/>
          <p:cNvSpPr txBox="1">
            <a:spLocks noChangeArrowheads="1"/>
          </p:cNvSpPr>
          <p:nvPr/>
        </p:nvSpPr>
        <p:spPr bwMode="auto">
          <a:xfrm>
            <a:off x="1260475" y="801688"/>
            <a:ext cx="5038725" cy="40100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4287" tIns="52144" rIns="104287" bIns="52144" anchor="ctr"/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pt-BR"/>
          </a:p>
        </p:txBody>
      </p:sp>
      <p:sp>
        <p:nvSpPr>
          <p:cNvPr id="110596" name="Rectangle 2"/>
          <p:cNvSpPr>
            <a:spLocks noGrp="1" noChangeArrowheads="1"/>
          </p:cNvSpPr>
          <p:nvPr>
            <p:ph type="body"/>
          </p:nvPr>
        </p:nvSpPr>
        <p:spPr>
          <a:xfrm>
            <a:off x="755650" y="5078413"/>
            <a:ext cx="6046788" cy="4811712"/>
          </a:xfrm>
          <a:noFill/>
          <a:ln/>
        </p:spPr>
        <p:txBody>
          <a:bodyPr wrap="none" anchor="ctr"/>
          <a:lstStyle/>
          <a:p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16</a:t>
            </a:fld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18</a:t>
            </a:fld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744A322-08AF-4349-9FC8-5266E4BE2CE9}" type="slidenum">
              <a:rPr lang="en-GB" smtClean="0"/>
              <a:pPr>
                <a:defRPr/>
              </a:pPr>
              <a:t>19</a:t>
            </a:fld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744A322-08AF-4349-9FC8-5266E4BE2CE9}" type="slidenum">
              <a:rPr lang="en-GB" smtClean="0"/>
              <a:pPr>
                <a:defRPr/>
              </a:pPr>
              <a:t>20</a:t>
            </a:fld>
            <a:endParaRPr 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744A322-08AF-4349-9FC8-5266E4BE2CE9}" type="slidenum">
              <a:rPr lang="en-GB" smtClean="0"/>
              <a:pPr>
                <a:defRPr/>
              </a:pPr>
              <a:t>21</a:t>
            </a:fld>
            <a:endParaRPr 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744A322-08AF-4349-9FC8-5266E4BE2CE9}" type="slidenum">
              <a:rPr lang="en-GB" smtClean="0"/>
              <a:pPr>
                <a:defRPr/>
              </a:pPr>
              <a:t>22</a:t>
            </a:fld>
            <a:endParaRPr 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23</a:t>
            </a:fld>
            <a:endParaRPr 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24</a:t>
            </a:fld>
            <a:endParaRPr 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25</a:t>
            </a:fld>
            <a:endParaRPr lang="en-GB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744A322-08AF-4349-9FC8-5266E4BE2CE9}" type="slidenum">
              <a:rPr lang="en-GB" smtClean="0"/>
              <a:pPr>
                <a:defRPr/>
              </a:pPr>
              <a:t>26</a:t>
            </a:fld>
            <a:endParaRPr lang="en-GB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28</a:t>
            </a:fld>
            <a:endParaRPr lang="en-GB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29</a:t>
            </a:fld>
            <a:endParaRPr lang="en-GB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30</a:t>
            </a:fld>
            <a:endParaRPr lang="en-GB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31</a:t>
            </a:fld>
            <a:endParaRPr lang="en-GB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32</a:t>
            </a:fld>
            <a:endParaRPr lang="en-GB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C8DF7860-2D01-49C7-AEAD-296C4A43B9FF}" type="slidenum">
              <a:rPr lang="en-GB" smtClean="0"/>
              <a:pPr/>
              <a:t>33</a:t>
            </a:fld>
            <a:endParaRPr lang="en-GB" smtClean="0"/>
          </a:p>
        </p:txBody>
      </p:sp>
      <p:sp>
        <p:nvSpPr>
          <p:cNvPr id="103427" name="Text Box 1"/>
          <p:cNvSpPr txBox="1">
            <a:spLocks noChangeArrowheads="1"/>
          </p:cNvSpPr>
          <p:nvPr/>
        </p:nvSpPr>
        <p:spPr bwMode="auto">
          <a:xfrm>
            <a:off x="1258888" y="801688"/>
            <a:ext cx="5038725" cy="40100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4287" tIns="52144" rIns="104287" bIns="52144" anchor="ctr"/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pt-BR"/>
          </a:p>
        </p:txBody>
      </p:sp>
      <p:sp>
        <p:nvSpPr>
          <p:cNvPr id="103428" name="Rectangle 2"/>
          <p:cNvSpPr>
            <a:spLocks noGrp="1" noChangeArrowheads="1"/>
          </p:cNvSpPr>
          <p:nvPr>
            <p:ph type="body"/>
          </p:nvPr>
        </p:nvSpPr>
        <p:spPr>
          <a:xfrm>
            <a:off x="755650" y="5078413"/>
            <a:ext cx="6046788" cy="4811712"/>
          </a:xfrm>
          <a:noFill/>
          <a:ln/>
        </p:spPr>
        <p:txBody>
          <a:bodyPr wrap="none" anchor="ctr"/>
          <a:lstStyle/>
          <a:p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F72A5658-6716-483D-9912-6EE38504F50B}" type="slidenum">
              <a:rPr lang="en-GB" smtClean="0"/>
              <a:pPr/>
              <a:t>34</a:t>
            </a:fld>
            <a:endParaRPr lang="en-GB" smtClean="0"/>
          </a:p>
        </p:txBody>
      </p:sp>
      <p:sp>
        <p:nvSpPr>
          <p:cNvPr id="105475" name="Text Box 1"/>
          <p:cNvSpPr txBox="1">
            <a:spLocks noChangeArrowheads="1"/>
          </p:cNvSpPr>
          <p:nvPr/>
        </p:nvSpPr>
        <p:spPr bwMode="auto">
          <a:xfrm>
            <a:off x="1260475" y="801688"/>
            <a:ext cx="5038725" cy="40100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4287" tIns="52144" rIns="104287" bIns="52144" anchor="ctr"/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pt-BR"/>
          </a:p>
        </p:txBody>
      </p:sp>
      <p:sp>
        <p:nvSpPr>
          <p:cNvPr id="105476" name="Rectangle 2"/>
          <p:cNvSpPr>
            <a:spLocks noGrp="1" noChangeArrowheads="1"/>
          </p:cNvSpPr>
          <p:nvPr>
            <p:ph type="body"/>
          </p:nvPr>
        </p:nvSpPr>
        <p:spPr>
          <a:xfrm>
            <a:off x="755650" y="5078413"/>
            <a:ext cx="6046788" cy="4811712"/>
          </a:xfrm>
          <a:noFill/>
          <a:ln/>
        </p:spPr>
        <p:txBody>
          <a:bodyPr wrap="none" anchor="ctr"/>
          <a:lstStyle/>
          <a:p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35</a:t>
            </a:fld>
            <a:endParaRPr lang="en-GB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36</a:t>
            </a:fld>
            <a:endParaRPr lang="en-GB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744A322-08AF-4349-9FC8-5266E4BE2CE9}" type="slidenum">
              <a:rPr lang="en-GB" smtClean="0"/>
              <a:pPr>
                <a:defRPr/>
              </a:pPr>
              <a:t>37</a:t>
            </a:fld>
            <a:endParaRPr lang="en-GB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744A322-08AF-4349-9FC8-5266E4BE2CE9}" type="slidenum">
              <a:rPr lang="en-GB" smtClean="0"/>
              <a:pPr>
                <a:defRPr/>
              </a:pPr>
              <a:t>38</a:t>
            </a:fld>
            <a:endParaRPr lang="en-GB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39</a:t>
            </a:fld>
            <a:endParaRPr lang="en-GB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40</a:t>
            </a:fld>
            <a:endParaRPr lang="en-GB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41</a:t>
            </a:fld>
            <a:endParaRPr lang="en-GB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42</a:t>
            </a:fld>
            <a:endParaRPr lang="en-GB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43</a:t>
            </a:fld>
            <a:endParaRPr lang="en-GB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44</a:t>
            </a:fld>
            <a:endParaRPr lang="en-GB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45</a:t>
            </a:fld>
            <a:endParaRPr lang="en-GB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46</a:t>
            </a:fld>
            <a:endParaRPr lang="en-GB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47</a:t>
            </a:fld>
            <a:endParaRPr lang="en-GB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48</a:t>
            </a:fld>
            <a:endParaRPr lang="en-GB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49</a:t>
            </a:fld>
            <a:endParaRPr lang="en-GB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50</a:t>
            </a:fld>
            <a:endParaRPr lang="en-GB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51</a:t>
            </a:fld>
            <a:endParaRPr lang="en-GB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52</a:t>
            </a:fld>
            <a:endParaRPr lang="en-GB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53</a:t>
            </a:fld>
            <a:endParaRPr lang="en-GB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54</a:t>
            </a:fld>
            <a:endParaRPr lang="en-GB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55</a:t>
            </a:fld>
            <a:endParaRPr lang="en-GB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56</a:t>
            </a:fld>
            <a:endParaRPr lang="en-GB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66</a:t>
            </a:fld>
            <a:endParaRPr lang="en-GB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67</a:t>
            </a:fld>
            <a:endParaRPr lang="en-GB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1938" cy="400685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AD09220-38F6-40E8-9641-0A83BCEB27DA}" type="slidenum">
              <a:rPr lang="en-GB" smtClean="0"/>
              <a:pPr>
                <a:defRPr/>
              </a:pPr>
              <a:t>79</a:t>
            </a:fld>
            <a:endParaRPr lang="en-GB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6488" y="801688"/>
            <a:ext cx="5345112" cy="4008437"/>
          </a:xfrm>
        </p:spPr>
      </p:sp>
      <p:sp>
        <p:nvSpPr>
          <p:cNvPr id="152579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>
              <a:latin typeface="Times New Roman" pitchFamily="18" charset="0"/>
            </a:endParaRPr>
          </a:p>
        </p:txBody>
      </p:sp>
      <p:sp>
        <p:nvSpPr>
          <p:cNvPr id="152580" name="Espaço Reservado para Número de Slide 3"/>
          <p:cNvSpPr>
            <a:spLocks noGrp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F49B2F38-3206-4CE4-B5B2-5C6A12D8DA33}" type="slidenum">
              <a:rPr lang="es-ES" smtClean="0"/>
              <a:pPr/>
              <a:t>89</a:t>
            </a:fld>
            <a:endParaRPr lang="es-ES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9CE2CBB9-0B93-4206-ABB3-F7AB3E2129A5}" type="slidenum">
              <a:rPr lang="en-GB" smtClean="0"/>
              <a:pPr/>
              <a:t>91</a:t>
            </a:fld>
            <a:endParaRPr lang="en-GB" smtClean="0"/>
          </a:p>
        </p:txBody>
      </p:sp>
      <p:sp>
        <p:nvSpPr>
          <p:cNvPr id="154627" name="Text Box 1"/>
          <p:cNvSpPr txBox="1">
            <a:spLocks noChangeArrowheads="1"/>
          </p:cNvSpPr>
          <p:nvPr/>
        </p:nvSpPr>
        <p:spPr bwMode="auto">
          <a:xfrm>
            <a:off x="1258888" y="801688"/>
            <a:ext cx="5040312" cy="40100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pt-BR"/>
          </a:p>
        </p:txBody>
      </p:sp>
      <p:sp>
        <p:nvSpPr>
          <p:cNvPr id="154628" name="Rectangle 2"/>
          <p:cNvSpPr>
            <a:spLocks noGrp="1" noChangeArrowheads="1"/>
          </p:cNvSpPr>
          <p:nvPr>
            <p:ph type="body"/>
          </p:nvPr>
        </p:nvSpPr>
        <p:spPr>
          <a:xfrm>
            <a:off x="755650" y="5078413"/>
            <a:ext cx="6046788" cy="4810125"/>
          </a:xfrm>
          <a:noFill/>
          <a:ln/>
        </p:spPr>
        <p:txBody>
          <a:bodyPr wrap="none" anchor="ctr"/>
          <a:lstStyle/>
          <a:p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20F932A-CCCB-4006-AFF4-5D04137D8D61}" type="slidenum">
              <a:rPr lang="en-GB" smtClean="0"/>
              <a:pPr/>
              <a:t>92</a:t>
            </a:fld>
            <a:endParaRPr lang="en-GB" smtClean="0"/>
          </a:p>
        </p:txBody>
      </p:sp>
      <p:sp>
        <p:nvSpPr>
          <p:cNvPr id="92163" name="Text Box 1"/>
          <p:cNvSpPr txBox="1">
            <a:spLocks noChangeArrowheads="1"/>
          </p:cNvSpPr>
          <p:nvPr/>
        </p:nvSpPr>
        <p:spPr bwMode="auto">
          <a:xfrm>
            <a:off x="1258888" y="801688"/>
            <a:ext cx="5040312" cy="40100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pt-BR"/>
          </a:p>
        </p:txBody>
      </p:sp>
      <p:sp>
        <p:nvSpPr>
          <p:cNvPr id="92164" name="Rectangle 2"/>
          <p:cNvSpPr>
            <a:spLocks noGrp="1" noChangeArrowheads="1"/>
          </p:cNvSpPr>
          <p:nvPr>
            <p:ph type="body"/>
          </p:nvPr>
        </p:nvSpPr>
        <p:spPr>
          <a:xfrm>
            <a:off x="755650" y="5078413"/>
            <a:ext cx="6046788" cy="4810125"/>
          </a:xfrm>
          <a:noFill/>
          <a:ln/>
        </p:spPr>
        <p:txBody>
          <a:bodyPr wrap="none" anchor="ctr"/>
          <a:lstStyle/>
          <a:p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>
            <a:lvl1pPr algn="ctr">
              <a:defRPr sz="2800" b="1">
                <a:solidFill>
                  <a:schemeClr val="tx1"/>
                </a:solidFill>
                <a:effectLst/>
              </a:defRPr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518186-5F9C-4CA4-B64C-EECD5123EEB0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45CF2E-27CF-47CB-BC76-2C2FC0AA9AA9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24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03238" y="969963"/>
            <a:ext cx="4457700" cy="5786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13338" y="969963"/>
            <a:ext cx="4459287" cy="5786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40FD38-72DD-4151-A9FE-47F02B9283E4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D75E48-58C0-4997-8DF4-ABD6E4B1BBB8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89F3E-C865-49AC-8E34-7F53AE5F9924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ítul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6388" y="12700"/>
            <a:ext cx="9523412" cy="598488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Gráfico 2"/>
          <p:cNvSpPr>
            <a:spLocks noGrp="1"/>
          </p:cNvSpPr>
          <p:nvPr>
            <p:ph type="chart" idx="1"/>
          </p:nvPr>
        </p:nvSpPr>
        <p:spPr>
          <a:xfrm>
            <a:off x="503238" y="969963"/>
            <a:ext cx="9069387" cy="5786437"/>
          </a:xfrm>
        </p:spPr>
        <p:txBody>
          <a:bodyPr/>
          <a:lstStyle/>
          <a:p>
            <a:pPr lvl="0"/>
            <a:r>
              <a:rPr lang="pt-BR" noProof="0" smtClean="0"/>
              <a:t>Clique no ícone para adicionar gráfico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5AB657-14E8-44D9-869E-16262AE2A626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650" y="2519363"/>
            <a:ext cx="8564563" cy="12573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0"/>
          </p:nvPr>
        </p:nvSpPr>
        <p:spPr>
          <a:xfrm>
            <a:off x="755650" y="6635750"/>
            <a:ext cx="2097088" cy="6683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idx="11"/>
          </p:nvPr>
        </p:nvSpPr>
        <p:spPr>
          <a:xfrm>
            <a:off x="3443288" y="6635750"/>
            <a:ext cx="3189287" cy="6683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idx="12"/>
          </p:nvPr>
        </p:nvSpPr>
        <p:spPr>
          <a:xfrm>
            <a:off x="7223125" y="6635750"/>
            <a:ext cx="2097088" cy="6683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9E472A-9176-4B42-A5DA-41215CC07607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1188" y="12700"/>
            <a:ext cx="9218612" cy="526777"/>
          </a:xfrm>
        </p:spPr>
        <p:txBody>
          <a:bodyPr/>
          <a:lstStyle>
            <a:lvl1pPr algn="l">
              <a:defRPr/>
            </a:lvl1pPr>
          </a:lstStyle>
          <a:p>
            <a:r>
              <a:rPr lang="pt-BR" dirty="0" smtClean="0"/>
              <a:t>Clique para editar o estilo do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 smtClean="0"/>
              <a:t>Clique para editar os estilos do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9" name="Espaço Reservado para Data 8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2C27AA29-5F8D-49B4-8637-396276A5DD0C}" type="slidenum">
              <a:rPr lang="en-GB" smtClean="0"/>
              <a:pPr>
                <a:defRPr/>
              </a:pPr>
              <a:t>‹nº›</a:t>
            </a:fld>
            <a:endParaRPr lang="en-GB"/>
          </a:p>
        </p:txBody>
      </p:sp>
      <p:sp>
        <p:nvSpPr>
          <p:cNvPr id="11" name="Espaço Reservado para Rodapé 10"/>
          <p:cNvSpPr>
            <a:spLocks noGrp="1"/>
          </p:cNvSpPr>
          <p:nvPr>
            <p:ph type="ftr" idx="12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3"/>
          </p:nvPr>
        </p:nvSpPr>
        <p:spPr>
          <a:xfrm>
            <a:off x="647724" y="611486"/>
            <a:ext cx="9217124" cy="288032"/>
          </a:xfr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pt-BR" dirty="0" smtClean="0"/>
              <a:t>Clique para editar os estilos do texto mestre</a:t>
            </a:r>
            <a:endParaRPr lang="pt-B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1188" y="12700"/>
            <a:ext cx="9218612" cy="526777"/>
          </a:xfrm>
        </p:spPr>
        <p:txBody>
          <a:bodyPr/>
          <a:lstStyle>
            <a:lvl1pPr algn="l">
              <a:defRPr/>
            </a:lvl1pPr>
          </a:lstStyle>
          <a:p>
            <a:r>
              <a:rPr lang="pt-BR" dirty="0" smtClean="0"/>
              <a:t>Clique para editar o estilo do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 smtClean="0"/>
              <a:t>Clique para editar os estilos do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9" name="Espaço Reservado para Data 8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2C27AA29-5F8D-49B4-8637-396276A5DD0C}" type="slidenum">
              <a:rPr lang="en-GB" smtClean="0"/>
              <a:pPr>
                <a:defRPr/>
              </a:pPr>
              <a:t>‹nº›</a:t>
            </a:fld>
            <a:endParaRPr lang="en-GB"/>
          </a:p>
        </p:txBody>
      </p:sp>
      <p:sp>
        <p:nvSpPr>
          <p:cNvPr id="11" name="Espaço Reservado para Rodapé 10"/>
          <p:cNvSpPr>
            <a:spLocks noGrp="1"/>
          </p:cNvSpPr>
          <p:nvPr>
            <p:ph type="ftr" idx="12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3"/>
          </p:nvPr>
        </p:nvSpPr>
        <p:spPr>
          <a:xfrm>
            <a:off x="647724" y="611486"/>
            <a:ext cx="9217124" cy="288032"/>
          </a:xfr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pt-BR" dirty="0" smtClean="0"/>
              <a:t>Clique para editar os estilos do texto mestre</a:t>
            </a:r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1188" y="12700"/>
            <a:ext cx="9218612" cy="526777"/>
          </a:xfrm>
        </p:spPr>
        <p:txBody>
          <a:bodyPr/>
          <a:lstStyle>
            <a:lvl1pPr algn="l">
              <a:defRPr/>
            </a:lvl1pPr>
          </a:lstStyle>
          <a:p>
            <a:r>
              <a:rPr lang="pt-BR" dirty="0" smtClean="0"/>
              <a:t>Clique para editar o estilo do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 smtClean="0"/>
              <a:t>Clique para editar os estilos do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9" name="Espaço Reservado para Data 8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2C27AA29-5F8D-49B4-8637-396276A5DD0C}" type="slidenum">
              <a:rPr lang="en-GB" smtClean="0"/>
              <a:pPr>
                <a:defRPr/>
              </a:pPr>
              <a:t>‹nº›</a:t>
            </a:fld>
            <a:endParaRPr lang="en-GB"/>
          </a:p>
        </p:txBody>
      </p:sp>
      <p:sp>
        <p:nvSpPr>
          <p:cNvPr id="11" name="Espaço Reservado para Rodapé 10"/>
          <p:cNvSpPr>
            <a:spLocks noGrp="1"/>
          </p:cNvSpPr>
          <p:nvPr>
            <p:ph type="ftr" idx="12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3"/>
          </p:nvPr>
        </p:nvSpPr>
        <p:spPr>
          <a:xfrm>
            <a:off x="647724" y="611486"/>
            <a:ext cx="9217124" cy="288032"/>
          </a:xfr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pt-BR" dirty="0" smtClean="0"/>
              <a:t>Clique para editar os estilos do texto mestre</a:t>
            </a:r>
            <a:endParaRPr lang="pt-B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-1" y="0"/>
            <a:ext cx="10080625" cy="755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12700"/>
            <a:ext cx="9218612" cy="5984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 para editar o formato do título de texto</a:t>
            </a:r>
          </a:p>
        </p:txBody>
      </p:sp>
      <p:sp>
        <p:nvSpPr>
          <p:cNvPr id="103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969963"/>
            <a:ext cx="9069387" cy="57864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 para editar o formato do texto em estrutura de tópicos</a:t>
            </a:r>
          </a:p>
          <a:p>
            <a:pPr lvl="1"/>
            <a:r>
              <a:rPr lang="en-GB" smtClean="0"/>
              <a:t>Segundo Nível da Estrutura de Tópicos</a:t>
            </a:r>
          </a:p>
          <a:p>
            <a:pPr lvl="2"/>
            <a:r>
              <a:rPr lang="en-GB" smtClean="0"/>
              <a:t>Terceiro Nível da Estrutura de Tópicos</a:t>
            </a:r>
          </a:p>
          <a:p>
            <a:pPr lvl="3"/>
            <a:r>
              <a:rPr lang="en-GB" smtClean="0"/>
              <a:t>Quarto Nível da Estrutura de Tópicos</a:t>
            </a:r>
          </a:p>
          <a:p>
            <a:pPr lvl="4"/>
            <a:r>
              <a:rPr lang="en-GB" smtClean="0"/>
              <a:t>Quinto Nível da Estrutura de Tópicos</a:t>
            </a:r>
          </a:p>
          <a:p>
            <a:pPr lvl="4"/>
            <a:r>
              <a:rPr lang="en-GB" smtClean="0"/>
              <a:t>Sexto Nível da Estrutura de Tópicos</a:t>
            </a:r>
          </a:p>
          <a:p>
            <a:pPr lvl="4"/>
            <a:r>
              <a:rPr lang="en-GB" smtClean="0"/>
              <a:t>Sétimo Nível da Estrutura de Tópicos</a:t>
            </a:r>
          </a:p>
          <a:p>
            <a:pPr lvl="4"/>
            <a:r>
              <a:rPr lang="en-GB" smtClean="0"/>
              <a:t>Oitavo Nível da Estrutura de Tópicos</a:t>
            </a:r>
          </a:p>
          <a:p>
            <a:pPr lvl="4"/>
            <a:r>
              <a:rPr lang="en-GB" smtClean="0"/>
              <a:t>Nono Nível da Estrutura de Tópicos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503238" y="6886575"/>
            <a:ext cx="2346325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hangingPunct="0">
              <a:lnSpc>
                <a:spcPct val="95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defRPr sz="14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hangingPunct="0">
              <a:lnSpc>
                <a:spcPct val="95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defRPr sz="14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hangingPunct="0">
              <a:lnSpc>
                <a:spcPct val="95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defRPr sz="14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fld id="{2C27AA29-5F8D-49B4-8637-396276A5DD0C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  <p:pic>
        <p:nvPicPr>
          <p:cNvPr id="2051" name="Picture 3" descr="C:\konfide\E-Commerce\logoppt-cursos.png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43768" y="6804173"/>
            <a:ext cx="1151881" cy="70172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8" r:id="rId10"/>
  </p:sldLayoutIdLst>
  <p:txStyles>
    <p:titleStyle>
      <a:lvl1pPr algn="l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Wingdings" pitchFamily="2" charset="2"/>
        <a:defRPr lang="en-GB" sz="2400" b="1">
          <a:solidFill>
            <a:srgbClr val="262699"/>
          </a:solidFill>
          <a:latin typeface="+mj-lt"/>
          <a:ea typeface="+mj-ea"/>
          <a:cs typeface="+mj-cs"/>
        </a:defRPr>
      </a:lvl1pPr>
      <a:lvl2pPr algn="l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Wingdings" pitchFamily="2" charset="2"/>
        <a:defRPr sz="2400" b="1">
          <a:solidFill>
            <a:srgbClr val="262699"/>
          </a:solidFill>
          <a:latin typeface="Arial" charset="0"/>
          <a:ea typeface="MS Gothic" charset="-128"/>
        </a:defRPr>
      </a:lvl2pPr>
      <a:lvl3pPr algn="l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Wingdings" pitchFamily="2" charset="2"/>
        <a:defRPr sz="2400" b="1">
          <a:solidFill>
            <a:srgbClr val="262699"/>
          </a:solidFill>
          <a:latin typeface="Arial" charset="0"/>
          <a:ea typeface="MS Gothic" charset="-128"/>
        </a:defRPr>
      </a:lvl3pPr>
      <a:lvl4pPr algn="l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Wingdings" pitchFamily="2" charset="2"/>
        <a:defRPr sz="2400" b="1">
          <a:solidFill>
            <a:srgbClr val="262699"/>
          </a:solidFill>
          <a:latin typeface="Arial" charset="0"/>
          <a:ea typeface="MS Gothic" charset="-128"/>
        </a:defRPr>
      </a:lvl4pPr>
      <a:lvl5pPr algn="l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Wingdings" pitchFamily="2" charset="2"/>
        <a:defRPr sz="2400" b="1">
          <a:solidFill>
            <a:srgbClr val="262699"/>
          </a:solidFill>
          <a:latin typeface="Arial" charset="0"/>
          <a:ea typeface="MS Gothic" charset="-128"/>
        </a:defRPr>
      </a:lvl5pPr>
      <a:lvl6pPr marL="1536700" indent="-215900"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Wingdings" charset="2"/>
        <a:defRPr sz="2800">
          <a:solidFill>
            <a:srgbClr val="000000"/>
          </a:solidFill>
          <a:latin typeface="Arial" charset="0"/>
          <a:ea typeface="MS Gothic" charset="-128"/>
        </a:defRPr>
      </a:lvl6pPr>
      <a:lvl7pPr marL="1993900" indent="-215900"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Wingdings" charset="2"/>
        <a:defRPr sz="2800">
          <a:solidFill>
            <a:srgbClr val="000000"/>
          </a:solidFill>
          <a:latin typeface="Arial" charset="0"/>
          <a:ea typeface="MS Gothic" charset="-128"/>
        </a:defRPr>
      </a:lvl7pPr>
      <a:lvl8pPr marL="2451100" indent="-215900"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Wingdings" charset="2"/>
        <a:defRPr sz="2800">
          <a:solidFill>
            <a:srgbClr val="000000"/>
          </a:solidFill>
          <a:latin typeface="Arial" charset="0"/>
          <a:ea typeface="MS Gothic" charset="-128"/>
        </a:defRPr>
      </a:lvl8pPr>
      <a:lvl9pPr marL="2908300" indent="-215900" algn="ctr" defTabSz="44926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Wingdings" charset="2"/>
        <a:defRPr sz="2800">
          <a:solidFill>
            <a:srgbClr val="000000"/>
          </a:solidFill>
          <a:latin typeface="Arial" charset="0"/>
          <a:ea typeface="MS Gothic" charset="-128"/>
        </a:defRPr>
      </a:lvl9pPr>
    </p:titleStyle>
    <p:bodyStyle>
      <a:lvl1pPr marL="431800" indent="-323850" algn="l" defTabSz="449263" rtl="0" eaLnBrk="1" fontAlgn="base" hangingPunct="1">
        <a:lnSpc>
          <a:spcPct val="93000"/>
        </a:lnSpc>
        <a:spcBef>
          <a:spcPct val="0"/>
        </a:spcBef>
        <a:spcAft>
          <a:spcPts val="1425"/>
        </a:spcAft>
        <a:buClr>
          <a:srgbClr val="000000"/>
        </a:buClr>
        <a:buSzPct val="45000"/>
        <a:buFont typeface="Wingdings" pitchFamily="2" charset="2"/>
        <a:buChar char=""/>
        <a:defRPr sz="2600">
          <a:solidFill>
            <a:srgbClr val="000000"/>
          </a:solidFill>
          <a:latin typeface="+mn-lt"/>
          <a:ea typeface="+mn-ea"/>
          <a:cs typeface="+mn-cs"/>
        </a:defRPr>
      </a:lvl1pPr>
      <a:lvl2pPr marL="863600" indent="-287338" algn="l" defTabSz="449263" rtl="0" eaLnBrk="1" fontAlgn="base" hangingPunct="1">
        <a:lnSpc>
          <a:spcPct val="93000"/>
        </a:lnSpc>
        <a:spcBef>
          <a:spcPct val="0"/>
        </a:spcBef>
        <a:spcAft>
          <a:spcPts val="1138"/>
        </a:spcAft>
        <a:buClr>
          <a:srgbClr val="000000"/>
        </a:buClr>
        <a:buSzPct val="75000"/>
        <a:buFont typeface="Symbol" pitchFamily="18" charset="2"/>
        <a:buChar char=""/>
        <a:defRPr sz="2400">
          <a:solidFill>
            <a:srgbClr val="000000"/>
          </a:solidFill>
          <a:latin typeface="+mn-lt"/>
          <a:ea typeface="+mn-ea"/>
        </a:defRPr>
      </a:lvl2pPr>
      <a:lvl3pPr marL="1295400" indent="-215900" algn="l" defTabSz="449263" rtl="0" eaLnBrk="1" fontAlgn="base" hangingPunct="1">
        <a:lnSpc>
          <a:spcPct val="93000"/>
        </a:lnSpc>
        <a:spcBef>
          <a:spcPct val="0"/>
        </a:spcBef>
        <a:spcAft>
          <a:spcPts val="850"/>
        </a:spcAft>
        <a:buClr>
          <a:srgbClr val="000000"/>
        </a:buClr>
        <a:buSzPct val="45000"/>
        <a:buFont typeface="Wingdings" pitchFamily="2" charset="2"/>
        <a:buChar char=""/>
        <a:defRPr sz="2400">
          <a:solidFill>
            <a:srgbClr val="000000"/>
          </a:solidFill>
          <a:latin typeface="+mn-lt"/>
          <a:ea typeface="+mn-ea"/>
        </a:defRPr>
      </a:lvl3pPr>
      <a:lvl4pPr marL="1727200" indent="-215900" algn="l" defTabSz="449263" rtl="0" eaLnBrk="1" fontAlgn="base" hangingPunct="1">
        <a:lnSpc>
          <a:spcPct val="93000"/>
        </a:lnSpc>
        <a:spcBef>
          <a:spcPct val="0"/>
        </a:spcBef>
        <a:spcAft>
          <a:spcPts val="575"/>
        </a:spcAft>
        <a:buClr>
          <a:srgbClr val="000000"/>
        </a:buClr>
        <a:buSzPct val="75000"/>
        <a:buFont typeface="Symbol" pitchFamily="18" charset="2"/>
        <a:buChar char=""/>
        <a:defRPr sz="2000">
          <a:solidFill>
            <a:srgbClr val="000000"/>
          </a:solidFill>
          <a:latin typeface="+mn-lt"/>
          <a:ea typeface="+mn-ea"/>
        </a:defRPr>
      </a:lvl4pPr>
      <a:lvl5pPr marL="2159000" indent="-215900" algn="l" defTabSz="449263" rtl="0" eaLnBrk="1" fontAlgn="base" hangingPunct="1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45000"/>
        <a:buFont typeface="Wingdings" pitchFamily="2" charset="2"/>
        <a:buChar char=""/>
        <a:defRPr sz="2000">
          <a:solidFill>
            <a:srgbClr val="000000"/>
          </a:solidFill>
          <a:latin typeface="+mn-lt"/>
          <a:ea typeface="+mn-ea"/>
        </a:defRPr>
      </a:lvl5pPr>
      <a:lvl6pPr marL="2616200" indent="-215900" algn="l" defTabSz="449263" rtl="0" eaLnBrk="1" fontAlgn="base" hangingPunct="1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45000"/>
        <a:buFont typeface="Wingdings" charset="2"/>
        <a:buChar char=""/>
        <a:defRPr sz="2000">
          <a:solidFill>
            <a:srgbClr val="000000"/>
          </a:solidFill>
          <a:latin typeface="+mn-lt"/>
          <a:ea typeface="+mn-ea"/>
        </a:defRPr>
      </a:lvl6pPr>
      <a:lvl7pPr marL="3073400" indent="-215900" algn="l" defTabSz="449263" rtl="0" eaLnBrk="1" fontAlgn="base" hangingPunct="1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45000"/>
        <a:buFont typeface="Wingdings" charset="2"/>
        <a:buChar char=""/>
        <a:defRPr sz="2000">
          <a:solidFill>
            <a:srgbClr val="000000"/>
          </a:solidFill>
          <a:latin typeface="+mn-lt"/>
          <a:ea typeface="+mn-ea"/>
        </a:defRPr>
      </a:lvl7pPr>
      <a:lvl8pPr marL="3530600" indent="-215900" algn="l" defTabSz="449263" rtl="0" eaLnBrk="1" fontAlgn="base" hangingPunct="1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45000"/>
        <a:buFont typeface="Wingdings" charset="2"/>
        <a:buChar char=""/>
        <a:defRPr sz="2000">
          <a:solidFill>
            <a:srgbClr val="000000"/>
          </a:solidFill>
          <a:latin typeface="+mn-lt"/>
          <a:ea typeface="+mn-ea"/>
        </a:defRPr>
      </a:lvl8pPr>
      <a:lvl9pPr marL="3987800" indent="-215900" algn="l" defTabSz="449263" rtl="0" eaLnBrk="1" fontAlgn="base" hangingPunct="1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45000"/>
        <a:buFont typeface="Wingdings" charset="2"/>
        <a:buChar char="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bertinamoda.com.br/" TargetMode="External"/><Relationship Id="rId2" Type="http://schemas.openxmlformats.org/officeDocument/2006/relationships/hyperlink" Target="http://www.konfide.com.br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6.png"/><Relationship Id="rId7" Type="http://schemas.openxmlformats.org/officeDocument/2006/relationships/image" Target="../media/image13.jpeg"/><Relationship Id="rId12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11" Type="http://schemas.openxmlformats.org/officeDocument/2006/relationships/image" Target="../media/image17.jpeg"/><Relationship Id="rId5" Type="http://schemas.openxmlformats.org/officeDocument/2006/relationships/image" Target="../media/image11.jpeg"/><Relationship Id="rId10" Type="http://schemas.openxmlformats.org/officeDocument/2006/relationships/image" Target="../media/image16.png"/><Relationship Id="rId4" Type="http://schemas.openxmlformats.org/officeDocument/2006/relationships/image" Target="../media/image10.jpe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10" Type="http://schemas.openxmlformats.org/officeDocument/2006/relationships/image" Target="../media/image26.jpeg"/><Relationship Id="rId4" Type="http://schemas.openxmlformats.org/officeDocument/2006/relationships/image" Target="../media/image20.jpe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blog.konfide.com.br/profissional-web/como-funciona-o-adwords/" TargetMode="Externa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K7l0a2PVhPQ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0.png"/><Relationship Id="rId4" Type="http://schemas.openxmlformats.org/officeDocument/2006/relationships/hyperlink" Target="http://www.google.com/support/websearch/bin/answer.py?hl=en&amp;answer=106230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eg"/><Relationship Id="rId3" Type="http://schemas.openxmlformats.org/officeDocument/2006/relationships/hyperlink" Target="http://www.google.com/insights/search" TargetMode="External"/><Relationship Id="rId7" Type="http://schemas.openxmlformats.org/officeDocument/2006/relationships/image" Target="../media/image5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3.jpeg"/><Relationship Id="rId5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linkspatrocinados.konfide.com.br/glossario-do-adwords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g"/><Relationship Id="rId2" Type="http://schemas.openxmlformats.org/officeDocument/2006/relationships/hyperlink" Target="http://www.videolog.tv/konfide/videos/648692" TargetMode="Externa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1"/>
          <p:cNvSpPr>
            <a:spLocks noGrp="1" noChangeArrowheads="1"/>
          </p:cNvSpPr>
          <p:nvPr>
            <p:ph type="title"/>
          </p:nvPr>
        </p:nvSpPr>
        <p:spPr>
          <a:xfrm>
            <a:off x="468313" y="1136650"/>
            <a:ext cx="8676455" cy="928688"/>
          </a:xfrm>
        </p:spPr>
        <p:txBody>
          <a:bodyPr lIns="101588" tIns="50794" rIns="101588" bIns="50794"/>
          <a:lstStyle/>
          <a:p>
            <a:pPr algn="ctr">
              <a:lnSpc>
                <a:spcPct val="101000"/>
              </a:lnSpc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sz="5400" dirty="0" err="1" smtClean="0"/>
              <a:t>Curso</a:t>
            </a:r>
            <a:r>
              <a:rPr sz="5400" dirty="0" smtClean="0"/>
              <a:t> de </a:t>
            </a:r>
            <a:r>
              <a:rPr sz="5400" dirty="0" err="1" smtClean="0"/>
              <a:t>AdWords</a:t>
            </a:r>
            <a:endParaRPr sz="5400" dirty="0" smtClean="0"/>
          </a:p>
        </p:txBody>
      </p:sp>
      <p:sp>
        <p:nvSpPr>
          <p:cNvPr id="11" name="Rectangle 1"/>
          <p:cNvSpPr txBox="1">
            <a:spLocks noChangeArrowheads="1"/>
          </p:cNvSpPr>
          <p:nvPr/>
        </p:nvSpPr>
        <p:spPr bwMode="auto">
          <a:xfrm>
            <a:off x="863848" y="2555701"/>
            <a:ext cx="8064896" cy="13573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101588" tIns="50794" rIns="101588" bIns="50794" anchor="ctr"/>
          <a:lstStyle/>
          <a:p>
            <a:pPr algn="ctr" eaLnBrk="0" hangingPunct="0">
              <a:lnSpc>
                <a:spcPct val="101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0" algn="l"/>
                <a:tab pos="493472" algn="l"/>
                <a:tab pos="988695" algn="l"/>
                <a:tab pos="1483916" algn="l"/>
                <a:tab pos="1979139" algn="l"/>
                <a:tab pos="2474360" algn="l"/>
                <a:tab pos="2969583" algn="l"/>
                <a:tab pos="3464804" algn="l"/>
                <a:tab pos="3960027" algn="l"/>
                <a:tab pos="4455249" algn="l"/>
                <a:tab pos="4950471" algn="l"/>
                <a:tab pos="5445693" algn="l"/>
                <a:tab pos="5940915" algn="l"/>
                <a:tab pos="6436137" algn="l"/>
                <a:tab pos="6931359" algn="l"/>
                <a:tab pos="7426581" algn="l"/>
                <a:tab pos="7921804" algn="l"/>
                <a:tab pos="8417025" algn="l"/>
                <a:tab pos="8912248" algn="l"/>
                <a:tab pos="9407469" algn="l"/>
                <a:tab pos="9902692" algn="l"/>
              </a:tabLst>
              <a:defRPr/>
            </a:pPr>
            <a:r>
              <a:rPr lang="en-GB" sz="3600" b="1" kern="0" dirty="0" err="1" smtClean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Planejamento</a:t>
            </a:r>
            <a:r>
              <a:rPr lang="en-GB" sz="3600" b="1" kern="0" dirty="0" smtClean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GB" sz="3600" b="1" kern="0" dirty="0" err="1" smtClean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gestão</a:t>
            </a:r>
            <a:r>
              <a:rPr lang="en-GB" sz="3600" b="1" kern="0" dirty="0" smtClean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GB" sz="3600" b="1" kern="0" dirty="0" err="1" smtClean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campanhas</a:t>
            </a:r>
            <a:r>
              <a:rPr lang="en-GB" sz="3600" b="1" kern="0" dirty="0" smtClean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 de links </a:t>
            </a:r>
            <a:r>
              <a:rPr lang="en-GB" sz="3600" b="1" kern="0" dirty="0" err="1" smtClean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patrocinados</a:t>
            </a:r>
            <a:endParaRPr lang="en-GB" sz="3600" b="1" kern="0" dirty="0">
              <a:solidFill>
                <a:schemeClr val="accent2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magem 4" descr="logo201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96096" y="4715941"/>
            <a:ext cx="3648010" cy="1505123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Diego </a:t>
            </a:r>
            <a:r>
              <a:rPr lang="pt-BR" dirty="0" err="1" smtClean="0"/>
              <a:t>Kadry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Formado em Administração com Habilitação em Marketing e Pós-graduando em MBA em Gestão Estratégica de Comércio Eletrônico. Autodidata ao aprender a produzir sites em HTML aos 15 anos e desde então apaixonado por marketing digital e tecnologia da Web. Grande utilizador de </a:t>
            </a:r>
            <a:r>
              <a:rPr lang="pt-BR" dirty="0" err="1"/>
              <a:t>Wordpress</a:t>
            </a:r>
            <a:r>
              <a:rPr lang="pt-BR" dirty="0"/>
              <a:t> e </a:t>
            </a:r>
            <a:r>
              <a:rPr lang="pt-BR" dirty="0" err="1"/>
              <a:t>Joomla</a:t>
            </a:r>
            <a:r>
              <a:rPr lang="pt-BR" dirty="0" smtClean="0"/>
              <a:t>!. Consultor de Marketing Digital pela </a:t>
            </a:r>
            <a:r>
              <a:rPr lang="pt-BR" dirty="0" err="1" smtClean="0"/>
              <a:t>Konfide</a:t>
            </a:r>
            <a:r>
              <a:rPr lang="pt-BR" dirty="0" smtClean="0"/>
              <a:t> (</a:t>
            </a:r>
            <a:r>
              <a:rPr lang="pt-BR" dirty="0" smtClean="0">
                <a:hlinkClick r:id="rId2"/>
              </a:rPr>
              <a:t>http://www.konfide.com.br</a:t>
            </a:r>
            <a:r>
              <a:rPr lang="pt-BR" dirty="0" smtClean="0"/>
              <a:t>) </a:t>
            </a:r>
            <a:r>
              <a:rPr lang="pt-BR" smtClean="0"/>
              <a:t>e </a:t>
            </a:r>
            <a:r>
              <a:rPr lang="pt-BR" smtClean="0"/>
              <a:t>sócio </a:t>
            </a:r>
            <a:r>
              <a:rPr lang="pt-BR" dirty="0" smtClean="0"/>
              <a:t>diretor da Libertina Moda (</a:t>
            </a:r>
            <a:r>
              <a:rPr lang="pt-BR" dirty="0" smtClean="0">
                <a:hlinkClick r:id="rId3"/>
              </a:rPr>
              <a:t>http://www.libertinamoda.com.br</a:t>
            </a:r>
            <a:r>
              <a:rPr lang="pt-BR" dirty="0" smtClean="0"/>
              <a:t>) </a:t>
            </a:r>
            <a:endParaRPr lang="pt-BR" dirty="0"/>
          </a:p>
        </p:txBody>
      </p:sp>
      <p:pic>
        <p:nvPicPr>
          <p:cNvPr id="2050" name="Picture 2" descr="F:\Backup\Fotos\Profissional\Kofinde Team-104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608" y="3998433"/>
            <a:ext cx="2376016" cy="3561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909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 smtClean="0"/>
              <a:t>Atenção! A internet mudou e continua mudando todo dia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418754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Fluxo de conteúdo 1.0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9792" y="2915741"/>
            <a:ext cx="1104900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upo 11"/>
          <p:cNvGrpSpPr/>
          <p:nvPr/>
        </p:nvGrpSpPr>
        <p:grpSpPr>
          <a:xfrm>
            <a:off x="5904408" y="1331565"/>
            <a:ext cx="4159979" cy="3816424"/>
            <a:chOff x="5904408" y="1331565"/>
            <a:chExt cx="4159979" cy="3816424"/>
          </a:xfrm>
        </p:grpSpPr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192440" y="1331565"/>
              <a:ext cx="3871947" cy="38164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" name="Seta para a direita 17"/>
            <p:cNvSpPr/>
            <p:nvPr/>
          </p:nvSpPr>
          <p:spPr bwMode="auto">
            <a:xfrm>
              <a:off x="5904408" y="2699717"/>
              <a:ext cx="576064" cy="1080120"/>
            </a:xfrm>
            <a:prstGeom prst="righ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2"/>
                <a:buNone/>
                <a:tabLst/>
              </a:pPr>
              <a:endParaRPr kumimoji="0" lang="pt-BR" sz="1800" b="0" i="0" u="none" strike="noStrike" cap="none" normalizeH="0" baseline="0" smtClean="0">
                <a:ln>
                  <a:noFill/>
                </a:ln>
                <a:effectLst/>
                <a:latin typeface="Arial" charset="0"/>
                <a:ea typeface="MS Gothic" charset="-128"/>
              </a:endParaRPr>
            </a:p>
          </p:txBody>
        </p:sp>
      </p:grpSp>
      <p:grpSp>
        <p:nvGrpSpPr>
          <p:cNvPr id="4" name="Grupo 10"/>
          <p:cNvGrpSpPr/>
          <p:nvPr/>
        </p:nvGrpSpPr>
        <p:grpSpPr>
          <a:xfrm>
            <a:off x="1799952" y="1259557"/>
            <a:ext cx="4099777" cy="4504929"/>
            <a:chOff x="1799952" y="1259557"/>
            <a:chExt cx="4099777" cy="4504929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232000" y="1259557"/>
              <a:ext cx="3667729" cy="2267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53" name="Picture 5" descr="http://franchisestore.files.wordpress.com/2009/07/pegn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532736" y="2915741"/>
              <a:ext cx="2126591" cy="1440160"/>
            </a:xfrm>
            <a:prstGeom prst="rect">
              <a:avLst/>
            </a:prstGeom>
            <a:noFill/>
          </p:spPr>
        </p:pic>
        <p:pic>
          <p:nvPicPr>
            <p:cNvPr id="2055" name="Picture 7" descr="http://1.bp.blogspot.com/_2HFE9v9JMGY/SO3gwfQcvjI/AAAAAAAAC4w/6UJmlu22Nx0/s400/Jornais.jp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520032" y="4139877"/>
              <a:ext cx="1846146" cy="1624609"/>
            </a:xfrm>
            <a:prstGeom prst="rect">
              <a:avLst/>
            </a:prstGeom>
            <a:noFill/>
          </p:spPr>
        </p:pic>
        <p:sp>
          <p:nvSpPr>
            <p:cNvPr id="10" name="Seta para a direita 9"/>
            <p:cNvSpPr/>
            <p:nvPr/>
          </p:nvSpPr>
          <p:spPr bwMode="auto">
            <a:xfrm>
              <a:off x="1799952" y="3131765"/>
              <a:ext cx="576064" cy="576064"/>
            </a:xfrm>
            <a:prstGeom prst="righ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2"/>
                <a:buNone/>
                <a:tabLst/>
              </a:pPr>
              <a:endParaRPr kumimoji="0" lang="pt-BR" sz="1800" b="0" i="0" u="none" strike="noStrike" cap="none" normalizeH="0" baseline="0" smtClean="0">
                <a:ln>
                  <a:noFill/>
                </a:ln>
                <a:effectLst/>
                <a:latin typeface="Arial" charset="0"/>
                <a:ea typeface="MS Gothic" charset="-128"/>
              </a:endParaRPr>
            </a:p>
          </p:txBody>
        </p:sp>
      </p:grpSp>
      <p:sp>
        <p:nvSpPr>
          <p:cNvPr id="13" name="Retângulo de cantos arredondados 12"/>
          <p:cNvSpPr>
            <a:spLocks noChangeArrowheads="1"/>
          </p:cNvSpPr>
          <p:nvPr/>
        </p:nvSpPr>
        <p:spPr bwMode="auto">
          <a:xfrm>
            <a:off x="1439912" y="6228109"/>
            <a:ext cx="7286625" cy="1040706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>
            <a:solidFill>
              <a:srgbClr val="FF0000"/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pPr algn="ctr"/>
            <a:r>
              <a:rPr lang="pt-BR" sz="2400" dirty="0" smtClean="0"/>
              <a:t>Os leitores lêem o que os </a:t>
            </a:r>
            <a:r>
              <a:rPr lang="pt-BR" sz="2400" b="1" dirty="0" smtClean="0"/>
              <a:t>editores decidem </a:t>
            </a:r>
            <a:endParaRPr lang="pt-BR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Conteúdo 2.0 – Buscas e Redes Sociais</a:t>
            </a:r>
            <a:endParaRPr lang="pt-BR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237" y="1547589"/>
            <a:ext cx="3871947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upo 21"/>
          <p:cNvGrpSpPr/>
          <p:nvPr/>
        </p:nvGrpSpPr>
        <p:grpSpPr>
          <a:xfrm>
            <a:off x="3672160" y="2051645"/>
            <a:ext cx="3145650" cy="2770989"/>
            <a:chOff x="3672160" y="2051645"/>
            <a:chExt cx="3145650" cy="2770989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104208" y="2051645"/>
              <a:ext cx="2713602" cy="27709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Seta para a direita 10"/>
            <p:cNvSpPr/>
            <p:nvPr/>
          </p:nvSpPr>
          <p:spPr bwMode="auto">
            <a:xfrm>
              <a:off x="3672160" y="2915741"/>
              <a:ext cx="576064" cy="1080120"/>
            </a:xfrm>
            <a:prstGeom prst="righ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2"/>
                <a:buNone/>
                <a:tabLst/>
              </a:pPr>
              <a:endParaRPr kumimoji="0" lang="pt-BR" sz="1800" b="0" i="0" u="none" strike="noStrike" cap="none" normalizeH="0" baseline="0" smtClean="0">
                <a:ln>
                  <a:noFill/>
                </a:ln>
                <a:effectLst/>
                <a:latin typeface="Arial" charset="0"/>
                <a:ea typeface="MS Gothic" charset="-128"/>
              </a:endParaRPr>
            </a:p>
          </p:txBody>
        </p:sp>
      </p:grpSp>
      <p:grpSp>
        <p:nvGrpSpPr>
          <p:cNvPr id="4" name="Grupo 23"/>
          <p:cNvGrpSpPr/>
          <p:nvPr/>
        </p:nvGrpSpPr>
        <p:grpSpPr>
          <a:xfrm>
            <a:off x="6552480" y="1187549"/>
            <a:ext cx="3279991" cy="5519857"/>
            <a:chOff x="6552480" y="1187549"/>
            <a:chExt cx="3279991" cy="5519857"/>
          </a:xfrm>
        </p:grpSpPr>
        <p:sp>
          <p:nvSpPr>
            <p:cNvPr id="12" name="Seta para a direita 11"/>
            <p:cNvSpPr/>
            <p:nvPr/>
          </p:nvSpPr>
          <p:spPr bwMode="auto">
            <a:xfrm>
              <a:off x="6552480" y="2843733"/>
              <a:ext cx="576064" cy="576064"/>
            </a:xfrm>
            <a:prstGeom prst="righ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2"/>
                <a:buNone/>
                <a:tabLst/>
              </a:pPr>
              <a:endParaRPr kumimoji="0" lang="pt-BR" sz="1800" b="0" i="0" u="none" strike="noStrike" cap="none" normalizeH="0" baseline="0" smtClean="0">
                <a:ln>
                  <a:noFill/>
                </a:ln>
                <a:effectLst/>
                <a:latin typeface="Arial" charset="0"/>
                <a:ea typeface="MS Gothic" charset="-128"/>
              </a:endParaRPr>
            </a:p>
          </p:txBody>
        </p:sp>
        <p:pic>
          <p:nvPicPr>
            <p:cNvPr id="19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8424688" y="5796061"/>
              <a:ext cx="1373258" cy="911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1" name="Picture 5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7344568" y="2627709"/>
              <a:ext cx="1285875" cy="853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" name="Picture 2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704608" y="5075981"/>
              <a:ext cx="1047743" cy="7905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" name="Picture 3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8784728" y="4499917"/>
              <a:ext cx="1047743" cy="695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7560592" y="3779837"/>
              <a:ext cx="1228725" cy="857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7826" name="Picture 2" descr="http://www.gstatic.com/onebox/sports/worldcup/wc2010winner.png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7272560" y="1187549"/>
              <a:ext cx="1008112" cy="1008112"/>
            </a:xfrm>
            <a:prstGeom prst="rect">
              <a:avLst/>
            </a:prstGeom>
            <a:noFill/>
          </p:spPr>
        </p:pic>
        <p:pic>
          <p:nvPicPr>
            <p:cNvPr id="77828" name="Picture 4" descr="http://t3.gstatic.com/images?q=tbn:v-fzKgPziWLHXM:http://fabioramalho.recordrio.com.br/wp-content/uploads/2010/06/bruno.jpg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8352680" y="1619597"/>
              <a:ext cx="1285875" cy="914401"/>
            </a:xfrm>
            <a:prstGeom prst="rect">
              <a:avLst/>
            </a:prstGeom>
            <a:noFill/>
          </p:spPr>
        </p:pic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8712720" y="2843733"/>
              <a:ext cx="1047743" cy="7524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0" name="Retângulo de cantos arredondados 19"/>
          <p:cNvSpPr>
            <a:spLocks noChangeArrowheads="1"/>
          </p:cNvSpPr>
          <p:nvPr/>
        </p:nvSpPr>
        <p:spPr bwMode="auto">
          <a:xfrm>
            <a:off x="1439912" y="6228109"/>
            <a:ext cx="7286625" cy="1040706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>
            <a:solidFill>
              <a:srgbClr val="FF0000"/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pPr algn="ctr"/>
            <a:r>
              <a:rPr lang="pt-BR" sz="2400" dirty="0" smtClean="0"/>
              <a:t>Os leitores lêem o que </a:t>
            </a:r>
            <a:r>
              <a:rPr lang="pt-BR" sz="2800" b="1" dirty="0" smtClean="0"/>
              <a:t>querem</a:t>
            </a:r>
            <a:endParaRPr lang="pt-BR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Google sabe os desejos das pessoas</a:t>
            </a:r>
            <a:endParaRPr lang="pt-BR" dirty="0"/>
          </a:p>
        </p:txBody>
      </p:sp>
      <p:grpSp>
        <p:nvGrpSpPr>
          <p:cNvPr id="3" name="Grupo 11"/>
          <p:cNvGrpSpPr/>
          <p:nvPr/>
        </p:nvGrpSpPr>
        <p:grpSpPr>
          <a:xfrm>
            <a:off x="253966" y="779441"/>
            <a:ext cx="9025841" cy="6301168"/>
            <a:chOff x="253966" y="779441"/>
            <a:chExt cx="9025841" cy="6301168"/>
          </a:xfrm>
        </p:grpSpPr>
        <p:pic>
          <p:nvPicPr>
            <p:cNvPr id="4" name="Imagem 3" descr="iStock_000008235598XSmall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8676" y="5137159"/>
              <a:ext cx="2928958" cy="1943450"/>
            </a:xfrm>
            <a:prstGeom prst="rect">
              <a:avLst/>
            </a:prstGeom>
          </p:spPr>
        </p:pic>
        <p:pic>
          <p:nvPicPr>
            <p:cNvPr id="5" name="Imagem 4" descr="Notebook - iStock_000001353824XSmall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83320" y="1708135"/>
              <a:ext cx="2159000" cy="1432560"/>
            </a:xfrm>
            <a:prstGeom prst="rect">
              <a:avLst/>
            </a:prstGeom>
          </p:spPr>
        </p:pic>
        <p:pic>
          <p:nvPicPr>
            <p:cNvPr id="6" name="Imagem 5" descr="Massagem - iStock_000006308697XSmall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4428" y="779441"/>
              <a:ext cx="2252674" cy="1689506"/>
            </a:xfrm>
            <a:prstGeom prst="rect">
              <a:avLst/>
            </a:prstGeom>
          </p:spPr>
        </p:pic>
        <p:pic>
          <p:nvPicPr>
            <p:cNvPr id="7" name="Imagem 6" descr="iStock_000008536015XSmall.jp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5404" y="4422779"/>
              <a:ext cx="2756161" cy="1828794"/>
            </a:xfrm>
            <a:prstGeom prst="rect">
              <a:avLst/>
            </a:prstGeom>
          </p:spPr>
        </p:pic>
        <p:pic>
          <p:nvPicPr>
            <p:cNvPr id="9" name="Imagem 8" descr="instrutor-iStock_000007419146Small.jp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3966" y="1350945"/>
              <a:ext cx="3238500" cy="2152650"/>
            </a:xfrm>
            <a:prstGeom prst="rect">
              <a:avLst/>
            </a:prstGeom>
          </p:spPr>
        </p:pic>
        <p:pic>
          <p:nvPicPr>
            <p:cNvPr id="11" name="Imagem 10" descr="computadores-iStock_000005085216XSmall.jp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12014" y="4279903"/>
              <a:ext cx="2167793" cy="2161547"/>
            </a:xfrm>
            <a:prstGeom prst="rect">
              <a:avLst/>
            </a:prstGeom>
          </p:spPr>
        </p:pic>
      </p:grpSp>
      <p:grpSp>
        <p:nvGrpSpPr>
          <p:cNvPr id="8" name="Grupo 13"/>
          <p:cNvGrpSpPr/>
          <p:nvPr/>
        </p:nvGrpSpPr>
        <p:grpSpPr>
          <a:xfrm>
            <a:off x="1136681" y="2076450"/>
            <a:ext cx="8332787" cy="3403600"/>
            <a:chOff x="1136681" y="2076450"/>
            <a:chExt cx="8332787" cy="34036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1136681" y="2076450"/>
              <a:ext cx="8332787" cy="3403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3" name="CaixaDeTexto 12"/>
            <p:cNvSpPr txBox="1"/>
            <p:nvPr/>
          </p:nvSpPr>
          <p:spPr>
            <a:xfrm>
              <a:off x="1396974" y="3994151"/>
              <a:ext cx="2534668" cy="378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b="1" dirty="0" smtClean="0"/>
                <a:t>Qual o seu desejo?</a:t>
              </a:r>
              <a:endParaRPr lang="pt-BR" sz="2000" b="1" dirty="0"/>
            </a:p>
          </p:txBody>
        </p:sp>
      </p:grpSp>
      <p:grpSp>
        <p:nvGrpSpPr>
          <p:cNvPr id="10" name="Grupo 15"/>
          <p:cNvGrpSpPr/>
          <p:nvPr/>
        </p:nvGrpSpPr>
        <p:grpSpPr>
          <a:xfrm>
            <a:off x="575816" y="3779837"/>
            <a:ext cx="8750776" cy="3143272"/>
            <a:chOff x="575816" y="3779837"/>
            <a:chExt cx="8750776" cy="3143272"/>
          </a:xfrm>
        </p:grpSpPr>
        <p:sp>
          <p:nvSpPr>
            <p:cNvPr id="14" name="Retângulo de cantos arredondados 13"/>
            <p:cNvSpPr/>
            <p:nvPr/>
          </p:nvSpPr>
          <p:spPr bwMode="auto">
            <a:xfrm>
              <a:off x="575816" y="3779837"/>
              <a:ext cx="8750776" cy="3143272"/>
            </a:xfrm>
            <a:prstGeom prst="roundRect">
              <a:avLst>
                <a:gd name="adj" fmla="val 4725"/>
              </a:avLst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0783" tIns="50392" rIns="100783" bIns="50392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pt-BR" sz="3200" b="1" dirty="0" smtClean="0"/>
            </a:p>
          </p:txBody>
        </p:sp>
        <p:sp>
          <p:nvSpPr>
            <p:cNvPr id="15" name="CaixaDeTexto 14"/>
            <p:cNvSpPr txBox="1"/>
            <p:nvPr/>
          </p:nvSpPr>
          <p:spPr>
            <a:xfrm>
              <a:off x="2880072" y="4427909"/>
              <a:ext cx="6082623" cy="1752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800" dirty="0" smtClean="0"/>
                <a:t>O Google possui o maior “banco de dados das </a:t>
              </a:r>
              <a:r>
                <a:rPr lang="pt-BR" sz="3200" b="1" dirty="0" smtClean="0">
                  <a:solidFill>
                    <a:srgbClr val="FF0000"/>
                  </a:solidFill>
                </a:rPr>
                <a:t>intenções humanas</a:t>
              </a:r>
              <a:r>
                <a:rPr lang="pt-BR" sz="2800" dirty="0" smtClean="0"/>
                <a:t>” </a:t>
              </a:r>
            </a:p>
            <a:p>
              <a:pPr algn="ctr"/>
              <a:r>
                <a:rPr lang="pt-BR" sz="2800" b="1" dirty="0" smtClean="0"/>
                <a:t>John </a:t>
              </a:r>
              <a:r>
                <a:rPr lang="pt-BR" sz="2800" b="1" dirty="0" err="1" smtClean="0"/>
                <a:t>Battelle</a:t>
              </a:r>
              <a:endParaRPr lang="pt-BR" sz="3600" b="1" dirty="0" smtClean="0"/>
            </a:p>
            <a:p>
              <a:endParaRPr lang="pt-BR" sz="2800" dirty="0"/>
            </a:p>
          </p:txBody>
        </p:sp>
        <p:pic>
          <p:nvPicPr>
            <p:cNvPr id="61442" name="Picture 2" descr="http://battellemedia.com/images/abusca.jpg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863848" y="3995861"/>
              <a:ext cx="1872208" cy="269129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SEM?</a:t>
            </a:r>
            <a:endParaRPr lang="pt-BR" dirty="0"/>
          </a:p>
        </p:txBody>
      </p:sp>
      <p:sp>
        <p:nvSpPr>
          <p:cNvPr id="4" name="Retângulo de cantos arredondados 3"/>
          <p:cNvSpPr/>
          <p:nvPr/>
        </p:nvSpPr>
        <p:spPr bwMode="auto">
          <a:xfrm>
            <a:off x="1079872" y="827509"/>
            <a:ext cx="7486405" cy="1023713"/>
          </a:xfrm>
          <a:prstGeom prst="round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3600" b="1" dirty="0" smtClean="0">
                <a:solidFill>
                  <a:srgbClr val="FF0000"/>
                </a:solidFill>
              </a:rPr>
              <a:t>SEM (search </a:t>
            </a:r>
            <a:r>
              <a:rPr lang="pt-BR" sz="3600" b="1" dirty="0" err="1" smtClean="0">
                <a:solidFill>
                  <a:srgbClr val="FF0000"/>
                </a:solidFill>
              </a:rPr>
              <a:t>engine</a:t>
            </a:r>
            <a:r>
              <a:rPr lang="pt-BR" sz="3600" b="1" dirty="0" smtClean="0">
                <a:solidFill>
                  <a:srgbClr val="FF0000"/>
                </a:solidFill>
              </a:rPr>
              <a:t> marketing)</a:t>
            </a:r>
            <a:endParaRPr lang="pt-BR" sz="3600" b="1" dirty="0">
              <a:solidFill>
                <a:srgbClr val="FF0000"/>
              </a:solidFill>
            </a:endParaRPr>
          </a:p>
        </p:txBody>
      </p:sp>
      <p:grpSp>
        <p:nvGrpSpPr>
          <p:cNvPr id="3" name="Grupo 11"/>
          <p:cNvGrpSpPr/>
          <p:nvPr/>
        </p:nvGrpSpPr>
        <p:grpSpPr>
          <a:xfrm>
            <a:off x="1151880" y="2051645"/>
            <a:ext cx="7344816" cy="2520280"/>
            <a:chOff x="1151880" y="2339677"/>
            <a:chExt cx="7344816" cy="2520280"/>
          </a:xfrm>
        </p:grpSpPr>
        <p:sp>
          <p:nvSpPr>
            <p:cNvPr id="5" name="Retângulo de cantos arredondados 4"/>
            <p:cNvSpPr/>
            <p:nvPr/>
          </p:nvSpPr>
          <p:spPr bwMode="auto">
            <a:xfrm>
              <a:off x="4968304" y="3419797"/>
              <a:ext cx="3528392" cy="1440160"/>
            </a:xfrm>
            <a:prstGeom prst="round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0794" tIns="50397" rIns="100794" bIns="50397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3600" b="1" dirty="0" smtClean="0">
                  <a:solidFill>
                    <a:srgbClr val="FF0000"/>
                  </a:solidFill>
                </a:rPr>
                <a:t>Links Patrocinados</a:t>
              </a:r>
              <a:endParaRPr lang="pt-BR" sz="3600" b="1" dirty="0">
                <a:solidFill>
                  <a:srgbClr val="FF0000"/>
                </a:solidFill>
              </a:endParaRPr>
            </a:p>
          </p:txBody>
        </p:sp>
        <p:sp>
          <p:nvSpPr>
            <p:cNvPr id="6" name="Retângulo de cantos arredondados 5"/>
            <p:cNvSpPr/>
            <p:nvPr/>
          </p:nvSpPr>
          <p:spPr bwMode="auto">
            <a:xfrm>
              <a:off x="1151880" y="3419797"/>
              <a:ext cx="3528392" cy="1440160"/>
            </a:xfrm>
            <a:prstGeom prst="round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0794" tIns="50397" rIns="100794" bIns="50397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3600" b="1" dirty="0" smtClean="0">
                  <a:solidFill>
                    <a:srgbClr val="FF0000"/>
                  </a:solidFill>
                </a:rPr>
                <a:t>SEO</a:t>
              </a:r>
            </a:p>
            <a:p>
              <a:pPr algn="ctr"/>
              <a:r>
                <a:rPr lang="pt-BR" sz="2400" b="1" dirty="0" smtClean="0">
                  <a:solidFill>
                    <a:srgbClr val="FF0000"/>
                  </a:solidFill>
                </a:rPr>
                <a:t>(search </a:t>
              </a:r>
              <a:r>
                <a:rPr lang="pt-BR" sz="2400" b="1" dirty="0" err="1" smtClean="0">
                  <a:solidFill>
                    <a:srgbClr val="FF0000"/>
                  </a:solidFill>
                </a:rPr>
                <a:t>engine</a:t>
              </a:r>
              <a:r>
                <a:rPr lang="pt-BR" sz="2400" b="1" dirty="0" smtClean="0">
                  <a:solidFill>
                    <a:srgbClr val="FF0000"/>
                  </a:solidFill>
                </a:rPr>
                <a:t> </a:t>
              </a:r>
              <a:r>
                <a:rPr lang="pt-BR" sz="2400" b="1" dirty="0" err="1" smtClean="0">
                  <a:solidFill>
                    <a:srgbClr val="FF0000"/>
                  </a:solidFill>
                </a:rPr>
                <a:t>optimization</a:t>
              </a:r>
              <a:r>
                <a:rPr lang="pt-BR" sz="2400" b="1" dirty="0" smtClean="0">
                  <a:solidFill>
                    <a:srgbClr val="FF0000"/>
                  </a:solidFill>
                </a:rPr>
                <a:t>)</a:t>
              </a:r>
              <a:endParaRPr lang="pt-BR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7" name="Seta para baixo 6"/>
            <p:cNvSpPr/>
            <p:nvPr/>
          </p:nvSpPr>
          <p:spPr bwMode="auto">
            <a:xfrm>
              <a:off x="3384128" y="2339677"/>
              <a:ext cx="3024336" cy="792088"/>
            </a:xfrm>
            <a:prstGeom prst="downArrow">
              <a:avLst>
                <a:gd name="adj1" fmla="val 59747"/>
                <a:gd name="adj2" fmla="val 47975"/>
              </a:avLst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2"/>
                <a:buNone/>
                <a:tabLst/>
              </a:pPr>
              <a:endParaRPr kumimoji="0" lang="pt-BR" sz="1800" b="0" i="0" u="none" strike="noStrike" cap="none" normalizeH="0" baseline="0" smtClean="0">
                <a:ln>
                  <a:noFill/>
                </a:ln>
                <a:effectLst/>
                <a:latin typeface="Arial" charset="0"/>
                <a:ea typeface="MS Gothic" charset="-128"/>
              </a:endParaRPr>
            </a:p>
          </p:txBody>
        </p:sp>
      </p:grpSp>
      <p:grpSp>
        <p:nvGrpSpPr>
          <p:cNvPr id="12" name="Grupo 19"/>
          <p:cNvGrpSpPr/>
          <p:nvPr/>
        </p:nvGrpSpPr>
        <p:grpSpPr>
          <a:xfrm>
            <a:off x="575816" y="4931965"/>
            <a:ext cx="9119889" cy="2389258"/>
            <a:chOff x="719832" y="4931965"/>
            <a:chExt cx="9119889" cy="2389258"/>
          </a:xfrm>
        </p:grpSpPr>
        <p:grpSp>
          <p:nvGrpSpPr>
            <p:cNvPr id="13" name="Grupo 12"/>
            <p:cNvGrpSpPr/>
            <p:nvPr/>
          </p:nvGrpSpPr>
          <p:grpSpPr>
            <a:xfrm>
              <a:off x="719832" y="5075981"/>
              <a:ext cx="6447400" cy="2160240"/>
              <a:chOff x="1151880" y="5075981"/>
              <a:chExt cx="6447400" cy="2160240"/>
            </a:xfrm>
          </p:grpSpPr>
          <p:sp>
            <p:nvSpPr>
              <p:cNvPr id="8" name="CaixaDeTexto 7"/>
              <p:cNvSpPr txBox="1"/>
              <p:nvPr/>
            </p:nvSpPr>
            <p:spPr>
              <a:xfrm>
                <a:off x="1151880" y="5796061"/>
                <a:ext cx="3031599" cy="6075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3600" b="1" dirty="0" smtClean="0"/>
                  <a:t>SEO</a:t>
                </a:r>
                <a:r>
                  <a:rPr lang="pt-BR" sz="3600" dirty="0" smtClean="0"/>
                  <a:t> fala com</a:t>
                </a:r>
                <a:endParaRPr lang="pt-BR" dirty="0"/>
              </a:p>
            </p:txBody>
          </p:sp>
          <p:sp>
            <p:nvSpPr>
              <p:cNvPr id="9" name="Chave esquerda 8"/>
              <p:cNvSpPr/>
              <p:nvPr/>
            </p:nvSpPr>
            <p:spPr bwMode="auto">
              <a:xfrm>
                <a:off x="4320232" y="5075981"/>
                <a:ext cx="648072" cy="2160240"/>
              </a:xfrm>
              <a:prstGeom prst="leftBrace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charset="2"/>
                  <a:buNone/>
                  <a:tabLst/>
                </a:pPr>
                <a:endParaRPr kumimoji="0" lang="pt-BR" sz="1800" b="0" i="0" u="none" strike="noStrike" cap="none" normalizeH="0" baseline="0" smtClean="0">
                  <a:ln>
                    <a:noFill/>
                  </a:ln>
                  <a:effectLst/>
                  <a:latin typeface="Arial" charset="0"/>
                  <a:ea typeface="MS Gothic" charset="-128"/>
                </a:endParaRPr>
              </a:p>
            </p:txBody>
          </p:sp>
          <p:sp>
            <p:nvSpPr>
              <p:cNvPr id="10" name="CaixaDeTexto 9"/>
              <p:cNvSpPr txBox="1"/>
              <p:nvPr/>
            </p:nvSpPr>
            <p:spPr>
              <a:xfrm>
                <a:off x="4896296" y="5292005"/>
                <a:ext cx="1645002" cy="4930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800" b="1" dirty="0" smtClean="0"/>
                  <a:t>Pessoas</a:t>
                </a:r>
                <a:endParaRPr lang="pt-BR" sz="1400" dirty="0"/>
              </a:p>
            </p:txBody>
          </p:sp>
          <p:sp>
            <p:nvSpPr>
              <p:cNvPr id="11" name="CaixaDeTexto 10"/>
              <p:cNvSpPr txBox="1"/>
              <p:nvPr/>
            </p:nvSpPr>
            <p:spPr>
              <a:xfrm>
                <a:off x="4896296" y="6372125"/>
                <a:ext cx="2702984" cy="4930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800" b="1" dirty="0" smtClean="0"/>
                  <a:t>Sites de busca</a:t>
                </a:r>
                <a:endParaRPr lang="pt-BR" sz="1400" dirty="0"/>
              </a:p>
            </p:txBody>
          </p:sp>
        </p:grp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912520" y="4931965"/>
              <a:ext cx="1047750" cy="1028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128544" y="6300117"/>
              <a:ext cx="1381695" cy="477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30" name="Picture 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8568704" y="6588149"/>
              <a:ext cx="1028700" cy="447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7416576" y="6732165"/>
              <a:ext cx="1152128" cy="58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32" name="Picture 8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8496696" y="6156101"/>
              <a:ext cx="1343025" cy="257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558" y="611485"/>
            <a:ext cx="8220977" cy="6696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67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O que são Links Patrocinados?</a:t>
            </a:r>
          </a:p>
        </p:txBody>
      </p:sp>
      <p:sp>
        <p:nvSpPr>
          <p:cNvPr id="5" name="Retângulo 8"/>
          <p:cNvSpPr>
            <a:spLocks noChangeArrowheads="1"/>
          </p:cNvSpPr>
          <p:nvPr/>
        </p:nvSpPr>
        <p:spPr bwMode="auto">
          <a:xfrm>
            <a:off x="7268110" y="1224061"/>
            <a:ext cx="1963425" cy="6084168"/>
          </a:xfrm>
          <a:prstGeom prst="rect">
            <a:avLst/>
          </a:prstGeom>
          <a:solidFill>
            <a:srgbClr val="FFFFCC">
              <a:alpha val="30196"/>
            </a:srgbClr>
          </a:solidFill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pPr algn="ctr" hangingPunct="0">
              <a:lnSpc>
                <a:spcPct val="89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pt-BR" b="1"/>
              <a:t>Links patrocinados</a:t>
            </a:r>
          </a:p>
        </p:txBody>
      </p:sp>
      <p:sp>
        <p:nvSpPr>
          <p:cNvPr id="7" name="Retângulo 8"/>
          <p:cNvSpPr>
            <a:spLocks noChangeArrowheads="1"/>
          </p:cNvSpPr>
          <p:nvPr/>
        </p:nvSpPr>
        <p:spPr bwMode="auto">
          <a:xfrm>
            <a:off x="2087984" y="1224060"/>
            <a:ext cx="5180126" cy="1404839"/>
          </a:xfrm>
          <a:prstGeom prst="rect">
            <a:avLst/>
          </a:prstGeom>
          <a:solidFill>
            <a:srgbClr val="FFFFCC">
              <a:alpha val="30196"/>
            </a:srgbClr>
          </a:solidFill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pPr algn="ctr" hangingPunct="0">
              <a:lnSpc>
                <a:spcPct val="89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pt-BR" sz="2800" b="1"/>
              <a:t>Links patrocinados</a:t>
            </a:r>
          </a:p>
        </p:txBody>
      </p:sp>
      <p:sp>
        <p:nvSpPr>
          <p:cNvPr id="8" name="Retângulo 8"/>
          <p:cNvSpPr>
            <a:spLocks noChangeArrowheads="1"/>
          </p:cNvSpPr>
          <p:nvPr/>
        </p:nvSpPr>
        <p:spPr bwMode="auto">
          <a:xfrm>
            <a:off x="2087984" y="2627709"/>
            <a:ext cx="5180126" cy="4680520"/>
          </a:xfrm>
          <a:prstGeom prst="rect">
            <a:avLst/>
          </a:prstGeom>
          <a:solidFill>
            <a:srgbClr val="FFFF00">
              <a:alpha val="30196"/>
            </a:srgbClr>
          </a:solidFill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pPr algn="ctr" hangingPunct="0">
              <a:lnSpc>
                <a:spcPct val="89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pt-BR" sz="2800" b="1">
                <a:solidFill>
                  <a:srgbClr val="FF0000"/>
                </a:solidFill>
              </a:rPr>
              <a:t>Resultados Orgânicos</a:t>
            </a:r>
          </a:p>
          <a:p>
            <a:pPr algn="ctr" hangingPunct="0">
              <a:lnSpc>
                <a:spcPct val="89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pt-BR" sz="2800" b="1">
                <a:solidFill>
                  <a:srgbClr val="FF0000"/>
                </a:solidFill>
              </a:rPr>
              <a:t>(Gratuitos)</a:t>
            </a:r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auto">
          <a:xfrm>
            <a:off x="2087984" y="2627709"/>
            <a:ext cx="5180126" cy="4680520"/>
          </a:xfrm>
          <a:prstGeom prst="rect">
            <a:avLst/>
          </a:prstGeom>
          <a:solidFill>
            <a:srgbClr val="FFFFCC">
              <a:alpha val="70979"/>
            </a:srgbClr>
          </a:solidFill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pPr algn="ctr" hangingPunct="0">
              <a:lnSpc>
                <a:spcPct val="89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pt-BR" b="1"/>
              <a:t>Os links patrocinados são um LEILÃO </a:t>
            </a:r>
          </a:p>
          <a:p>
            <a:pPr algn="ctr" hangingPunct="0">
              <a:lnSpc>
                <a:spcPct val="89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pt-BR" b="1"/>
              <a:t>de PALAVRAS-CHAVES</a:t>
            </a:r>
          </a:p>
          <a:p>
            <a:pPr algn="ctr" hangingPunct="0">
              <a:lnSpc>
                <a:spcPct val="89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b="1"/>
          </a:p>
          <a:p>
            <a:pPr algn="ctr" hangingPunct="0">
              <a:lnSpc>
                <a:spcPct val="89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pt-BR" sz="2400" b="1"/>
              <a:t>Clique = $</a:t>
            </a:r>
            <a:endParaRPr lang="pt-BR" b="1"/>
          </a:p>
        </p:txBody>
      </p:sp>
      <p:sp>
        <p:nvSpPr>
          <p:cNvPr id="10" name="Retângulo 8"/>
          <p:cNvSpPr>
            <a:spLocks noChangeArrowheads="1"/>
          </p:cNvSpPr>
          <p:nvPr/>
        </p:nvSpPr>
        <p:spPr bwMode="auto">
          <a:xfrm>
            <a:off x="2087984" y="677862"/>
            <a:ext cx="1666454" cy="428625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pPr algn="ctr" hangingPunct="0">
              <a:lnSpc>
                <a:spcPct val="89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b="1"/>
          </a:p>
        </p:txBody>
      </p:sp>
    </p:spTree>
    <p:extLst>
      <p:ext uri="{BB962C8B-B14F-4D97-AF65-F5344CB8AC3E}">
        <p14:creationId xmlns:p14="http://schemas.microsoft.com/office/powerpoint/2010/main" val="2154593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896" y="611485"/>
            <a:ext cx="7848872" cy="6615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291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Rede de Display?</a:t>
            </a:r>
          </a:p>
        </p:txBody>
      </p:sp>
      <p:sp>
        <p:nvSpPr>
          <p:cNvPr id="5" name="Retângulo 8"/>
          <p:cNvSpPr>
            <a:spLocks noChangeArrowheads="1"/>
          </p:cNvSpPr>
          <p:nvPr/>
        </p:nvSpPr>
        <p:spPr bwMode="auto">
          <a:xfrm>
            <a:off x="6469063" y="4715941"/>
            <a:ext cx="2603697" cy="2088232"/>
          </a:xfrm>
          <a:prstGeom prst="rect">
            <a:avLst/>
          </a:prstGeom>
          <a:solidFill>
            <a:srgbClr val="FFFFCC">
              <a:alpha val="30196"/>
            </a:srgbClr>
          </a:solidFill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pPr algn="ctr" hangingPunct="0">
              <a:lnSpc>
                <a:spcPct val="89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pt-BR" b="1" dirty="0"/>
              <a:t>REDE DE </a:t>
            </a:r>
            <a:r>
              <a:rPr lang="pt-BR" b="1" dirty="0" smtClean="0"/>
              <a:t>DISPLAY</a:t>
            </a:r>
          </a:p>
          <a:p>
            <a:pPr algn="ctr" hangingPunct="0">
              <a:lnSpc>
                <a:spcPct val="89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b="1" dirty="0"/>
          </a:p>
          <a:p>
            <a:pPr algn="ctr" hangingPunct="0">
              <a:lnSpc>
                <a:spcPct val="89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pt-BR" b="1" dirty="0" smtClean="0"/>
              <a:t>TEXTO</a:t>
            </a:r>
            <a:endParaRPr lang="pt-BR" b="1" dirty="0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auto">
          <a:xfrm>
            <a:off x="1943968" y="1187550"/>
            <a:ext cx="5616624" cy="792088"/>
          </a:xfrm>
          <a:prstGeom prst="rect">
            <a:avLst/>
          </a:prstGeom>
          <a:solidFill>
            <a:srgbClr val="FFFFCC">
              <a:alpha val="51000"/>
            </a:srgbClr>
          </a:solidFill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pPr algn="ctr" hangingPunct="0">
              <a:lnSpc>
                <a:spcPct val="89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pt-BR" b="1" dirty="0"/>
              <a:t>REDE DE </a:t>
            </a:r>
            <a:r>
              <a:rPr lang="pt-BR" b="1" dirty="0" smtClean="0"/>
              <a:t>DISPLAY</a:t>
            </a:r>
            <a:endParaRPr lang="pt-BR" b="1" dirty="0"/>
          </a:p>
          <a:p>
            <a:pPr algn="ctr" hangingPunct="0">
              <a:lnSpc>
                <a:spcPct val="89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pt-BR" b="1" dirty="0"/>
              <a:t>Anúncios gráficos</a:t>
            </a:r>
          </a:p>
        </p:txBody>
      </p:sp>
    </p:spTree>
    <p:extLst>
      <p:ext uri="{BB962C8B-B14F-4D97-AF65-F5344CB8AC3E}">
        <p14:creationId xmlns:p14="http://schemas.microsoft.com/office/powerpoint/2010/main" val="368033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Display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Mapas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5" y="1259557"/>
            <a:ext cx="9948319" cy="5020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1061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Display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imagens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43533"/>
            <a:ext cx="10091448" cy="5169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8127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/>
          <p:cNvGrpSpPr/>
          <p:nvPr/>
        </p:nvGrpSpPr>
        <p:grpSpPr>
          <a:xfrm>
            <a:off x="215776" y="1907629"/>
            <a:ext cx="9583738" cy="5151951"/>
            <a:chOff x="215776" y="1907629"/>
            <a:chExt cx="9583738" cy="5151951"/>
          </a:xfrm>
        </p:grpSpPr>
        <p:grpSp>
          <p:nvGrpSpPr>
            <p:cNvPr id="9" name="Grupo 8"/>
            <p:cNvGrpSpPr/>
            <p:nvPr/>
          </p:nvGrpSpPr>
          <p:grpSpPr>
            <a:xfrm>
              <a:off x="215776" y="1907629"/>
              <a:ext cx="9583738" cy="5151951"/>
              <a:chOff x="-4757738" y="1779588"/>
              <a:chExt cx="9583738" cy="5151951"/>
            </a:xfrm>
          </p:grpSpPr>
          <p:pic>
            <p:nvPicPr>
              <p:cNvPr id="1031" name="Picture 7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757738" y="1779588"/>
                <a:ext cx="9583738" cy="51519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1" name="Retângulo 8"/>
              <p:cNvSpPr>
                <a:spLocks noChangeArrowheads="1"/>
              </p:cNvSpPr>
              <p:nvPr/>
            </p:nvSpPr>
            <p:spPr bwMode="auto">
              <a:xfrm>
                <a:off x="2550836" y="2994035"/>
                <a:ext cx="2132289" cy="713794"/>
              </a:xfrm>
              <a:prstGeom prst="rect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lIns="100783" tIns="50392" rIns="100783" bIns="50392" anchor="ctr"/>
              <a:lstStyle/>
              <a:p>
                <a:pPr algn="ctr" hangingPunct="0">
                  <a:lnSpc>
                    <a:spcPct val="89000"/>
                  </a:lnSpc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</a:pPr>
                <a:endParaRPr lang="pt-BR" b="1"/>
              </a:p>
            </p:txBody>
          </p:sp>
        </p:grpSp>
        <p:sp>
          <p:nvSpPr>
            <p:cNvPr id="38" name="Retângulo 6"/>
            <p:cNvSpPr>
              <a:spLocks noChangeArrowheads="1"/>
            </p:cNvSpPr>
            <p:nvPr/>
          </p:nvSpPr>
          <p:spPr bwMode="auto">
            <a:xfrm>
              <a:off x="1682750" y="2427288"/>
              <a:ext cx="1214438" cy="285750"/>
            </a:xfrm>
            <a:prstGeom prst="rect">
              <a:avLst/>
            </a:prstGeom>
            <a:solidFill>
              <a:srgbClr val="FFFFCC">
                <a:alpha val="30196"/>
              </a:srgbClr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</a:pPr>
              <a:endParaRPr lang="pt-BR"/>
            </a:p>
          </p:txBody>
        </p:sp>
      </p:grpSp>
      <p:sp>
        <p:nvSpPr>
          <p:cNvPr id="2969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Índice de qualidade</a:t>
            </a:r>
          </a:p>
        </p:txBody>
      </p:sp>
      <p:sp>
        <p:nvSpPr>
          <p:cNvPr id="29706" name="TextBox 20"/>
          <p:cNvSpPr txBox="1">
            <a:spLocks noChangeArrowheads="1"/>
          </p:cNvSpPr>
          <p:nvPr/>
        </p:nvSpPr>
        <p:spPr bwMode="auto">
          <a:xfrm>
            <a:off x="-979488" y="2713038"/>
            <a:ext cx="1841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pt-BR"/>
          </a:p>
        </p:txBody>
      </p:sp>
      <p:pic>
        <p:nvPicPr>
          <p:cNvPr id="33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76" y="1910580"/>
            <a:ext cx="9583738" cy="5151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Retângulo 8"/>
          <p:cNvSpPr>
            <a:spLocks noChangeArrowheads="1"/>
          </p:cNvSpPr>
          <p:nvPr/>
        </p:nvSpPr>
        <p:spPr bwMode="auto">
          <a:xfrm>
            <a:off x="1617416" y="2920441"/>
            <a:ext cx="5906934" cy="558532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pPr algn="ctr" hangingPunct="0">
              <a:lnSpc>
                <a:spcPct val="89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b="1"/>
          </a:p>
        </p:txBody>
      </p:sp>
      <p:sp>
        <p:nvSpPr>
          <p:cNvPr id="29717" name="Pentágono 8"/>
          <p:cNvSpPr>
            <a:spLocks noChangeArrowheads="1"/>
          </p:cNvSpPr>
          <p:nvPr/>
        </p:nvSpPr>
        <p:spPr bwMode="auto">
          <a:xfrm>
            <a:off x="539750" y="779463"/>
            <a:ext cx="2000250" cy="785812"/>
          </a:xfrm>
          <a:prstGeom prst="homePlate">
            <a:avLst>
              <a:gd name="adj" fmla="val 50002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lIns="100783" tIns="50392" rIns="100783" bIns="50392" anchor="ctr"/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pt-BR" b="1">
                <a:solidFill>
                  <a:schemeClr val="bg1"/>
                </a:solidFill>
              </a:rPr>
              <a:t>Palavra-chave</a:t>
            </a:r>
          </a:p>
        </p:txBody>
      </p:sp>
      <p:sp>
        <p:nvSpPr>
          <p:cNvPr id="29715" name="Pentágono 9"/>
          <p:cNvSpPr>
            <a:spLocks noChangeArrowheads="1"/>
          </p:cNvSpPr>
          <p:nvPr/>
        </p:nvSpPr>
        <p:spPr bwMode="auto">
          <a:xfrm>
            <a:off x="2682875" y="779463"/>
            <a:ext cx="2000250" cy="785812"/>
          </a:xfrm>
          <a:prstGeom prst="homePlate">
            <a:avLst>
              <a:gd name="adj" fmla="val 50002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lIns="100783" tIns="50392" rIns="100783" bIns="50392" anchor="ctr"/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pt-BR" b="1" dirty="0">
                <a:solidFill>
                  <a:srgbClr val="FFFFFF"/>
                </a:solidFill>
              </a:rPr>
              <a:t>Título/Texto do anúncio</a:t>
            </a:r>
          </a:p>
        </p:txBody>
      </p:sp>
      <p:sp>
        <p:nvSpPr>
          <p:cNvPr id="29708" name="Retângulo 21"/>
          <p:cNvSpPr>
            <a:spLocks noChangeArrowheads="1"/>
          </p:cNvSpPr>
          <p:nvPr/>
        </p:nvSpPr>
        <p:spPr bwMode="auto">
          <a:xfrm>
            <a:off x="4325937" y="2070100"/>
            <a:ext cx="3000375" cy="1000125"/>
          </a:xfrm>
          <a:prstGeom prst="rect">
            <a:avLst/>
          </a:prstGeom>
          <a:solidFill>
            <a:srgbClr val="FFFFCC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pt-BR" sz="1400" b="1" dirty="0"/>
              <a:t>Cliques/Impressões</a:t>
            </a:r>
          </a:p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pt-BR" sz="2800" b="1" dirty="0"/>
              <a:t>%</a:t>
            </a:r>
          </a:p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pt-BR" sz="2000" b="1" dirty="0"/>
              <a:t>Interesse pelo Anúncio</a:t>
            </a:r>
          </a:p>
        </p:txBody>
      </p:sp>
      <p:sp>
        <p:nvSpPr>
          <p:cNvPr id="35" name="Pentágono 11"/>
          <p:cNvSpPr>
            <a:spLocks noChangeArrowheads="1"/>
          </p:cNvSpPr>
          <p:nvPr/>
        </p:nvSpPr>
        <p:spPr bwMode="auto">
          <a:xfrm>
            <a:off x="6969125" y="779463"/>
            <a:ext cx="2000250" cy="785816"/>
          </a:xfrm>
          <a:prstGeom prst="homePlate">
            <a:avLst>
              <a:gd name="adj" fmla="val 50002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lIns="100783" tIns="50392" rIns="100783" bIns="50392" anchor="ctr"/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pt-BR" b="1" dirty="0">
                <a:solidFill>
                  <a:srgbClr val="FFFFFF"/>
                </a:solidFill>
              </a:rPr>
              <a:t>Página Destino</a:t>
            </a:r>
          </a:p>
        </p:txBody>
      </p:sp>
      <p:sp>
        <p:nvSpPr>
          <p:cNvPr id="36" name="Pentágono 10"/>
          <p:cNvSpPr>
            <a:spLocks noChangeArrowheads="1"/>
          </p:cNvSpPr>
          <p:nvPr/>
        </p:nvSpPr>
        <p:spPr bwMode="auto">
          <a:xfrm>
            <a:off x="4826000" y="779463"/>
            <a:ext cx="2000250" cy="785813"/>
          </a:xfrm>
          <a:prstGeom prst="homePlate">
            <a:avLst>
              <a:gd name="adj" fmla="val 50002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lIns="100783" tIns="50392" rIns="100783" bIns="50392" anchor="ctr"/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pt-BR" b="1" dirty="0">
                <a:solidFill>
                  <a:srgbClr val="FFFFFF"/>
                </a:solidFill>
              </a:rPr>
              <a:t>Taxa de Cliques (CTR)</a:t>
            </a:r>
          </a:p>
        </p:txBody>
      </p:sp>
      <p:sp>
        <p:nvSpPr>
          <p:cNvPr id="40" name="Retângulo 8"/>
          <p:cNvSpPr>
            <a:spLocks noChangeArrowheads="1"/>
          </p:cNvSpPr>
          <p:nvPr/>
        </p:nvSpPr>
        <p:spPr bwMode="auto">
          <a:xfrm>
            <a:off x="1617416" y="2361909"/>
            <a:ext cx="2065584" cy="351129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pPr algn="ctr" hangingPunct="0">
              <a:lnSpc>
                <a:spcPct val="89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b="1"/>
          </a:p>
        </p:txBody>
      </p:sp>
      <p:grpSp>
        <p:nvGrpSpPr>
          <p:cNvPr id="17" name="Grupo 16"/>
          <p:cNvGrpSpPr/>
          <p:nvPr/>
        </p:nvGrpSpPr>
        <p:grpSpPr>
          <a:xfrm>
            <a:off x="3240112" y="3199707"/>
            <a:ext cx="6108675" cy="4146696"/>
            <a:chOff x="3240112" y="3199707"/>
            <a:chExt cx="6108675" cy="4146696"/>
          </a:xfrm>
        </p:grpSpPr>
        <p:grpSp>
          <p:nvGrpSpPr>
            <p:cNvPr id="12" name="Grupo 11"/>
            <p:cNvGrpSpPr/>
            <p:nvPr/>
          </p:nvGrpSpPr>
          <p:grpSpPr>
            <a:xfrm>
              <a:off x="3683000" y="3763416"/>
              <a:ext cx="5665787" cy="3582987"/>
              <a:chOff x="3683000" y="3763416"/>
              <a:chExt cx="5665787" cy="3582987"/>
            </a:xfrm>
          </p:grpSpPr>
          <p:pic>
            <p:nvPicPr>
              <p:cNvPr id="1035" name="Picture 11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83000" y="3763416"/>
                <a:ext cx="5665787" cy="3582987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5" name="Retângulo 8"/>
              <p:cNvSpPr>
                <a:spLocks noChangeArrowheads="1"/>
              </p:cNvSpPr>
              <p:nvPr/>
            </p:nvSpPr>
            <p:spPr bwMode="auto">
              <a:xfrm>
                <a:off x="7237166" y="5295609"/>
                <a:ext cx="2065584" cy="351129"/>
              </a:xfrm>
              <a:prstGeom prst="rect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lIns="100783" tIns="50392" rIns="100783" bIns="50392" anchor="ctr"/>
              <a:lstStyle/>
              <a:p>
                <a:pPr algn="ctr" hangingPunct="0">
                  <a:lnSpc>
                    <a:spcPct val="89000"/>
                  </a:lnSpc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</a:pPr>
                <a:endParaRPr lang="pt-BR" b="1"/>
              </a:p>
            </p:txBody>
          </p:sp>
          <p:sp>
            <p:nvSpPr>
              <p:cNvPr id="46" name="Retângulo 8"/>
              <p:cNvSpPr>
                <a:spLocks noChangeArrowheads="1"/>
              </p:cNvSpPr>
              <p:nvPr/>
            </p:nvSpPr>
            <p:spPr bwMode="auto">
              <a:xfrm>
                <a:off x="3846266" y="5600409"/>
                <a:ext cx="1410070" cy="351129"/>
              </a:xfrm>
              <a:prstGeom prst="rect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lIns="100783" tIns="50392" rIns="100783" bIns="50392" anchor="ctr"/>
              <a:lstStyle/>
              <a:p>
                <a:pPr algn="ctr" hangingPunct="0">
                  <a:lnSpc>
                    <a:spcPct val="89000"/>
                  </a:lnSpc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</a:pPr>
                <a:endParaRPr lang="pt-BR" b="1"/>
              </a:p>
            </p:txBody>
          </p:sp>
        </p:grpSp>
        <p:cxnSp>
          <p:nvCxnSpPr>
            <p:cNvPr id="14" name="Conector de seta reta 13"/>
            <p:cNvCxnSpPr/>
            <p:nvPr/>
          </p:nvCxnSpPr>
          <p:spPr bwMode="auto">
            <a:xfrm>
              <a:off x="3528144" y="3199707"/>
              <a:ext cx="3709022" cy="2095902"/>
            </a:xfrm>
            <a:prstGeom prst="straightConnector1">
              <a:avLst/>
            </a:prstGeom>
            <a:solidFill>
              <a:srgbClr val="00B8FF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50" name="Conector de seta reta 49"/>
            <p:cNvCxnSpPr/>
            <p:nvPr/>
          </p:nvCxnSpPr>
          <p:spPr bwMode="auto">
            <a:xfrm>
              <a:off x="3240112" y="3352107"/>
              <a:ext cx="1767533" cy="2202802"/>
            </a:xfrm>
            <a:prstGeom prst="straightConnector1">
              <a:avLst/>
            </a:prstGeom>
            <a:solidFill>
              <a:srgbClr val="00B8FF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25" name="Retângulo de cantos arredondados 24"/>
          <p:cNvSpPr>
            <a:spLocks noChangeArrowheads="1"/>
          </p:cNvSpPr>
          <p:nvPr/>
        </p:nvSpPr>
        <p:spPr bwMode="auto">
          <a:xfrm>
            <a:off x="1512330" y="5094288"/>
            <a:ext cx="7286625" cy="1714500"/>
          </a:xfrm>
          <a:prstGeom prst="roundRect">
            <a:avLst>
              <a:gd name="adj" fmla="val 10847"/>
            </a:avLst>
          </a:prstGeom>
          <a:solidFill>
            <a:srgbClr val="FFFFCC"/>
          </a:solidFill>
          <a:ln w="25400">
            <a:solidFill>
              <a:srgbClr val="FF0000"/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pt-BR" dirty="0"/>
              <a:t>O </a:t>
            </a:r>
            <a:r>
              <a:rPr lang="pt-BR" b="1" dirty="0">
                <a:hlinkClick r:id="rId6"/>
              </a:rPr>
              <a:t>índice de </a:t>
            </a:r>
            <a:r>
              <a:rPr lang="pt-BR" b="1" dirty="0" smtClean="0">
                <a:hlinkClick r:id="rId6"/>
              </a:rPr>
              <a:t>qualidade </a:t>
            </a:r>
            <a:r>
              <a:rPr lang="pt-BR" b="1" dirty="0" smtClean="0">
                <a:sym typeface="Wingdings 3"/>
                <a:hlinkClick r:id="rId6"/>
              </a:rPr>
              <a:t></a:t>
            </a:r>
            <a:r>
              <a:rPr lang="pt-BR" b="1" dirty="0" smtClean="0"/>
              <a:t> e</a:t>
            </a:r>
            <a:r>
              <a:rPr lang="pt-BR" dirty="0" smtClean="0"/>
              <a:t> </a:t>
            </a:r>
            <a:r>
              <a:rPr lang="pt-BR" dirty="0"/>
              <a:t>é uma </a:t>
            </a:r>
            <a:r>
              <a:rPr lang="pt-BR" sz="2400" b="1" dirty="0"/>
              <a:t>nota de 0 a 10</a:t>
            </a:r>
          </a:p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pt-BR" sz="2400" b="1" dirty="0"/>
          </a:p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pt-BR" sz="2400" dirty="0"/>
              <a:t>Quanto maior </a:t>
            </a:r>
            <a:r>
              <a:rPr lang="pt-BR" sz="2400" dirty="0">
                <a:sym typeface="Wingdings" pitchFamily="2" charset="2"/>
              </a:rPr>
              <a:t> Melhor posição e Menor CPC</a:t>
            </a: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3767165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29717" grpId="0" animBg="1"/>
      <p:bldP spid="29715" grpId="0" animBg="1"/>
      <p:bldP spid="29708" grpId="0" animBg="1"/>
      <p:bldP spid="35" grpId="0" animBg="1"/>
      <p:bldP spid="36" grpId="0" animBg="1"/>
      <p:bldP spid="40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Como o Google classifica os anúncios?</a:t>
            </a:r>
          </a:p>
        </p:txBody>
      </p:sp>
      <p:sp>
        <p:nvSpPr>
          <p:cNvPr id="30723" name="Retângulo 3"/>
          <p:cNvSpPr>
            <a:spLocks noChangeArrowheads="1"/>
          </p:cNvSpPr>
          <p:nvPr/>
        </p:nvSpPr>
        <p:spPr bwMode="auto">
          <a:xfrm>
            <a:off x="6183313" y="6923088"/>
            <a:ext cx="3500437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794" tIns="50397" rIns="100794" bIns="50397">
            <a:spAutoFit/>
          </a:bodyPr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pt-BR" sz="1600" b="1"/>
              <a:t>Fonte</a:t>
            </a:r>
            <a:r>
              <a:rPr lang="pt-BR" sz="1600"/>
              <a:t>: </a:t>
            </a:r>
            <a:r>
              <a:rPr lang="pt-BR" sz="1600" b="1">
                <a:hlinkClick r:id="rId3"/>
              </a:rPr>
              <a:t>Youtube GoogleBusiness</a:t>
            </a:r>
            <a:r>
              <a:rPr lang="pt-BR" sz="1600" b="1"/>
              <a:t> </a:t>
            </a:r>
          </a:p>
        </p:txBody>
      </p:sp>
      <p:sp>
        <p:nvSpPr>
          <p:cNvPr id="30724" name="Pentágono 9"/>
          <p:cNvSpPr>
            <a:spLocks noChangeArrowheads="1"/>
          </p:cNvSpPr>
          <p:nvPr/>
        </p:nvSpPr>
        <p:spPr bwMode="auto">
          <a:xfrm>
            <a:off x="325438" y="2065338"/>
            <a:ext cx="2000250" cy="785812"/>
          </a:xfrm>
          <a:prstGeom prst="homePlate">
            <a:avLst>
              <a:gd name="adj" fmla="val 50002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lIns="100783" tIns="50392" rIns="100783" bIns="50392" anchor="ctr"/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pt-BR" b="1">
                <a:solidFill>
                  <a:srgbClr val="FFFFFF"/>
                </a:solidFill>
              </a:rPr>
              <a:t>Empresa A</a:t>
            </a:r>
          </a:p>
        </p:txBody>
      </p:sp>
      <p:sp>
        <p:nvSpPr>
          <p:cNvPr id="30725" name="Pentágono 9"/>
          <p:cNvSpPr>
            <a:spLocks noChangeArrowheads="1"/>
          </p:cNvSpPr>
          <p:nvPr/>
        </p:nvSpPr>
        <p:spPr bwMode="auto">
          <a:xfrm>
            <a:off x="325438" y="3422650"/>
            <a:ext cx="2000250" cy="785813"/>
          </a:xfrm>
          <a:prstGeom prst="homePlate">
            <a:avLst>
              <a:gd name="adj" fmla="val 50002"/>
            </a:avLst>
          </a:prstGeom>
          <a:solidFill>
            <a:srgbClr val="FFC000"/>
          </a:solidFill>
          <a:ln w="9525">
            <a:noFill/>
            <a:round/>
            <a:headEnd/>
            <a:tailEnd/>
          </a:ln>
        </p:spPr>
        <p:txBody>
          <a:bodyPr lIns="100783" tIns="50392" rIns="100783" bIns="50392" anchor="ctr"/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pt-BR" b="1">
                <a:solidFill>
                  <a:srgbClr val="FFFFFF"/>
                </a:solidFill>
              </a:rPr>
              <a:t>Empresa B</a:t>
            </a:r>
          </a:p>
        </p:txBody>
      </p:sp>
      <p:sp>
        <p:nvSpPr>
          <p:cNvPr id="30726" name="Pentágono 9"/>
          <p:cNvSpPr>
            <a:spLocks noChangeArrowheads="1"/>
          </p:cNvSpPr>
          <p:nvPr/>
        </p:nvSpPr>
        <p:spPr bwMode="auto">
          <a:xfrm>
            <a:off x="325438" y="4851400"/>
            <a:ext cx="2000250" cy="785813"/>
          </a:xfrm>
          <a:prstGeom prst="homePlate">
            <a:avLst>
              <a:gd name="adj" fmla="val 50002"/>
            </a:avLst>
          </a:prstGeom>
          <a:solidFill>
            <a:srgbClr val="92D050"/>
          </a:solidFill>
          <a:ln w="9525">
            <a:noFill/>
            <a:round/>
            <a:headEnd/>
            <a:tailEnd/>
          </a:ln>
        </p:spPr>
        <p:txBody>
          <a:bodyPr lIns="100783" tIns="50392" rIns="100783" bIns="50392" anchor="ctr"/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pt-BR" b="1">
                <a:solidFill>
                  <a:srgbClr val="FFFFFF"/>
                </a:solidFill>
              </a:rPr>
              <a:t>Empresa C</a:t>
            </a:r>
          </a:p>
        </p:txBody>
      </p:sp>
      <p:grpSp>
        <p:nvGrpSpPr>
          <p:cNvPr id="2" name="Grupo 33"/>
          <p:cNvGrpSpPr>
            <a:grpSpLocks/>
          </p:cNvGrpSpPr>
          <p:nvPr/>
        </p:nvGrpSpPr>
        <p:grpSpPr bwMode="auto">
          <a:xfrm>
            <a:off x="2540000" y="1065213"/>
            <a:ext cx="1428750" cy="4365625"/>
            <a:chOff x="2539982" y="1065193"/>
            <a:chExt cx="1428760" cy="4364915"/>
          </a:xfrm>
        </p:grpSpPr>
        <p:sp>
          <p:nvSpPr>
            <p:cNvPr id="30753" name="Retângulo 21"/>
            <p:cNvSpPr>
              <a:spLocks noChangeArrowheads="1"/>
            </p:cNvSpPr>
            <p:nvPr/>
          </p:nvSpPr>
          <p:spPr bwMode="auto">
            <a:xfrm>
              <a:off x="2539982" y="1065193"/>
              <a:ext cx="1428760" cy="714373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</a:pPr>
              <a:r>
                <a:rPr lang="pt-BR" sz="2000" b="1"/>
                <a:t>CPC Máximo</a:t>
              </a:r>
              <a:endParaRPr lang="pt-BR" sz="3200" b="1"/>
            </a:p>
          </p:txBody>
        </p:sp>
        <p:sp>
          <p:nvSpPr>
            <p:cNvPr id="30754" name="CaixaDeTexto 12"/>
            <p:cNvSpPr txBox="1">
              <a:spLocks noChangeArrowheads="1"/>
            </p:cNvSpPr>
            <p:nvPr/>
          </p:nvSpPr>
          <p:spPr bwMode="auto">
            <a:xfrm>
              <a:off x="2611420" y="2272442"/>
              <a:ext cx="1263487" cy="435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2400" b="1"/>
                <a:t>R$ 4,00</a:t>
              </a:r>
            </a:p>
          </p:txBody>
        </p:sp>
        <p:sp>
          <p:nvSpPr>
            <p:cNvPr id="30755" name="CaixaDeTexto 13"/>
            <p:cNvSpPr txBox="1">
              <a:spLocks noChangeArrowheads="1"/>
            </p:cNvSpPr>
            <p:nvPr/>
          </p:nvSpPr>
          <p:spPr bwMode="auto">
            <a:xfrm>
              <a:off x="2611420" y="3565523"/>
              <a:ext cx="1263487" cy="435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2400" b="1"/>
                <a:t>R$ 3,00</a:t>
              </a:r>
            </a:p>
          </p:txBody>
        </p:sp>
        <p:sp>
          <p:nvSpPr>
            <p:cNvPr id="30756" name="CaixaDeTexto 14"/>
            <p:cNvSpPr txBox="1">
              <a:spLocks noChangeArrowheads="1"/>
            </p:cNvSpPr>
            <p:nvPr/>
          </p:nvSpPr>
          <p:spPr bwMode="auto">
            <a:xfrm>
              <a:off x="2611420" y="4994283"/>
              <a:ext cx="1263487" cy="435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2400" b="1"/>
                <a:t>R$ 2,00</a:t>
              </a:r>
            </a:p>
          </p:txBody>
        </p:sp>
      </p:grpSp>
      <p:grpSp>
        <p:nvGrpSpPr>
          <p:cNvPr id="3" name="Grupo 37"/>
          <p:cNvGrpSpPr>
            <a:grpSpLocks/>
          </p:cNvGrpSpPr>
          <p:nvPr/>
        </p:nvGrpSpPr>
        <p:grpSpPr bwMode="auto">
          <a:xfrm>
            <a:off x="4540250" y="1065213"/>
            <a:ext cx="1428750" cy="4365625"/>
            <a:chOff x="4540246" y="1065193"/>
            <a:chExt cx="1428760" cy="4364915"/>
          </a:xfrm>
        </p:grpSpPr>
        <p:sp>
          <p:nvSpPr>
            <p:cNvPr id="30749" name="Retângulo 21"/>
            <p:cNvSpPr>
              <a:spLocks noChangeArrowheads="1"/>
            </p:cNvSpPr>
            <p:nvPr/>
          </p:nvSpPr>
          <p:spPr bwMode="auto">
            <a:xfrm>
              <a:off x="4540246" y="1065193"/>
              <a:ext cx="1428760" cy="714373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</a:pPr>
              <a:r>
                <a:rPr lang="pt-BR" sz="2000" b="1"/>
                <a:t>Índice de Qualidade</a:t>
              </a:r>
              <a:endParaRPr lang="pt-BR" sz="3200" b="1"/>
            </a:p>
          </p:txBody>
        </p:sp>
        <p:sp>
          <p:nvSpPr>
            <p:cNvPr id="30750" name="CaixaDeTexto 15"/>
            <p:cNvSpPr txBox="1">
              <a:spLocks noChangeArrowheads="1"/>
            </p:cNvSpPr>
            <p:nvPr/>
          </p:nvSpPr>
          <p:spPr bwMode="auto">
            <a:xfrm>
              <a:off x="4968874" y="2272442"/>
              <a:ext cx="356188" cy="435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2400" b="1"/>
                <a:t>1</a:t>
              </a:r>
            </a:p>
          </p:txBody>
        </p:sp>
        <p:sp>
          <p:nvSpPr>
            <p:cNvPr id="30751" name="CaixaDeTexto 16"/>
            <p:cNvSpPr txBox="1">
              <a:spLocks noChangeArrowheads="1"/>
            </p:cNvSpPr>
            <p:nvPr/>
          </p:nvSpPr>
          <p:spPr bwMode="auto">
            <a:xfrm>
              <a:off x="4968874" y="3565523"/>
              <a:ext cx="356188" cy="435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2400" b="1"/>
                <a:t>3</a:t>
              </a:r>
            </a:p>
          </p:txBody>
        </p:sp>
        <p:sp>
          <p:nvSpPr>
            <p:cNvPr id="30752" name="CaixaDeTexto 17"/>
            <p:cNvSpPr txBox="1">
              <a:spLocks noChangeArrowheads="1"/>
            </p:cNvSpPr>
            <p:nvPr/>
          </p:nvSpPr>
          <p:spPr bwMode="auto">
            <a:xfrm>
              <a:off x="4968874" y="4994283"/>
              <a:ext cx="356188" cy="435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2400" b="1"/>
                <a:t>7</a:t>
              </a:r>
            </a:p>
          </p:txBody>
        </p:sp>
      </p:grpSp>
      <p:grpSp>
        <p:nvGrpSpPr>
          <p:cNvPr id="4" name="Grupo 38"/>
          <p:cNvGrpSpPr>
            <a:grpSpLocks/>
          </p:cNvGrpSpPr>
          <p:nvPr/>
        </p:nvGrpSpPr>
        <p:grpSpPr bwMode="auto">
          <a:xfrm>
            <a:off x="4040188" y="1065213"/>
            <a:ext cx="3929062" cy="4365625"/>
            <a:chOff x="4040180" y="1065193"/>
            <a:chExt cx="3929090" cy="4364915"/>
          </a:xfrm>
        </p:grpSpPr>
        <p:sp>
          <p:nvSpPr>
            <p:cNvPr id="30736" name="CaixaDeTexto 21"/>
            <p:cNvSpPr txBox="1">
              <a:spLocks noChangeArrowheads="1"/>
            </p:cNvSpPr>
            <p:nvPr/>
          </p:nvSpPr>
          <p:spPr bwMode="auto">
            <a:xfrm>
              <a:off x="4040180" y="1208069"/>
              <a:ext cx="389850" cy="435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2400" b="1"/>
                <a:t>X</a:t>
              </a:r>
            </a:p>
          </p:txBody>
        </p:sp>
        <p:sp>
          <p:nvSpPr>
            <p:cNvPr id="30737" name="CaixaDeTexto 23"/>
            <p:cNvSpPr txBox="1">
              <a:spLocks noChangeArrowheads="1"/>
            </p:cNvSpPr>
            <p:nvPr/>
          </p:nvSpPr>
          <p:spPr bwMode="auto">
            <a:xfrm>
              <a:off x="4040180" y="2279639"/>
              <a:ext cx="389850" cy="435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2400" b="1"/>
                <a:t>X</a:t>
              </a:r>
            </a:p>
          </p:txBody>
        </p:sp>
        <p:sp>
          <p:nvSpPr>
            <p:cNvPr id="30738" name="CaixaDeTexto 25"/>
            <p:cNvSpPr txBox="1">
              <a:spLocks noChangeArrowheads="1"/>
            </p:cNvSpPr>
            <p:nvPr/>
          </p:nvSpPr>
          <p:spPr bwMode="auto">
            <a:xfrm>
              <a:off x="4040180" y="3565523"/>
              <a:ext cx="389850" cy="435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2400" b="1"/>
                <a:t>X</a:t>
              </a:r>
            </a:p>
          </p:txBody>
        </p:sp>
        <p:sp>
          <p:nvSpPr>
            <p:cNvPr id="30739" name="CaixaDeTexto 27"/>
            <p:cNvSpPr txBox="1">
              <a:spLocks noChangeArrowheads="1"/>
            </p:cNvSpPr>
            <p:nvPr/>
          </p:nvSpPr>
          <p:spPr bwMode="auto">
            <a:xfrm>
              <a:off x="4040180" y="4994283"/>
              <a:ext cx="389850" cy="435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2400" b="1"/>
                <a:t>X</a:t>
              </a:r>
            </a:p>
          </p:txBody>
        </p:sp>
        <p:grpSp>
          <p:nvGrpSpPr>
            <p:cNvPr id="5" name="Grupo 35"/>
            <p:cNvGrpSpPr>
              <a:grpSpLocks/>
            </p:cNvGrpSpPr>
            <p:nvPr/>
          </p:nvGrpSpPr>
          <p:grpSpPr bwMode="auto">
            <a:xfrm>
              <a:off x="6040444" y="1065193"/>
              <a:ext cx="1928826" cy="4364915"/>
              <a:chOff x="6040444" y="1065193"/>
              <a:chExt cx="1928826" cy="4364915"/>
            </a:xfrm>
          </p:grpSpPr>
          <p:sp>
            <p:nvSpPr>
              <p:cNvPr id="30741" name="Retângulo 21"/>
              <p:cNvSpPr>
                <a:spLocks noChangeArrowheads="1"/>
              </p:cNvSpPr>
              <p:nvPr/>
            </p:nvSpPr>
            <p:spPr bwMode="auto">
              <a:xfrm>
                <a:off x="6540510" y="1065193"/>
                <a:ext cx="1428760" cy="714373"/>
              </a:xfrm>
              <a:prstGeom prst="rect">
                <a:avLst/>
              </a:prstGeom>
              <a:solidFill>
                <a:srgbClr val="FFFFCC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 hangingPunct="0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itchFamily="2" charset="2"/>
                  <a:buNone/>
                </a:pPr>
                <a:r>
                  <a:rPr lang="pt-BR" sz="2000" b="1"/>
                  <a:t>Ranking</a:t>
                </a:r>
                <a:endParaRPr lang="pt-BR" sz="3200" b="1"/>
              </a:p>
            </p:txBody>
          </p:sp>
          <p:sp>
            <p:nvSpPr>
              <p:cNvPr id="30742" name="CaixaDeTexto 18"/>
              <p:cNvSpPr txBox="1">
                <a:spLocks noChangeArrowheads="1"/>
              </p:cNvSpPr>
              <p:nvPr/>
            </p:nvSpPr>
            <p:spPr bwMode="auto">
              <a:xfrm>
                <a:off x="7040576" y="2272442"/>
                <a:ext cx="356188" cy="4358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2400" b="1"/>
                  <a:t>4</a:t>
                </a:r>
              </a:p>
            </p:txBody>
          </p:sp>
          <p:sp>
            <p:nvSpPr>
              <p:cNvPr id="30743" name="CaixaDeTexto 19"/>
              <p:cNvSpPr txBox="1">
                <a:spLocks noChangeArrowheads="1"/>
              </p:cNvSpPr>
              <p:nvPr/>
            </p:nvSpPr>
            <p:spPr bwMode="auto">
              <a:xfrm>
                <a:off x="7040576" y="3565523"/>
                <a:ext cx="356188" cy="4358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2400" b="1"/>
                  <a:t>9</a:t>
                </a:r>
              </a:p>
            </p:txBody>
          </p:sp>
          <p:sp>
            <p:nvSpPr>
              <p:cNvPr id="30744" name="CaixaDeTexto 20"/>
              <p:cNvSpPr txBox="1">
                <a:spLocks noChangeArrowheads="1"/>
              </p:cNvSpPr>
              <p:nvPr/>
            </p:nvSpPr>
            <p:spPr bwMode="auto">
              <a:xfrm>
                <a:off x="7040576" y="4994283"/>
                <a:ext cx="527709" cy="4358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2400" b="1"/>
                  <a:t>14</a:t>
                </a:r>
              </a:p>
            </p:txBody>
          </p:sp>
          <p:sp>
            <p:nvSpPr>
              <p:cNvPr id="30745" name="CaixaDeTexto 22"/>
              <p:cNvSpPr txBox="1">
                <a:spLocks noChangeArrowheads="1"/>
              </p:cNvSpPr>
              <p:nvPr/>
            </p:nvSpPr>
            <p:spPr bwMode="auto">
              <a:xfrm>
                <a:off x="6040444" y="1208069"/>
                <a:ext cx="364202" cy="4358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2400" b="1"/>
                  <a:t>=</a:t>
                </a:r>
              </a:p>
            </p:txBody>
          </p:sp>
          <p:sp>
            <p:nvSpPr>
              <p:cNvPr id="30746" name="CaixaDeTexto 24"/>
              <p:cNvSpPr txBox="1">
                <a:spLocks noChangeArrowheads="1"/>
              </p:cNvSpPr>
              <p:nvPr/>
            </p:nvSpPr>
            <p:spPr bwMode="auto">
              <a:xfrm>
                <a:off x="6040444" y="2279639"/>
                <a:ext cx="364202" cy="4358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2400" b="1"/>
                  <a:t>=</a:t>
                </a:r>
              </a:p>
            </p:txBody>
          </p:sp>
          <p:sp>
            <p:nvSpPr>
              <p:cNvPr id="30747" name="CaixaDeTexto 26"/>
              <p:cNvSpPr txBox="1">
                <a:spLocks noChangeArrowheads="1"/>
              </p:cNvSpPr>
              <p:nvPr/>
            </p:nvSpPr>
            <p:spPr bwMode="auto">
              <a:xfrm>
                <a:off x="6040444" y="3565523"/>
                <a:ext cx="364202" cy="4358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2400" b="1"/>
                  <a:t>=</a:t>
                </a:r>
              </a:p>
            </p:txBody>
          </p:sp>
          <p:sp>
            <p:nvSpPr>
              <p:cNvPr id="30748" name="CaixaDeTexto 28"/>
              <p:cNvSpPr txBox="1">
                <a:spLocks noChangeArrowheads="1"/>
              </p:cNvSpPr>
              <p:nvPr/>
            </p:nvSpPr>
            <p:spPr bwMode="auto">
              <a:xfrm>
                <a:off x="6040444" y="4994283"/>
                <a:ext cx="364202" cy="4358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2400" b="1"/>
                  <a:t>=</a:t>
                </a:r>
              </a:p>
            </p:txBody>
          </p:sp>
        </p:grpSp>
      </p:grpSp>
      <p:grpSp>
        <p:nvGrpSpPr>
          <p:cNvPr id="6" name="Grupo 36"/>
          <p:cNvGrpSpPr>
            <a:grpSpLocks/>
          </p:cNvGrpSpPr>
          <p:nvPr/>
        </p:nvGrpSpPr>
        <p:grpSpPr bwMode="auto">
          <a:xfrm>
            <a:off x="8326438" y="1065213"/>
            <a:ext cx="1428750" cy="4572000"/>
            <a:chOff x="8326460" y="1065193"/>
            <a:chExt cx="1428760" cy="4572032"/>
          </a:xfrm>
        </p:grpSpPr>
        <p:sp>
          <p:nvSpPr>
            <p:cNvPr id="30731" name="Retângulo 21"/>
            <p:cNvSpPr>
              <a:spLocks noChangeArrowheads="1"/>
            </p:cNvSpPr>
            <p:nvPr/>
          </p:nvSpPr>
          <p:spPr bwMode="auto">
            <a:xfrm>
              <a:off x="8326460" y="1065193"/>
              <a:ext cx="1428760" cy="714373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</a:pPr>
              <a:r>
                <a:rPr lang="pt-BR" sz="2000" b="1"/>
                <a:t>Posição</a:t>
              </a:r>
              <a:endParaRPr lang="pt-BR" sz="3200" b="1"/>
            </a:p>
          </p:txBody>
        </p:sp>
        <p:sp>
          <p:nvSpPr>
            <p:cNvPr id="30732" name="CaixaDeTexto 29"/>
            <p:cNvSpPr txBox="1">
              <a:spLocks noChangeArrowheads="1"/>
            </p:cNvSpPr>
            <p:nvPr/>
          </p:nvSpPr>
          <p:spPr bwMode="auto">
            <a:xfrm>
              <a:off x="8826526" y="2272442"/>
              <a:ext cx="287258" cy="435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2400" b="1"/>
                <a:t>-</a:t>
              </a:r>
            </a:p>
          </p:txBody>
        </p:sp>
        <p:sp>
          <p:nvSpPr>
            <p:cNvPr id="30733" name="CaixaDeTexto 30"/>
            <p:cNvSpPr txBox="1">
              <a:spLocks noChangeArrowheads="1"/>
            </p:cNvSpPr>
            <p:nvPr/>
          </p:nvSpPr>
          <p:spPr bwMode="auto">
            <a:xfrm>
              <a:off x="8826526" y="3565523"/>
              <a:ext cx="356188" cy="435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2400" b="1"/>
                <a:t>2</a:t>
              </a:r>
            </a:p>
          </p:txBody>
        </p:sp>
        <p:sp>
          <p:nvSpPr>
            <p:cNvPr id="30734" name="CaixaDeTexto 31"/>
            <p:cNvSpPr txBox="1">
              <a:spLocks noChangeArrowheads="1"/>
            </p:cNvSpPr>
            <p:nvPr/>
          </p:nvSpPr>
          <p:spPr bwMode="auto">
            <a:xfrm>
              <a:off x="8826526" y="4994283"/>
              <a:ext cx="356188" cy="435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2400" b="1"/>
                <a:t>1</a:t>
              </a:r>
            </a:p>
          </p:txBody>
        </p:sp>
        <p:sp>
          <p:nvSpPr>
            <p:cNvPr id="30735" name="Retângulo de cantos arredondados 32"/>
            <p:cNvSpPr>
              <a:spLocks noChangeArrowheads="1"/>
            </p:cNvSpPr>
            <p:nvPr/>
          </p:nvSpPr>
          <p:spPr bwMode="auto">
            <a:xfrm>
              <a:off x="8540774" y="2208201"/>
              <a:ext cx="857256" cy="3429024"/>
            </a:xfrm>
            <a:prstGeom prst="roundRect">
              <a:avLst>
                <a:gd name="adj" fmla="val 10847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lIns="100783" tIns="50392" rIns="100783" bIns="50392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</a:pPr>
              <a:endParaRPr lang="pt-BR" sz="32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Campanhas, anúncios e palavras-chave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055938" y="992188"/>
            <a:ext cx="2698750" cy="952500"/>
          </a:xfrm>
          <a:prstGeom prst="rect">
            <a:avLst/>
          </a:prstGeom>
          <a:solidFill>
            <a:srgbClr val="FFFF0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9207" tIns="77838" rIns="99207" bIns="51588" anchor="ctr"/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lang="en-GB" sz="3000">
                <a:solidFill>
                  <a:srgbClr val="000000"/>
                </a:solidFill>
              </a:rPr>
              <a:t>Campanhas</a:t>
            </a: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673100" y="2619375"/>
            <a:ext cx="7499350" cy="950913"/>
            <a:chOff x="385" y="1497"/>
            <a:chExt cx="4285" cy="543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385" y="1497"/>
              <a:ext cx="1315" cy="544"/>
            </a:xfrm>
            <a:prstGeom prst="rect">
              <a:avLst/>
            </a:prstGeom>
            <a:solidFill>
              <a:srgbClr val="33CC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7968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>
                  <a:solidFill>
                    <a:srgbClr val="000000"/>
                  </a:solidFill>
                </a:rPr>
                <a:t>Anúncios</a:t>
              </a: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385" y="1497"/>
              <a:ext cx="1315" cy="544"/>
            </a:xfrm>
            <a:prstGeom prst="rect">
              <a:avLst/>
            </a:prstGeom>
            <a:solidFill>
              <a:srgbClr val="33CC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7968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>
                  <a:solidFill>
                    <a:srgbClr val="000000"/>
                  </a:solidFill>
                </a:rPr>
                <a:t>Anúncios (1)</a:t>
              </a: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1882" y="1497"/>
              <a:ext cx="1315" cy="544"/>
            </a:xfrm>
            <a:prstGeom prst="rect">
              <a:avLst/>
            </a:prstGeom>
            <a:solidFill>
              <a:srgbClr val="33CC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7968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>
                  <a:solidFill>
                    <a:srgbClr val="000000"/>
                  </a:solidFill>
                </a:rPr>
                <a:t>Anúncios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882" y="1497"/>
              <a:ext cx="1315" cy="544"/>
            </a:xfrm>
            <a:prstGeom prst="rect">
              <a:avLst/>
            </a:prstGeom>
            <a:solidFill>
              <a:srgbClr val="33CC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7968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>
                  <a:solidFill>
                    <a:srgbClr val="000000"/>
                  </a:solidFill>
                </a:rPr>
                <a:t>Anúncios (2)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3356" y="1497"/>
              <a:ext cx="1315" cy="544"/>
            </a:xfrm>
            <a:prstGeom prst="rect">
              <a:avLst/>
            </a:prstGeom>
            <a:solidFill>
              <a:srgbClr val="33CC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7968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>
                  <a:solidFill>
                    <a:srgbClr val="000000"/>
                  </a:solidFill>
                </a:rPr>
                <a:t>Anúncios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3356" y="1497"/>
              <a:ext cx="1315" cy="544"/>
            </a:xfrm>
            <a:prstGeom prst="rect">
              <a:avLst/>
            </a:prstGeom>
            <a:solidFill>
              <a:srgbClr val="33CC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7968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>
                  <a:solidFill>
                    <a:srgbClr val="000000"/>
                  </a:solidFill>
                </a:rPr>
                <a:t>Anúncios (3)</a:t>
              </a:r>
            </a:p>
          </p:txBody>
        </p:sp>
      </p:grpSp>
      <p:grpSp>
        <p:nvGrpSpPr>
          <p:cNvPr id="12" name="Group 10"/>
          <p:cNvGrpSpPr>
            <a:grpSpLocks/>
          </p:cNvGrpSpPr>
          <p:nvPr/>
        </p:nvGrpSpPr>
        <p:grpSpPr bwMode="auto">
          <a:xfrm>
            <a:off x="673100" y="3810000"/>
            <a:ext cx="7499350" cy="2498725"/>
            <a:chOff x="385" y="2177"/>
            <a:chExt cx="4285" cy="1428"/>
          </a:xfrm>
        </p:grpSpPr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385" y="2177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385" y="2676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385" y="3175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385" y="2177"/>
              <a:ext cx="1315" cy="430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385" y="2676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385" y="3175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1882" y="2177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1882" y="2676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1882" y="3175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1882" y="2177"/>
              <a:ext cx="1315" cy="430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1882" y="2676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1882" y="3175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3356" y="2177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3356" y="2676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3356" y="3175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3356" y="2177"/>
              <a:ext cx="1315" cy="430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3356" y="2676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auto">
            <a:xfrm>
              <a:off x="3356" y="3175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101588" tIns="50794" rIns="101588" bIns="50794"/>
          <a:lstStyle/>
          <a:p>
            <a:pPr>
              <a:lnSpc>
                <a:spcPct val="101000"/>
              </a:lnSpc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dirty="0" err="1" smtClean="0"/>
              <a:t>Campanhas</a:t>
            </a:r>
            <a:r>
              <a:rPr dirty="0" smtClean="0"/>
              <a:t>, </a:t>
            </a:r>
            <a:r>
              <a:rPr dirty="0" err="1" smtClean="0"/>
              <a:t>anúncios</a:t>
            </a:r>
            <a:r>
              <a:rPr dirty="0" smtClean="0"/>
              <a:t> e </a:t>
            </a:r>
            <a:r>
              <a:rPr dirty="0" err="1" smtClean="0"/>
              <a:t>palavras-chave</a:t>
            </a:r>
            <a:endParaRPr dirty="0" smtClean="0"/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3055938" y="992188"/>
            <a:ext cx="2698750" cy="952500"/>
          </a:xfrm>
          <a:prstGeom prst="rect">
            <a:avLst/>
          </a:prstGeom>
          <a:solidFill>
            <a:srgbClr val="FFFF0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9207" tIns="77838" rIns="99207" bIns="51588" anchor="ctr"/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lang="en-GB" sz="3000">
                <a:solidFill>
                  <a:srgbClr val="000000"/>
                </a:solidFill>
              </a:rPr>
              <a:t>Campanhas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73100" y="2619375"/>
            <a:ext cx="7499350" cy="950913"/>
            <a:chOff x="385" y="1497"/>
            <a:chExt cx="4285" cy="543"/>
          </a:xfrm>
        </p:grpSpPr>
        <p:sp>
          <p:nvSpPr>
            <p:cNvPr id="31786" name="Rectangle 4"/>
            <p:cNvSpPr>
              <a:spLocks noChangeArrowheads="1"/>
            </p:cNvSpPr>
            <p:nvPr/>
          </p:nvSpPr>
          <p:spPr bwMode="auto">
            <a:xfrm>
              <a:off x="385" y="1497"/>
              <a:ext cx="1315" cy="544"/>
            </a:xfrm>
            <a:prstGeom prst="rect">
              <a:avLst/>
            </a:prstGeom>
            <a:solidFill>
              <a:srgbClr val="33CC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7968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>
                  <a:solidFill>
                    <a:srgbClr val="000000"/>
                  </a:solidFill>
                </a:rPr>
                <a:t>Anúncios</a:t>
              </a:r>
            </a:p>
          </p:txBody>
        </p:sp>
        <p:sp>
          <p:nvSpPr>
            <p:cNvPr id="31787" name="Rectangle 5"/>
            <p:cNvSpPr>
              <a:spLocks noChangeArrowheads="1"/>
            </p:cNvSpPr>
            <p:nvPr/>
          </p:nvSpPr>
          <p:spPr bwMode="auto">
            <a:xfrm>
              <a:off x="385" y="1497"/>
              <a:ext cx="1315" cy="544"/>
            </a:xfrm>
            <a:prstGeom prst="rect">
              <a:avLst/>
            </a:prstGeom>
            <a:solidFill>
              <a:srgbClr val="33CC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7968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>
                  <a:solidFill>
                    <a:srgbClr val="000000"/>
                  </a:solidFill>
                </a:rPr>
                <a:t>Anúncios (1)</a:t>
              </a:r>
            </a:p>
          </p:txBody>
        </p:sp>
        <p:sp>
          <p:nvSpPr>
            <p:cNvPr id="31788" name="Rectangle 6"/>
            <p:cNvSpPr>
              <a:spLocks noChangeArrowheads="1"/>
            </p:cNvSpPr>
            <p:nvPr/>
          </p:nvSpPr>
          <p:spPr bwMode="auto">
            <a:xfrm>
              <a:off x="1882" y="1497"/>
              <a:ext cx="1315" cy="544"/>
            </a:xfrm>
            <a:prstGeom prst="rect">
              <a:avLst/>
            </a:prstGeom>
            <a:solidFill>
              <a:srgbClr val="33CC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7968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>
                  <a:solidFill>
                    <a:srgbClr val="000000"/>
                  </a:solidFill>
                </a:rPr>
                <a:t>Anúncios</a:t>
              </a:r>
            </a:p>
          </p:txBody>
        </p:sp>
        <p:sp>
          <p:nvSpPr>
            <p:cNvPr id="31789" name="Rectangle 7"/>
            <p:cNvSpPr>
              <a:spLocks noChangeArrowheads="1"/>
            </p:cNvSpPr>
            <p:nvPr/>
          </p:nvSpPr>
          <p:spPr bwMode="auto">
            <a:xfrm>
              <a:off x="1882" y="1497"/>
              <a:ext cx="1315" cy="544"/>
            </a:xfrm>
            <a:prstGeom prst="rect">
              <a:avLst/>
            </a:prstGeom>
            <a:solidFill>
              <a:srgbClr val="33CC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7968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>
                  <a:solidFill>
                    <a:srgbClr val="000000"/>
                  </a:solidFill>
                </a:rPr>
                <a:t>Anúncios (2)</a:t>
              </a:r>
            </a:p>
          </p:txBody>
        </p:sp>
        <p:sp>
          <p:nvSpPr>
            <p:cNvPr id="31790" name="Rectangle 8"/>
            <p:cNvSpPr>
              <a:spLocks noChangeArrowheads="1"/>
            </p:cNvSpPr>
            <p:nvPr/>
          </p:nvSpPr>
          <p:spPr bwMode="auto">
            <a:xfrm>
              <a:off x="3356" y="1497"/>
              <a:ext cx="1315" cy="544"/>
            </a:xfrm>
            <a:prstGeom prst="rect">
              <a:avLst/>
            </a:prstGeom>
            <a:solidFill>
              <a:srgbClr val="33CC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7968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>
                  <a:solidFill>
                    <a:srgbClr val="000000"/>
                  </a:solidFill>
                </a:rPr>
                <a:t>Anúncios</a:t>
              </a:r>
            </a:p>
          </p:txBody>
        </p:sp>
        <p:sp>
          <p:nvSpPr>
            <p:cNvPr id="31791" name="Rectangle 9"/>
            <p:cNvSpPr>
              <a:spLocks noChangeArrowheads="1"/>
            </p:cNvSpPr>
            <p:nvPr/>
          </p:nvSpPr>
          <p:spPr bwMode="auto">
            <a:xfrm>
              <a:off x="3356" y="1497"/>
              <a:ext cx="1315" cy="544"/>
            </a:xfrm>
            <a:prstGeom prst="rect">
              <a:avLst/>
            </a:prstGeom>
            <a:solidFill>
              <a:srgbClr val="33CC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7968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>
                  <a:solidFill>
                    <a:srgbClr val="000000"/>
                  </a:solidFill>
                </a:rPr>
                <a:t>Anúncios (3)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673100" y="3810000"/>
            <a:ext cx="7499350" cy="2498725"/>
            <a:chOff x="385" y="2177"/>
            <a:chExt cx="4285" cy="1428"/>
          </a:xfrm>
        </p:grpSpPr>
        <p:sp>
          <p:nvSpPr>
            <p:cNvPr id="31768" name="Rectangle 11"/>
            <p:cNvSpPr>
              <a:spLocks noChangeArrowheads="1"/>
            </p:cNvSpPr>
            <p:nvPr/>
          </p:nvSpPr>
          <p:spPr bwMode="auto">
            <a:xfrm>
              <a:off x="385" y="2177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31769" name="Rectangle 12"/>
            <p:cNvSpPr>
              <a:spLocks noChangeArrowheads="1"/>
            </p:cNvSpPr>
            <p:nvPr/>
          </p:nvSpPr>
          <p:spPr bwMode="auto">
            <a:xfrm>
              <a:off x="385" y="2676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31770" name="Rectangle 13"/>
            <p:cNvSpPr>
              <a:spLocks noChangeArrowheads="1"/>
            </p:cNvSpPr>
            <p:nvPr/>
          </p:nvSpPr>
          <p:spPr bwMode="auto">
            <a:xfrm>
              <a:off x="385" y="3175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31771" name="Rectangle 14"/>
            <p:cNvSpPr>
              <a:spLocks noChangeArrowheads="1"/>
            </p:cNvSpPr>
            <p:nvPr/>
          </p:nvSpPr>
          <p:spPr bwMode="auto">
            <a:xfrm>
              <a:off x="385" y="2177"/>
              <a:ext cx="1315" cy="430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31772" name="Rectangle 15"/>
            <p:cNvSpPr>
              <a:spLocks noChangeArrowheads="1"/>
            </p:cNvSpPr>
            <p:nvPr/>
          </p:nvSpPr>
          <p:spPr bwMode="auto">
            <a:xfrm>
              <a:off x="385" y="2676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31773" name="Rectangle 16"/>
            <p:cNvSpPr>
              <a:spLocks noChangeArrowheads="1"/>
            </p:cNvSpPr>
            <p:nvPr/>
          </p:nvSpPr>
          <p:spPr bwMode="auto">
            <a:xfrm>
              <a:off x="385" y="3175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31774" name="Rectangle 17"/>
            <p:cNvSpPr>
              <a:spLocks noChangeArrowheads="1"/>
            </p:cNvSpPr>
            <p:nvPr/>
          </p:nvSpPr>
          <p:spPr bwMode="auto">
            <a:xfrm>
              <a:off x="1882" y="2177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31775" name="Rectangle 18"/>
            <p:cNvSpPr>
              <a:spLocks noChangeArrowheads="1"/>
            </p:cNvSpPr>
            <p:nvPr/>
          </p:nvSpPr>
          <p:spPr bwMode="auto">
            <a:xfrm>
              <a:off x="1882" y="2676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31776" name="Rectangle 19"/>
            <p:cNvSpPr>
              <a:spLocks noChangeArrowheads="1"/>
            </p:cNvSpPr>
            <p:nvPr/>
          </p:nvSpPr>
          <p:spPr bwMode="auto">
            <a:xfrm>
              <a:off x="1882" y="3175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31777" name="Rectangle 20"/>
            <p:cNvSpPr>
              <a:spLocks noChangeArrowheads="1"/>
            </p:cNvSpPr>
            <p:nvPr/>
          </p:nvSpPr>
          <p:spPr bwMode="auto">
            <a:xfrm>
              <a:off x="1882" y="2177"/>
              <a:ext cx="1315" cy="430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31778" name="Rectangle 21"/>
            <p:cNvSpPr>
              <a:spLocks noChangeArrowheads="1"/>
            </p:cNvSpPr>
            <p:nvPr/>
          </p:nvSpPr>
          <p:spPr bwMode="auto">
            <a:xfrm>
              <a:off x="1882" y="2676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31779" name="Rectangle 22"/>
            <p:cNvSpPr>
              <a:spLocks noChangeArrowheads="1"/>
            </p:cNvSpPr>
            <p:nvPr/>
          </p:nvSpPr>
          <p:spPr bwMode="auto">
            <a:xfrm>
              <a:off x="1882" y="3175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31780" name="Rectangle 23"/>
            <p:cNvSpPr>
              <a:spLocks noChangeArrowheads="1"/>
            </p:cNvSpPr>
            <p:nvPr/>
          </p:nvSpPr>
          <p:spPr bwMode="auto">
            <a:xfrm>
              <a:off x="3356" y="2177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31781" name="Rectangle 24"/>
            <p:cNvSpPr>
              <a:spLocks noChangeArrowheads="1"/>
            </p:cNvSpPr>
            <p:nvPr/>
          </p:nvSpPr>
          <p:spPr bwMode="auto">
            <a:xfrm>
              <a:off x="3356" y="2676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31782" name="Rectangle 25"/>
            <p:cNvSpPr>
              <a:spLocks noChangeArrowheads="1"/>
            </p:cNvSpPr>
            <p:nvPr/>
          </p:nvSpPr>
          <p:spPr bwMode="auto">
            <a:xfrm>
              <a:off x="3356" y="3175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31783" name="Rectangle 26"/>
            <p:cNvSpPr>
              <a:spLocks noChangeArrowheads="1"/>
            </p:cNvSpPr>
            <p:nvPr/>
          </p:nvSpPr>
          <p:spPr bwMode="auto">
            <a:xfrm>
              <a:off x="3356" y="2177"/>
              <a:ext cx="1315" cy="430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31784" name="Rectangle 27"/>
            <p:cNvSpPr>
              <a:spLocks noChangeArrowheads="1"/>
            </p:cNvSpPr>
            <p:nvPr/>
          </p:nvSpPr>
          <p:spPr bwMode="auto">
            <a:xfrm>
              <a:off x="3356" y="2676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  <p:sp>
          <p:nvSpPr>
            <p:cNvPr id="31785" name="Rectangle 28"/>
            <p:cNvSpPr>
              <a:spLocks noChangeArrowheads="1"/>
            </p:cNvSpPr>
            <p:nvPr/>
          </p:nvSpPr>
          <p:spPr bwMode="auto">
            <a:xfrm>
              <a:off x="3356" y="3175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64440" rIns="90000" bIns="46800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200">
                  <a:solidFill>
                    <a:srgbClr val="000000"/>
                  </a:solidFill>
                </a:rPr>
                <a:t>Palavra-chave</a:t>
              </a:r>
            </a:p>
          </p:txBody>
        </p:sp>
      </p:grpSp>
      <p:grpSp>
        <p:nvGrpSpPr>
          <p:cNvPr id="4" name="Grupo 50"/>
          <p:cNvGrpSpPr/>
          <p:nvPr/>
        </p:nvGrpSpPr>
        <p:grpSpPr>
          <a:xfrm>
            <a:off x="431800" y="899517"/>
            <a:ext cx="8907458" cy="5688632"/>
            <a:chOff x="-8907458" y="-1548755"/>
            <a:chExt cx="8907458" cy="5688632"/>
          </a:xfrm>
        </p:grpSpPr>
        <p:sp>
          <p:nvSpPr>
            <p:cNvPr id="50" name="Retângulo 49"/>
            <p:cNvSpPr/>
            <p:nvPr/>
          </p:nvSpPr>
          <p:spPr bwMode="auto">
            <a:xfrm>
              <a:off x="-8907458" y="-1548755"/>
              <a:ext cx="8907458" cy="568863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2"/>
                <a:buNone/>
                <a:tabLst/>
              </a:pPr>
              <a:endParaRPr kumimoji="0" lang="pt-BR" sz="1800" b="0" i="0" u="none" strike="noStrike" cap="none" normalizeH="0" baseline="0" smtClean="0">
                <a:ln>
                  <a:noFill/>
                </a:ln>
                <a:effectLst/>
                <a:latin typeface="Arial" charset="0"/>
                <a:ea typeface="MS Gothic" charset="-128"/>
              </a:endParaRPr>
            </a:p>
          </p:txBody>
        </p:sp>
        <p:sp>
          <p:nvSpPr>
            <p:cNvPr id="31767" name="CaixaDeTexto 34"/>
            <p:cNvSpPr txBox="1">
              <a:spLocks noChangeArrowheads="1"/>
            </p:cNvSpPr>
            <p:nvPr/>
          </p:nvSpPr>
          <p:spPr bwMode="auto">
            <a:xfrm>
              <a:off x="-7417072" y="-296615"/>
              <a:ext cx="2406542" cy="593230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</a:pPr>
              <a:r>
                <a:rPr lang="pt-BR" sz="3500"/>
                <a:t>Orçamento</a:t>
              </a:r>
            </a:p>
          </p:txBody>
        </p:sp>
        <p:pic>
          <p:nvPicPr>
            <p:cNvPr id="49" name="Picture 2" descr="Cifrão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-3890948" y="-339152"/>
              <a:ext cx="2381250" cy="3009901"/>
            </a:xfrm>
            <a:prstGeom prst="rect">
              <a:avLst/>
            </a:prstGeom>
            <a:noFill/>
          </p:spPr>
        </p:pic>
      </p:grpSp>
      <p:grpSp>
        <p:nvGrpSpPr>
          <p:cNvPr id="5" name="Grupo 38"/>
          <p:cNvGrpSpPr>
            <a:grpSpLocks/>
          </p:cNvGrpSpPr>
          <p:nvPr/>
        </p:nvGrpSpPr>
        <p:grpSpPr bwMode="auto">
          <a:xfrm>
            <a:off x="503808" y="1187549"/>
            <a:ext cx="8701088" cy="5118100"/>
            <a:chOff x="5572132" y="2500306"/>
            <a:chExt cx="7893072" cy="4643527"/>
          </a:xfrm>
        </p:grpSpPr>
        <p:pic>
          <p:nvPicPr>
            <p:cNvPr id="31763" name="Picture 3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572132" y="2500306"/>
              <a:ext cx="7893072" cy="46435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764" name="CaixaDeTexto 37"/>
            <p:cNvSpPr txBox="1">
              <a:spLocks noChangeArrowheads="1"/>
            </p:cNvSpPr>
            <p:nvPr/>
          </p:nvSpPr>
          <p:spPr bwMode="auto">
            <a:xfrm>
              <a:off x="8572528" y="3179020"/>
              <a:ext cx="3587463" cy="538176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</a:pPr>
              <a:r>
                <a:rPr lang="pt-BR" sz="3500" dirty="0"/>
                <a:t>Período e Horários</a:t>
              </a:r>
            </a:p>
          </p:txBody>
        </p:sp>
      </p:grpSp>
      <p:grpSp>
        <p:nvGrpSpPr>
          <p:cNvPr id="6" name="Grupo 43"/>
          <p:cNvGrpSpPr>
            <a:grpSpLocks/>
          </p:cNvGrpSpPr>
          <p:nvPr/>
        </p:nvGrpSpPr>
        <p:grpSpPr bwMode="auto">
          <a:xfrm>
            <a:off x="242440" y="1475581"/>
            <a:ext cx="9550400" cy="4173538"/>
            <a:chOff x="3958747" y="3857628"/>
            <a:chExt cx="8662987" cy="3786187"/>
          </a:xfrm>
        </p:grpSpPr>
        <p:pic>
          <p:nvPicPr>
            <p:cNvPr id="31761" name="Picture 34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958747" y="3857628"/>
              <a:ext cx="8662987" cy="3786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762" name="CaixaDeTexto 40"/>
            <p:cNvSpPr txBox="1">
              <a:spLocks noChangeArrowheads="1"/>
            </p:cNvSpPr>
            <p:nvPr/>
          </p:nvSpPr>
          <p:spPr bwMode="auto">
            <a:xfrm>
              <a:off x="4714876" y="4214818"/>
              <a:ext cx="1593943" cy="538176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</a:pPr>
              <a:r>
                <a:rPr lang="pt-BR" sz="3500"/>
                <a:t>Idiomas</a:t>
              </a:r>
            </a:p>
          </p:txBody>
        </p:sp>
      </p:grpSp>
      <p:grpSp>
        <p:nvGrpSpPr>
          <p:cNvPr id="7" name="Grupo 46"/>
          <p:cNvGrpSpPr>
            <a:grpSpLocks/>
          </p:cNvGrpSpPr>
          <p:nvPr/>
        </p:nvGrpSpPr>
        <p:grpSpPr bwMode="auto">
          <a:xfrm>
            <a:off x="1439912" y="1115541"/>
            <a:ext cx="7323138" cy="5857875"/>
            <a:chOff x="286268" y="1544039"/>
            <a:chExt cx="6643185" cy="5313962"/>
          </a:xfrm>
        </p:grpSpPr>
        <p:pic>
          <p:nvPicPr>
            <p:cNvPr id="31759" name="Picture 35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86268" y="1544039"/>
              <a:ext cx="6643185" cy="5313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760" name="CaixaDeTexto 45"/>
            <p:cNvSpPr txBox="1">
              <a:spLocks noChangeArrowheads="1"/>
            </p:cNvSpPr>
            <p:nvPr/>
          </p:nvSpPr>
          <p:spPr bwMode="auto">
            <a:xfrm>
              <a:off x="1571604" y="2571744"/>
              <a:ext cx="2342785" cy="538176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</a:pPr>
              <a:r>
                <a:rPr lang="pt-BR" sz="3500"/>
                <a:t>Localidades</a:t>
              </a:r>
            </a:p>
          </p:txBody>
        </p:sp>
      </p:grpSp>
      <p:grpSp>
        <p:nvGrpSpPr>
          <p:cNvPr id="8" name="Grupo 47"/>
          <p:cNvGrpSpPr>
            <a:grpSpLocks/>
          </p:cNvGrpSpPr>
          <p:nvPr/>
        </p:nvGrpSpPr>
        <p:grpSpPr bwMode="auto">
          <a:xfrm>
            <a:off x="-288280" y="2771725"/>
            <a:ext cx="10287000" cy="4651375"/>
            <a:chOff x="-317538" y="2486415"/>
            <a:chExt cx="10287072" cy="4651008"/>
          </a:xfrm>
        </p:grpSpPr>
        <p:sp>
          <p:nvSpPr>
            <p:cNvPr id="31755" name="Retângulo de cantos arredondados 42"/>
            <p:cNvSpPr>
              <a:spLocks noChangeArrowheads="1"/>
            </p:cNvSpPr>
            <p:nvPr/>
          </p:nvSpPr>
          <p:spPr bwMode="auto">
            <a:xfrm>
              <a:off x="1968478" y="3286147"/>
              <a:ext cx="8001056" cy="1285884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00783" tIns="50392" rIns="100783" bIns="50392" anchor="ctr"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</a:pPr>
              <a:r>
                <a:rPr lang="pt-BR" sz="2800" b="1"/>
                <a:t>NUNCA misturar palavras com VOLUMES de buscas diferentes</a:t>
              </a:r>
              <a:endParaRPr lang="pt-BR" sz="3200" b="1"/>
            </a:p>
          </p:txBody>
        </p:sp>
        <p:grpSp>
          <p:nvGrpSpPr>
            <p:cNvPr id="9" name="Grupo 43"/>
            <p:cNvGrpSpPr>
              <a:grpSpLocks/>
            </p:cNvGrpSpPr>
            <p:nvPr/>
          </p:nvGrpSpPr>
          <p:grpSpPr bwMode="auto">
            <a:xfrm>
              <a:off x="-317538" y="2486415"/>
              <a:ext cx="8429684" cy="4651008"/>
              <a:chOff x="-317538" y="2551477"/>
              <a:chExt cx="8429684" cy="4651008"/>
            </a:xfrm>
          </p:grpSpPr>
          <p:pic>
            <p:nvPicPr>
              <p:cNvPr id="31757" name="Picture 2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611156" y="2551477"/>
                <a:ext cx="7500990" cy="3871566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</p:pic>
          <p:sp>
            <p:nvSpPr>
              <p:cNvPr id="47" name="Multiplicar 46"/>
              <p:cNvSpPr/>
              <p:nvPr/>
            </p:nvSpPr>
            <p:spPr bwMode="auto">
              <a:xfrm>
                <a:off x="-317538" y="4208696"/>
                <a:ext cx="2897208" cy="2993789"/>
              </a:xfrm>
              <a:prstGeom prst="mathMultiply">
                <a:avLst>
                  <a:gd name="adj1" fmla="val 6424"/>
                </a:avLst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hangingPunct="0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charset="2"/>
                  <a:buNone/>
                  <a:defRPr/>
                </a:pPr>
                <a:endParaRPr lang="pt-BR">
                  <a:latin typeface="Arial" charset="0"/>
                  <a:ea typeface="MS Gothic" charset="-128"/>
                </a:endParaRPr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Objetivos da Campanha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</p:nvPr>
        </p:nvGraphicFramePr>
        <p:xfrm>
          <a:off x="431800" y="971525"/>
          <a:ext cx="906938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826"/>
                <a:gridCol w="2880320"/>
                <a:gridCol w="388424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Objetivo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Métrica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Exemplos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Branding</a:t>
                      </a:r>
                      <a:r>
                        <a:rPr lang="pt-BR" baseline="0" dirty="0" smtClean="0"/>
                        <a:t> (Marca)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Impressões/Cliques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 milhão de impressões/mês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Tráfego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Cliques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10 mil cliques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Prospects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Cadastros/Contatos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100 cadastros/mês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Vendas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Vendas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R$ 10</a:t>
                      </a:r>
                      <a:r>
                        <a:rPr lang="pt-BR" baseline="0" dirty="0" smtClean="0"/>
                        <a:t> mil/mês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tângulo de cantos arredondados 6"/>
          <p:cNvSpPr>
            <a:spLocks noChangeArrowheads="1"/>
          </p:cNvSpPr>
          <p:nvPr/>
        </p:nvSpPr>
        <p:spPr bwMode="auto">
          <a:xfrm>
            <a:off x="503808" y="3563813"/>
            <a:ext cx="8856984" cy="2952328"/>
          </a:xfrm>
          <a:prstGeom prst="roundRect">
            <a:avLst>
              <a:gd name="adj" fmla="val 5716"/>
            </a:avLst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100783" tIns="50392" rIns="100783" bIns="50392" anchor="t"/>
          <a:lstStyle/>
          <a:p>
            <a:r>
              <a:rPr lang="pt-BR" sz="2400" dirty="0" smtClean="0"/>
              <a:t>Comentários: </a:t>
            </a:r>
            <a:endParaRPr lang="pt-B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Etapas de uma campanha de </a:t>
            </a:r>
            <a:r>
              <a:rPr lang="pt-BR" dirty="0" err="1" smtClean="0"/>
              <a:t>AdWords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</p:nvPr>
        </p:nvGraphicFramePr>
        <p:xfrm>
          <a:off x="431800" y="971525"/>
          <a:ext cx="8928992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344"/>
                <a:gridCol w="583264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Etapa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Descrição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Seleção de Palavras-Chave (</a:t>
                      </a:r>
                      <a:r>
                        <a:rPr lang="pt-BR" dirty="0" err="1" smtClean="0"/>
                        <a:t>keywords</a:t>
                      </a:r>
                      <a:r>
                        <a:rPr lang="pt-BR" dirty="0" smtClean="0"/>
                        <a:t>)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Estudar</a:t>
                      </a:r>
                      <a:r>
                        <a:rPr lang="pt-BR" baseline="0" dirty="0" smtClean="0"/>
                        <a:t> o comportamento de busca do potencial cliente e as palavras mais buscadas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Análise de concorrência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Realizar</a:t>
                      </a:r>
                      <a:r>
                        <a:rPr lang="pt-BR" baseline="0" dirty="0" smtClean="0"/>
                        <a:t> buscas no Google e em outros sites para analisar a concorrência.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Análise do site 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Verificar</a:t>
                      </a:r>
                      <a:r>
                        <a:rPr lang="pt-BR" baseline="0" dirty="0" smtClean="0"/>
                        <a:t> se a estrutura do site é adequada para campanhas e se existem </a:t>
                      </a:r>
                      <a:r>
                        <a:rPr lang="pt-BR" baseline="0" dirty="0" err="1" smtClean="0"/>
                        <a:t>landing</a:t>
                      </a:r>
                      <a:r>
                        <a:rPr lang="pt-BR" baseline="0" dirty="0" smtClean="0"/>
                        <a:t> </a:t>
                      </a:r>
                      <a:r>
                        <a:rPr lang="pt-BR" baseline="0" dirty="0" err="1" smtClean="0"/>
                        <a:t>pages</a:t>
                      </a:r>
                      <a:r>
                        <a:rPr lang="pt-BR" baseline="0" dirty="0" smtClean="0"/>
                        <a:t> adequadas.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Definição de campanhas e anúncios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Com base no estudo de </a:t>
                      </a:r>
                      <a:r>
                        <a:rPr lang="pt-BR" dirty="0" err="1" smtClean="0"/>
                        <a:t>keywords</a:t>
                      </a:r>
                      <a:r>
                        <a:rPr lang="pt-BR" dirty="0" smtClean="0"/>
                        <a:t>,</a:t>
                      </a:r>
                      <a:r>
                        <a:rPr lang="pt-BR" baseline="0" dirty="0" smtClean="0"/>
                        <a:t> criar campanhas e anúncios.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Definir métricas de resultados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Configurar</a:t>
                      </a:r>
                      <a:r>
                        <a:rPr lang="pt-BR" baseline="0" dirty="0" smtClean="0"/>
                        <a:t> códigos de conversão e Google </a:t>
                      </a:r>
                      <a:r>
                        <a:rPr lang="pt-BR" baseline="0" dirty="0" err="1" smtClean="0"/>
                        <a:t>Analytics</a:t>
                      </a:r>
                      <a:r>
                        <a:rPr lang="pt-BR" baseline="0" dirty="0" smtClean="0"/>
                        <a:t> p/ acompanhar métricas de resultados.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tângulo de cantos arredondados 6"/>
          <p:cNvSpPr>
            <a:spLocks noChangeArrowheads="1"/>
          </p:cNvSpPr>
          <p:nvPr/>
        </p:nvSpPr>
        <p:spPr bwMode="auto">
          <a:xfrm>
            <a:off x="503808" y="5147989"/>
            <a:ext cx="8856984" cy="1872208"/>
          </a:xfrm>
          <a:prstGeom prst="roundRect">
            <a:avLst>
              <a:gd name="adj" fmla="val 5716"/>
            </a:avLst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100783" tIns="50392" rIns="100783" bIns="50392" anchor="t"/>
          <a:lstStyle/>
          <a:p>
            <a:r>
              <a:rPr lang="pt-BR" sz="2400" dirty="0" smtClean="0"/>
              <a:t>Comentários: </a:t>
            </a:r>
            <a:endParaRPr lang="pt-B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Etapa 1 – Seleção de </a:t>
            </a:r>
            <a:r>
              <a:rPr lang="pt-BR" dirty="0" err="1" smtClean="0"/>
              <a:t>Palavras-chave</a:t>
            </a:r>
            <a:endParaRPr lang="pt-BR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Ferramenta de Palavras-Chave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7784" y="1068882"/>
            <a:ext cx="9490439" cy="5807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CaixaDeTexto 11"/>
          <p:cNvSpPr txBox="1"/>
          <p:nvPr/>
        </p:nvSpPr>
        <p:spPr>
          <a:xfrm>
            <a:off x="575816" y="611485"/>
            <a:ext cx="5904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https://adwords.google.com/select/KeywordToolExternal</a:t>
            </a:r>
            <a:endParaRPr lang="pt-BR" dirty="0"/>
          </a:p>
        </p:txBody>
      </p:sp>
      <p:sp>
        <p:nvSpPr>
          <p:cNvPr id="13" name="Retângulo de cantos arredondados 12"/>
          <p:cNvSpPr>
            <a:spLocks noChangeArrowheads="1"/>
          </p:cNvSpPr>
          <p:nvPr/>
        </p:nvSpPr>
        <p:spPr bwMode="auto">
          <a:xfrm>
            <a:off x="503808" y="5508029"/>
            <a:ext cx="8856984" cy="1512168"/>
          </a:xfrm>
          <a:prstGeom prst="roundRect">
            <a:avLst>
              <a:gd name="adj" fmla="val 5716"/>
            </a:avLst>
          </a:prstGeom>
          <a:solidFill>
            <a:srgbClr val="FFFFCC"/>
          </a:solidFill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100783" tIns="50392" rIns="100783" bIns="50392" anchor="t"/>
          <a:lstStyle/>
          <a:p>
            <a:r>
              <a:rPr lang="pt-BR" sz="2000" b="1" dirty="0" smtClean="0"/>
              <a:t>Comentários:</a:t>
            </a:r>
          </a:p>
          <a:p>
            <a:r>
              <a:rPr lang="pt-BR" sz="2000" dirty="0" smtClean="0"/>
              <a:t>A ferramenta de palavras-chave permite pesquisar as palavras por volumes de busca no Google </a:t>
            </a:r>
            <a:endParaRPr lang="pt-BR" sz="1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Ferramenta de Palavras-Chave</a:t>
            </a:r>
            <a:endParaRPr lang="pt-BR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5776" y="755501"/>
            <a:ext cx="9729371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Elipse 9"/>
          <p:cNvSpPr/>
          <p:nvPr/>
        </p:nvSpPr>
        <p:spPr bwMode="auto">
          <a:xfrm>
            <a:off x="4104208" y="2195661"/>
            <a:ext cx="432048" cy="432048"/>
          </a:xfrm>
          <a:prstGeom prst="ellipse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r>
              <a:rPr kumimoji="0" lang="pt-BR" sz="1800" b="0" i="0" u="none" strike="noStrike" cap="none" normalizeH="0" baseline="0" dirty="0" smtClean="0">
                <a:ln>
                  <a:noFill/>
                </a:ln>
                <a:effectLst/>
                <a:latin typeface="Arial" charset="0"/>
                <a:ea typeface="MS Gothic" charset="-128"/>
              </a:rPr>
              <a:t>1</a:t>
            </a:r>
          </a:p>
        </p:txBody>
      </p:sp>
      <p:sp>
        <p:nvSpPr>
          <p:cNvPr id="17" name="Elipse 16"/>
          <p:cNvSpPr/>
          <p:nvPr/>
        </p:nvSpPr>
        <p:spPr bwMode="auto">
          <a:xfrm>
            <a:off x="1367904" y="2627709"/>
            <a:ext cx="432048" cy="432048"/>
          </a:xfrm>
          <a:prstGeom prst="ellipse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r>
              <a:rPr lang="pt-BR" dirty="0" smtClean="0">
                <a:latin typeface="Arial" charset="0"/>
                <a:ea typeface="MS Gothic" charset="-128"/>
              </a:rPr>
              <a:t>2</a:t>
            </a:r>
            <a:endParaRPr kumimoji="0" lang="pt-BR" sz="1800" b="0" i="0" u="none" strike="noStrike" cap="none" normalizeH="0" baseline="0" dirty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sp>
        <p:nvSpPr>
          <p:cNvPr id="18" name="Elipse 17"/>
          <p:cNvSpPr/>
          <p:nvPr/>
        </p:nvSpPr>
        <p:spPr bwMode="auto">
          <a:xfrm>
            <a:off x="4464248" y="3491805"/>
            <a:ext cx="432048" cy="432048"/>
          </a:xfrm>
          <a:prstGeom prst="ellipse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r>
              <a:rPr lang="pt-BR" dirty="0" smtClean="0">
                <a:latin typeface="Arial" charset="0"/>
                <a:ea typeface="MS Gothic" charset="-128"/>
              </a:rPr>
              <a:t>3</a:t>
            </a:r>
            <a:endParaRPr kumimoji="0" lang="pt-BR" sz="1800" b="0" i="0" u="none" strike="noStrike" cap="none" normalizeH="0" baseline="0" dirty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sp>
        <p:nvSpPr>
          <p:cNvPr id="19" name="Elipse 18"/>
          <p:cNvSpPr/>
          <p:nvPr/>
        </p:nvSpPr>
        <p:spPr bwMode="auto">
          <a:xfrm>
            <a:off x="5832400" y="3491805"/>
            <a:ext cx="432048" cy="432048"/>
          </a:xfrm>
          <a:prstGeom prst="ellipse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r>
              <a:rPr lang="pt-BR" dirty="0" smtClean="0">
                <a:latin typeface="Arial" charset="0"/>
                <a:ea typeface="MS Gothic" charset="-128"/>
              </a:rPr>
              <a:t>4</a:t>
            </a:r>
            <a:endParaRPr kumimoji="0" lang="pt-BR" sz="1800" b="0" i="0" u="none" strike="noStrike" cap="none" normalizeH="0" baseline="0" dirty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sp>
        <p:nvSpPr>
          <p:cNvPr id="20" name="Elipse 19"/>
          <p:cNvSpPr/>
          <p:nvPr/>
        </p:nvSpPr>
        <p:spPr bwMode="auto">
          <a:xfrm>
            <a:off x="6912520" y="3491805"/>
            <a:ext cx="432048" cy="432048"/>
          </a:xfrm>
          <a:prstGeom prst="ellipse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r>
              <a:rPr lang="pt-BR" dirty="0" smtClean="0">
                <a:latin typeface="Arial" charset="0"/>
                <a:ea typeface="MS Gothic" charset="-128"/>
              </a:rPr>
              <a:t>5</a:t>
            </a:r>
            <a:endParaRPr kumimoji="0" lang="pt-BR" sz="1800" b="0" i="0" u="none" strike="noStrike" cap="none" normalizeH="0" baseline="0" dirty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sp>
        <p:nvSpPr>
          <p:cNvPr id="21" name="Elipse 20"/>
          <p:cNvSpPr/>
          <p:nvPr/>
        </p:nvSpPr>
        <p:spPr bwMode="auto">
          <a:xfrm>
            <a:off x="8208664" y="3491805"/>
            <a:ext cx="432048" cy="432048"/>
          </a:xfrm>
          <a:prstGeom prst="ellipse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r>
              <a:rPr lang="pt-BR" dirty="0" smtClean="0">
                <a:latin typeface="Arial" charset="0"/>
                <a:ea typeface="MS Gothic" charset="-128"/>
              </a:rPr>
              <a:t>6</a:t>
            </a:r>
            <a:endParaRPr kumimoji="0" lang="pt-BR" sz="1800" b="0" i="0" u="none" strike="noStrike" cap="none" normalizeH="0" baseline="0" dirty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sp>
        <p:nvSpPr>
          <p:cNvPr id="22" name="Elipse 21"/>
          <p:cNvSpPr/>
          <p:nvPr/>
        </p:nvSpPr>
        <p:spPr bwMode="auto">
          <a:xfrm>
            <a:off x="9288784" y="3491805"/>
            <a:ext cx="432048" cy="432048"/>
          </a:xfrm>
          <a:prstGeom prst="ellipse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r>
              <a:rPr lang="pt-BR" dirty="0" smtClean="0">
                <a:latin typeface="Arial" charset="0"/>
                <a:ea typeface="MS Gothic" charset="-128"/>
              </a:rPr>
              <a:t>7</a:t>
            </a:r>
            <a:endParaRPr kumimoji="0" lang="pt-BR" sz="1800" b="0" i="0" u="none" strike="noStrike" cap="none" normalizeH="0" baseline="0" dirty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Ferramenta de Palavras-Chave </a:t>
            </a:r>
            <a:r>
              <a:rPr lang="pt-BR" dirty="0" smtClean="0">
                <a:sym typeface="Wingdings" pitchFamily="2" charset="2"/>
              </a:rPr>
              <a:t> Planilha do Excel</a:t>
            </a:r>
            <a:endParaRPr lang="pt-BR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2040" y="2411685"/>
            <a:ext cx="6910387" cy="4344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tângulo de cantos arredondados 7"/>
          <p:cNvSpPr>
            <a:spLocks noChangeArrowheads="1"/>
          </p:cNvSpPr>
          <p:nvPr/>
        </p:nvSpPr>
        <p:spPr bwMode="auto">
          <a:xfrm>
            <a:off x="503808" y="5508029"/>
            <a:ext cx="8856984" cy="1512168"/>
          </a:xfrm>
          <a:prstGeom prst="roundRect">
            <a:avLst>
              <a:gd name="adj" fmla="val 5716"/>
            </a:avLst>
          </a:prstGeom>
          <a:solidFill>
            <a:srgbClr val="FFFFCC"/>
          </a:solidFill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100783" tIns="50392" rIns="100783" bIns="50392" anchor="t"/>
          <a:lstStyle/>
          <a:p>
            <a:r>
              <a:rPr lang="pt-BR" sz="2000" b="1" dirty="0" smtClean="0"/>
              <a:t>Comentários:</a:t>
            </a:r>
          </a:p>
          <a:p>
            <a:r>
              <a:rPr lang="pt-BR" sz="2000" dirty="0" smtClean="0"/>
              <a:t>Fazer filtros no Excel ou usar tabelas dinâmicas para segmentar as palavras-chave.</a:t>
            </a:r>
            <a:endParaRPr lang="pt-BR" sz="1600" b="1" dirty="0">
              <a:solidFill>
                <a:srgbClr val="FF0000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7784" y="755501"/>
            <a:ext cx="3760787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438" y="899517"/>
            <a:ext cx="9678987" cy="543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Ferramenta de Palavras-Chave </a:t>
            </a:r>
            <a:r>
              <a:rPr lang="pt-BR" dirty="0" smtClean="0">
                <a:sym typeface="Wingdings" pitchFamily="2" charset="2"/>
              </a:rPr>
              <a:t> Planilha do Excel</a:t>
            </a:r>
            <a:endParaRPr lang="pt-BR" dirty="0"/>
          </a:p>
        </p:txBody>
      </p:sp>
      <p:sp>
        <p:nvSpPr>
          <p:cNvPr id="8" name="Retângulo de cantos arredondados 7"/>
          <p:cNvSpPr>
            <a:spLocks noChangeArrowheads="1"/>
          </p:cNvSpPr>
          <p:nvPr/>
        </p:nvSpPr>
        <p:spPr bwMode="auto">
          <a:xfrm>
            <a:off x="503808" y="5508029"/>
            <a:ext cx="8856984" cy="1512168"/>
          </a:xfrm>
          <a:prstGeom prst="roundRect">
            <a:avLst>
              <a:gd name="adj" fmla="val 5716"/>
            </a:avLst>
          </a:prstGeom>
          <a:solidFill>
            <a:srgbClr val="FFFFCC"/>
          </a:solidFill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100783" tIns="50392" rIns="100783" bIns="50392" anchor="t"/>
          <a:lstStyle/>
          <a:p>
            <a:r>
              <a:rPr lang="pt-BR" sz="2000" b="1" dirty="0" smtClean="0"/>
              <a:t>Comentários:</a:t>
            </a:r>
          </a:p>
          <a:p>
            <a:r>
              <a:rPr lang="pt-BR" sz="2000" dirty="0" smtClean="0"/>
              <a:t>O uso do Excel é fundamental para criar filtros e segmentar as </a:t>
            </a:r>
            <a:r>
              <a:rPr lang="pt-BR" sz="2000" dirty="0" err="1" smtClean="0"/>
              <a:t>keywords</a:t>
            </a:r>
            <a:r>
              <a:rPr lang="pt-BR" sz="2000" dirty="0" smtClean="0"/>
              <a:t> por nichos de buscas.</a:t>
            </a:r>
            <a:endParaRPr lang="pt-BR" sz="1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Sugestões de Busca</a:t>
            </a:r>
            <a:endParaRPr lang="pt-BR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 smtClean="0"/>
              <a:t>Planejamento </a:t>
            </a:r>
            <a:r>
              <a:rPr lang="pt-BR" dirty="0" smtClean="0">
                <a:sym typeface="Wingdings" pitchFamily="2" charset="2"/>
              </a:rPr>
              <a:t> </a:t>
            </a:r>
            <a:r>
              <a:rPr lang="pt-BR" dirty="0" smtClean="0"/>
              <a:t>Comportamento de busca</a:t>
            </a:r>
            <a:endParaRPr lang="pt-BR" dirty="0"/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5816" y="1115541"/>
            <a:ext cx="9069387" cy="54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tângulo 4"/>
          <p:cNvSpPr/>
          <p:nvPr/>
        </p:nvSpPr>
        <p:spPr bwMode="auto">
          <a:xfrm>
            <a:off x="3312120" y="3131765"/>
            <a:ext cx="1656184" cy="14401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sp>
        <p:nvSpPr>
          <p:cNvPr id="7" name="Retângulo 6"/>
          <p:cNvSpPr/>
          <p:nvPr/>
        </p:nvSpPr>
        <p:spPr bwMode="auto">
          <a:xfrm>
            <a:off x="3312120" y="3923853"/>
            <a:ext cx="1656184" cy="14401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sp>
        <p:nvSpPr>
          <p:cNvPr id="8" name="Retângulo de cantos arredondados 7"/>
          <p:cNvSpPr>
            <a:spLocks noChangeArrowheads="1"/>
          </p:cNvSpPr>
          <p:nvPr/>
        </p:nvSpPr>
        <p:spPr bwMode="auto">
          <a:xfrm>
            <a:off x="1511920" y="5508029"/>
            <a:ext cx="7128792" cy="1300929"/>
          </a:xfrm>
          <a:prstGeom prst="roundRect">
            <a:avLst>
              <a:gd name="adj" fmla="val 3266"/>
            </a:avLst>
          </a:prstGeom>
          <a:solidFill>
            <a:srgbClr val="FFFFCC"/>
          </a:solidFill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r>
              <a:rPr lang="pt-BR" sz="2000" dirty="0" smtClean="0"/>
              <a:t>Faça </a:t>
            </a:r>
            <a:r>
              <a:rPr lang="pt-BR" sz="2000" dirty="0" err="1" smtClean="0"/>
              <a:t>prints</a:t>
            </a:r>
            <a:r>
              <a:rPr lang="pt-BR" sz="2000" dirty="0" smtClean="0"/>
              <a:t> das sugestões de busca e destaque palavras relacionadas ao seu negócio. </a:t>
            </a:r>
          </a:p>
          <a:p>
            <a:r>
              <a:rPr lang="pt-BR" sz="2000" dirty="0" smtClean="0"/>
              <a:t>Não há uma relação direta com volume de busca, porém geram insights importantes para o planejamento.</a:t>
            </a:r>
          </a:p>
        </p:txBody>
      </p:sp>
      <p:pic>
        <p:nvPicPr>
          <p:cNvPr id="10" name="Picture 3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288784" y="137269"/>
            <a:ext cx="469900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6263" y="1116172"/>
            <a:ext cx="9069387" cy="54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Resultados de Busca</a:t>
            </a:r>
            <a:endParaRPr lang="pt-BR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 smtClean="0"/>
              <a:t>Planejamento </a:t>
            </a:r>
            <a:r>
              <a:rPr lang="pt-BR" dirty="0" smtClean="0">
                <a:sym typeface="Wingdings" pitchFamily="2" charset="2"/>
              </a:rPr>
              <a:t> </a:t>
            </a:r>
            <a:r>
              <a:rPr lang="pt-BR" dirty="0" smtClean="0"/>
              <a:t>Comportamento de busca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 bwMode="auto">
          <a:xfrm>
            <a:off x="6768504" y="1835621"/>
            <a:ext cx="1656184" cy="266429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sp>
        <p:nvSpPr>
          <p:cNvPr id="7" name="Retângulo 6"/>
          <p:cNvSpPr/>
          <p:nvPr/>
        </p:nvSpPr>
        <p:spPr bwMode="auto">
          <a:xfrm>
            <a:off x="1727944" y="3707829"/>
            <a:ext cx="4176464" cy="86409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sp>
        <p:nvSpPr>
          <p:cNvPr id="8" name="Retângulo de cantos arredondados 7"/>
          <p:cNvSpPr>
            <a:spLocks noChangeArrowheads="1"/>
          </p:cNvSpPr>
          <p:nvPr/>
        </p:nvSpPr>
        <p:spPr bwMode="auto">
          <a:xfrm>
            <a:off x="1511920" y="5508029"/>
            <a:ext cx="7128792" cy="1300929"/>
          </a:xfrm>
          <a:prstGeom prst="roundRect">
            <a:avLst>
              <a:gd name="adj" fmla="val 3266"/>
            </a:avLst>
          </a:prstGeom>
          <a:solidFill>
            <a:srgbClr val="FFFFCC"/>
          </a:solidFill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r>
              <a:rPr lang="pt-BR" sz="2000" dirty="0" smtClean="0"/>
              <a:t>Salve os resultados de busca para DIVERSAS PALAVRAS. Será importante para avaliar a concorrência.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Google Insights for Search </a:t>
            </a:r>
            <a:endParaRPr lang="pt-BR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 smtClean="0"/>
              <a:t>Planejamento </a:t>
            </a:r>
            <a:r>
              <a:rPr lang="pt-BR" dirty="0" smtClean="0">
                <a:sym typeface="Wingdings" pitchFamily="2" charset="2"/>
              </a:rPr>
              <a:t> Comportamento de busca</a:t>
            </a:r>
            <a:endParaRPr lang="pt-BR" dirty="0"/>
          </a:p>
        </p:txBody>
      </p:sp>
      <p:pic>
        <p:nvPicPr>
          <p:cNvPr id="7" name="Picture 3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88784" y="137269"/>
            <a:ext cx="469900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3238" y="1214920"/>
            <a:ext cx="9069387" cy="5296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6" descr="http://t0.gstatic.com/images?q=tbn:_VJ0mJpHawl5hM:http://mommylife.net/archives/2009/04/16/susanboyle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655936" y="4931965"/>
            <a:ext cx="703462" cy="504056"/>
          </a:xfrm>
          <a:prstGeom prst="rect">
            <a:avLst/>
          </a:prstGeom>
          <a:noFill/>
        </p:spPr>
      </p:pic>
      <p:pic>
        <p:nvPicPr>
          <p:cNvPr id="10" name="Picture 8" descr="http://t0.gstatic.com/images?q=tbn:GHUI78G6OyfrBM:http://www.bambini-news.it/wp-content/uploads/2010/01/terremoto-haiti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688384" y="4859957"/>
            <a:ext cx="864096" cy="487272"/>
          </a:xfrm>
          <a:prstGeom prst="rect">
            <a:avLst/>
          </a:prstGeom>
          <a:noFill/>
        </p:spPr>
      </p:pic>
      <p:pic>
        <p:nvPicPr>
          <p:cNvPr id="11" name="Picture 10" descr="http://t2.gstatic.com/images?q=tbn:Dto6PKiqnPABvM:http://fabioramalho.recordrio.com.br/wp-content/uploads/2010/06/bruno-1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136656" y="4715941"/>
            <a:ext cx="720858" cy="540644"/>
          </a:xfrm>
          <a:prstGeom prst="rect">
            <a:avLst/>
          </a:prstGeom>
          <a:noFill/>
        </p:spPr>
      </p:pic>
      <p:sp>
        <p:nvSpPr>
          <p:cNvPr id="13" name="Retângulo de cantos arredondados 12"/>
          <p:cNvSpPr>
            <a:spLocks noChangeArrowheads="1"/>
          </p:cNvSpPr>
          <p:nvPr/>
        </p:nvSpPr>
        <p:spPr bwMode="auto">
          <a:xfrm>
            <a:off x="2015976" y="6444133"/>
            <a:ext cx="5579399" cy="796873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r>
              <a:rPr lang="pt-BR" sz="2000" dirty="0" smtClean="0"/>
              <a:t>Monitore tendências de buscas</a:t>
            </a:r>
            <a:endParaRPr lang="pt-BR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5777" y="611485"/>
            <a:ext cx="9649072" cy="566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Tendências de busca – Insights Search</a:t>
            </a:r>
            <a:endParaRPr lang="pt-BR" dirty="0"/>
          </a:p>
        </p:txBody>
      </p:sp>
      <p:sp>
        <p:nvSpPr>
          <p:cNvPr id="9" name="Retângulo de cantos arredondados 8"/>
          <p:cNvSpPr>
            <a:spLocks noChangeArrowheads="1"/>
          </p:cNvSpPr>
          <p:nvPr/>
        </p:nvSpPr>
        <p:spPr bwMode="auto">
          <a:xfrm>
            <a:off x="2015976" y="6444133"/>
            <a:ext cx="5579399" cy="796873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r>
              <a:rPr lang="pt-BR" sz="2000" dirty="0" smtClean="0"/>
              <a:t>Cuidado para não se enganar</a:t>
            </a:r>
            <a:endParaRPr lang="pt-BR" sz="2000" dirty="0"/>
          </a:p>
        </p:txBody>
      </p:sp>
      <p:pic>
        <p:nvPicPr>
          <p:cNvPr id="1044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5777" y="611485"/>
            <a:ext cx="9649072" cy="566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Outras ferramentas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26" name="Picture 2" descr="http://www.mestreseo.com.br/wp-content/uploads/2010/10/semrush-logo-150x15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952" y="1403573"/>
            <a:ext cx="2448272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blog.larrybodine.com/uploads/image/SpyFu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392" y="2123653"/>
            <a:ext cx="2697088" cy="26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www.vitaminapublicitaria.com.br/wp-content/uploads/2011/09/google-analytics-logo-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900" y="4147863"/>
            <a:ext cx="3024336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805" y="5201685"/>
            <a:ext cx="3114675" cy="138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11606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Etapa 2 – Análise da Concorrência</a:t>
            </a:r>
            <a:endParaRPr lang="pt-BR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Checklist</a:t>
            </a:r>
            <a:r>
              <a:rPr lang="pt-BR" dirty="0" smtClean="0"/>
              <a:t> de Análise da Concorrência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Pesquise e analise o padrão de anúncios</a:t>
            </a:r>
          </a:p>
          <a:p>
            <a:r>
              <a:rPr lang="pt-BR" dirty="0" smtClean="0"/>
              <a:t>Navegue em sites com anúncios do Google e faça </a:t>
            </a:r>
            <a:r>
              <a:rPr lang="pt-BR" dirty="0" err="1" smtClean="0"/>
              <a:t>prints</a:t>
            </a:r>
            <a:r>
              <a:rPr lang="pt-BR" dirty="0" smtClean="0"/>
              <a:t> dos anúncios gráficos</a:t>
            </a:r>
          </a:p>
          <a:p>
            <a:r>
              <a:rPr lang="pt-BR" dirty="0" smtClean="0"/>
              <a:t>Identifique buscas com menos concorrência</a:t>
            </a:r>
          </a:p>
          <a:p>
            <a:r>
              <a:rPr lang="pt-BR" dirty="0" smtClean="0"/>
              <a:t>Ligue para concorrentes como se fosse cliente e pergunte se muita gente “liga do Google”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Etapa 3 – Análise do Site</a:t>
            </a:r>
            <a:endParaRPr lang="pt-BR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Checklist</a:t>
            </a:r>
            <a:r>
              <a:rPr lang="pt-BR" dirty="0" smtClean="0"/>
              <a:t> do site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 A Home Page direciona rapidamente para todos serviços?</a:t>
            </a:r>
          </a:p>
          <a:p>
            <a:r>
              <a:rPr lang="pt-BR" dirty="0" smtClean="0"/>
              <a:t>Existem </a:t>
            </a:r>
            <a:r>
              <a:rPr lang="pt-BR" dirty="0" err="1" smtClean="0"/>
              <a:t>landing</a:t>
            </a:r>
            <a:r>
              <a:rPr lang="pt-BR" dirty="0" smtClean="0"/>
              <a:t> </a:t>
            </a:r>
            <a:r>
              <a:rPr lang="pt-BR" dirty="0" err="1" smtClean="0"/>
              <a:t>pages</a:t>
            </a:r>
            <a:r>
              <a:rPr lang="pt-BR" dirty="0" smtClean="0"/>
              <a:t> (páginas destino) para cada serviço?</a:t>
            </a:r>
          </a:p>
          <a:p>
            <a:r>
              <a:rPr lang="pt-BR" dirty="0" smtClean="0"/>
              <a:t>O site demora para carregar?</a:t>
            </a:r>
          </a:p>
          <a:p>
            <a:r>
              <a:rPr lang="pt-BR" dirty="0" smtClean="0"/>
              <a:t>As </a:t>
            </a:r>
            <a:r>
              <a:rPr lang="pt-BR" dirty="0" err="1" smtClean="0"/>
              <a:t>keywords</a:t>
            </a:r>
            <a:r>
              <a:rPr lang="pt-BR" dirty="0" smtClean="0"/>
              <a:t> estão presentes na página destino?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Etapa 4 – Definindo as Campanhas</a:t>
            </a:r>
            <a:endParaRPr lang="pt-BR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189038" y="3175"/>
            <a:ext cx="8437562" cy="573088"/>
          </a:xfrm>
        </p:spPr>
        <p:txBody>
          <a:bodyPr lIns="101588" tIns="50794" rIns="101588" bIns="50794"/>
          <a:lstStyle/>
          <a:p>
            <a:pPr>
              <a:lnSpc>
                <a:spcPct val="101000"/>
              </a:lnSpc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lang="pt-BR" smtClean="0"/>
              <a:t>Mercado de massa x mercado de Nicho</a:t>
            </a:r>
          </a:p>
        </p:txBody>
      </p:sp>
      <p:pic>
        <p:nvPicPr>
          <p:cNvPr id="2457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0388" y="922338"/>
            <a:ext cx="6862762" cy="3541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24580" name="Line 3"/>
          <p:cNvSpPr>
            <a:spLocks noChangeShapeType="1"/>
          </p:cNvSpPr>
          <p:nvPr/>
        </p:nvSpPr>
        <p:spPr bwMode="auto">
          <a:xfrm>
            <a:off x="2894013" y="3768725"/>
            <a:ext cx="3175" cy="676275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lIns="100794" tIns="50397" rIns="100794" bIns="50397"/>
          <a:lstStyle/>
          <a:p>
            <a:endParaRPr lang="pt-BR"/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3611563" y="850900"/>
            <a:ext cx="6043612" cy="5397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9207" tIns="98532" rIns="99207" bIns="51588">
            <a:spAutoFit/>
          </a:bodyPr>
          <a:lstStyle/>
          <a:p>
            <a:pPr algn="ctr" hangingPunct="0">
              <a:lnSpc>
                <a:spcPct val="87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lang="en-GB" sz="2900" b="1">
                <a:solidFill>
                  <a:srgbClr val="000000"/>
                </a:solidFill>
              </a:rPr>
              <a:t>A Cauda Longa (Chris Anderson)</a:t>
            </a:r>
            <a:r>
              <a:rPr lang="ar-SA" sz="2900" b="1">
                <a:solidFill>
                  <a:srgbClr val="000000"/>
                </a:solidFill>
              </a:rPr>
              <a:t>‏</a:t>
            </a:r>
            <a:endParaRPr lang="en-GB" sz="2900" b="1">
              <a:solidFill>
                <a:srgbClr val="000000"/>
              </a:solidFill>
            </a:endParaRPr>
          </a:p>
        </p:txBody>
      </p:sp>
      <p:sp>
        <p:nvSpPr>
          <p:cNvPr id="20485" name="AutoShape 5"/>
          <p:cNvSpPr>
            <a:spLocks noChangeArrowheads="1"/>
          </p:cNvSpPr>
          <p:nvPr/>
        </p:nvSpPr>
        <p:spPr bwMode="auto">
          <a:xfrm>
            <a:off x="2182813" y="1627188"/>
            <a:ext cx="4048125" cy="952500"/>
          </a:xfrm>
          <a:prstGeom prst="leftArrowCallout">
            <a:avLst>
              <a:gd name="adj1" fmla="val 70296"/>
              <a:gd name="adj2" fmla="val 50000"/>
              <a:gd name="adj3" fmla="val 35653"/>
              <a:gd name="adj4" fmla="val 86597"/>
            </a:avLst>
          </a:prstGeom>
          <a:solidFill>
            <a:srgbClr val="FF0000"/>
          </a:solidFill>
          <a:ln w="12600">
            <a:noFill/>
            <a:miter lim="800000"/>
            <a:headEnd/>
            <a:tailEnd/>
          </a:ln>
        </p:spPr>
        <p:txBody>
          <a:bodyPr wrap="none" lIns="99207" tIns="98532" rIns="99207" bIns="51588" anchor="ctr"/>
          <a:lstStyle/>
          <a:p>
            <a:pPr algn="ctr" hangingPunct="0">
              <a:lnSpc>
                <a:spcPct val="87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lang="en-GB">
                <a:solidFill>
                  <a:srgbClr val="FFFFFF"/>
                </a:solidFill>
              </a:rPr>
              <a:t>Câmeras Digitais</a:t>
            </a:r>
          </a:p>
          <a:p>
            <a:pPr algn="ctr" hangingPunct="0">
              <a:lnSpc>
                <a:spcPct val="87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lang="en-GB">
                <a:solidFill>
                  <a:srgbClr val="FFFFFF"/>
                </a:solidFill>
              </a:rPr>
              <a:t>Celulares</a:t>
            </a:r>
          </a:p>
        </p:txBody>
      </p:sp>
      <p:sp>
        <p:nvSpPr>
          <p:cNvPr id="20486" name="AutoShape 6"/>
          <p:cNvSpPr>
            <a:spLocks noChangeArrowheads="1"/>
          </p:cNvSpPr>
          <p:nvPr/>
        </p:nvSpPr>
        <p:spPr bwMode="auto">
          <a:xfrm>
            <a:off x="4343400" y="1943100"/>
            <a:ext cx="3752850" cy="1755775"/>
          </a:xfrm>
          <a:prstGeom prst="downArrowCallout">
            <a:avLst>
              <a:gd name="adj1" fmla="val 48310"/>
              <a:gd name="adj2" fmla="val 31666"/>
              <a:gd name="adj3" fmla="val 15426"/>
              <a:gd name="adj4" fmla="val 58282"/>
            </a:avLst>
          </a:prstGeom>
          <a:solidFill>
            <a:srgbClr val="FF0000"/>
          </a:solidFill>
          <a:ln w="12600">
            <a:noFill/>
            <a:miter lim="800000"/>
            <a:headEnd/>
            <a:tailEnd/>
          </a:ln>
        </p:spPr>
        <p:txBody>
          <a:bodyPr wrap="none" lIns="99207" tIns="98532" rIns="99207" bIns="51588" anchor="ctr"/>
          <a:lstStyle/>
          <a:p>
            <a:pPr algn="ctr">
              <a:lnSpc>
                <a:spcPct val="87000"/>
              </a:lnSpc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lang="en-GB" b="1">
                <a:solidFill>
                  <a:srgbClr val="FFFFFF"/>
                </a:solidFill>
              </a:rPr>
              <a:t>Buffet em domicílio</a:t>
            </a:r>
          </a:p>
          <a:p>
            <a:pPr algn="ctr">
              <a:lnSpc>
                <a:spcPct val="87000"/>
              </a:lnSpc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lang="en-GB" b="1">
                <a:solidFill>
                  <a:srgbClr val="FFFFFF"/>
                </a:solidFill>
              </a:rPr>
              <a:t>Academia para crianças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01650" y="4551363"/>
            <a:ext cx="8626475" cy="1576387"/>
            <a:chOff x="287" y="2601"/>
            <a:chExt cx="4929" cy="901"/>
          </a:xfrm>
        </p:grpSpPr>
        <p:sp>
          <p:nvSpPr>
            <p:cNvPr id="24592" name="AutoShape 8"/>
            <p:cNvSpPr>
              <a:spLocks noChangeArrowheads="1"/>
            </p:cNvSpPr>
            <p:nvPr/>
          </p:nvSpPr>
          <p:spPr bwMode="auto">
            <a:xfrm flipH="1">
              <a:off x="287" y="2612"/>
              <a:ext cx="1361" cy="879"/>
            </a:xfrm>
            <a:prstGeom prst="rightArrow">
              <a:avLst>
                <a:gd name="adj1" fmla="val 67963"/>
                <a:gd name="adj2" fmla="val 38372"/>
              </a:avLst>
            </a:prstGeom>
            <a:noFill/>
            <a:ln w="126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90000" tIns="86112" rIns="90000" bIns="46800" anchor="ctr"/>
            <a:lstStyle/>
            <a:p>
              <a:pPr algn="ctr" hangingPunct="0"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000" b="1">
                  <a:solidFill>
                    <a:srgbClr val="000000"/>
                  </a:solidFill>
                </a:rPr>
                <a:t>MKT de Massa</a:t>
              </a:r>
            </a:p>
          </p:txBody>
        </p:sp>
        <p:sp>
          <p:nvSpPr>
            <p:cNvPr id="24593" name="AutoShape 9"/>
            <p:cNvSpPr>
              <a:spLocks noChangeArrowheads="1"/>
            </p:cNvSpPr>
            <p:nvPr/>
          </p:nvSpPr>
          <p:spPr bwMode="auto">
            <a:xfrm>
              <a:off x="1655" y="2601"/>
              <a:ext cx="3561" cy="901"/>
            </a:xfrm>
            <a:prstGeom prst="rightArrow">
              <a:avLst>
                <a:gd name="adj1" fmla="val 66444"/>
                <a:gd name="adj2" fmla="val 32862"/>
              </a:avLst>
            </a:prstGeom>
            <a:solidFill>
              <a:srgbClr val="FFFFFF"/>
            </a:solidFill>
            <a:ln w="126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90000" tIns="86112" rIns="90000" bIns="46800" anchor="ctr"/>
            <a:lstStyle/>
            <a:p>
              <a:pPr algn="ctr" hangingPunct="0"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b="1">
                  <a:solidFill>
                    <a:srgbClr val="000000"/>
                  </a:solidFill>
                </a:rPr>
                <a:t>Mercado de Nichos</a:t>
              </a:r>
            </a:p>
            <a:p>
              <a:pPr algn="ctr" hangingPunct="0"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b="1">
                  <a:solidFill>
                    <a:srgbClr val="000000"/>
                  </a:solidFill>
                </a:rPr>
                <a:t>(Cauda Longa)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4183063" y="1922463"/>
            <a:ext cx="3938587" cy="2728912"/>
            <a:chOff x="2378" y="1132"/>
            <a:chExt cx="2250" cy="1560"/>
          </a:xfrm>
        </p:grpSpPr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2378" y="2281"/>
              <a:ext cx="2198" cy="411"/>
              <a:chOff x="2378" y="2281"/>
              <a:chExt cx="2198" cy="411"/>
            </a:xfrm>
          </p:grpSpPr>
          <p:sp>
            <p:nvSpPr>
              <p:cNvPr id="24589" name="Oval 12"/>
              <p:cNvSpPr>
                <a:spLocks noChangeArrowheads="1"/>
              </p:cNvSpPr>
              <p:nvPr/>
            </p:nvSpPr>
            <p:spPr bwMode="auto">
              <a:xfrm>
                <a:off x="2378" y="2281"/>
                <a:ext cx="411" cy="411"/>
              </a:xfrm>
              <a:prstGeom prst="ellipse">
                <a:avLst/>
              </a:prstGeom>
              <a:solidFill>
                <a:srgbClr val="FF0000"/>
              </a:solidFill>
              <a:ln w="9360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hangingPunct="0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itchFamily="2" charset="2"/>
                  <a:buNone/>
                </a:pPr>
                <a:endParaRPr lang="pt-BR"/>
              </a:p>
            </p:txBody>
          </p:sp>
          <p:sp>
            <p:nvSpPr>
              <p:cNvPr id="24590" name="Oval 13"/>
              <p:cNvSpPr>
                <a:spLocks noChangeArrowheads="1"/>
              </p:cNvSpPr>
              <p:nvPr/>
            </p:nvSpPr>
            <p:spPr bwMode="auto">
              <a:xfrm>
                <a:off x="3411" y="2351"/>
                <a:ext cx="288" cy="288"/>
              </a:xfrm>
              <a:prstGeom prst="ellipse">
                <a:avLst/>
              </a:prstGeom>
              <a:solidFill>
                <a:srgbClr val="FF0000"/>
              </a:solidFill>
              <a:ln w="9360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hangingPunct="0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itchFamily="2" charset="2"/>
                  <a:buNone/>
                </a:pPr>
                <a:endParaRPr lang="pt-BR"/>
              </a:p>
            </p:txBody>
          </p:sp>
          <p:sp>
            <p:nvSpPr>
              <p:cNvPr id="24591" name="Oval 14"/>
              <p:cNvSpPr>
                <a:spLocks noChangeArrowheads="1"/>
              </p:cNvSpPr>
              <p:nvPr/>
            </p:nvSpPr>
            <p:spPr bwMode="auto">
              <a:xfrm>
                <a:off x="4329" y="2403"/>
                <a:ext cx="247" cy="247"/>
              </a:xfrm>
              <a:prstGeom prst="ellipse">
                <a:avLst/>
              </a:prstGeom>
              <a:solidFill>
                <a:srgbClr val="FF0000"/>
              </a:solidFill>
              <a:ln w="9360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hangingPunct="0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itchFamily="2" charset="2"/>
                  <a:buNone/>
                </a:pPr>
                <a:endParaRPr lang="pt-BR"/>
              </a:p>
            </p:txBody>
          </p:sp>
        </p:grpSp>
        <p:sp>
          <p:nvSpPr>
            <p:cNvPr id="24588" name="AutoShape 15"/>
            <p:cNvSpPr>
              <a:spLocks noChangeArrowheads="1"/>
            </p:cNvSpPr>
            <p:nvPr/>
          </p:nvSpPr>
          <p:spPr bwMode="auto">
            <a:xfrm>
              <a:off x="2485" y="1132"/>
              <a:ext cx="2143" cy="1011"/>
            </a:xfrm>
            <a:prstGeom prst="downArrowCallout">
              <a:avLst>
                <a:gd name="adj1" fmla="val 48792"/>
                <a:gd name="adj2" fmla="val 31972"/>
                <a:gd name="adj3" fmla="val 15426"/>
                <a:gd name="adj4" fmla="val 58282"/>
              </a:avLst>
            </a:prstGeom>
            <a:solidFill>
              <a:srgbClr val="FF0000"/>
            </a:solidFill>
            <a:ln w="12600">
              <a:noFill/>
              <a:miter lim="800000"/>
              <a:headEnd/>
              <a:tailEnd/>
            </a:ln>
          </p:spPr>
          <p:txBody>
            <a:bodyPr wrap="none" lIns="96120" tIns="89388" rIns="96120" bIns="46800" anchor="ctr"/>
            <a:lstStyle/>
            <a:p>
              <a:pPr algn="ctr" hangingPunct="0"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900" b="1">
                  <a:solidFill>
                    <a:srgbClr val="FFFFFF"/>
                  </a:solidFill>
                </a:rPr>
                <a:t>QUAL É O SEU </a:t>
              </a:r>
            </a:p>
            <a:p>
              <a:pPr algn="ctr" hangingPunct="0"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tabLst>
                  <a:tab pos="0" algn="l"/>
                  <a:tab pos="492125" algn="l"/>
                  <a:tab pos="987425" algn="l"/>
                  <a:tab pos="1482725" algn="l"/>
                  <a:tab pos="1978025" algn="l"/>
                  <a:tab pos="2473325" algn="l"/>
                  <a:tab pos="2968625" algn="l"/>
                  <a:tab pos="3463925" algn="l"/>
                  <a:tab pos="3959225" algn="l"/>
                  <a:tab pos="4454525" algn="l"/>
                  <a:tab pos="4949825" algn="l"/>
                  <a:tab pos="5445125" algn="l"/>
                  <a:tab pos="5940425" algn="l"/>
                  <a:tab pos="6435725" algn="l"/>
                  <a:tab pos="6931025" algn="l"/>
                  <a:tab pos="7426325" algn="l"/>
                  <a:tab pos="7921625" algn="l"/>
                  <a:tab pos="8416925" algn="l"/>
                  <a:tab pos="8912225" algn="l"/>
                  <a:tab pos="9405938" algn="l"/>
                  <a:tab pos="9901238" algn="l"/>
                </a:tabLst>
              </a:pPr>
              <a:r>
                <a:rPr lang="en-GB" sz="2900" b="1">
                  <a:solidFill>
                    <a:srgbClr val="FFFFFF"/>
                  </a:solidFill>
                </a:rPr>
                <a:t>NICHO?</a:t>
              </a:r>
            </a:p>
          </p:txBody>
        </p:sp>
      </p:grpSp>
      <p:sp>
        <p:nvSpPr>
          <p:cNvPr id="17" name="CaixaDeTexto 16"/>
          <p:cNvSpPr txBox="1">
            <a:spLocks noChangeArrowheads="1"/>
          </p:cNvSpPr>
          <p:nvPr/>
        </p:nvSpPr>
        <p:spPr bwMode="auto">
          <a:xfrm rot="-5400000">
            <a:off x="208757" y="2740819"/>
            <a:ext cx="2582862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/>
              <a:t>VOLUME DE VENDAS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101588" tIns="50794" rIns="101588" bIns="50794"/>
          <a:lstStyle/>
          <a:p>
            <a:pPr>
              <a:lnSpc>
                <a:spcPct val="101000"/>
              </a:lnSpc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smtClean="0"/>
              <a:t>Ciclo de Vida do Produto / Mercado</a:t>
            </a:r>
          </a:p>
        </p:txBody>
      </p:sp>
      <p:sp>
        <p:nvSpPr>
          <p:cNvPr id="26627" name="Espaço Reservado para Conteúdo 2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smtClean="0"/>
          </a:p>
        </p:txBody>
      </p:sp>
      <p:sp>
        <p:nvSpPr>
          <p:cNvPr id="26628" name="Rectangle 2"/>
          <p:cNvSpPr>
            <a:spLocks noChangeArrowheads="1"/>
          </p:cNvSpPr>
          <p:nvPr/>
        </p:nvSpPr>
        <p:spPr bwMode="auto">
          <a:xfrm>
            <a:off x="833438" y="1009650"/>
            <a:ext cx="1587500" cy="4873625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100794" tIns="50397" rIns="100794" bIns="50397" anchor="ctr"/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pt-BR"/>
          </a:p>
        </p:txBody>
      </p:sp>
      <p:sp>
        <p:nvSpPr>
          <p:cNvPr id="26629" name="Rectangle 3"/>
          <p:cNvSpPr>
            <a:spLocks noChangeArrowheads="1"/>
          </p:cNvSpPr>
          <p:nvPr/>
        </p:nvSpPr>
        <p:spPr bwMode="auto">
          <a:xfrm>
            <a:off x="2424113" y="1009650"/>
            <a:ext cx="1587500" cy="4873625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100794" tIns="50397" rIns="100794" bIns="50397" anchor="ctr"/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pt-BR"/>
          </a:p>
        </p:txBody>
      </p:sp>
      <p:sp>
        <p:nvSpPr>
          <p:cNvPr id="26630" name="Rectangle 4"/>
          <p:cNvSpPr>
            <a:spLocks noChangeArrowheads="1"/>
          </p:cNvSpPr>
          <p:nvPr/>
        </p:nvSpPr>
        <p:spPr bwMode="auto">
          <a:xfrm>
            <a:off x="4011613" y="1009650"/>
            <a:ext cx="1587500" cy="4873625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100794" tIns="50397" rIns="100794" bIns="50397" anchor="ctr"/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pt-BR"/>
          </a:p>
        </p:txBody>
      </p:sp>
      <p:sp>
        <p:nvSpPr>
          <p:cNvPr id="26631" name="Rectangle 5"/>
          <p:cNvSpPr>
            <a:spLocks noChangeArrowheads="1"/>
          </p:cNvSpPr>
          <p:nvPr/>
        </p:nvSpPr>
        <p:spPr bwMode="auto">
          <a:xfrm>
            <a:off x="5599113" y="1009650"/>
            <a:ext cx="1587500" cy="4873625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100794" tIns="50397" rIns="100794" bIns="50397" anchor="ctr"/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pt-BR"/>
          </a:p>
        </p:txBody>
      </p:sp>
      <p:sp>
        <p:nvSpPr>
          <p:cNvPr id="26632" name="Rectangle 6"/>
          <p:cNvSpPr>
            <a:spLocks noChangeArrowheads="1"/>
          </p:cNvSpPr>
          <p:nvPr/>
        </p:nvSpPr>
        <p:spPr bwMode="auto">
          <a:xfrm>
            <a:off x="7183438" y="1009650"/>
            <a:ext cx="1587500" cy="4873625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100794" tIns="50397" rIns="100794" bIns="50397" anchor="ctr"/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pt-BR"/>
          </a:p>
        </p:txBody>
      </p:sp>
      <p:sp>
        <p:nvSpPr>
          <p:cNvPr id="26633" name="Line 7"/>
          <p:cNvSpPr>
            <a:spLocks noChangeShapeType="1"/>
          </p:cNvSpPr>
          <p:nvPr/>
        </p:nvSpPr>
        <p:spPr bwMode="auto">
          <a:xfrm flipV="1">
            <a:off x="830263" y="725488"/>
            <a:ext cx="1587" cy="5214937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lIns="100794" tIns="50397" rIns="100794" bIns="50397"/>
          <a:lstStyle/>
          <a:p>
            <a:endParaRPr lang="pt-BR"/>
          </a:p>
        </p:txBody>
      </p:sp>
      <p:sp>
        <p:nvSpPr>
          <p:cNvPr id="26634" name="Line 8"/>
          <p:cNvSpPr>
            <a:spLocks noChangeShapeType="1"/>
          </p:cNvSpPr>
          <p:nvPr/>
        </p:nvSpPr>
        <p:spPr bwMode="auto">
          <a:xfrm>
            <a:off x="830263" y="4651375"/>
            <a:ext cx="8212137" cy="1588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lIns="100794" tIns="50397" rIns="100794" bIns="50397"/>
          <a:lstStyle/>
          <a:p>
            <a:endParaRPr lang="pt-BR"/>
          </a:p>
        </p:txBody>
      </p:sp>
      <p:sp>
        <p:nvSpPr>
          <p:cNvPr id="26635" name="Text Box 9"/>
          <p:cNvSpPr txBox="1">
            <a:spLocks noChangeArrowheads="1"/>
          </p:cNvSpPr>
          <p:nvPr/>
        </p:nvSpPr>
        <p:spPr bwMode="auto">
          <a:xfrm>
            <a:off x="862013" y="652463"/>
            <a:ext cx="415925" cy="333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9207" tIns="65198" rIns="99207" bIns="51588">
            <a:spAutoFit/>
          </a:bodyPr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lang="en-GB" sz="1500" b="1">
                <a:solidFill>
                  <a:srgbClr val="000000"/>
                </a:solidFill>
              </a:rPr>
              <a:t>$$</a:t>
            </a:r>
          </a:p>
        </p:txBody>
      </p:sp>
      <p:sp>
        <p:nvSpPr>
          <p:cNvPr id="26636" name="Text Box 10"/>
          <p:cNvSpPr txBox="1">
            <a:spLocks noChangeArrowheads="1"/>
          </p:cNvSpPr>
          <p:nvPr/>
        </p:nvSpPr>
        <p:spPr bwMode="auto">
          <a:xfrm>
            <a:off x="8794750" y="4283075"/>
            <a:ext cx="815975" cy="333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9207" tIns="65198" rIns="99207" bIns="51588">
            <a:spAutoFit/>
          </a:bodyPr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lang="en-GB" sz="1500" b="1">
                <a:solidFill>
                  <a:srgbClr val="000000"/>
                </a:solidFill>
              </a:rPr>
              <a:t>Tempo</a:t>
            </a:r>
          </a:p>
        </p:txBody>
      </p:sp>
      <p:sp>
        <p:nvSpPr>
          <p:cNvPr id="26637" name="Text Box 11"/>
          <p:cNvSpPr txBox="1">
            <a:spLocks noChangeArrowheads="1"/>
          </p:cNvSpPr>
          <p:nvPr/>
        </p:nvSpPr>
        <p:spPr bwMode="auto">
          <a:xfrm>
            <a:off x="833438" y="1319213"/>
            <a:ext cx="1587500" cy="404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9207" tIns="108771" rIns="99207" bIns="91270" anchor="ctr"/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lang="en-GB" sz="2000" b="1">
                <a:solidFill>
                  <a:srgbClr val="000000"/>
                </a:solidFill>
              </a:rPr>
              <a:t>Desenvol-vimento</a:t>
            </a:r>
          </a:p>
        </p:txBody>
      </p:sp>
      <p:sp>
        <p:nvSpPr>
          <p:cNvPr id="26638" name="Text Box 12"/>
          <p:cNvSpPr txBox="1">
            <a:spLocks noChangeArrowheads="1"/>
          </p:cNvSpPr>
          <p:nvPr/>
        </p:nvSpPr>
        <p:spPr bwMode="auto">
          <a:xfrm>
            <a:off x="2420938" y="1319213"/>
            <a:ext cx="1587500" cy="404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9207" tIns="108771" rIns="99207" bIns="91270" anchor="ctr"/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lang="en-GB" sz="2000" b="1">
                <a:solidFill>
                  <a:srgbClr val="000000"/>
                </a:solidFill>
              </a:rPr>
              <a:t>Introdução</a:t>
            </a:r>
          </a:p>
        </p:txBody>
      </p:sp>
      <p:sp>
        <p:nvSpPr>
          <p:cNvPr id="26639" name="Text Box 13"/>
          <p:cNvSpPr txBox="1">
            <a:spLocks noChangeArrowheads="1"/>
          </p:cNvSpPr>
          <p:nvPr/>
        </p:nvSpPr>
        <p:spPr bwMode="auto">
          <a:xfrm>
            <a:off x="4008438" y="1319213"/>
            <a:ext cx="1585912" cy="404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9207" tIns="108771" rIns="99207" bIns="91270" anchor="ctr"/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lang="en-GB" sz="2000" b="1">
                <a:solidFill>
                  <a:srgbClr val="000000"/>
                </a:solidFill>
              </a:rPr>
              <a:t>Cresci-mento</a:t>
            </a:r>
          </a:p>
        </p:txBody>
      </p:sp>
      <p:sp>
        <p:nvSpPr>
          <p:cNvPr id="26640" name="Text Box 14"/>
          <p:cNvSpPr txBox="1">
            <a:spLocks noChangeArrowheads="1"/>
          </p:cNvSpPr>
          <p:nvPr/>
        </p:nvSpPr>
        <p:spPr bwMode="auto">
          <a:xfrm>
            <a:off x="5594350" y="1319213"/>
            <a:ext cx="1587500" cy="404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9207" tIns="108771" rIns="99207" bIns="91270" anchor="ctr"/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lang="en-GB" sz="2000" b="1">
                <a:solidFill>
                  <a:srgbClr val="000000"/>
                </a:solidFill>
              </a:rPr>
              <a:t>Maturidade</a:t>
            </a:r>
          </a:p>
        </p:txBody>
      </p:sp>
      <p:sp>
        <p:nvSpPr>
          <p:cNvPr id="26641" name="Text Box 15"/>
          <p:cNvSpPr txBox="1">
            <a:spLocks noChangeArrowheads="1"/>
          </p:cNvSpPr>
          <p:nvPr/>
        </p:nvSpPr>
        <p:spPr bwMode="auto">
          <a:xfrm>
            <a:off x="7183438" y="1319213"/>
            <a:ext cx="1587500" cy="404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9207" tIns="108771" rIns="99207" bIns="91270" anchor="ctr"/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lang="en-GB" sz="2000" b="1">
                <a:solidFill>
                  <a:srgbClr val="000000"/>
                </a:solidFill>
              </a:rPr>
              <a:t>Declínio</a:t>
            </a:r>
          </a:p>
        </p:txBody>
      </p:sp>
      <p:sp>
        <p:nvSpPr>
          <p:cNvPr id="26642" name="Text Box 16"/>
          <p:cNvSpPr txBox="1">
            <a:spLocks noChangeArrowheads="1"/>
          </p:cNvSpPr>
          <p:nvPr/>
        </p:nvSpPr>
        <p:spPr bwMode="auto">
          <a:xfrm>
            <a:off x="495300" y="4443413"/>
            <a:ext cx="342900" cy="4079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9207" tIns="69088" rIns="99207" bIns="51588">
            <a:spAutoFit/>
          </a:bodyPr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lang="en-GB" sz="20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6643" name="Freeform 17"/>
          <p:cNvSpPr>
            <a:spLocks noChangeArrowheads="1"/>
          </p:cNvSpPr>
          <p:nvPr/>
        </p:nvSpPr>
        <p:spPr bwMode="auto">
          <a:xfrm>
            <a:off x="2416175" y="2246313"/>
            <a:ext cx="5568950" cy="2393950"/>
          </a:xfrm>
          <a:custGeom>
            <a:avLst/>
            <a:gdLst>
              <a:gd name="T0" fmla="*/ 0 w 3182"/>
              <a:gd name="T1" fmla="*/ 2147483647 h 1368"/>
              <a:gd name="T2" fmla="*/ 2147483647 w 3182"/>
              <a:gd name="T3" fmla="*/ 2147483647 h 1368"/>
              <a:gd name="T4" fmla="*/ 2147483647 w 3182"/>
              <a:gd name="T5" fmla="*/ 2147483647 h 1368"/>
              <a:gd name="T6" fmla="*/ 2147483647 w 3182"/>
              <a:gd name="T7" fmla="*/ 2147483647 h 1368"/>
              <a:gd name="T8" fmla="*/ 2147483647 w 3182"/>
              <a:gd name="T9" fmla="*/ 2147483647 h 13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82"/>
              <a:gd name="T16" fmla="*/ 0 h 1368"/>
              <a:gd name="T17" fmla="*/ 3182 w 3182"/>
              <a:gd name="T18" fmla="*/ 1368 h 13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82" h="1368">
                <a:moveTo>
                  <a:pt x="0" y="1368"/>
                </a:moveTo>
                <a:cubicBezTo>
                  <a:pt x="349" y="1352"/>
                  <a:pt x="699" y="1337"/>
                  <a:pt x="936" y="1253"/>
                </a:cubicBezTo>
                <a:cubicBezTo>
                  <a:pt x="1173" y="1169"/>
                  <a:pt x="1202" y="1068"/>
                  <a:pt x="1425" y="864"/>
                </a:cubicBezTo>
                <a:cubicBezTo>
                  <a:pt x="1648" y="660"/>
                  <a:pt x="1982" y="0"/>
                  <a:pt x="2275" y="29"/>
                </a:cubicBezTo>
                <a:cubicBezTo>
                  <a:pt x="2568" y="58"/>
                  <a:pt x="2875" y="547"/>
                  <a:pt x="3182" y="1037"/>
                </a:cubicBezTo>
              </a:path>
            </a:pathLst>
          </a:custGeom>
          <a:noFill/>
          <a:ln w="12600">
            <a:solidFill>
              <a:srgbClr val="009900"/>
            </a:solidFill>
            <a:round/>
            <a:headEnd/>
            <a:tailEnd/>
          </a:ln>
        </p:spPr>
        <p:txBody>
          <a:bodyPr wrap="none" lIns="100794" tIns="50397" rIns="100794" bIns="50397" anchor="ctr"/>
          <a:lstStyle/>
          <a:p>
            <a:endParaRPr lang="pt-BR"/>
          </a:p>
        </p:txBody>
      </p:sp>
      <p:sp>
        <p:nvSpPr>
          <p:cNvPr id="26644" name="Freeform 18"/>
          <p:cNvSpPr>
            <a:spLocks noChangeArrowheads="1"/>
          </p:cNvSpPr>
          <p:nvPr/>
        </p:nvSpPr>
        <p:spPr bwMode="auto">
          <a:xfrm>
            <a:off x="830263" y="3836988"/>
            <a:ext cx="7231062" cy="1773237"/>
          </a:xfrm>
          <a:custGeom>
            <a:avLst/>
            <a:gdLst>
              <a:gd name="T0" fmla="*/ 0 w 4132"/>
              <a:gd name="T1" fmla="*/ 2147483647 h 1013"/>
              <a:gd name="T2" fmla="*/ 2147483647 w 4132"/>
              <a:gd name="T3" fmla="*/ 2147483647 h 1013"/>
              <a:gd name="T4" fmla="*/ 2147483647 w 4132"/>
              <a:gd name="T5" fmla="*/ 2147483647 h 1013"/>
              <a:gd name="T6" fmla="*/ 2147483647 w 4132"/>
              <a:gd name="T7" fmla="*/ 2147483647 h 1013"/>
              <a:gd name="T8" fmla="*/ 2147483647 w 4132"/>
              <a:gd name="T9" fmla="*/ 2147483647 h 1013"/>
              <a:gd name="T10" fmla="*/ 2147483647 w 4132"/>
              <a:gd name="T11" fmla="*/ 2147483647 h 1013"/>
              <a:gd name="T12" fmla="*/ 2147483647 w 4132"/>
              <a:gd name="T13" fmla="*/ 2147483647 h 101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132"/>
              <a:gd name="T22" fmla="*/ 0 h 1013"/>
              <a:gd name="T23" fmla="*/ 4132 w 4132"/>
              <a:gd name="T24" fmla="*/ 1013 h 101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132" h="1013">
                <a:moveTo>
                  <a:pt x="0" y="691"/>
                </a:moveTo>
                <a:cubicBezTo>
                  <a:pt x="283" y="669"/>
                  <a:pt x="566" y="648"/>
                  <a:pt x="806" y="691"/>
                </a:cubicBezTo>
                <a:cubicBezTo>
                  <a:pt x="1046" y="734"/>
                  <a:pt x="1198" y="1013"/>
                  <a:pt x="1440" y="950"/>
                </a:cubicBezTo>
                <a:cubicBezTo>
                  <a:pt x="1682" y="887"/>
                  <a:pt x="2013" y="472"/>
                  <a:pt x="2260" y="316"/>
                </a:cubicBezTo>
                <a:cubicBezTo>
                  <a:pt x="2507" y="160"/>
                  <a:pt x="2712" y="28"/>
                  <a:pt x="2923" y="14"/>
                </a:cubicBezTo>
                <a:cubicBezTo>
                  <a:pt x="3134" y="0"/>
                  <a:pt x="3327" y="158"/>
                  <a:pt x="3528" y="230"/>
                </a:cubicBezTo>
                <a:cubicBezTo>
                  <a:pt x="3729" y="302"/>
                  <a:pt x="4031" y="410"/>
                  <a:pt x="4132" y="446"/>
                </a:cubicBezTo>
              </a:path>
            </a:pathLst>
          </a:custGeom>
          <a:noFill/>
          <a:ln w="12600">
            <a:solidFill>
              <a:srgbClr val="996600"/>
            </a:solidFill>
            <a:round/>
            <a:headEnd/>
            <a:tailEnd/>
          </a:ln>
        </p:spPr>
        <p:txBody>
          <a:bodyPr wrap="none" lIns="100794" tIns="50397" rIns="100794" bIns="50397" anchor="ctr"/>
          <a:lstStyle/>
          <a:p>
            <a:endParaRPr lang="pt-BR"/>
          </a:p>
        </p:txBody>
      </p:sp>
      <p:sp>
        <p:nvSpPr>
          <p:cNvPr id="26645" name="Text Box 19"/>
          <p:cNvSpPr txBox="1">
            <a:spLocks noChangeArrowheads="1"/>
          </p:cNvSpPr>
          <p:nvPr/>
        </p:nvSpPr>
        <p:spPr bwMode="auto">
          <a:xfrm>
            <a:off x="5846763" y="2481263"/>
            <a:ext cx="1057275" cy="4079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9207" tIns="69088" rIns="99207" bIns="51588">
            <a:spAutoFit/>
          </a:bodyPr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lang="en-GB" sz="2000">
                <a:solidFill>
                  <a:srgbClr val="009900"/>
                </a:solidFill>
              </a:rPr>
              <a:t>Vendas</a:t>
            </a:r>
          </a:p>
        </p:txBody>
      </p:sp>
      <p:sp>
        <p:nvSpPr>
          <p:cNvPr id="26646" name="Text Box 20"/>
          <p:cNvSpPr txBox="1">
            <a:spLocks noChangeArrowheads="1"/>
          </p:cNvSpPr>
          <p:nvPr/>
        </p:nvSpPr>
        <p:spPr bwMode="auto">
          <a:xfrm>
            <a:off x="5843588" y="4043363"/>
            <a:ext cx="841375" cy="409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9207" tIns="69088" rIns="99207" bIns="51588">
            <a:spAutoFit/>
          </a:bodyPr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0" algn="l"/>
                <a:tab pos="492125" algn="l"/>
                <a:tab pos="987425" algn="l"/>
                <a:tab pos="1482725" algn="l"/>
                <a:tab pos="1978025" algn="l"/>
                <a:tab pos="2473325" algn="l"/>
                <a:tab pos="2968625" algn="l"/>
                <a:tab pos="3463925" algn="l"/>
                <a:tab pos="3959225" algn="l"/>
                <a:tab pos="4454525" algn="l"/>
                <a:tab pos="4949825" algn="l"/>
                <a:tab pos="5445125" algn="l"/>
                <a:tab pos="5940425" algn="l"/>
                <a:tab pos="6435725" algn="l"/>
                <a:tab pos="6931025" algn="l"/>
                <a:tab pos="7426325" algn="l"/>
                <a:tab pos="7921625" algn="l"/>
                <a:tab pos="8416925" algn="l"/>
                <a:tab pos="8912225" algn="l"/>
                <a:tab pos="9405938" algn="l"/>
                <a:tab pos="9901238" algn="l"/>
              </a:tabLst>
            </a:pPr>
            <a:r>
              <a:rPr lang="en-GB" sz="2000">
                <a:solidFill>
                  <a:srgbClr val="996600"/>
                </a:solidFill>
              </a:rPr>
              <a:t>Lucro</a:t>
            </a:r>
          </a:p>
        </p:txBody>
      </p:sp>
      <p:sp>
        <p:nvSpPr>
          <p:cNvPr id="23" name="Retângulo 8"/>
          <p:cNvSpPr>
            <a:spLocks noChangeArrowheads="1"/>
          </p:cNvSpPr>
          <p:nvPr/>
        </p:nvSpPr>
        <p:spPr bwMode="auto">
          <a:xfrm>
            <a:off x="2397125" y="993775"/>
            <a:ext cx="3214688" cy="5000625"/>
          </a:xfrm>
          <a:prstGeom prst="rect">
            <a:avLst/>
          </a:prstGeom>
          <a:solidFill>
            <a:srgbClr val="FFFF00">
              <a:alpha val="23921"/>
            </a:srgbClr>
          </a:solidFill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lIns="100783" tIns="50392" rIns="100783" bIns="50392"/>
          <a:lstStyle/>
          <a:p>
            <a:pPr hangingPunct="0">
              <a:lnSpc>
                <a:spcPct val="89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/>
          </a:p>
        </p:txBody>
      </p:sp>
      <p:sp>
        <p:nvSpPr>
          <p:cNvPr id="25" name="Retângulo de cantos arredondados 24"/>
          <p:cNvSpPr>
            <a:spLocks noChangeArrowheads="1"/>
          </p:cNvSpPr>
          <p:nvPr/>
        </p:nvSpPr>
        <p:spPr bwMode="auto">
          <a:xfrm>
            <a:off x="1609725" y="4537075"/>
            <a:ext cx="7286625" cy="17145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pt-BR" sz="3200" b="1"/>
              <a:t>É mais barato “atrair” o cliente na fase de busca de INFORMAÇÕES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Glossário (</a:t>
            </a:r>
            <a:r>
              <a:rPr lang="pt-BR" dirty="0" smtClean="0">
                <a:hlinkClick r:id="rId3"/>
              </a:rPr>
              <a:t>ver mais</a:t>
            </a:r>
            <a:r>
              <a:rPr lang="pt-BR" dirty="0" smtClean="0"/>
              <a:t>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000" b="1" dirty="0" smtClean="0"/>
              <a:t>Anúncios</a:t>
            </a:r>
          </a:p>
          <a:p>
            <a:pPr lvl="1"/>
            <a:r>
              <a:rPr lang="pt-BR" sz="1800" dirty="0" smtClean="0"/>
              <a:t>Texto – Pequeno anúncio com título, duas linhas descritivas e link.</a:t>
            </a:r>
            <a:br>
              <a:rPr lang="pt-BR" sz="1800" dirty="0" smtClean="0"/>
            </a:br>
            <a:r>
              <a:rPr lang="pt-BR" sz="1800" dirty="0" smtClean="0"/>
              <a:t>Aparece no Google, parceiros de pesquisa e rede de display</a:t>
            </a:r>
          </a:p>
          <a:p>
            <a:pPr lvl="1"/>
            <a:r>
              <a:rPr lang="pt-BR" sz="1800" dirty="0" smtClean="0"/>
              <a:t>Gráfico – Anúncios em diversos formatos que aparecem apenas na rede de display </a:t>
            </a:r>
          </a:p>
          <a:p>
            <a:r>
              <a:rPr lang="pt-BR" sz="2000" b="1" dirty="0" err="1" smtClean="0"/>
              <a:t>Palavra-chave</a:t>
            </a:r>
            <a:r>
              <a:rPr lang="pt-BR" sz="2000" b="1" dirty="0" smtClean="0"/>
              <a:t> (</a:t>
            </a:r>
            <a:r>
              <a:rPr lang="pt-BR" sz="2000" b="1" dirty="0" err="1" smtClean="0"/>
              <a:t>keyword</a:t>
            </a:r>
            <a:r>
              <a:rPr lang="pt-BR" sz="2000" b="1" dirty="0" smtClean="0"/>
              <a:t>) </a:t>
            </a:r>
            <a:r>
              <a:rPr lang="pt-BR" sz="2000" dirty="0" smtClean="0"/>
              <a:t>– São as palavras escolhidas pelo anunciante para exibição do anúncio </a:t>
            </a:r>
          </a:p>
          <a:p>
            <a:r>
              <a:rPr lang="pt-BR" sz="2000" b="1" dirty="0" smtClean="0"/>
              <a:t>Impressões</a:t>
            </a:r>
            <a:r>
              <a:rPr lang="pt-BR" sz="2000" dirty="0" smtClean="0"/>
              <a:t> – Exibição de um anúncio</a:t>
            </a:r>
          </a:p>
          <a:p>
            <a:r>
              <a:rPr lang="pt-BR" sz="2000" b="1" dirty="0" smtClean="0"/>
              <a:t>Clique</a:t>
            </a:r>
            <a:r>
              <a:rPr lang="pt-BR" sz="2000" dirty="0" smtClean="0"/>
              <a:t> – Quando o usuário clica em um anúncio</a:t>
            </a:r>
          </a:p>
          <a:p>
            <a:r>
              <a:rPr lang="pt-BR" sz="2000" b="1" dirty="0" smtClean="0"/>
              <a:t>Taxa de Clique (CTR) </a:t>
            </a:r>
            <a:r>
              <a:rPr lang="pt-BR" sz="2000" dirty="0" smtClean="0"/>
              <a:t>– Cliques/Impressões </a:t>
            </a:r>
          </a:p>
          <a:p>
            <a:r>
              <a:rPr lang="pt-BR" sz="2000" b="1" dirty="0" smtClean="0"/>
              <a:t>Página destino (</a:t>
            </a:r>
            <a:r>
              <a:rPr lang="pt-BR" sz="2000" b="1" dirty="0" err="1" smtClean="0"/>
              <a:t>landing</a:t>
            </a:r>
            <a:r>
              <a:rPr lang="pt-BR" sz="2000" b="1" dirty="0" smtClean="0"/>
              <a:t> </a:t>
            </a:r>
            <a:r>
              <a:rPr lang="pt-BR" sz="2000" b="1" dirty="0" err="1" smtClean="0"/>
              <a:t>page</a:t>
            </a:r>
            <a:r>
              <a:rPr lang="pt-BR" sz="2000" b="1" dirty="0" smtClean="0"/>
              <a:t>) </a:t>
            </a:r>
            <a:r>
              <a:rPr lang="pt-BR" sz="2000" dirty="0" smtClean="0"/>
              <a:t>– Página para o qual o usuário é direcionado após o clique.</a:t>
            </a:r>
          </a:p>
          <a:p>
            <a:r>
              <a:rPr lang="pt-BR" sz="2000" b="1" dirty="0" smtClean="0"/>
              <a:t>Índice de qualidade</a:t>
            </a:r>
            <a:r>
              <a:rPr lang="pt-BR" sz="2000" dirty="0" smtClean="0"/>
              <a:t> – Medida de relevância de uma palavra-chave ou anúncio.</a:t>
            </a:r>
          </a:p>
          <a:p>
            <a:endParaRPr lang="pt-B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Criando uma campanha</a:t>
            </a:r>
            <a:endParaRPr lang="pt-BR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Campanha </a:t>
            </a:r>
            <a:r>
              <a:rPr lang="pt-BR" dirty="0" smtClean="0">
                <a:sym typeface="Wingdings" pitchFamily="2" charset="2"/>
              </a:rPr>
              <a:t> Configurações</a:t>
            </a:r>
            <a:endParaRPr lang="pt-BR" dirty="0"/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1925" y="664556"/>
            <a:ext cx="7212013" cy="5563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tângulo de cantos arredondados 9"/>
          <p:cNvSpPr>
            <a:spLocks noChangeArrowheads="1"/>
          </p:cNvSpPr>
          <p:nvPr/>
        </p:nvSpPr>
        <p:spPr bwMode="auto">
          <a:xfrm>
            <a:off x="647824" y="6084093"/>
            <a:ext cx="8712968" cy="1008112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r>
              <a:rPr lang="pt-BR" sz="2000" dirty="0" smtClean="0"/>
              <a:t>Nome da Campanha: Palavra-chave trabalhada na campanha. Segmente os locais da campanha e idiomas</a:t>
            </a:r>
            <a:endParaRPr lang="pt-BR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Campanha </a:t>
            </a:r>
            <a:r>
              <a:rPr lang="pt-BR" dirty="0" smtClean="0">
                <a:sym typeface="Wingdings" pitchFamily="2" charset="2"/>
              </a:rPr>
              <a:t> Configurações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36"/>
          <a:stretch/>
        </p:blipFill>
        <p:spPr bwMode="auto">
          <a:xfrm>
            <a:off x="71760" y="594828"/>
            <a:ext cx="9792839" cy="5849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tângulo de cantos arredondados 5"/>
          <p:cNvSpPr>
            <a:spLocks noChangeArrowheads="1"/>
          </p:cNvSpPr>
          <p:nvPr/>
        </p:nvSpPr>
        <p:spPr bwMode="auto">
          <a:xfrm>
            <a:off x="647824" y="6084093"/>
            <a:ext cx="8712968" cy="1008112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r>
              <a:rPr lang="pt-BR" sz="2000" dirty="0" smtClean="0"/>
              <a:t>Utilize lances manuais e extensões de anúncio quando possível </a:t>
            </a:r>
            <a:endParaRPr lang="pt-BR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Campanha </a:t>
            </a:r>
            <a:r>
              <a:rPr lang="pt-BR" dirty="0" smtClean="0">
                <a:sym typeface="Wingdings" pitchFamily="2" charset="2"/>
              </a:rPr>
              <a:t> Locais</a:t>
            </a:r>
            <a:endParaRPr lang="pt-BR" dirty="0"/>
          </a:p>
        </p:txBody>
      </p:sp>
      <p:sp>
        <p:nvSpPr>
          <p:cNvPr id="9" name="Retângulo de cantos arredondados 8"/>
          <p:cNvSpPr>
            <a:spLocks noChangeArrowheads="1"/>
          </p:cNvSpPr>
          <p:nvPr/>
        </p:nvSpPr>
        <p:spPr bwMode="auto">
          <a:xfrm>
            <a:off x="647824" y="6084093"/>
            <a:ext cx="8712968" cy="1008112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r>
              <a:rPr lang="pt-BR" sz="2000" dirty="0" smtClean="0"/>
              <a:t>Segmentação por locais  </a:t>
            </a:r>
            <a:endParaRPr lang="pt-BR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27" y="971525"/>
            <a:ext cx="9845429" cy="5043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27" y="971525"/>
            <a:ext cx="9845429" cy="5043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Campanha </a:t>
            </a:r>
            <a:r>
              <a:rPr lang="pt-BR" dirty="0" smtClean="0">
                <a:sym typeface="Wingdings" pitchFamily="2" charset="2"/>
              </a:rPr>
              <a:t> Idiomas</a:t>
            </a:r>
            <a:endParaRPr lang="pt-BR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3238" y="1043533"/>
            <a:ext cx="9069387" cy="4029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tângulo de cantos arredondados 4"/>
          <p:cNvSpPr>
            <a:spLocks noChangeArrowheads="1"/>
          </p:cNvSpPr>
          <p:nvPr/>
        </p:nvSpPr>
        <p:spPr bwMode="auto">
          <a:xfrm>
            <a:off x="647824" y="6084093"/>
            <a:ext cx="8712968" cy="1008112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r>
              <a:rPr lang="pt-BR" sz="2000" dirty="0" smtClean="0"/>
              <a:t>Segmentação por idiomas, escolher Português e Inglês</a:t>
            </a:r>
            <a:endParaRPr lang="pt-BR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Campanha </a:t>
            </a:r>
            <a:r>
              <a:rPr lang="pt-BR" dirty="0" smtClean="0">
                <a:sym typeface="Wingdings" pitchFamily="2" charset="2"/>
              </a:rPr>
              <a:t> Redes</a:t>
            </a:r>
            <a:endParaRPr lang="pt-BR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3238" y="971525"/>
            <a:ext cx="9069387" cy="2705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tângulo de cantos arredondados 4"/>
          <p:cNvSpPr>
            <a:spLocks noChangeArrowheads="1"/>
          </p:cNvSpPr>
          <p:nvPr/>
        </p:nvSpPr>
        <p:spPr bwMode="auto">
          <a:xfrm>
            <a:off x="647824" y="4499917"/>
            <a:ext cx="8712968" cy="2592288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r>
              <a:rPr lang="pt-BR" sz="2000" dirty="0" smtClean="0"/>
              <a:t>Comentários:</a:t>
            </a:r>
          </a:p>
          <a:p>
            <a:r>
              <a:rPr lang="pt-BR" sz="2000" b="1" dirty="0" smtClean="0"/>
              <a:t>Parceiros de pesquisa </a:t>
            </a:r>
            <a:r>
              <a:rPr lang="pt-BR" sz="2000" dirty="0" smtClean="0"/>
              <a:t>– Sites que disponibilizam a BUSCA DO GOOGLE. Ex: Terra</a:t>
            </a:r>
          </a:p>
          <a:p>
            <a:r>
              <a:rPr lang="pt-BR" sz="2000" b="1" dirty="0" smtClean="0"/>
              <a:t>Rede de Display </a:t>
            </a:r>
            <a:r>
              <a:rPr lang="pt-BR" sz="2000" dirty="0" smtClean="0"/>
              <a:t>– Todo site que possui anúncios em texto ou gráficos.</a:t>
            </a:r>
          </a:p>
          <a:p>
            <a:endParaRPr lang="pt-BR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Campanha </a:t>
            </a:r>
            <a:r>
              <a:rPr lang="pt-BR" dirty="0" smtClean="0">
                <a:sym typeface="Wingdings" pitchFamily="2" charset="2"/>
              </a:rPr>
              <a:t> Dispositivos</a:t>
            </a:r>
            <a:endParaRPr lang="pt-BR" dirty="0"/>
          </a:p>
        </p:txBody>
      </p:sp>
      <p:sp>
        <p:nvSpPr>
          <p:cNvPr id="5" name="Retângulo de cantos arredondados 4"/>
          <p:cNvSpPr>
            <a:spLocks noChangeArrowheads="1"/>
          </p:cNvSpPr>
          <p:nvPr/>
        </p:nvSpPr>
        <p:spPr bwMode="auto">
          <a:xfrm>
            <a:off x="647824" y="5962618"/>
            <a:ext cx="8712968" cy="1512168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r>
              <a:rPr lang="en-US" sz="2000" dirty="0" err="1" smtClean="0"/>
              <a:t>Segmentação</a:t>
            </a:r>
            <a:r>
              <a:rPr lang="en-US" sz="2000" dirty="0" smtClean="0"/>
              <a:t> </a:t>
            </a:r>
            <a:r>
              <a:rPr lang="en-US" sz="2000" dirty="0" err="1" smtClean="0"/>
              <a:t>por</a:t>
            </a:r>
            <a:r>
              <a:rPr lang="en-US" sz="2000" dirty="0" smtClean="0"/>
              <a:t> </a:t>
            </a:r>
            <a:r>
              <a:rPr lang="en-US" sz="2000" dirty="0" err="1" smtClean="0"/>
              <a:t>dispositivos</a:t>
            </a:r>
            <a:r>
              <a:rPr lang="en-US" sz="2000" dirty="0" smtClean="0"/>
              <a:t>, </a:t>
            </a:r>
            <a:r>
              <a:rPr lang="en-US" sz="2000" dirty="0" err="1" smtClean="0"/>
              <a:t>você</a:t>
            </a:r>
            <a:r>
              <a:rPr lang="en-US" sz="2000" dirty="0" smtClean="0"/>
              <a:t> </a:t>
            </a:r>
            <a:r>
              <a:rPr lang="en-US" sz="2000" dirty="0" err="1" smtClean="0"/>
              <a:t>pode</a:t>
            </a:r>
            <a:r>
              <a:rPr lang="en-US" sz="2000" dirty="0" smtClean="0"/>
              <a:t> </a:t>
            </a:r>
            <a:r>
              <a:rPr lang="en-US" sz="2000" dirty="0" err="1" smtClean="0"/>
              <a:t>escolher</a:t>
            </a:r>
            <a:r>
              <a:rPr lang="en-US" sz="2000" dirty="0" smtClean="0"/>
              <a:t> </a:t>
            </a:r>
            <a:r>
              <a:rPr lang="en-US" sz="2000" dirty="0" err="1" smtClean="0"/>
              <a:t>por</a:t>
            </a:r>
            <a:r>
              <a:rPr lang="en-US" sz="2000" dirty="0" smtClean="0"/>
              <a:t> </a:t>
            </a:r>
            <a:r>
              <a:rPr lang="en-US" sz="2000" dirty="0" err="1" smtClean="0"/>
              <a:t>tipo</a:t>
            </a:r>
            <a:r>
              <a:rPr lang="en-US" sz="2000" dirty="0" smtClean="0"/>
              <a:t> de </a:t>
            </a:r>
            <a:r>
              <a:rPr lang="en-US" sz="2000" dirty="0" err="1" smtClean="0"/>
              <a:t>aparelho</a:t>
            </a:r>
            <a:r>
              <a:rPr lang="en-US" sz="2000" dirty="0" smtClean="0"/>
              <a:t>, </a:t>
            </a:r>
            <a:r>
              <a:rPr lang="en-US" sz="2000" dirty="0" err="1" smtClean="0"/>
              <a:t>sistema</a:t>
            </a:r>
            <a:r>
              <a:rPr lang="en-US" sz="2000" dirty="0" smtClean="0"/>
              <a:t> </a:t>
            </a:r>
            <a:r>
              <a:rPr lang="en-US" sz="2000" dirty="0" err="1" smtClean="0"/>
              <a:t>operacional</a:t>
            </a:r>
            <a:r>
              <a:rPr lang="en-US" sz="2000" dirty="0"/>
              <a:t> </a:t>
            </a:r>
            <a:r>
              <a:rPr lang="en-US" sz="2000" dirty="0" smtClean="0"/>
              <a:t>e Wi-Fi e </a:t>
            </a:r>
            <a:r>
              <a:rPr lang="en-US" sz="2000" dirty="0" err="1" smtClean="0"/>
              <a:t>operadoras</a:t>
            </a:r>
            <a:r>
              <a:rPr lang="en-US" sz="2000" dirty="0" smtClean="0"/>
              <a:t>.</a:t>
            </a:r>
            <a:endParaRPr lang="pt-BR" sz="2000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951" y="565151"/>
            <a:ext cx="7221811" cy="5831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Campanha </a:t>
            </a:r>
            <a:r>
              <a:rPr lang="pt-BR" dirty="0" smtClean="0">
                <a:sym typeface="Wingdings" pitchFamily="2" charset="2"/>
              </a:rPr>
              <a:t> Lances e orçamento</a:t>
            </a:r>
            <a:endParaRPr lang="pt-BR" dirty="0"/>
          </a:p>
        </p:txBody>
      </p:sp>
      <p:sp>
        <p:nvSpPr>
          <p:cNvPr id="5" name="Retângulo de cantos arredondados 4"/>
          <p:cNvSpPr>
            <a:spLocks noChangeArrowheads="1"/>
          </p:cNvSpPr>
          <p:nvPr/>
        </p:nvSpPr>
        <p:spPr bwMode="auto">
          <a:xfrm>
            <a:off x="647824" y="5580037"/>
            <a:ext cx="8712968" cy="1512168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r>
              <a:rPr lang="pt-BR" sz="2000" dirty="0" smtClean="0"/>
              <a:t>Opções de lances e orçamentos. Defina lances manuais e o orçamento diário da campanha e o método de exibição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81" y="1403573"/>
            <a:ext cx="8448675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Campanha </a:t>
            </a:r>
            <a:r>
              <a:rPr lang="pt-BR" dirty="0" smtClean="0">
                <a:sym typeface="Wingdings" pitchFamily="2" charset="2"/>
              </a:rPr>
              <a:t> Extensões de anúncio</a:t>
            </a:r>
            <a:endParaRPr lang="pt-BR" dirty="0"/>
          </a:p>
        </p:txBody>
      </p:sp>
      <p:sp>
        <p:nvSpPr>
          <p:cNvPr id="6" name="Retângulo de cantos arredondados 5"/>
          <p:cNvSpPr>
            <a:spLocks noChangeArrowheads="1"/>
          </p:cNvSpPr>
          <p:nvPr/>
        </p:nvSpPr>
        <p:spPr bwMode="auto">
          <a:xfrm>
            <a:off x="647824" y="6228109"/>
            <a:ext cx="8712968" cy="864096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r>
              <a:rPr lang="pt-BR" sz="2000" dirty="0" smtClean="0"/>
              <a:t>Permite exibir: Mapa, Telefone, 4 links adicionais e </a:t>
            </a:r>
            <a:r>
              <a:rPr lang="pt-BR" sz="2000" b="1" dirty="0" smtClean="0">
                <a:solidFill>
                  <a:srgbClr val="FF0000"/>
                </a:solidFill>
              </a:rPr>
              <a:t>SOCIAL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888" y="461763"/>
            <a:ext cx="6840760" cy="6054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Campanha </a:t>
            </a:r>
            <a:r>
              <a:rPr lang="pt-BR" dirty="0" smtClean="0">
                <a:sym typeface="Wingdings" pitchFamily="2" charset="2"/>
              </a:rPr>
              <a:t> Extensões de anúncio  Local</a:t>
            </a:r>
            <a:endParaRPr lang="pt-BR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9138" y="821043"/>
            <a:ext cx="8569325" cy="5973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tângulo de cantos arredondados 6"/>
          <p:cNvSpPr>
            <a:spLocks noChangeArrowheads="1"/>
          </p:cNvSpPr>
          <p:nvPr/>
        </p:nvSpPr>
        <p:spPr bwMode="auto">
          <a:xfrm>
            <a:off x="647824" y="6228109"/>
            <a:ext cx="8712968" cy="864096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r>
              <a:rPr lang="pt-BR" sz="2000" dirty="0" smtClean="0"/>
              <a:t>É necessário se cadastrar no Google </a:t>
            </a:r>
            <a:r>
              <a:rPr lang="pt-BR" sz="2000" dirty="0" err="1" smtClean="0"/>
              <a:t>Places</a:t>
            </a:r>
            <a:endParaRPr lang="pt-BR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Campanha </a:t>
            </a:r>
            <a:r>
              <a:rPr lang="pt-BR" dirty="0" smtClean="0">
                <a:sym typeface="Wingdings" pitchFamily="2" charset="2"/>
              </a:rPr>
              <a:t> Configurações avançadas</a:t>
            </a:r>
            <a:endParaRPr lang="pt-BR" dirty="0"/>
          </a:p>
        </p:txBody>
      </p:sp>
      <p:sp>
        <p:nvSpPr>
          <p:cNvPr id="7" name="Retângulo de cantos arredondados 6"/>
          <p:cNvSpPr>
            <a:spLocks noChangeArrowheads="1"/>
          </p:cNvSpPr>
          <p:nvPr/>
        </p:nvSpPr>
        <p:spPr bwMode="auto">
          <a:xfrm>
            <a:off x="647824" y="6228109"/>
            <a:ext cx="8712968" cy="864096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100783" tIns="50392" rIns="100783" bIns="50392" anchor="ctr"/>
          <a:lstStyle/>
          <a:p>
            <a:endParaRPr lang="pt-BR" sz="2000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3" y="539477"/>
            <a:ext cx="94869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Visão Geral das Campanhas</a:t>
            </a:r>
            <a:endParaRPr lang="pt-BR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7784" y="899517"/>
            <a:ext cx="9511015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Anúncios</a:t>
            </a:r>
            <a:endParaRPr lang="pt-BR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1840" y="971525"/>
            <a:ext cx="8568952" cy="5807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Palavras-chave</a:t>
            </a:r>
            <a:endParaRPr lang="pt-BR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3238" y="1175128"/>
            <a:ext cx="9069387" cy="5376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Anúncios Gráficos</a:t>
            </a:r>
            <a:endParaRPr lang="pt-BR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Anúncios Gráficos </a:t>
            </a:r>
            <a:r>
              <a:rPr lang="pt-BR" dirty="0" smtClean="0">
                <a:sym typeface="Wingdings" pitchFamily="2" charset="2"/>
              </a:rPr>
              <a:t> Gerador </a:t>
            </a:r>
            <a:endParaRPr lang="pt-BR" dirty="0"/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4825" y="1143317"/>
            <a:ext cx="9066213" cy="5439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Anúncios Gráficos </a:t>
            </a:r>
            <a:r>
              <a:rPr lang="pt-BR" dirty="0" smtClean="0">
                <a:sym typeface="Wingdings" pitchFamily="2" charset="2"/>
              </a:rPr>
              <a:t> Opções de anúncios </a:t>
            </a:r>
            <a:endParaRPr lang="pt-BR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4296" y="1143000"/>
            <a:ext cx="9067271" cy="544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Anúncios Gráficos </a:t>
            </a:r>
            <a:r>
              <a:rPr lang="pt-BR" dirty="0" smtClean="0">
                <a:sym typeface="Wingdings" pitchFamily="2" charset="2"/>
              </a:rPr>
              <a:t> Configuração </a:t>
            </a:r>
            <a:endParaRPr lang="pt-BR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4296" y="1143000"/>
            <a:ext cx="9067271" cy="544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Anúncios Gráficos </a:t>
            </a:r>
            <a:r>
              <a:rPr lang="pt-BR" dirty="0" smtClean="0">
                <a:sym typeface="Wingdings" pitchFamily="2" charset="2"/>
              </a:rPr>
              <a:t> Customizado </a:t>
            </a:r>
            <a:endParaRPr lang="pt-BR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4296" y="1143000"/>
            <a:ext cx="9067271" cy="544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Anúncios Gráficos </a:t>
            </a:r>
            <a:r>
              <a:rPr lang="pt-BR" dirty="0" smtClean="0">
                <a:sym typeface="Wingdings" pitchFamily="2" charset="2"/>
              </a:rPr>
              <a:t> Formatos </a:t>
            </a:r>
            <a:endParaRPr lang="pt-BR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4296" y="1143000"/>
            <a:ext cx="9067271" cy="544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Anúncios Gráficos </a:t>
            </a:r>
            <a:r>
              <a:rPr lang="pt-BR" dirty="0" smtClean="0">
                <a:sym typeface="Wingdings" pitchFamily="2" charset="2"/>
              </a:rPr>
              <a:t> Dados demográficos </a:t>
            </a:r>
            <a:endParaRPr lang="pt-BR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3238" y="1142365"/>
            <a:ext cx="9069387" cy="5441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Ferramenta para anúncio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032"/>
          <a:stretch/>
        </p:blipFill>
        <p:spPr bwMode="auto">
          <a:xfrm>
            <a:off x="1943968" y="1547589"/>
            <a:ext cx="5688632" cy="522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85745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Anúncios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vídeos</a:t>
            </a:r>
            <a:endParaRPr lang="pt-BR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92" t="9823" r="1584" b="51356"/>
          <a:stretch/>
        </p:blipFill>
        <p:spPr bwMode="auto">
          <a:xfrm>
            <a:off x="109436" y="899517"/>
            <a:ext cx="9971189" cy="5098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tângulo 3"/>
          <p:cNvSpPr/>
          <p:nvPr/>
        </p:nvSpPr>
        <p:spPr bwMode="auto">
          <a:xfrm>
            <a:off x="2880072" y="2771725"/>
            <a:ext cx="1944216" cy="21602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248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Anúncios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vídeos</a:t>
            </a:r>
            <a:endParaRPr lang="pt-BR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49450" y="698499"/>
            <a:ext cx="12030075" cy="616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745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Anúncios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/>
              <a:t>v</a:t>
            </a:r>
            <a:r>
              <a:rPr lang="en-US" dirty="0" err="1" smtClean="0"/>
              <a:t>ídeos</a:t>
            </a:r>
            <a:endParaRPr lang="pt-BR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33402" y="712921"/>
            <a:ext cx="12030075" cy="616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1108075"/>
            <a:ext cx="7667625" cy="534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609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Anúncios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/>
              <a:t>v</a:t>
            </a:r>
            <a:r>
              <a:rPr lang="en-US" dirty="0" err="1" smtClean="0"/>
              <a:t>ídeos</a:t>
            </a:r>
            <a:endParaRPr lang="pt-BR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6" t="12026" r="22335" b="3317"/>
          <a:stretch/>
        </p:blipFill>
        <p:spPr bwMode="auto">
          <a:xfrm>
            <a:off x="1799952" y="612150"/>
            <a:ext cx="7536552" cy="6336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6910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Anúncios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vídeos</a:t>
            </a:r>
            <a:endParaRPr lang="pt-BR" dirty="0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25" y="2070100"/>
            <a:ext cx="9401175" cy="341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692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Anúncios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imagens</a:t>
            </a:r>
            <a:endParaRPr lang="pt-BR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7"/>
          <a:stretch/>
        </p:blipFill>
        <p:spPr bwMode="auto">
          <a:xfrm>
            <a:off x="127079" y="569490"/>
            <a:ext cx="9809777" cy="616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810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Anúncios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imagens</a:t>
            </a:r>
            <a:endParaRPr lang="pt-BR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39"/>
          <a:stretch/>
        </p:blipFill>
        <p:spPr bwMode="auto">
          <a:xfrm>
            <a:off x="233039" y="539477"/>
            <a:ext cx="9775825" cy="615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0779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Anúncios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imagens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23" y="899517"/>
            <a:ext cx="10091448" cy="5169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493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Etapa 5 – Métricas de Resultados</a:t>
            </a:r>
            <a:endParaRPr lang="pt-BR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Definindo métricas de resultados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5250" indent="12700">
              <a:buNone/>
            </a:pPr>
            <a:r>
              <a:rPr lang="pt-BR" dirty="0" smtClean="0"/>
              <a:t>Os resultados podem ser medidos de diversas maneiras, porém é importante definir métricas adequadas.</a:t>
            </a:r>
          </a:p>
          <a:p>
            <a:r>
              <a:rPr lang="pt-BR" dirty="0" smtClean="0"/>
              <a:t>Aumento de visitas ao site</a:t>
            </a:r>
          </a:p>
          <a:p>
            <a:r>
              <a:rPr lang="pt-BR" dirty="0" smtClean="0"/>
              <a:t>Melhoria o tempo médio no site</a:t>
            </a:r>
          </a:p>
          <a:p>
            <a:r>
              <a:rPr lang="pt-BR" dirty="0" smtClean="0"/>
              <a:t>Aumento de leads</a:t>
            </a:r>
          </a:p>
          <a:p>
            <a:r>
              <a:rPr lang="pt-BR" dirty="0" smtClean="0"/>
              <a:t>Aumento de vendas</a:t>
            </a:r>
          </a:p>
          <a:p>
            <a:r>
              <a:rPr lang="pt-BR" dirty="0" smtClean="0"/>
              <a:t>Assinaturas de e-mail marketing</a:t>
            </a:r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/>
          <p:cNvGrpSpPr/>
          <p:nvPr/>
        </p:nvGrpSpPr>
        <p:grpSpPr>
          <a:xfrm>
            <a:off x="-6570" y="1475581"/>
            <a:ext cx="10108753" cy="4608512"/>
            <a:chOff x="-6570" y="1475581"/>
            <a:chExt cx="10108753" cy="4608512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6570" y="1475581"/>
              <a:ext cx="10108753" cy="46085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Retângulo 5"/>
            <p:cNvSpPr/>
            <p:nvPr/>
          </p:nvSpPr>
          <p:spPr bwMode="auto">
            <a:xfrm>
              <a:off x="6912520" y="1619597"/>
              <a:ext cx="1512168" cy="14657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2"/>
                <a:buNone/>
                <a:tabLst/>
              </a:pPr>
              <a:endParaRPr kumimoji="0" lang="pt-BR" sz="1800" b="0" i="0" u="none" strike="noStrike" cap="none" normalizeH="0" baseline="0" smtClean="0">
                <a:ln>
                  <a:noFill/>
                </a:ln>
                <a:effectLst/>
                <a:latin typeface="Arial" charset="0"/>
                <a:ea typeface="MS Gothic" charset="-128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Metas no Google </a:t>
            </a:r>
            <a:r>
              <a:rPr lang="pt-BR" dirty="0" err="1" smtClean="0"/>
              <a:t>Analytics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Retângulo 3"/>
          <p:cNvSpPr/>
          <p:nvPr/>
        </p:nvSpPr>
        <p:spPr bwMode="auto">
          <a:xfrm>
            <a:off x="9648824" y="1907629"/>
            <a:ext cx="431801" cy="432048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sp>
        <p:nvSpPr>
          <p:cNvPr id="5" name="Seta para a direita 4"/>
          <p:cNvSpPr/>
          <p:nvPr/>
        </p:nvSpPr>
        <p:spPr bwMode="auto">
          <a:xfrm>
            <a:off x="7632600" y="1766175"/>
            <a:ext cx="1800200" cy="72008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843796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/>
          <p:cNvGrpSpPr/>
          <p:nvPr/>
        </p:nvGrpSpPr>
        <p:grpSpPr>
          <a:xfrm>
            <a:off x="-1" y="827509"/>
            <a:ext cx="13690279" cy="6241306"/>
            <a:chOff x="-1" y="827509"/>
            <a:chExt cx="13690279" cy="6241306"/>
          </a:xfrm>
        </p:grpSpPr>
        <p:grpSp>
          <p:nvGrpSpPr>
            <p:cNvPr id="8" name="Grupo 7"/>
            <p:cNvGrpSpPr/>
            <p:nvPr/>
          </p:nvGrpSpPr>
          <p:grpSpPr>
            <a:xfrm>
              <a:off x="-1" y="827509"/>
              <a:ext cx="13690279" cy="6241306"/>
              <a:chOff x="-1" y="827509"/>
              <a:chExt cx="13690279" cy="6241306"/>
            </a:xfrm>
          </p:grpSpPr>
          <p:pic>
            <p:nvPicPr>
              <p:cNvPr id="4098" name="Picture 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1" y="827509"/>
                <a:ext cx="13690279" cy="62413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" name="Retângulo 6"/>
              <p:cNvSpPr/>
              <p:nvPr/>
            </p:nvSpPr>
            <p:spPr bwMode="auto">
              <a:xfrm>
                <a:off x="3528144" y="2411685"/>
                <a:ext cx="936104" cy="144016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charset="2"/>
                  <a:buNone/>
                  <a:tabLst/>
                </a:pPr>
                <a:endParaRPr kumimoji="0" lang="pt-BR" sz="1800" b="0" i="0" u="none" strike="noStrike" cap="none" normalizeH="0" baseline="0" smtClean="0">
                  <a:ln>
                    <a:noFill/>
                  </a:ln>
                  <a:effectLst/>
                  <a:latin typeface="Arial" charset="0"/>
                  <a:ea typeface="MS Gothic" charset="-128"/>
                </a:endParaRPr>
              </a:p>
            </p:txBody>
          </p:sp>
        </p:grpSp>
        <p:sp>
          <p:nvSpPr>
            <p:cNvPr id="9" name="Retângulo 8"/>
            <p:cNvSpPr/>
            <p:nvPr/>
          </p:nvSpPr>
          <p:spPr bwMode="auto">
            <a:xfrm>
              <a:off x="9432800" y="1043533"/>
              <a:ext cx="1944216" cy="14401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2"/>
                <a:buNone/>
                <a:tabLst/>
              </a:pPr>
              <a:endParaRPr kumimoji="0" lang="pt-BR" sz="1800" b="0" i="0" u="none" strike="noStrike" cap="none" normalizeH="0" baseline="0" smtClean="0">
                <a:ln>
                  <a:noFill/>
                </a:ln>
                <a:effectLst/>
                <a:latin typeface="Arial" charset="0"/>
                <a:ea typeface="MS Gothic" charset="-128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Metas no Google </a:t>
            </a:r>
            <a:r>
              <a:rPr lang="pt-BR" dirty="0" err="1" smtClean="0"/>
              <a:t>Analytics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 bwMode="auto">
          <a:xfrm>
            <a:off x="3240112" y="3732138"/>
            <a:ext cx="576064" cy="432048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sp>
        <p:nvSpPr>
          <p:cNvPr id="5" name="Seta para a direita 4"/>
          <p:cNvSpPr/>
          <p:nvPr/>
        </p:nvSpPr>
        <p:spPr bwMode="auto">
          <a:xfrm rot="12227029">
            <a:off x="3884932" y="4280584"/>
            <a:ext cx="1800200" cy="72008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0891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Metas no Google </a:t>
            </a:r>
            <a:r>
              <a:rPr lang="pt-BR" dirty="0" err="1" smtClean="0"/>
              <a:t>Analytics</a:t>
            </a:r>
            <a:endParaRPr lang="pt-BR" dirty="0"/>
          </a:p>
        </p:txBody>
      </p:sp>
      <p:grpSp>
        <p:nvGrpSpPr>
          <p:cNvPr id="6" name="Grupo 5"/>
          <p:cNvGrpSpPr/>
          <p:nvPr/>
        </p:nvGrpSpPr>
        <p:grpSpPr>
          <a:xfrm>
            <a:off x="0" y="850900"/>
            <a:ext cx="12849225" cy="5857875"/>
            <a:chOff x="0" y="850900"/>
            <a:chExt cx="12849225" cy="5857875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50900"/>
              <a:ext cx="12849225" cy="5857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Retângulo 2"/>
            <p:cNvSpPr/>
            <p:nvPr/>
          </p:nvSpPr>
          <p:spPr bwMode="auto">
            <a:xfrm>
              <a:off x="3384128" y="1835621"/>
              <a:ext cx="792088" cy="14401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2"/>
                <a:buNone/>
                <a:tabLst/>
              </a:pPr>
              <a:endParaRPr kumimoji="0" lang="pt-BR" sz="1800" b="0" i="0" u="none" strike="noStrike" cap="none" normalizeH="0" baseline="0" smtClean="0">
                <a:ln>
                  <a:noFill/>
                </a:ln>
                <a:effectLst/>
                <a:latin typeface="Arial" charset="0"/>
                <a:ea typeface="MS Gothic" charset="-128"/>
              </a:endParaRPr>
            </a:p>
          </p:txBody>
        </p:sp>
      </p:grpSp>
      <p:sp>
        <p:nvSpPr>
          <p:cNvPr id="4" name="Retângulo 3"/>
          <p:cNvSpPr/>
          <p:nvPr/>
        </p:nvSpPr>
        <p:spPr bwMode="auto">
          <a:xfrm>
            <a:off x="2700052" y="3948162"/>
            <a:ext cx="2268252" cy="21602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sp>
        <p:nvSpPr>
          <p:cNvPr id="5" name="Seta para a direita 4"/>
          <p:cNvSpPr/>
          <p:nvPr/>
        </p:nvSpPr>
        <p:spPr bwMode="auto">
          <a:xfrm rot="12227029">
            <a:off x="4555656" y="4280584"/>
            <a:ext cx="1800200" cy="72008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964447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360288" y="668740"/>
            <a:ext cx="17569704" cy="8009910"/>
            <a:chOff x="0" y="850900"/>
            <a:chExt cx="12849225" cy="5857875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50900"/>
              <a:ext cx="12849225" cy="5857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Retângulo 6"/>
            <p:cNvSpPr/>
            <p:nvPr/>
          </p:nvSpPr>
          <p:spPr bwMode="auto">
            <a:xfrm>
              <a:off x="3384128" y="1043533"/>
              <a:ext cx="792088" cy="14401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2"/>
                <a:buNone/>
                <a:tabLst/>
              </a:pPr>
              <a:endParaRPr kumimoji="0" lang="pt-BR" sz="1800" b="0" i="0" u="none" strike="noStrike" cap="none" normalizeH="0" baseline="0" smtClean="0">
                <a:ln>
                  <a:noFill/>
                </a:ln>
                <a:effectLst/>
                <a:latin typeface="Arial" charset="0"/>
                <a:ea typeface="MS Gothic" charset="-128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Metas no Google </a:t>
            </a:r>
            <a:r>
              <a:rPr lang="pt-BR" dirty="0" err="1" smtClean="0"/>
              <a:t>Analytics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 bwMode="auto">
          <a:xfrm>
            <a:off x="2902727" y="4400416"/>
            <a:ext cx="576064" cy="576064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r>
              <a:rPr kumimoji="0" lang="pt-BR" sz="1800" b="0" i="0" u="none" strike="noStrike" cap="none" normalizeH="0" baseline="0" dirty="0" smtClean="0">
                <a:ln>
                  <a:noFill/>
                </a:ln>
                <a:effectLst/>
                <a:latin typeface="Arial" charset="0"/>
                <a:ea typeface="MS Gothic" charset="-128"/>
              </a:rPr>
              <a:t>1</a:t>
            </a:r>
          </a:p>
        </p:txBody>
      </p:sp>
      <p:sp>
        <p:nvSpPr>
          <p:cNvPr id="12" name="Elipse 11"/>
          <p:cNvSpPr/>
          <p:nvPr/>
        </p:nvSpPr>
        <p:spPr bwMode="auto">
          <a:xfrm>
            <a:off x="6408464" y="4976480"/>
            <a:ext cx="576064" cy="576064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r>
              <a:rPr kumimoji="0" lang="pt-BR" sz="1800" b="0" i="0" u="none" strike="noStrike" cap="none" normalizeH="0" baseline="0" dirty="0" smtClean="0">
                <a:ln>
                  <a:noFill/>
                </a:ln>
                <a:effectLst/>
                <a:latin typeface="Arial" charset="0"/>
                <a:ea typeface="MS Gothic" charset="-128"/>
              </a:rPr>
              <a:t>2</a:t>
            </a:r>
          </a:p>
        </p:txBody>
      </p:sp>
      <p:sp>
        <p:nvSpPr>
          <p:cNvPr id="13" name="Elipse 12"/>
          <p:cNvSpPr/>
          <p:nvPr/>
        </p:nvSpPr>
        <p:spPr bwMode="auto">
          <a:xfrm>
            <a:off x="3979051" y="5796061"/>
            <a:ext cx="576064" cy="576064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r>
              <a:rPr kumimoji="0" lang="pt-BR" sz="1800" b="0" i="0" u="none" strike="noStrike" cap="none" normalizeH="0" baseline="0" dirty="0" smtClean="0">
                <a:ln>
                  <a:noFill/>
                </a:ln>
                <a:effectLst/>
                <a:latin typeface="Arial" charset="0"/>
                <a:ea typeface="MS Gothic" charset="-128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230727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Vincular </a:t>
            </a:r>
            <a:r>
              <a:rPr lang="pt-BR" dirty="0" err="1" smtClean="0"/>
              <a:t>AdWords</a:t>
            </a:r>
            <a:r>
              <a:rPr lang="pt-BR" dirty="0" smtClean="0"/>
              <a:t> ao </a:t>
            </a:r>
            <a:r>
              <a:rPr lang="pt-BR" dirty="0" err="1" smtClean="0"/>
              <a:t>Analytics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5" name="Grupo 4"/>
          <p:cNvGrpSpPr/>
          <p:nvPr/>
        </p:nvGrpSpPr>
        <p:grpSpPr>
          <a:xfrm>
            <a:off x="-19174" y="1403573"/>
            <a:ext cx="10366936" cy="4733901"/>
            <a:chOff x="-19174" y="1403573"/>
            <a:chExt cx="10366936" cy="4733901"/>
          </a:xfrm>
        </p:grpSpPr>
        <p:pic>
          <p:nvPicPr>
            <p:cNvPr id="819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9174" y="1403573"/>
              <a:ext cx="10366936" cy="47339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Retângulo 3"/>
            <p:cNvSpPr/>
            <p:nvPr/>
          </p:nvSpPr>
          <p:spPr bwMode="auto">
            <a:xfrm>
              <a:off x="6984528" y="1403573"/>
              <a:ext cx="1800200" cy="21602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2"/>
                <a:buNone/>
                <a:tabLst/>
              </a:pPr>
              <a:endParaRPr kumimoji="0" lang="pt-BR" sz="1800" b="0" i="0" u="none" strike="noStrike" cap="none" normalizeH="0" baseline="0" smtClean="0">
                <a:ln>
                  <a:noFill/>
                </a:ln>
                <a:effectLst/>
                <a:latin typeface="Arial" charset="0"/>
                <a:ea typeface="MS Gothic" charset="-128"/>
              </a:endParaRPr>
            </a:p>
          </p:txBody>
        </p:sp>
      </p:grpSp>
      <p:sp>
        <p:nvSpPr>
          <p:cNvPr id="6" name="Retângulo 5"/>
          <p:cNvSpPr/>
          <p:nvPr/>
        </p:nvSpPr>
        <p:spPr bwMode="auto">
          <a:xfrm>
            <a:off x="2087984" y="2483693"/>
            <a:ext cx="2016224" cy="14401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4270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Vincular </a:t>
            </a:r>
            <a:r>
              <a:rPr lang="pt-BR" dirty="0" err="1"/>
              <a:t>AdWords</a:t>
            </a:r>
            <a:r>
              <a:rPr lang="pt-BR" dirty="0"/>
              <a:t> ao </a:t>
            </a:r>
            <a:r>
              <a:rPr lang="pt-BR" dirty="0" err="1"/>
              <a:t>Analytics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5" name="Grupo 4"/>
          <p:cNvGrpSpPr/>
          <p:nvPr/>
        </p:nvGrpSpPr>
        <p:grpSpPr>
          <a:xfrm>
            <a:off x="-37" y="1293155"/>
            <a:ext cx="10075271" cy="4593248"/>
            <a:chOff x="0" y="850900"/>
            <a:chExt cx="12849225" cy="5857875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50900"/>
              <a:ext cx="12849225" cy="5857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Retângulo 3"/>
            <p:cNvSpPr/>
            <p:nvPr/>
          </p:nvSpPr>
          <p:spPr bwMode="auto">
            <a:xfrm>
              <a:off x="8712720" y="850900"/>
              <a:ext cx="2160240" cy="33664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2"/>
                <a:buNone/>
                <a:tabLst/>
              </a:pPr>
              <a:endParaRPr kumimoji="0" lang="pt-BR" sz="1800" b="0" i="0" u="none" strike="noStrike" cap="none" normalizeH="0" baseline="0" smtClean="0">
                <a:ln>
                  <a:noFill/>
                </a:ln>
                <a:effectLst/>
                <a:latin typeface="Arial" charset="0"/>
                <a:ea typeface="MS Gothic" charset="-128"/>
              </a:endParaRPr>
            </a:p>
          </p:txBody>
        </p:sp>
      </p:grpSp>
      <p:sp>
        <p:nvSpPr>
          <p:cNvPr id="6" name="Retângulo 5"/>
          <p:cNvSpPr/>
          <p:nvPr/>
        </p:nvSpPr>
        <p:spPr bwMode="auto">
          <a:xfrm>
            <a:off x="9576816" y="1907629"/>
            <a:ext cx="498418" cy="432048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sp>
        <p:nvSpPr>
          <p:cNvPr id="8" name="Retângulo 7"/>
          <p:cNvSpPr/>
          <p:nvPr/>
        </p:nvSpPr>
        <p:spPr bwMode="auto">
          <a:xfrm>
            <a:off x="359792" y="3131765"/>
            <a:ext cx="684076" cy="144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sp>
        <p:nvSpPr>
          <p:cNvPr id="9" name="Retângulo 8"/>
          <p:cNvSpPr/>
          <p:nvPr/>
        </p:nvSpPr>
        <p:spPr bwMode="auto">
          <a:xfrm>
            <a:off x="337356" y="3356173"/>
            <a:ext cx="706511" cy="144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sp>
        <p:nvSpPr>
          <p:cNvPr id="10" name="Retângulo 9"/>
          <p:cNvSpPr/>
          <p:nvPr/>
        </p:nvSpPr>
        <p:spPr bwMode="auto">
          <a:xfrm>
            <a:off x="336866" y="3707829"/>
            <a:ext cx="707001" cy="144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sp>
        <p:nvSpPr>
          <p:cNvPr id="11" name="Retângulo 10"/>
          <p:cNvSpPr/>
          <p:nvPr/>
        </p:nvSpPr>
        <p:spPr bwMode="auto">
          <a:xfrm>
            <a:off x="336866" y="4067869"/>
            <a:ext cx="707002" cy="144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sp>
        <p:nvSpPr>
          <p:cNvPr id="12" name="Retângulo 11"/>
          <p:cNvSpPr/>
          <p:nvPr/>
        </p:nvSpPr>
        <p:spPr bwMode="auto">
          <a:xfrm>
            <a:off x="361590" y="4651173"/>
            <a:ext cx="707002" cy="144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sp>
        <p:nvSpPr>
          <p:cNvPr id="13" name="Retângulo 12"/>
          <p:cNvSpPr/>
          <p:nvPr/>
        </p:nvSpPr>
        <p:spPr bwMode="auto">
          <a:xfrm>
            <a:off x="374014" y="4507157"/>
            <a:ext cx="707002" cy="144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7585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/>
          <p:cNvGrpSpPr/>
          <p:nvPr/>
        </p:nvGrpSpPr>
        <p:grpSpPr>
          <a:xfrm>
            <a:off x="1" y="1619597"/>
            <a:ext cx="10215396" cy="4657130"/>
            <a:chOff x="1" y="1619597"/>
            <a:chExt cx="10215396" cy="4657130"/>
          </a:xfrm>
        </p:grpSpPr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" y="1619597"/>
              <a:ext cx="10215396" cy="46571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Retângulo 4"/>
            <p:cNvSpPr/>
            <p:nvPr/>
          </p:nvSpPr>
          <p:spPr bwMode="auto">
            <a:xfrm>
              <a:off x="6912520" y="1619597"/>
              <a:ext cx="1728192" cy="21602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2"/>
                <a:buNone/>
                <a:tabLst/>
              </a:pPr>
              <a:endParaRPr kumimoji="0" lang="pt-BR" sz="1800" b="0" i="0" u="none" strike="noStrike" cap="none" normalizeH="0" baseline="0" smtClean="0">
                <a:ln>
                  <a:noFill/>
                </a:ln>
                <a:effectLst/>
                <a:latin typeface="Arial" charset="0"/>
                <a:ea typeface="MS Gothic" charset="-128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Vincular </a:t>
            </a:r>
            <a:r>
              <a:rPr lang="pt-BR" dirty="0" err="1"/>
              <a:t>AdWords</a:t>
            </a:r>
            <a:r>
              <a:rPr lang="pt-BR" dirty="0"/>
              <a:t> ao </a:t>
            </a:r>
            <a:r>
              <a:rPr lang="pt-BR" dirty="0" err="1"/>
              <a:t>Analytics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 bwMode="auto">
          <a:xfrm>
            <a:off x="1943968" y="3948162"/>
            <a:ext cx="1584176" cy="33573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32334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Vincular </a:t>
            </a:r>
            <a:r>
              <a:rPr lang="pt-BR" dirty="0" err="1"/>
              <a:t>AdWords</a:t>
            </a:r>
            <a:r>
              <a:rPr lang="pt-BR" dirty="0"/>
              <a:t> ao </a:t>
            </a:r>
            <a:r>
              <a:rPr lang="pt-BR" dirty="0" err="1"/>
              <a:t>Analytics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5" name="Grupo 4"/>
          <p:cNvGrpSpPr/>
          <p:nvPr/>
        </p:nvGrpSpPr>
        <p:grpSpPr>
          <a:xfrm>
            <a:off x="-2376511" y="1043533"/>
            <a:ext cx="12454672" cy="5678001"/>
            <a:chOff x="-2376511" y="1043533"/>
            <a:chExt cx="12454672" cy="5678001"/>
          </a:xfrm>
        </p:grpSpPr>
        <p:pic>
          <p:nvPicPr>
            <p:cNvPr id="1126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376511" y="1043533"/>
              <a:ext cx="12454672" cy="56780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Retângulo 3"/>
            <p:cNvSpPr/>
            <p:nvPr/>
          </p:nvSpPr>
          <p:spPr bwMode="auto">
            <a:xfrm>
              <a:off x="6120432" y="1043533"/>
              <a:ext cx="2016224" cy="28803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2"/>
                <a:buNone/>
                <a:tabLst/>
              </a:pPr>
              <a:endParaRPr kumimoji="0" lang="pt-BR" sz="1800" b="0" i="0" u="none" strike="noStrike" cap="none" normalizeH="0" baseline="0" smtClean="0">
                <a:ln>
                  <a:noFill/>
                </a:ln>
                <a:effectLst/>
                <a:latin typeface="Arial" charset="0"/>
                <a:ea typeface="MS Gothic" charset="-128"/>
              </a:endParaRPr>
            </a:p>
          </p:txBody>
        </p:sp>
      </p:grpSp>
      <p:sp>
        <p:nvSpPr>
          <p:cNvPr id="6" name="Retângulo 5"/>
          <p:cNvSpPr/>
          <p:nvPr/>
        </p:nvSpPr>
        <p:spPr bwMode="auto">
          <a:xfrm>
            <a:off x="1871960" y="3059757"/>
            <a:ext cx="1152128" cy="28803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sp>
        <p:nvSpPr>
          <p:cNvPr id="8" name="Retângulo 7"/>
          <p:cNvSpPr/>
          <p:nvPr/>
        </p:nvSpPr>
        <p:spPr bwMode="auto">
          <a:xfrm>
            <a:off x="575816" y="2771725"/>
            <a:ext cx="504056" cy="144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139770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1714260" y="1115541"/>
            <a:ext cx="11794886" cy="5377209"/>
            <a:chOff x="-1714260" y="1115541"/>
            <a:chExt cx="11794886" cy="5377209"/>
          </a:xfrm>
        </p:grpSpPr>
        <p:pic>
          <p:nvPicPr>
            <p:cNvPr id="1229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714260" y="1115541"/>
              <a:ext cx="11794886" cy="5377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Retângulo 6"/>
            <p:cNvSpPr/>
            <p:nvPr/>
          </p:nvSpPr>
          <p:spPr bwMode="auto">
            <a:xfrm>
              <a:off x="6264448" y="1115541"/>
              <a:ext cx="2016224" cy="28803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2"/>
                <a:buNone/>
                <a:tabLst/>
              </a:pPr>
              <a:endParaRPr kumimoji="0" lang="pt-BR" sz="1800" b="0" i="0" u="none" strike="noStrike" cap="none" normalizeH="0" baseline="0" smtClean="0">
                <a:ln>
                  <a:noFill/>
                </a:ln>
                <a:effectLst/>
                <a:latin typeface="Arial" charset="0"/>
                <a:ea typeface="MS Gothic" charset="-128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Vincular </a:t>
            </a:r>
            <a:r>
              <a:rPr lang="pt-BR" dirty="0" err="1"/>
              <a:t>AdWords</a:t>
            </a:r>
            <a:r>
              <a:rPr lang="pt-BR" dirty="0"/>
              <a:t> ao </a:t>
            </a:r>
            <a:r>
              <a:rPr lang="pt-BR" dirty="0" err="1"/>
              <a:t>Analytics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Retângulo 5"/>
          <p:cNvSpPr/>
          <p:nvPr/>
        </p:nvSpPr>
        <p:spPr bwMode="auto">
          <a:xfrm>
            <a:off x="431800" y="4067869"/>
            <a:ext cx="1152128" cy="28803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sp>
        <p:nvSpPr>
          <p:cNvPr id="11" name="Retângulo 10"/>
          <p:cNvSpPr/>
          <p:nvPr/>
        </p:nvSpPr>
        <p:spPr bwMode="auto">
          <a:xfrm>
            <a:off x="1079872" y="2749044"/>
            <a:ext cx="504056" cy="144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461625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Vincular </a:t>
            </a:r>
            <a:r>
              <a:rPr lang="pt-BR" dirty="0" err="1"/>
              <a:t>AdWords</a:t>
            </a:r>
            <a:r>
              <a:rPr lang="pt-BR" dirty="0"/>
              <a:t> ao </a:t>
            </a:r>
            <a:r>
              <a:rPr lang="pt-BR" dirty="0" err="1"/>
              <a:t>Analytics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 bwMode="auto">
          <a:xfrm>
            <a:off x="3168104" y="4715941"/>
            <a:ext cx="1944216" cy="28803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-1440408" y="853392"/>
            <a:ext cx="12849225" cy="5857875"/>
            <a:chOff x="-1440408" y="853392"/>
            <a:chExt cx="12849225" cy="5857875"/>
          </a:xfrm>
        </p:grpSpPr>
        <p:pic>
          <p:nvPicPr>
            <p:cNvPr id="1331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440408" y="853392"/>
              <a:ext cx="12849225" cy="5857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Retângulo 3"/>
            <p:cNvSpPr/>
            <p:nvPr/>
          </p:nvSpPr>
          <p:spPr bwMode="auto">
            <a:xfrm>
              <a:off x="7272560" y="853392"/>
              <a:ext cx="2160240" cy="262149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2"/>
                <a:buNone/>
                <a:tabLst/>
              </a:pPr>
              <a:endParaRPr kumimoji="0" lang="pt-BR" sz="1800" b="0" i="0" u="none" strike="noStrike" cap="none" normalizeH="0" baseline="0" smtClean="0">
                <a:ln>
                  <a:noFill/>
                </a:ln>
                <a:effectLst/>
                <a:latin typeface="Arial" charset="0"/>
                <a:ea typeface="MS Gothic" charset="-128"/>
              </a:endParaRPr>
            </a:p>
          </p:txBody>
        </p:sp>
      </p:grpSp>
      <p:sp>
        <p:nvSpPr>
          <p:cNvPr id="11" name="Retângulo 10"/>
          <p:cNvSpPr/>
          <p:nvPr/>
        </p:nvSpPr>
        <p:spPr bwMode="auto">
          <a:xfrm>
            <a:off x="1583928" y="2627709"/>
            <a:ext cx="576064" cy="144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59830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Vincular </a:t>
            </a:r>
            <a:r>
              <a:rPr lang="pt-BR" dirty="0" err="1"/>
              <a:t>AdWords</a:t>
            </a:r>
            <a:r>
              <a:rPr lang="pt-BR" dirty="0"/>
              <a:t> ao </a:t>
            </a:r>
            <a:r>
              <a:rPr lang="pt-BR" dirty="0" err="1"/>
              <a:t>Analytics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 bwMode="auto">
          <a:xfrm>
            <a:off x="3168104" y="4715941"/>
            <a:ext cx="1944216" cy="28803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9" y="1187549"/>
            <a:ext cx="10057446" cy="4585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tângulo 2"/>
          <p:cNvSpPr/>
          <p:nvPr/>
        </p:nvSpPr>
        <p:spPr bwMode="auto">
          <a:xfrm>
            <a:off x="2376016" y="2195661"/>
            <a:ext cx="504056" cy="144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752971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Relatórios</a:t>
            </a:r>
            <a:endParaRPr lang="pt-BR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Dimensões - Dia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" y="765175"/>
            <a:ext cx="9972675" cy="602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0416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Dimensões – Geográfico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" y="765175"/>
            <a:ext cx="9972675" cy="602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2082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Dimensões – Trimestre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" y="765175"/>
            <a:ext cx="9972675" cy="602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0486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Dimensões – Rede de Display (Filtro cliques &gt;= 50)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" y="769938"/>
            <a:ext cx="9972675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305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Relatórios no Excel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414076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Relatórios no Excel – Visão geral</a:t>
            </a:r>
            <a:endParaRPr lang="pt-BR" dirty="0"/>
          </a:p>
        </p:txBody>
      </p:sp>
      <p:pic>
        <p:nvPicPr>
          <p:cNvPr id="61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1537827"/>
            <a:ext cx="9069387" cy="4650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429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Relatórios no Excel – Palavras-chave</a:t>
            </a:r>
            <a:endParaRPr lang="pt-BR" dirty="0"/>
          </a:p>
        </p:txBody>
      </p:sp>
      <p:pic>
        <p:nvPicPr>
          <p:cNvPr id="7169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1881853"/>
            <a:ext cx="9069387" cy="3962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9265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Relatórios no Excel – Índice de qualidade</a:t>
            </a:r>
            <a:endParaRPr lang="pt-BR" dirty="0"/>
          </a:p>
        </p:txBody>
      </p:sp>
      <p:pic>
        <p:nvPicPr>
          <p:cNvPr id="8193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2237864"/>
            <a:ext cx="9069387" cy="3250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3521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Relatórios no Excel – Índice de qualidade</a:t>
            </a:r>
            <a:endParaRPr lang="pt-BR" dirty="0"/>
          </a:p>
        </p:txBody>
      </p:sp>
      <p:pic>
        <p:nvPicPr>
          <p:cNvPr id="4" name="Espaço Reservado para Conteúdo 3">
            <a:hlinkClick r:id="rId2"/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049" y="1332746"/>
            <a:ext cx="6157010" cy="4626454"/>
          </a:xfrm>
        </p:spPr>
      </p:pic>
      <p:sp>
        <p:nvSpPr>
          <p:cNvPr id="5" name="Retângulo 4"/>
          <p:cNvSpPr/>
          <p:nvPr/>
        </p:nvSpPr>
        <p:spPr>
          <a:xfrm>
            <a:off x="1727944" y="5959200"/>
            <a:ext cx="63312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hlinkClick r:id="rId2"/>
              </a:rPr>
              <a:t>http://www.videolog.tv/konfide/videos/648692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38783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503238" y="6886575"/>
            <a:ext cx="2346325" cy="519113"/>
          </a:xfrm>
          <a:noFill/>
        </p:spPr>
        <p:txBody>
          <a:bodyPr/>
          <a:lstStyle/>
          <a:p>
            <a:pPr algn="l"/>
            <a:fld id="{B51CA962-54D5-457D-8C6B-2EC24445AE42}" type="slidenum">
              <a:rPr lang="es-ES" smtClean="0"/>
              <a:pPr algn="l"/>
              <a:t>89</a:t>
            </a:fld>
            <a:endParaRPr lang="es-ES" smtClean="0"/>
          </a:p>
        </p:txBody>
      </p:sp>
      <p:sp>
        <p:nvSpPr>
          <p:cNvPr id="73731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Links Patrocinados , SEO e Redes Sociais</a:t>
            </a:r>
            <a:endParaRPr lang="pt-BR" smtClean="0"/>
          </a:p>
        </p:txBody>
      </p:sp>
      <p:sp>
        <p:nvSpPr>
          <p:cNvPr id="7" name="Pentágono 6"/>
          <p:cNvSpPr/>
          <p:nvPr/>
        </p:nvSpPr>
        <p:spPr bwMode="auto">
          <a:xfrm>
            <a:off x="976313" y="1168400"/>
            <a:ext cx="2400300" cy="974725"/>
          </a:xfrm>
          <a:prstGeom prst="homePlate">
            <a:avLst>
              <a:gd name="adj" fmla="val 39381"/>
            </a:avLst>
          </a:prstGeom>
          <a:solidFill>
            <a:srgbClr val="FF00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83" tIns="50392" rIns="100783" bIns="50392" anchor="ctr"/>
          <a:lstStyle/>
          <a:p>
            <a:pPr algn="ctr" defTabSz="1006475" hangingPunct="0">
              <a:buFont typeface="Wingdings" pitchFamily="2" charset="2"/>
              <a:buNone/>
              <a:defRPr/>
            </a:pPr>
            <a:r>
              <a:rPr lang="en-US">
                <a:solidFill>
                  <a:srgbClr val="FFFFFF"/>
                </a:solidFill>
                <a:latin typeface="TheSansCorrespondence" charset="0"/>
              </a:rPr>
              <a:t>Links Patrocinados</a:t>
            </a:r>
          </a:p>
        </p:txBody>
      </p:sp>
      <p:sp>
        <p:nvSpPr>
          <p:cNvPr id="8" name="Pentágono 7"/>
          <p:cNvSpPr/>
          <p:nvPr/>
        </p:nvSpPr>
        <p:spPr bwMode="auto">
          <a:xfrm>
            <a:off x="3792538" y="1168400"/>
            <a:ext cx="2400300" cy="974725"/>
          </a:xfrm>
          <a:prstGeom prst="homePlate">
            <a:avLst>
              <a:gd name="adj" fmla="val 39381"/>
            </a:avLst>
          </a:prstGeom>
          <a:solidFill>
            <a:srgbClr val="FF00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83" tIns="50392" rIns="100783" bIns="50392" anchor="ctr"/>
          <a:lstStyle/>
          <a:p>
            <a:pPr algn="ctr" defTabSz="1006475" hangingPunct="0">
              <a:buFont typeface="Wingdings" pitchFamily="2" charset="2"/>
              <a:buNone/>
              <a:defRPr/>
            </a:pPr>
            <a:r>
              <a:rPr lang="en-US" sz="2200">
                <a:solidFill>
                  <a:srgbClr val="FFFFFF"/>
                </a:solidFill>
                <a:latin typeface="TheSansCorrespondence" charset="0"/>
              </a:rPr>
              <a:t>SEO</a:t>
            </a:r>
            <a:endParaRPr lang="en-US">
              <a:solidFill>
                <a:srgbClr val="FFFFFF"/>
              </a:solidFill>
              <a:latin typeface="TheSansCorrespondence" charset="0"/>
            </a:endParaRPr>
          </a:p>
        </p:txBody>
      </p:sp>
      <p:sp>
        <p:nvSpPr>
          <p:cNvPr id="9" name="Pentágono 8"/>
          <p:cNvSpPr/>
          <p:nvPr/>
        </p:nvSpPr>
        <p:spPr bwMode="auto">
          <a:xfrm>
            <a:off x="6640513" y="1168400"/>
            <a:ext cx="2400300" cy="974725"/>
          </a:xfrm>
          <a:prstGeom prst="homePlate">
            <a:avLst>
              <a:gd name="adj" fmla="val 39381"/>
            </a:avLst>
          </a:prstGeom>
          <a:solidFill>
            <a:srgbClr val="FF00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83" tIns="50392" rIns="100783" bIns="50392" anchor="ctr"/>
          <a:lstStyle/>
          <a:p>
            <a:pPr algn="ctr" defTabSz="1006475" hangingPunct="0">
              <a:buFont typeface="Wingdings" pitchFamily="2" charset="2"/>
              <a:buNone/>
              <a:defRPr/>
            </a:pPr>
            <a:r>
              <a:rPr lang="en-US">
                <a:solidFill>
                  <a:srgbClr val="FFFFFF"/>
                </a:solidFill>
                <a:latin typeface="TheSansCorrespondence" charset="0"/>
              </a:rPr>
              <a:t>Redes Sociais</a:t>
            </a:r>
            <a:endParaRPr lang="en-US" sz="2200">
              <a:solidFill>
                <a:srgbClr val="FFFFFF"/>
              </a:solidFill>
              <a:latin typeface="TheSansCorrespondence" charset="0"/>
            </a:endParaRPr>
          </a:p>
        </p:txBody>
      </p:sp>
      <p:grpSp>
        <p:nvGrpSpPr>
          <p:cNvPr id="2" name="Grupo 23"/>
          <p:cNvGrpSpPr>
            <a:grpSpLocks/>
          </p:cNvGrpSpPr>
          <p:nvPr/>
        </p:nvGrpSpPr>
        <p:grpSpPr bwMode="auto">
          <a:xfrm>
            <a:off x="973138" y="2538413"/>
            <a:ext cx="2066925" cy="2901950"/>
            <a:chOff x="882924" y="2302697"/>
            <a:chExt cx="1874790" cy="2632161"/>
          </a:xfrm>
        </p:grpSpPr>
        <p:sp>
          <p:nvSpPr>
            <p:cNvPr id="73747" name="CaixaDeTexto 12"/>
            <p:cNvSpPr txBox="1">
              <a:spLocks noChangeArrowheads="1"/>
            </p:cNvSpPr>
            <p:nvPr/>
          </p:nvSpPr>
          <p:spPr bwMode="auto">
            <a:xfrm>
              <a:off x="882924" y="2302697"/>
              <a:ext cx="1563333" cy="19681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hangingPunct="0">
                <a:lnSpc>
                  <a:spcPct val="150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</a:pPr>
              <a:r>
                <a:rPr lang="en-US"/>
                <a:t>Anúncios</a:t>
              </a:r>
            </a:p>
            <a:p>
              <a:pPr hangingPunct="0">
                <a:lnSpc>
                  <a:spcPct val="150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</a:pPr>
              <a:r>
                <a:rPr lang="pt-BR"/>
                <a:t>Tráfego pago</a:t>
              </a:r>
            </a:p>
            <a:p>
              <a:pPr hangingPunct="0">
                <a:lnSpc>
                  <a:spcPct val="150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</a:pPr>
              <a:r>
                <a:rPr lang="en-US"/>
                <a:t>Minimizar CPC</a:t>
              </a:r>
            </a:p>
            <a:p>
              <a:pPr hangingPunct="0">
                <a:lnSpc>
                  <a:spcPct val="150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</a:pPr>
              <a:r>
                <a:rPr lang="en-US"/>
                <a:t>Curto prazo</a:t>
              </a:r>
            </a:p>
            <a:p>
              <a:pPr hangingPunct="0">
                <a:lnSpc>
                  <a:spcPct val="150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</a:pPr>
              <a:r>
                <a:rPr lang="en-US"/>
                <a:t>Conversão</a:t>
              </a:r>
            </a:p>
          </p:txBody>
        </p:sp>
        <p:sp>
          <p:nvSpPr>
            <p:cNvPr id="20" name="Retângulo de cantos arredondados 19"/>
            <p:cNvSpPr/>
            <p:nvPr/>
          </p:nvSpPr>
          <p:spPr bwMode="auto">
            <a:xfrm>
              <a:off x="1103233" y="4440967"/>
              <a:ext cx="1654481" cy="493891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defRPr/>
              </a:pPr>
              <a:r>
                <a:rPr lang="en-US">
                  <a:solidFill>
                    <a:schemeClr val="tx1"/>
                  </a:solidFill>
                </a:rPr>
                <a:t>KEYWORDS</a:t>
              </a:r>
              <a:endParaRPr lang="pt-BR" sz="2000" b="1">
                <a:solidFill>
                  <a:schemeClr val="tx1"/>
                </a:solidFill>
                <a:latin typeface="TheSansCorrespondence" charset="0"/>
              </a:endParaRPr>
            </a:p>
          </p:txBody>
        </p:sp>
      </p:grpSp>
      <p:grpSp>
        <p:nvGrpSpPr>
          <p:cNvPr id="3" name="Grupo 26"/>
          <p:cNvGrpSpPr>
            <a:grpSpLocks/>
          </p:cNvGrpSpPr>
          <p:nvPr/>
        </p:nvGrpSpPr>
        <p:grpSpPr bwMode="auto">
          <a:xfrm>
            <a:off x="3519488" y="2368550"/>
            <a:ext cx="2460625" cy="3695700"/>
            <a:chOff x="3192349" y="2148914"/>
            <a:chExt cx="2233048" cy="3352800"/>
          </a:xfrm>
        </p:grpSpPr>
        <p:cxnSp>
          <p:nvCxnSpPr>
            <p:cNvPr id="73743" name="Conector reto 10"/>
            <p:cNvCxnSpPr>
              <a:cxnSpLocks noChangeShapeType="1"/>
            </p:cNvCxnSpPr>
            <p:nvPr/>
          </p:nvCxnSpPr>
          <p:spPr bwMode="auto">
            <a:xfrm rot="5400000">
              <a:off x="1516743" y="3824520"/>
              <a:ext cx="33528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4" name="Grupo 24"/>
            <p:cNvGrpSpPr>
              <a:grpSpLocks/>
            </p:cNvGrpSpPr>
            <p:nvPr/>
          </p:nvGrpSpPr>
          <p:grpSpPr bwMode="auto">
            <a:xfrm>
              <a:off x="3465994" y="2302697"/>
              <a:ext cx="1959403" cy="2631576"/>
              <a:chOff x="3465994" y="2302697"/>
              <a:chExt cx="1959403" cy="2631576"/>
            </a:xfrm>
          </p:grpSpPr>
          <p:sp>
            <p:nvSpPr>
              <p:cNvPr id="73745" name="CaixaDeTexto 14"/>
              <p:cNvSpPr txBox="1">
                <a:spLocks noChangeArrowheads="1"/>
              </p:cNvSpPr>
              <p:nvPr/>
            </p:nvSpPr>
            <p:spPr bwMode="auto">
              <a:xfrm>
                <a:off x="3465994" y="2302697"/>
                <a:ext cx="1959403" cy="19685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hangingPunct="0">
                  <a:lnSpc>
                    <a:spcPct val="150000"/>
                  </a:lnSpc>
                  <a:buClr>
                    <a:srgbClr val="000000"/>
                  </a:buClr>
                  <a:buSzPct val="45000"/>
                  <a:buFont typeface="Wingdings" pitchFamily="2" charset="2"/>
                  <a:buNone/>
                </a:pPr>
                <a:r>
                  <a:rPr lang="en-US"/>
                  <a:t>Busca </a:t>
                </a:r>
              </a:p>
              <a:p>
                <a:pPr hangingPunct="0">
                  <a:lnSpc>
                    <a:spcPct val="150000"/>
                  </a:lnSpc>
                  <a:buClr>
                    <a:srgbClr val="000000"/>
                  </a:buClr>
                  <a:buSzPct val="45000"/>
                  <a:buFont typeface="Wingdings" pitchFamily="2" charset="2"/>
                  <a:buNone/>
                </a:pPr>
                <a:r>
                  <a:rPr lang="pt-BR"/>
                  <a:t>Tráfego gratuito</a:t>
                </a:r>
              </a:p>
              <a:p>
                <a:pPr hangingPunct="0">
                  <a:lnSpc>
                    <a:spcPct val="150000"/>
                  </a:lnSpc>
                  <a:buClr>
                    <a:srgbClr val="000000"/>
                  </a:buClr>
                  <a:buSzPct val="45000"/>
                  <a:buFont typeface="Wingdings" pitchFamily="2" charset="2"/>
                  <a:buNone/>
                </a:pPr>
                <a:r>
                  <a:rPr lang="en-US"/>
                  <a:t>Maximizar posição</a:t>
                </a:r>
              </a:p>
              <a:p>
                <a:pPr hangingPunct="0">
                  <a:lnSpc>
                    <a:spcPct val="150000"/>
                  </a:lnSpc>
                  <a:buClr>
                    <a:srgbClr val="000000"/>
                  </a:buClr>
                  <a:buSzPct val="45000"/>
                  <a:buFont typeface="Wingdings" pitchFamily="2" charset="2"/>
                  <a:buNone/>
                </a:pPr>
                <a:r>
                  <a:rPr lang="en-US"/>
                  <a:t>Médio/Longo prazo</a:t>
                </a:r>
              </a:p>
              <a:p>
                <a:pPr hangingPunct="0">
                  <a:lnSpc>
                    <a:spcPct val="150000"/>
                  </a:lnSpc>
                  <a:buClr>
                    <a:srgbClr val="000000"/>
                  </a:buClr>
                  <a:buSzPct val="45000"/>
                  <a:buFont typeface="Wingdings" pitchFamily="2" charset="2"/>
                  <a:buNone/>
                </a:pPr>
                <a:r>
                  <a:rPr lang="en-US"/>
                  <a:t>Audiência</a:t>
                </a:r>
              </a:p>
            </p:txBody>
          </p:sp>
          <p:sp>
            <p:nvSpPr>
              <p:cNvPr id="21" name="Retângulo de cantos arredondados 20"/>
              <p:cNvSpPr/>
              <p:nvPr/>
            </p:nvSpPr>
            <p:spPr bwMode="auto">
              <a:xfrm>
                <a:off x="3643280" y="4440283"/>
                <a:ext cx="1655337" cy="493990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 hangingPunct="0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itchFamily="2" charset="2"/>
                  <a:buNone/>
                  <a:defRPr/>
                </a:pPr>
                <a:r>
                  <a:rPr lang="en-US">
                    <a:solidFill>
                      <a:schemeClr val="tx1"/>
                    </a:solidFill>
                  </a:rPr>
                  <a:t>CONTEÚDO</a:t>
                </a:r>
                <a:endParaRPr lang="pt-BR" sz="2000" b="1">
                  <a:solidFill>
                    <a:schemeClr val="tx1"/>
                  </a:solidFill>
                  <a:latin typeface="TheSansCorrespondence" charset="0"/>
                </a:endParaRPr>
              </a:p>
            </p:txBody>
          </p:sp>
        </p:grpSp>
      </p:grpSp>
      <p:grpSp>
        <p:nvGrpSpPr>
          <p:cNvPr id="5" name="Grupo 25"/>
          <p:cNvGrpSpPr>
            <a:grpSpLocks/>
          </p:cNvGrpSpPr>
          <p:nvPr/>
        </p:nvGrpSpPr>
        <p:grpSpPr bwMode="auto">
          <a:xfrm>
            <a:off x="6367463" y="2368550"/>
            <a:ext cx="3209925" cy="3695700"/>
            <a:chOff x="5775892" y="2148914"/>
            <a:chExt cx="2910540" cy="3352800"/>
          </a:xfrm>
        </p:grpSpPr>
        <p:cxnSp>
          <p:nvCxnSpPr>
            <p:cNvPr id="73740" name="Conector reto 11"/>
            <p:cNvCxnSpPr>
              <a:cxnSpLocks noChangeShapeType="1"/>
            </p:cNvCxnSpPr>
            <p:nvPr/>
          </p:nvCxnSpPr>
          <p:spPr bwMode="auto">
            <a:xfrm rot="5400000">
              <a:off x="4100286" y="3824520"/>
              <a:ext cx="33528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73741" name="CaixaDeTexto 15"/>
            <p:cNvSpPr txBox="1">
              <a:spLocks noChangeArrowheads="1"/>
            </p:cNvSpPr>
            <p:nvPr/>
          </p:nvSpPr>
          <p:spPr bwMode="auto">
            <a:xfrm>
              <a:off x="6049537" y="2302697"/>
              <a:ext cx="2636895" cy="19685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hangingPunct="0">
                <a:lnSpc>
                  <a:spcPct val="150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</a:pPr>
              <a:r>
                <a:rPr lang="en-US"/>
                <a:t>Busca/Network</a:t>
              </a:r>
            </a:p>
            <a:p>
              <a:pPr hangingPunct="0">
                <a:lnSpc>
                  <a:spcPct val="150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</a:pPr>
              <a:r>
                <a:rPr lang="pt-BR"/>
                <a:t>Tráfego gratuito/Confiança</a:t>
              </a:r>
            </a:p>
            <a:p>
              <a:pPr hangingPunct="0">
                <a:lnSpc>
                  <a:spcPct val="150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</a:pPr>
              <a:r>
                <a:rPr lang="en-US"/>
                <a:t>Maximizar presença</a:t>
              </a:r>
            </a:p>
            <a:p>
              <a:pPr hangingPunct="0">
                <a:lnSpc>
                  <a:spcPct val="150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</a:pPr>
              <a:r>
                <a:rPr lang="en-US"/>
                <a:t>Curto/Médio/Longo prazo</a:t>
              </a:r>
            </a:p>
            <a:p>
              <a:pPr hangingPunct="0">
                <a:lnSpc>
                  <a:spcPct val="150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</a:pPr>
              <a:r>
                <a:rPr lang="en-US"/>
                <a:t>Comunidade</a:t>
              </a:r>
            </a:p>
          </p:txBody>
        </p:sp>
        <p:sp>
          <p:nvSpPr>
            <p:cNvPr id="22" name="Retângulo de cantos arredondados 21"/>
            <p:cNvSpPr/>
            <p:nvPr/>
          </p:nvSpPr>
          <p:spPr bwMode="auto">
            <a:xfrm>
              <a:off x="6488412" y="4441722"/>
              <a:ext cx="1653913" cy="492551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ctr" hangingPunct="0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itchFamily="2" charset="2"/>
                <a:buNone/>
                <a:defRPr/>
              </a:pPr>
              <a:r>
                <a:rPr lang="en-US">
                  <a:solidFill>
                    <a:schemeClr val="tx1"/>
                  </a:solidFill>
                </a:rPr>
                <a:t>DIÁLOGO</a:t>
              </a:r>
              <a:endParaRPr lang="pt-BR" sz="2000" b="1">
                <a:solidFill>
                  <a:schemeClr val="tx1"/>
                </a:solidFill>
                <a:latin typeface="TheSansCorrespondence" charset="0"/>
              </a:endParaRPr>
            </a:p>
          </p:txBody>
        </p:sp>
      </p:grp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7400" y="2362200"/>
            <a:ext cx="5087938" cy="461168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61138" y="2519363"/>
            <a:ext cx="3519487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52894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Checklist</a:t>
            </a:r>
            <a:r>
              <a:rPr lang="pt-BR" dirty="0" smtClean="0"/>
              <a:t> de </a:t>
            </a:r>
            <a:r>
              <a:rPr lang="pt-BR" dirty="0" err="1" smtClean="0"/>
              <a:t>AdWords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Estudo de palavras chave</a:t>
            </a:r>
          </a:p>
          <a:p>
            <a:r>
              <a:rPr lang="pt-BR" dirty="0" smtClean="0"/>
              <a:t>Análise da concorrência</a:t>
            </a:r>
          </a:p>
          <a:p>
            <a:r>
              <a:rPr lang="pt-BR" dirty="0" err="1" smtClean="0"/>
              <a:t>Landing</a:t>
            </a:r>
            <a:r>
              <a:rPr lang="pt-BR" dirty="0" smtClean="0"/>
              <a:t> </a:t>
            </a:r>
            <a:r>
              <a:rPr lang="pt-BR" dirty="0" err="1" smtClean="0"/>
              <a:t>Pages</a:t>
            </a:r>
            <a:endParaRPr lang="pt-BR" dirty="0" smtClean="0"/>
          </a:p>
          <a:p>
            <a:r>
              <a:rPr lang="pt-BR" dirty="0" smtClean="0"/>
              <a:t>Montou campanhas</a:t>
            </a:r>
          </a:p>
          <a:p>
            <a:r>
              <a:rPr lang="pt-BR" dirty="0" smtClean="0"/>
              <a:t>Segmentação</a:t>
            </a:r>
          </a:p>
          <a:p>
            <a:r>
              <a:rPr lang="pt-BR" dirty="0" smtClean="0"/>
              <a:t>Métricas</a:t>
            </a:r>
          </a:p>
          <a:p>
            <a:r>
              <a:rPr lang="pt-BR" dirty="0" smtClean="0"/>
              <a:t>Vincular </a:t>
            </a:r>
            <a:r>
              <a:rPr lang="pt-BR" dirty="0" err="1" smtClean="0"/>
              <a:t>Analytics</a:t>
            </a:r>
            <a:r>
              <a:rPr lang="pt-BR" dirty="0" smtClean="0"/>
              <a:t> ao </a:t>
            </a:r>
            <a:r>
              <a:rPr lang="pt-BR" dirty="0" err="1" smtClean="0"/>
              <a:t>AdWords</a:t>
            </a:r>
            <a:endParaRPr lang="pt-BR" dirty="0" smtClean="0"/>
          </a:p>
          <a:p>
            <a:r>
              <a:rPr lang="pt-BR" dirty="0" smtClean="0"/>
              <a:t>ROI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868386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"/>
          <p:cNvSpPr>
            <a:spLocks noChangeArrowheads="1"/>
          </p:cNvSpPr>
          <p:nvPr/>
        </p:nvSpPr>
        <p:spPr bwMode="auto">
          <a:xfrm>
            <a:off x="2039938" y="2208213"/>
            <a:ext cx="6429375" cy="17859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234000" tIns="46800" rIns="90000" bIns="46800" anchor="ctr"/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en-GB" sz="5400" b="1" dirty="0">
                <a:solidFill>
                  <a:srgbClr val="3366FF"/>
                </a:solidFill>
              </a:rPr>
              <a:t>Obrigado!</a:t>
            </a:r>
            <a:endParaRPr lang="en-GB" sz="4400" b="1" dirty="0">
              <a:solidFill>
                <a:srgbClr val="000000"/>
              </a:solidFill>
            </a:endParaRPr>
          </a:p>
          <a:p>
            <a:pPr algn="ctr" hangingPunct="0">
              <a:lnSpc>
                <a:spcPct val="93000"/>
              </a:lnSpc>
              <a:spcBef>
                <a:spcPts val="450"/>
              </a:spcBef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endParaRPr lang="en-GB" dirty="0">
              <a:solidFill>
                <a:srgbClr val="FF0000"/>
              </a:solidFill>
            </a:endParaRPr>
          </a:p>
          <a:p>
            <a:pPr algn="ctr" hangingPunct="0">
              <a:lnSpc>
                <a:spcPct val="93000"/>
              </a:lnSpc>
              <a:spcBef>
                <a:spcPts val="450"/>
              </a:spcBef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en-GB" sz="2800" b="1" dirty="0" smtClean="0">
                <a:solidFill>
                  <a:srgbClr val="FF0000"/>
                </a:solidFill>
              </a:rPr>
              <a:t>cursos.konfide.com.br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2325688" y="779463"/>
            <a:ext cx="7342187" cy="16398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algn="ctr" hangingPunct="0">
              <a:lnSpc>
                <a:spcPct val="104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400">
                <a:solidFill>
                  <a:srgbClr val="000000"/>
                </a:solidFill>
                <a:latin typeface="Trebuchet MS" pitchFamily="34" charset="0"/>
              </a:rPr>
              <a:t>O futuro das organizações - e nações - dependerá cada vez mais de sua capacidade de aprender coletivamente.  </a:t>
            </a:r>
            <a:r>
              <a:rPr lang="en-GB">
                <a:solidFill>
                  <a:srgbClr val="000000"/>
                </a:solidFill>
                <a:latin typeface="Trebuchet MS" pitchFamily="34" charset="0"/>
              </a:rPr>
              <a:t>Peter Senge</a:t>
            </a:r>
          </a:p>
        </p:txBody>
      </p:sp>
      <p:pic>
        <p:nvPicPr>
          <p:cNvPr id="75780" name="Imagem 3" descr="logo-grande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2625" y="650875"/>
            <a:ext cx="185737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CaixaDeTexto 1"/>
          <p:cNvSpPr txBox="1"/>
          <p:nvPr/>
        </p:nvSpPr>
        <p:spPr>
          <a:xfrm>
            <a:off x="935855" y="4643932"/>
            <a:ext cx="43187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@</a:t>
            </a:r>
            <a:r>
              <a:rPr lang="en-US" b="1" dirty="0" err="1" smtClean="0"/>
              <a:t>dkadry</a:t>
            </a:r>
            <a:endParaRPr lang="en-US" b="1" dirty="0" smtClean="0"/>
          </a:p>
          <a:p>
            <a:r>
              <a:rPr lang="pt-BR" b="1" dirty="0" smtClean="0"/>
              <a:t>facebook.com/</a:t>
            </a:r>
            <a:r>
              <a:rPr lang="pt-BR" b="1" dirty="0" err="1" smtClean="0"/>
              <a:t>dkadry</a:t>
            </a:r>
            <a:endParaRPr lang="pt-BR" b="1" dirty="0" smtClean="0"/>
          </a:p>
          <a:p>
            <a:r>
              <a:rPr lang="en-US" b="1" dirty="0" smtClean="0"/>
              <a:t>diego@konfide.com.br</a:t>
            </a:r>
          </a:p>
          <a:p>
            <a:endParaRPr lang="en-US" b="1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"/>
          <p:cNvSpPr>
            <a:spLocks noChangeArrowheads="1"/>
          </p:cNvSpPr>
          <p:nvPr/>
        </p:nvSpPr>
        <p:spPr bwMode="auto">
          <a:xfrm>
            <a:off x="1223888" y="6228109"/>
            <a:ext cx="7653511" cy="85211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234000" tIns="46800" rIns="90000" bIns="46800" anchor="ctr"/>
          <a:lstStyle/>
          <a:p>
            <a:pPr algn="ctr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en-GB" sz="3600" b="1" dirty="0" smtClean="0">
                <a:solidFill>
                  <a:srgbClr val="3366FF"/>
                </a:solidFill>
              </a:rPr>
              <a:t>cursos.konfide.com.br</a:t>
            </a:r>
            <a:endParaRPr lang="en-GB" sz="1100" b="1" dirty="0">
              <a:solidFill>
                <a:srgbClr val="FF0000"/>
              </a:solidFill>
            </a:endParaRPr>
          </a:p>
        </p:txBody>
      </p:sp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1151880" y="683493"/>
            <a:ext cx="7342187" cy="1511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algn="ctr" hangingPunct="0">
              <a:lnSpc>
                <a:spcPct val="104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400" dirty="0">
                <a:solidFill>
                  <a:srgbClr val="000000"/>
                </a:solidFill>
                <a:latin typeface="Trebuchet MS" pitchFamily="34" charset="0"/>
              </a:rPr>
              <a:t>O </a:t>
            </a:r>
            <a:r>
              <a:rPr lang="en-GB" sz="2400" dirty="0" err="1">
                <a:solidFill>
                  <a:srgbClr val="000000"/>
                </a:solidFill>
                <a:latin typeface="Trebuchet MS" pitchFamily="34" charset="0"/>
              </a:rPr>
              <a:t>futuro</a:t>
            </a:r>
            <a:r>
              <a:rPr lang="en-GB" sz="2400" dirty="0">
                <a:solidFill>
                  <a:srgbClr val="000000"/>
                </a:solidFill>
                <a:latin typeface="Trebuchet MS" pitchFamily="34" charset="0"/>
              </a:rPr>
              <a:t> das </a:t>
            </a:r>
            <a:r>
              <a:rPr lang="en-GB" sz="2400" dirty="0" err="1">
                <a:solidFill>
                  <a:srgbClr val="000000"/>
                </a:solidFill>
                <a:latin typeface="Trebuchet MS" pitchFamily="34" charset="0"/>
              </a:rPr>
              <a:t>organizações</a:t>
            </a:r>
            <a:r>
              <a:rPr lang="en-GB" sz="2400" dirty="0">
                <a:solidFill>
                  <a:srgbClr val="000000"/>
                </a:solidFill>
                <a:latin typeface="Trebuchet MS" pitchFamily="34" charset="0"/>
              </a:rPr>
              <a:t> - e </a:t>
            </a:r>
            <a:r>
              <a:rPr lang="en-GB" sz="2400" dirty="0" err="1">
                <a:solidFill>
                  <a:srgbClr val="000000"/>
                </a:solidFill>
                <a:latin typeface="Trebuchet MS" pitchFamily="34" charset="0"/>
              </a:rPr>
              <a:t>nações</a:t>
            </a:r>
            <a:r>
              <a:rPr lang="en-GB" sz="2400" dirty="0">
                <a:solidFill>
                  <a:srgbClr val="000000"/>
                </a:solidFill>
                <a:latin typeface="Trebuchet MS" pitchFamily="34" charset="0"/>
              </a:rPr>
              <a:t> - </a:t>
            </a:r>
            <a:r>
              <a:rPr lang="en-GB" sz="2400" dirty="0" err="1">
                <a:solidFill>
                  <a:srgbClr val="000000"/>
                </a:solidFill>
                <a:latin typeface="Trebuchet MS" pitchFamily="34" charset="0"/>
              </a:rPr>
              <a:t>dependerá</a:t>
            </a:r>
            <a:r>
              <a:rPr lang="en-GB" sz="240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Trebuchet MS" pitchFamily="34" charset="0"/>
              </a:rPr>
              <a:t>cada</a:t>
            </a:r>
            <a:r>
              <a:rPr lang="en-GB" sz="240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Trebuchet MS" pitchFamily="34" charset="0"/>
              </a:rPr>
              <a:t>vez</a:t>
            </a:r>
            <a:r>
              <a:rPr lang="en-GB" sz="240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Trebuchet MS" pitchFamily="34" charset="0"/>
              </a:rPr>
              <a:t>mais</a:t>
            </a:r>
            <a:r>
              <a:rPr lang="en-GB" sz="2400" dirty="0">
                <a:solidFill>
                  <a:srgbClr val="000000"/>
                </a:solidFill>
                <a:latin typeface="Trebuchet MS" pitchFamily="34" charset="0"/>
              </a:rPr>
              <a:t> de </a:t>
            </a:r>
            <a:r>
              <a:rPr lang="en-GB" sz="2400" dirty="0" err="1">
                <a:solidFill>
                  <a:srgbClr val="000000"/>
                </a:solidFill>
                <a:latin typeface="Trebuchet MS" pitchFamily="34" charset="0"/>
              </a:rPr>
              <a:t>sua</a:t>
            </a:r>
            <a:r>
              <a:rPr lang="en-GB" sz="240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Trebuchet MS" pitchFamily="34" charset="0"/>
              </a:rPr>
              <a:t>capacidade</a:t>
            </a:r>
            <a:r>
              <a:rPr lang="en-GB" sz="2400" dirty="0">
                <a:solidFill>
                  <a:srgbClr val="000000"/>
                </a:solidFill>
                <a:latin typeface="Trebuchet MS" pitchFamily="34" charset="0"/>
              </a:rPr>
              <a:t> de </a:t>
            </a:r>
            <a:r>
              <a:rPr lang="en-GB" sz="2400" dirty="0" err="1">
                <a:solidFill>
                  <a:srgbClr val="000000"/>
                </a:solidFill>
                <a:latin typeface="Trebuchet MS" pitchFamily="34" charset="0"/>
              </a:rPr>
              <a:t>aprender</a:t>
            </a:r>
            <a:r>
              <a:rPr lang="en-GB" sz="240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Trebuchet MS" pitchFamily="34" charset="0"/>
              </a:rPr>
              <a:t>coletivamente</a:t>
            </a:r>
            <a:r>
              <a:rPr lang="en-GB" sz="2400" dirty="0">
                <a:solidFill>
                  <a:srgbClr val="000000"/>
                </a:solidFill>
                <a:latin typeface="Trebuchet MS" pitchFamily="34" charset="0"/>
              </a:rPr>
              <a:t>.  </a:t>
            </a:r>
            <a:r>
              <a:rPr lang="en-GB" dirty="0">
                <a:solidFill>
                  <a:srgbClr val="000000"/>
                </a:solidFill>
                <a:latin typeface="Trebuchet MS" pitchFamily="34" charset="0"/>
              </a:rPr>
              <a:t>Peter </a:t>
            </a:r>
            <a:r>
              <a:rPr lang="en-GB" dirty="0" err="1">
                <a:solidFill>
                  <a:srgbClr val="000000"/>
                </a:solidFill>
                <a:latin typeface="Trebuchet MS" pitchFamily="34" charset="0"/>
              </a:rPr>
              <a:t>Senge</a:t>
            </a:r>
            <a:endParaRPr lang="en-GB" dirty="0">
              <a:solidFill>
                <a:srgbClr val="000000"/>
              </a:solidFill>
              <a:latin typeface="Trebuchet MS" pitchFamily="34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67904" y="3275781"/>
            <a:ext cx="6986587" cy="252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elo de Apresentação da Konfide">
  <a:themeElements>
    <a:clrScheme name="Personalizada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3333CC"/>
      </a:folHlink>
    </a:clrScheme>
    <a:fontScheme name="Tema do Office">
      <a:majorFont>
        <a:latin typeface="Arial"/>
        <a:ea typeface="MS Gothic"/>
        <a:cs typeface=""/>
      </a:majorFont>
      <a:minorFont>
        <a:latin typeface="Arial"/>
        <a:ea typeface="MS Gothic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45000"/>
          <a:buFont typeface="Wingdings" charset="2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  <a:ea typeface="MS Gothic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45000"/>
          <a:buFont typeface="Wingdings" charset="2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  <a:ea typeface="MS Gothic" charset="-128"/>
          </a:defRPr>
        </a:defPPr>
      </a:lstStyle>
    </a:lnDef>
  </a:objectDefaults>
  <a:extraClrSchemeLst>
    <a:extraClrScheme>
      <a:clrScheme name="Tema do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o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Modelo de Apresentação da Konfide</Template>
  <TotalTime>505</TotalTime>
  <Words>1450</Words>
  <Application>Microsoft Office PowerPoint</Application>
  <PresentationFormat>Personalizar</PresentationFormat>
  <Paragraphs>417</Paragraphs>
  <Slides>92</Slides>
  <Notes>57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92</vt:i4>
      </vt:variant>
    </vt:vector>
  </HeadingPairs>
  <TitlesOfParts>
    <vt:vector size="93" baseType="lpstr">
      <vt:lpstr>Modelo de Apresentação da Konfide</vt:lpstr>
      <vt:lpstr>Curso de AdWords</vt:lpstr>
      <vt:lpstr>Diego Kadry</vt:lpstr>
      <vt:lpstr>Atenção! A internet mudou e continua mudando todo dia</vt:lpstr>
      <vt:lpstr>Fluxo de conteúdo 1.0</vt:lpstr>
      <vt:lpstr>Conteúdo 2.0 – Buscas e Redes Sociais</vt:lpstr>
      <vt:lpstr>O Google sabe os desejos das pessoas</vt:lpstr>
      <vt:lpstr>O que é SEM?</vt:lpstr>
      <vt:lpstr>O que são Links Patrocinados?</vt:lpstr>
      <vt:lpstr>O que é Rede de Display?</vt:lpstr>
      <vt:lpstr>Display em Mapas</vt:lpstr>
      <vt:lpstr>Display em imagens</vt:lpstr>
      <vt:lpstr>Índice de qualidade</vt:lpstr>
      <vt:lpstr>Como o Google classifica os anúncios?</vt:lpstr>
      <vt:lpstr>Campanhas, anúncios e palavras-chave</vt:lpstr>
      <vt:lpstr>Campanhas, anúncios e palavras-chave</vt:lpstr>
      <vt:lpstr>Objetivos da Campanha</vt:lpstr>
      <vt:lpstr>Etapas de uma campanha de AdWords</vt:lpstr>
      <vt:lpstr>Etapa 1 – Seleção de Palavras-chave</vt:lpstr>
      <vt:lpstr>Ferramenta de Palavras-Chave</vt:lpstr>
      <vt:lpstr>Ferramenta de Palavras-Chave</vt:lpstr>
      <vt:lpstr>Ferramenta de Palavras-Chave  Planilha do Excel</vt:lpstr>
      <vt:lpstr>Ferramenta de Palavras-Chave  Planilha do Excel</vt:lpstr>
      <vt:lpstr>Sugestões de Busca</vt:lpstr>
      <vt:lpstr>Resultados de Busca</vt:lpstr>
      <vt:lpstr>Google Insights for Search </vt:lpstr>
      <vt:lpstr>Tendências de busca – Insights Search</vt:lpstr>
      <vt:lpstr>Outras ferramentas</vt:lpstr>
      <vt:lpstr>Etapa 2 – Análise da Concorrência</vt:lpstr>
      <vt:lpstr>Checklist de Análise da Concorrência</vt:lpstr>
      <vt:lpstr>Etapa 3 – Análise do Site</vt:lpstr>
      <vt:lpstr>Checklist do site</vt:lpstr>
      <vt:lpstr>Etapa 4 – Definindo as Campanhas</vt:lpstr>
      <vt:lpstr>Mercado de massa x mercado de Nicho</vt:lpstr>
      <vt:lpstr>Ciclo de Vida do Produto / Mercado</vt:lpstr>
      <vt:lpstr>Glossário (ver mais)</vt:lpstr>
      <vt:lpstr>Criando uma campanha</vt:lpstr>
      <vt:lpstr>Campanha  Configurações</vt:lpstr>
      <vt:lpstr>Campanha  Configurações</vt:lpstr>
      <vt:lpstr>Campanha  Locais</vt:lpstr>
      <vt:lpstr>Campanha  Idiomas</vt:lpstr>
      <vt:lpstr>Campanha  Redes</vt:lpstr>
      <vt:lpstr>Campanha  Dispositivos</vt:lpstr>
      <vt:lpstr>Campanha  Lances e orçamento</vt:lpstr>
      <vt:lpstr>Campanha  Extensões de anúncio</vt:lpstr>
      <vt:lpstr>Campanha  Extensões de anúncio  Local</vt:lpstr>
      <vt:lpstr>Campanha  Configurações avançadas</vt:lpstr>
      <vt:lpstr>Visão Geral das Campanhas</vt:lpstr>
      <vt:lpstr>Anúncios</vt:lpstr>
      <vt:lpstr>Palavras-chave</vt:lpstr>
      <vt:lpstr>Anúncios Gráficos</vt:lpstr>
      <vt:lpstr>Anúncios Gráficos  Gerador </vt:lpstr>
      <vt:lpstr>Anúncios Gráficos  Opções de anúncios </vt:lpstr>
      <vt:lpstr>Anúncios Gráficos  Configuração </vt:lpstr>
      <vt:lpstr>Anúncios Gráficos  Customizado </vt:lpstr>
      <vt:lpstr>Anúncios Gráficos  Formatos </vt:lpstr>
      <vt:lpstr>Anúncios Gráficos  Dados demográficos </vt:lpstr>
      <vt:lpstr>Ferramenta para anúncio</vt:lpstr>
      <vt:lpstr>Anúncios para vídeos</vt:lpstr>
      <vt:lpstr>Anúncios em vídeos</vt:lpstr>
      <vt:lpstr>Anúncios em vídeos</vt:lpstr>
      <vt:lpstr>Anúncios em vídeos</vt:lpstr>
      <vt:lpstr>Anúncios em vídeos</vt:lpstr>
      <vt:lpstr>Anúncios em imagens</vt:lpstr>
      <vt:lpstr>Anúncios em imagens</vt:lpstr>
      <vt:lpstr>Anúncios em imagens</vt:lpstr>
      <vt:lpstr>Etapa 5 – Métricas de Resultados</vt:lpstr>
      <vt:lpstr>Definindo métricas de resultados</vt:lpstr>
      <vt:lpstr>Metas no Google Analytics</vt:lpstr>
      <vt:lpstr>Metas no Google Analytics</vt:lpstr>
      <vt:lpstr>Metas no Google Analytics</vt:lpstr>
      <vt:lpstr>Metas no Google Analytics</vt:lpstr>
      <vt:lpstr>Vincular AdWords ao Analytics</vt:lpstr>
      <vt:lpstr>Vincular AdWords ao Analytics</vt:lpstr>
      <vt:lpstr>Vincular AdWords ao Analytics</vt:lpstr>
      <vt:lpstr>Vincular AdWords ao Analytics</vt:lpstr>
      <vt:lpstr>Vincular AdWords ao Analytics</vt:lpstr>
      <vt:lpstr>Vincular AdWords ao Analytics</vt:lpstr>
      <vt:lpstr>Vincular AdWords ao Analytics</vt:lpstr>
      <vt:lpstr>Relatórios</vt:lpstr>
      <vt:lpstr>Dimensões - Dia</vt:lpstr>
      <vt:lpstr>Dimensões – Geográfico</vt:lpstr>
      <vt:lpstr>Dimensões – Trimestre</vt:lpstr>
      <vt:lpstr>Dimensões – Rede de Display (Filtro cliques &gt;= 50)</vt:lpstr>
      <vt:lpstr>Relatórios no Excel</vt:lpstr>
      <vt:lpstr>Relatórios no Excel – Visão geral</vt:lpstr>
      <vt:lpstr>Relatórios no Excel – Palavras-chave</vt:lpstr>
      <vt:lpstr>Relatórios no Excel – Índice de qualidade</vt:lpstr>
      <vt:lpstr>Relatórios no Excel – Índice de qualidade</vt:lpstr>
      <vt:lpstr>Links Patrocinados , SEO e Redes Sociais</vt:lpstr>
      <vt:lpstr>Checklist de AdWords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de AdWords</dc:title>
  <dc:creator>Marcio</dc:creator>
  <cp:lastModifiedBy>Konfide</cp:lastModifiedBy>
  <cp:revision>33</cp:revision>
  <dcterms:created xsi:type="dcterms:W3CDTF">2010-12-18T00:29:31Z</dcterms:created>
  <dcterms:modified xsi:type="dcterms:W3CDTF">2012-02-25T11:28:16Z</dcterms:modified>
</cp:coreProperties>
</file>