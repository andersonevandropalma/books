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70" r:id="rId2"/>
  </p:sldMasterIdLst>
  <p:notesMasterIdLst>
    <p:notesMasterId r:id="rId18"/>
  </p:notesMasterIdLst>
  <p:handoutMasterIdLst>
    <p:handoutMasterId r:id="rId19"/>
  </p:handoutMasterIdLst>
  <p:sldIdLst>
    <p:sldId id="276" r:id="rId3"/>
    <p:sldId id="408" r:id="rId4"/>
    <p:sldId id="414" r:id="rId5"/>
    <p:sldId id="411" r:id="rId6"/>
    <p:sldId id="412" r:id="rId7"/>
    <p:sldId id="438" r:id="rId8"/>
    <p:sldId id="439" r:id="rId9"/>
    <p:sldId id="440" r:id="rId10"/>
    <p:sldId id="441" r:id="rId11"/>
    <p:sldId id="442" r:id="rId12"/>
    <p:sldId id="407" r:id="rId13"/>
    <p:sldId id="444" r:id="rId14"/>
    <p:sldId id="445" r:id="rId15"/>
    <p:sldId id="446" r:id="rId16"/>
    <p:sldId id="368" r:id="rId17"/>
  </p:sldIdLst>
  <p:sldSz cx="9144000" cy="6858000" type="screen4x3"/>
  <p:notesSz cx="6858000" cy="9144000"/>
  <p:defaultTextStyle>
    <a:defPPr>
      <a:defRPr lang="pt-BR"/>
    </a:defPPr>
    <a:lvl1pPr marL="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26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3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40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44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52" algn="l" defTabSz="9142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uno Lino" initials="B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74B9"/>
    <a:srgbClr val="FBAC3E"/>
    <a:srgbClr val="89C43F"/>
    <a:srgbClr val="0A9644"/>
    <a:srgbClr val="5C636C"/>
    <a:srgbClr val="A7A9AC"/>
    <a:srgbClr val="D77D2F"/>
    <a:srgbClr val="1DA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44" autoAdjust="0"/>
    <p:restoredTop sz="94660"/>
  </p:normalViewPr>
  <p:slideViewPr>
    <p:cSldViewPr>
      <p:cViewPr>
        <p:scale>
          <a:sx n="90" d="100"/>
          <a:sy n="90" d="100"/>
        </p:scale>
        <p:origin x="-1086" y="-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61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E304-CB66-4273-88CA-3F2D9AA1F660}" type="datetimeFigureOut">
              <a:rPr lang="pt-BR" smtClean="0"/>
              <a:pPr/>
              <a:t>13/03/2012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A205E-0AB3-4775-9603-CCB86C95EB4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1948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44615-C7FA-4828-B7C9-C17149ED3C71}" type="datetimeFigureOut">
              <a:rPr lang="pt-BR" smtClean="0"/>
              <a:pPr/>
              <a:t>13/03/2012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2BB52-387B-4F1F-896E-A0A54E1898D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01616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12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0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26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32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40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44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52" algn="l" defTabSz="9142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Escur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638654"/>
            <a:ext cx="9144000" cy="1608133"/>
          </a:xfrm>
          <a:prstGeom prst="rect">
            <a:avLst/>
          </a:prstGeom>
          <a:solidFill>
            <a:schemeClr val="tx1">
              <a:lumMod val="75000"/>
              <a:lumOff val="25000"/>
              <a:alpha val="25000"/>
            </a:schemeClr>
          </a:solidFill>
        </p:spPr>
        <p:txBody>
          <a:bodyPr>
            <a:normAutofit/>
          </a:bodyPr>
          <a:lstStyle>
            <a:lvl1pPr algn="ct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5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7" name="Picture 3" descr="C:\Users\bruno.lino\Desktop\Logos\DP6_escuro_Moto_pqn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66"/>
          <a:stretch/>
        </p:blipFill>
        <p:spPr bwMode="auto">
          <a:xfrm>
            <a:off x="5918519" y="5751925"/>
            <a:ext cx="3117977" cy="9894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marcus.paladino\Desktop\Logos Clientes Novos\capa_ppt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79512" y="116632"/>
            <a:ext cx="4536504" cy="1872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00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Bran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638654"/>
            <a:ext cx="9144000" cy="1608133"/>
          </a:xfrm>
          <a:prstGeom prst="rect">
            <a:avLst/>
          </a:prstGeom>
          <a:solidFill>
            <a:schemeClr val="tx1">
              <a:lumMod val="75000"/>
              <a:lumOff val="25000"/>
              <a:alpha val="75000"/>
            </a:schemeClr>
          </a:solidFill>
        </p:spPr>
        <p:txBody>
          <a:bodyPr>
            <a:normAutofit/>
          </a:bodyPr>
          <a:lstStyle>
            <a:lvl1pPr algn="ct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5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27" y="5730060"/>
            <a:ext cx="3326877" cy="108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00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21" tIns="45711" rIns="91421" bIns="45711">
            <a:normAutofit/>
          </a:bodyPr>
          <a:lstStyle>
            <a:lvl1pPr marL="342830" indent="-342830">
              <a:buFontTx/>
              <a:buBlip>
                <a:blip r:embed="rId2"/>
              </a:buBlip>
              <a:defRPr sz="2400"/>
            </a:lvl1pPr>
            <a:lvl2pPr marL="742798" indent="-285692">
              <a:buFontTx/>
              <a:buBlip>
                <a:blip r:embed="rId2"/>
              </a:buBlip>
              <a:defRPr sz="2000"/>
            </a:lvl2pPr>
            <a:lvl3pPr marL="1142765" indent="-228552">
              <a:buFontTx/>
              <a:buBlip>
                <a:blip r:embed="rId2"/>
              </a:buBlip>
              <a:defRPr sz="1800"/>
            </a:lvl3pPr>
            <a:lvl4pPr marL="1599872" indent="-228552">
              <a:buFontTx/>
              <a:buBlip>
                <a:blip r:embed="rId2"/>
              </a:buBlip>
              <a:defRPr sz="1600"/>
            </a:lvl4pPr>
            <a:lvl5pPr marL="2056980" indent="-228552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212850" y="182567"/>
            <a:ext cx="7756525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AGENDA</a:t>
            </a:r>
          </a:p>
        </p:txBody>
      </p:sp>
      <p:pic>
        <p:nvPicPr>
          <p:cNvPr id="11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to 11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55" t="36022" r="7563" b="14016"/>
          <a:stretch/>
        </p:blipFill>
        <p:spPr bwMode="auto">
          <a:xfrm>
            <a:off x="107504" y="233352"/>
            <a:ext cx="1050877" cy="79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04830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165224" y="1262199"/>
            <a:ext cx="8799264" cy="438610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lnSpc>
                <a:spcPct val="100000"/>
              </a:lnSpc>
              <a:buFont typeface="Arial" pitchFamily="34" charset="0"/>
              <a:buNone/>
              <a:defRPr sz="1600" baseline="0"/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o nome do gráfico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7"/>
            <a:ext cx="7435451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sp>
        <p:nvSpPr>
          <p:cNvPr id="9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Users\bruno.lino\Desktop\Logos\Tira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ço Reservado para Texto 14"/>
          <p:cNvSpPr>
            <a:spLocks noGrp="1"/>
          </p:cNvSpPr>
          <p:nvPr>
            <p:ph type="body" sz="quarter" idx="13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val="2510625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7"/>
            <a:ext cx="7435451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3" name="Conector reto 12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21" tIns="45711" rIns="91421" bIns="45711">
            <a:normAutofit/>
          </a:bodyPr>
          <a:lstStyle>
            <a:lvl1pPr marL="342830" indent="-342830">
              <a:buFontTx/>
              <a:buBlip>
                <a:blip r:embed="rId2"/>
              </a:buBlip>
              <a:defRPr sz="1800"/>
            </a:lvl1pPr>
            <a:lvl2pPr marL="742798" indent="-285692">
              <a:buFontTx/>
              <a:buBlip>
                <a:blip r:embed="rId2"/>
              </a:buBlip>
              <a:defRPr sz="1600"/>
            </a:lvl2pPr>
            <a:lvl3pPr marL="1142765" indent="-228552">
              <a:buFontTx/>
              <a:buBlip>
                <a:blip r:embed="rId2"/>
              </a:buBlip>
              <a:defRPr sz="1400"/>
            </a:lvl3pPr>
            <a:lvl4pPr marL="1599872" indent="-228552">
              <a:buFontTx/>
              <a:buBlip>
                <a:blip r:embed="rId2"/>
              </a:buBlip>
              <a:defRPr sz="1200"/>
            </a:lvl4pPr>
            <a:lvl5pPr marL="2056980" indent="-228552"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pic>
        <p:nvPicPr>
          <p:cNvPr id="9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val="540670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+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7"/>
            <a:ext cx="7435451" cy="870173"/>
          </a:xfrm>
          <a:prstGeom prst="rect">
            <a:avLst/>
          </a:prstGeom>
        </p:spPr>
        <p:txBody>
          <a:bodyPr lIns="91421" tIns="45711" rIns="91421" bIns="45711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Users\bruno.lino\Desktop\Logos\Tira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3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val="3224389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 userDrawn="1"/>
        </p:nvCxnSpPr>
        <p:spPr>
          <a:xfrm>
            <a:off x="578830" y="6485235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:\Users\bruno.lino\Desktop\Logos\Tira.pn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4" y="0"/>
            <a:ext cx="9267034" cy="5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21" tIns="45711" rIns="91421" bIns="45711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fld id="{DA85CBCF-79E5-48DE-A102-6E8347A1A2B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71" y="6653386"/>
            <a:ext cx="2548833" cy="204615"/>
          </a:xfrm>
          <a:prstGeom prst="rect">
            <a:avLst/>
          </a:prstGeom>
        </p:spPr>
        <p:txBody>
          <a:bodyPr lIns="91421" tIns="45711" rIns="91421" bIns="45711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</p:spTree>
    <p:extLst>
      <p:ext uri="{BB962C8B-B14F-4D97-AF65-F5344CB8AC3E}">
        <p14:creationId xmlns:p14="http://schemas.microsoft.com/office/powerpoint/2010/main" val="11877851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21" tIns="45711" rIns="91421" bIns="45711" rtlCol="0" anchor="ctr"/>
          <a:lstStyle/>
          <a:p>
            <a:pPr algn="ctr"/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2807498" y="3814741"/>
            <a:ext cx="3529013" cy="1526519"/>
          </a:xfrm>
          <a:prstGeom prst="rect">
            <a:avLst/>
          </a:prstGeom>
        </p:spPr>
        <p:txBody>
          <a:bodyPr lIns="91421" tIns="45711" rIns="91421" bIns="45711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aseline="0">
                <a:solidFill>
                  <a:srgbClr val="A7A9AC"/>
                </a:solidFill>
              </a:defRPr>
            </a:lvl1pPr>
          </a:lstStyle>
          <a:p>
            <a:pPr lvl="0"/>
            <a:r>
              <a:rPr lang="pt-BR" dirty="0" smtClean="0"/>
              <a:t>Nome: </a:t>
            </a:r>
            <a:r>
              <a:rPr lang="pt-BR" dirty="0" err="1" smtClean="0"/>
              <a:t>Size</a:t>
            </a:r>
            <a:r>
              <a:rPr lang="pt-BR" dirty="0" smtClean="0"/>
              <a:t> 20                    E-mail: </a:t>
            </a:r>
            <a:r>
              <a:rPr lang="pt-BR" dirty="0" err="1" smtClean="0"/>
              <a:t>Size</a:t>
            </a:r>
            <a:r>
              <a:rPr lang="pt-BR" dirty="0" smtClean="0"/>
              <a:t> 14               Telefone Fixo: </a:t>
            </a:r>
            <a:r>
              <a:rPr lang="pt-BR" dirty="0" err="1" smtClean="0"/>
              <a:t>Size</a:t>
            </a:r>
            <a:r>
              <a:rPr lang="pt-BR" dirty="0" smtClean="0"/>
              <a:t> 14           Celular: </a:t>
            </a:r>
            <a:r>
              <a:rPr lang="pt-BR" dirty="0" err="1" smtClean="0"/>
              <a:t>Size</a:t>
            </a:r>
            <a:r>
              <a:rPr lang="pt-BR" dirty="0" smtClean="0"/>
              <a:t> 14</a:t>
            </a:r>
            <a:endParaRPr lang="pt-BR" dirty="0"/>
          </a:p>
        </p:txBody>
      </p:sp>
      <p:pic>
        <p:nvPicPr>
          <p:cNvPr id="6" name="Picture 3" descr="C:\Users\bruno.lino\Desktop\Logos\DP6_escuro_Moto_pq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86" y="1981555"/>
            <a:ext cx="4565030" cy="171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328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91" y="1302620"/>
            <a:ext cx="8608219" cy="5113362"/>
          </a:xfrm>
          <a:prstGeom prst="rect">
            <a:avLst/>
          </a:prstGeom>
        </p:spPr>
        <p:txBody>
          <a:bodyPr lIns="64277" tIns="32139" rIns="64277" bIns="3213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2"/>
            <a:ext cx="433090" cy="246682"/>
          </a:xfrm>
          <a:prstGeom prst="rect">
            <a:avLst/>
          </a:prstGeom>
          <a:ln/>
        </p:spPr>
        <p:txBody>
          <a:bodyPr lIns="64277" tIns="32139" rIns="64277" bIns="32139"/>
          <a:lstStyle>
            <a:lvl1pPr>
              <a:defRPr/>
            </a:lvl1pPr>
          </a:lstStyle>
          <a:p>
            <a:pPr>
              <a:defRPr/>
            </a:pPr>
            <a:fld id="{43F0B858-381F-4FFD-BD92-4AE5DD1BCF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9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4" y="6642573"/>
            <a:ext cx="352723" cy="245566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>
                <a:latin typeface="Trebuchet MS" pitchFamily="34" charset="0"/>
                <a:ea typeface="+mn-ea"/>
              </a:defRPr>
            </a:lvl1pPr>
          </a:lstStyle>
          <a:p>
            <a:pPr>
              <a:defRPr/>
            </a:pPr>
            <a:fld id="{76C7CA86-AF3B-402A-A545-C0209601B9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0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34656" y="6642367"/>
            <a:ext cx="2133600" cy="22873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23F77-FA02-4F58-A571-A00E9F5145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7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Cinz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420889"/>
            <a:ext cx="9144000" cy="1608133"/>
          </a:xfrm>
          <a:prstGeom prst="rect">
            <a:avLst/>
          </a:prstGeom>
          <a:noFill/>
        </p:spPr>
        <p:txBody>
          <a:bodyPr lIns="71993" tIns="71993" rIns="71993" bIns="71993">
            <a:normAutofit/>
          </a:bodyPr>
          <a:lstStyle>
            <a:lvl1pPr algn="ctr">
              <a:defRPr sz="32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23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24" name="Imagem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27" y="5730060"/>
            <a:ext cx="3326877" cy="1083317"/>
          </a:xfrm>
          <a:prstGeom prst="rect">
            <a:avLst/>
          </a:prstGeom>
          <a:effectLst>
            <a:innerShdw blurRad="63500" dist="12700" dir="13500000">
              <a:prstClr val="black">
                <a:alpha val="50000"/>
              </a:prstClr>
            </a:innerShdw>
          </a:effectLst>
        </p:spPr>
      </p:pic>
      <p:grpSp>
        <p:nvGrpSpPr>
          <p:cNvPr id="25" name="Grupo 24"/>
          <p:cNvGrpSpPr/>
          <p:nvPr userDrawn="1"/>
        </p:nvGrpSpPr>
        <p:grpSpPr>
          <a:xfrm>
            <a:off x="0" y="4029023"/>
            <a:ext cx="9144000" cy="45719"/>
            <a:chOff x="0" y="4319385"/>
            <a:chExt cx="9144000" cy="45719"/>
          </a:xfrm>
        </p:grpSpPr>
        <p:sp>
          <p:nvSpPr>
            <p:cNvPr id="26" name="Retângulo 25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7" name="Retângulo 26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8" name="Retângulo 27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  <p:sp>
        <p:nvSpPr>
          <p:cNvPr id="29" name="CaixaDeTexto 28"/>
          <p:cNvSpPr txBox="1"/>
          <p:nvPr userDrawn="1"/>
        </p:nvSpPr>
        <p:spPr>
          <a:xfrm>
            <a:off x="250963" y="6604085"/>
            <a:ext cx="3232363" cy="265451"/>
          </a:xfrm>
          <a:prstGeom prst="rect">
            <a:avLst/>
          </a:prstGeom>
          <a:noFill/>
        </p:spPr>
        <p:txBody>
          <a:bodyPr wrap="none" lIns="91430" tIns="45716" rIns="91430" bIns="45716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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2011</a:t>
            </a: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 </a:t>
            </a:r>
            <a:r>
              <a:rPr lang="pt-BR" sz="1100" b="1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dp6 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- </a:t>
            </a:r>
            <a:r>
              <a:rPr lang="pt-BR" sz="1100" i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todos os direitos reservados</a:t>
            </a:r>
            <a:endParaRPr lang="pt-BR" sz="1100" dirty="0">
              <a:solidFill>
                <a:srgbClr val="000000">
                  <a:lumMod val="50000"/>
                  <a:lumOff val="50000"/>
                </a:srgbClr>
              </a:solidFill>
              <a:latin typeface="Verdana" pitchFamily="34" charset="0"/>
              <a:cs typeface="Arial" pitchFamily="34" charset="0"/>
            </a:endParaRPr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597352"/>
            <a:ext cx="324328" cy="21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7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Bran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2420889"/>
            <a:ext cx="9144000" cy="16081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txBody>
          <a:bodyPr lIns="71993" tIns="71993" rIns="71993" bIns="71993">
            <a:normAutofit/>
          </a:bodyPr>
          <a:lstStyle>
            <a:lvl1pPr algn="ctr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Principal: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36</a:t>
            </a:r>
            <a:b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</a:b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Secundário: </a:t>
            </a:r>
            <a:r>
              <a:rPr lang="pt-BR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Size</a:t>
            </a:r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 20</a:t>
            </a:r>
            <a:endParaRPr lang="pt-B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</a:endParaRPr>
          </a:p>
        </p:txBody>
      </p:sp>
      <p:sp>
        <p:nvSpPr>
          <p:cNvPr id="5" name="Espaço Reservado para Imagem 9"/>
          <p:cNvSpPr>
            <a:spLocks noGrp="1"/>
          </p:cNvSpPr>
          <p:nvPr>
            <p:ph type="pic" sz="quarter" idx="10" hasCustomPrompt="1"/>
          </p:nvPr>
        </p:nvSpPr>
        <p:spPr>
          <a:xfrm>
            <a:off x="323280" y="333376"/>
            <a:ext cx="2736552" cy="1799481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Adicione o Logo do Cliente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27" y="5730060"/>
            <a:ext cx="3326877" cy="1083317"/>
          </a:xfrm>
          <a:prstGeom prst="rect">
            <a:avLst/>
          </a:prstGeom>
          <a:effectLst>
            <a:innerShdw blurRad="63500" dist="12700" dir="13500000">
              <a:prstClr val="black">
                <a:alpha val="50000"/>
              </a:prstClr>
            </a:innerShdw>
          </a:effectLst>
        </p:spPr>
      </p:pic>
      <p:grpSp>
        <p:nvGrpSpPr>
          <p:cNvPr id="9" name="Grupo 8"/>
          <p:cNvGrpSpPr/>
          <p:nvPr userDrawn="1"/>
        </p:nvGrpSpPr>
        <p:grpSpPr>
          <a:xfrm>
            <a:off x="0" y="4029023"/>
            <a:ext cx="9144000" cy="45719"/>
            <a:chOff x="0" y="4319385"/>
            <a:chExt cx="9144000" cy="45719"/>
          </a:xfrm>
        </p:grpSpPr>
        <p:sp>
          <p:nvSpPr>
            <p:cNvPr id="4" name="Retângulo 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6" name="Retângulo 5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7" name="Retângulo 6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3679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51" y="257335"/>
            <a:ext cx="1042437" cy="867409"/>
          </a:xfrm>
          <a:prstGeom prst="rect">
            <a:avLst/>
          </a:prstGeom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 marL="342865" indent="-342865">
              <a:buFontTx/>
              <a:buBlip>
                <a:blip r:embed="rId3"/>
              </a:buBlip>
              <a:defRPr sz="2400"/>
            </a:lvl1pPr>
            <a:lvl2pPr marL="742874" indent="-285722">
              <a:buFontTx/>
              <a:buBlip>
                <a:blip r:embed="rId3"/>
              </a:buBlip>
              <a:defRPr sz="2000"/>
            </a:lvl2pPr>
            <a:lvl3pPr marL="1142883" indent="-228576">
              <a:buFontTx/>
              <a:buBlip>
                <a:blip r:embed="rId3"/>
              </a:buBlip>
              <a:defRPr sz="1800"/>
            </a:lvl3pPr>
            <a:lvl4pPr marL="1600036" indent="-228576">
              <a:buFontTx/>
              <a:buBlip>
                <a:blip r:embed="rId3"/>
              </a:buBlip>
              <a:defRPr sz="1600"/>
            </a:lvl4pPr>
            <a:lvl5pPr marL="2057190" indent="-228576">
              <a:buFontTx/>
              <a:buBlip>
                <a:blip r:embed="rId3"/>
              </a:buBlip>
              <a:defRPr sz="16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5"/>
            <a:ext cx="7756525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>
                <a:solidFill>
                  <a:srgbClr val="5C636C"/>
                </a:solidFill>
              </a:defRPr>
            </a:lvl1pPr>
          </a:lstStyle>
          <a:p>
            <a:pPr lvl="0"/>
            <a:endParaRPr lang="pt-BR" dirty="0" smtClean="0"/>
          </a:p>
        </p:txBody>
      </p:sp>
      <p:cxnSp>
        <p:nvCxnSpPr>
          <p:cNvPr id="12" name="Conector reto 11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tângulo 9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3" name="Retângulo 12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4" name="Retângulo 13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5286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165224" y="1262199"/>
            <a:ext cx="8799264" cy="438610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lnSpc>
                <a:spcPct val="100000"/>
              </a:lnSpc>
              <a:buFont typeface="Arial" pitchFamily="34" charset="0"/>
              <a:buNone/>
              <a:defRPr sz="1600" baseline="0"/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o nome do gráfico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5"/>
            <a:ext cx="7435451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sp>
        <p:nvSpPr>
          <p:cNvPr id="9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4"/>
          <p:cNvSpPr>
            <a:spLocks noGrp="1"/>
          </p:cNvSpPr>
          <p:nvPr>
            <p:ph type="body" sz="quarter" idx="13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tângulo 1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7" name="Retângulo 16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4010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5"/>
            <a:ext cx="7435451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3" name="Conector reto 12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179388" y="1268760"/>
            <a:ext cx="8785225" cy="5268565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 marL="342865" indent="-342865">
              <a:buFontTx/>
              <a:buBlip>
                <a:blip r:embed="rId2"/>
              </a:buBlip>
              <a:defRPr sz="1800"/>
            </a:lvl1pPr>
            <a:lvl2pPr marL="742874" indent="-285722">
              <a:buFontTx/>
              <a:buBlip>
                <a:blip r:embed="rId2"/>
              </a:buBlip>
              <a:defRPr sz="1600"/>
            </a:lvl2pPr>
            <a:lvl3pPr marL="1142883" indent="-228576">
              <a:buFontTx/>
              <a:buBlip>
                <a:blip r:embed="rId2"/>
              </a:buBlip>
              <a:defRPr sz="1400"/>
            </a:lvl3pPr>
            <a:lvl4pPr marL="1600036" indent="-228576">
              <a:buFontTx/>
              <a:buBlip>
                <a:blip r:embed="rId2"/>
              </a:buBlip>
              <a:defRPr sz="1200"/>
            </a:lvl4pPr>
            <a:lvl5pPr marL="2057190" indent="-228576"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4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tângulo 11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7" name="Retângulo 16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323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+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Imagem 19"/>
          <p:cNvSpPr>
            <a:spLocks noGrp="1"/>
          </p:cNvSpPr>
          <p:nvPr>
            <p:ph type="pic" sz="quarter" idx="12" hasCustomPrompt="1"/>
          </p:nvPr>
        </p:nvSpPr>
        <p:spPr>
          <a:xfrm>
            <a:off x="7702550" y="184149"/>
            <a:ext cx="1263650" cy="868587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pt-BR" dirty="0" smtClean="0"/>
              <a:t>Adicionar o Logo do Cliente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2" y="182565"/>
            <a:ext cx="7435451" cy="870173"/>
          </a:xfrm>
          <a:prstGeom prst="rect">
            <a:avLst/>
          </a:prstGeom>
        </p:spPr>
        <p:txBody>
          <a:bodyPr lIns="91430" tIns="45716" rIns="91430" bIns="45716" anchor="ctr">
            <a:normAutofit/>
          </a:bodyPr>
          <a:lstStyle>
            <a:lvl1pPr marL="0" indent="0" algn="just">
              <a:lnSpc>
                <a:spcPct val="100000"/>
              </a:lnSpc>
              <a:buNone/>
              <a:defRPr sz="1800"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aqui para editar o título do slide</a:t>
            </a:r>
          </a:p>
        </p:txBody>
      </p:sp>
      <p:cxnSp>
        <p:nvCxnSpPr>
          <p:cNvPr id="10" name="Conector reto 9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sp>
        <p:nvSpPr>
          <p:cNvPr id="13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tângulo 13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5" name="Retângulo 14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6" name="Retângulo 15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209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 userDrawn="1"/>
        </p:nvCxnSpPr>
        <p:spPr>
          <a:xfrm>
            <a:off x="578830" y="6592529"/>
            <a:ext cx="7986342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3505201" y="6629265"/>
            <a:ext cx="2133600" cy="228736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>
              <a:defRPr sz="1200">
                <a:solidFill>
                  <a:srgbClr val="5C636C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A85CBCF-79E5-48DE-A102-6E8347A1A2B6}" type="slidenum">
              <a:rPr lang="pt-BR" smtClean="0"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pt-BR">
              <a:latin typeface="Verdana" pitchFamily="34" charset="0"/>
              <a:cs typeface="Arial" pitchFamily="34" charset="0"/>
            </a:endParaRPr>
          </a:p>
        </p:txBody>
      </p:sp>
      <p:sp>
        <p:nvSpPr>
          <p:cNvPr id="8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6595169" y="6653386"/>
            <a:ext cx="2548833" cy="204615"/>
          </a:xfrm>
          <a:prstGeom prst="rect">
            <a:avLst/>
          </a:prstGeom>
        </p:spPr>
        <p:txBody>
          <a:bodyPr lIns="91430" tIns="45716" rIns="91430" bIns="45716" anchor="ctr">
            <a:noAutofit/>
          </a:bodyPr>
          <a:lstStyle>
            <a:lvl1pPr marL="0" indent="0" algn="r">
              <a:lnSpc>
                <a:spcPct val="100000"/>
              </a:lnSpc>
              <a:buFont typeface="Arial" pitchFamily="34" charset="0"/>
              <a:buNone/>
              <a:defRPr sz="1100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Font typeface="Arial" pitchFamily="34" charset="0"/>
              <a:buNone/>
              <a:defRPr/>
            </a:lvl2pPr>
            <a:lvl3pPr marL="0" indent="0" algn="ctr">
              <a:lnSpc>
                <a:spcPct val="100000"/>
              </a:lnSpc>
              <a:buFont typeface="Arial" pitchFamily="34" charset="0"/>
              <a:buNone/>
              <a:defRPr/>
            </a:lvl3pPr>
            <a:lvl4pPr marL="0" indent="0" algn="ctr">
              <a:lnSpc>
                <a:spcPct val="100000"/>
              </a:lnSpc>
              <a:buFont typeface="Arial" pitchFamily="34" charset="0"/>
              <a:buNone/>
              <a:defRPr/>
            </a:lvl4pPr>
            <a:lvl5pPr marL="0" indent="0" algn="ctr">
              <a:lnSpc>
                <a:spcPct val="100000"/>
              </a:lnSpc>
              <a:buFont typeface="Arial" pitchFamily="34" charset="0"/>
              <a:buNone/>
              <a:defRPr/>
            </a:lvl5pPr>
          </a:lstStyle>
          <a:p>
            <a:pPr lvl="0"/>
            <a:r>
              <a:rPr lang="pt-BR" dirty="0" smtClean="0"/>
              <a:t>Clique para adicionar a fonte:</a:t>
            </a: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tângulo 9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1" name="Retângulo 10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2" name="Retângulo 11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808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-br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99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-capa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30" tIns="45716" rIns="91430" bIns="45716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pt-BR">
              <a:solidFill>
                <a:srgbClr val="FFFFFF"/>
              </a:solidFill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2807496" y="3814739"/>
            <a:ext cx="3529013" cy="1526519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aseline="0">
                <a:solidFill>
                  <a:srgbClr val="A7A9AC"/>
                </a:solidFill>
              </a:defRPr>
            </a:lvl1pPr>
          </a:lstStyle>
          <a:p>
            <a:pPr lvl="0"/>
            <a:r>
              <a:rPr lang="pt-BR" dirty="0" smtClean="0"/>
              <a:t>Nome: </a:t>
            </a:r>
            <a:r>
              <a:rPr lang="pt-BR" dirty="0" err="1" smtClean="0"/>
              <a:t>Size</a:t>
            </a:r>
            <a:r>
              <a:rPr lang="pt-BR" dirty="0" smtClean="0"/>
              <a:t> 20                    E-mail: </a:t>
            </a:r>
            <a:r>
              <a:rPr lang="pt-BR" dirty="0" err="1" smtClean="0"/>
              <a:t>Size</a:t>
            </a:r>
            <a:r>
              <a:rPr lang="pt-BR" dirty="0" smtClean="0"/>
              <a:t> 14               Telefone Fixo: </a:t>
            </a:r>
            <a:r>
              <a:rPr lang="pt-BR" dirty="0" err="1" smtClean="0"/>
              <a:t>Size</a:t>
            </a:r>
            <a:r>
              <a:rPr lang="pt-BR" dirty="0" smtClean="0"/>
              <a:t> 14           Celular: </a:t>
            </a:r>
            <a:r>
              <a:rPr lang="pt-BR" dirty="0" err="1" smtClean="0"/>
              <a:t>Size</a:t>
            </a:r>
            <a:r>
              <a:rPr lang="pt-BR" dirty="0" smtClean="0"/>
              <a:t> 14</a:t>
            </a:r>
            <a:endParaRPr lang="pt-BR" dirty="0"/>
          </a:p>
        </p:txBody>
      </p:sp>
      <p:pic>
        <p:nvPicPr>
          <p:cNvPr id="6" name="Picture 3" descr="C:\Users\bruno.lino\Desktop\Logos\DP6_escuro_Moto_pq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86" y="1981555"/>
            <a:ext cx="4565030" cy="1715714"/>
          </a:xfrm>
          <a:prstGeom prst="rect">
            <a:avLst/>
          </a:prstGeom>
          <a:noFill/>
          <a:effectLst>
            <a:innerShdw blurRad="50800" dist="127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166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950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6769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24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522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>
          <a:xfrm>
            <a:off x="179388" y="1484786"/>
            <a:ext cx="8785225" cy="5052541"/>
          </a:xfrm>
          <a:prstGeom prst="rect">
            <a:avLst/>
          </a:prstGeom>
        </p:spPr>
        <p:txBody>
          <a:bodyPr lIns="91411" tIns="45706" rIns="91411" bIns="45706"/>
          <a:lstStyle/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1212850" y="182564"/>
            <a:ext cx="7756525" cy="1036637"/>
          </a:xfrm>
          <a:prstGeom prst="rect">
            <a:avLst/>
          </a:prstGeom>
        </p:spPr>
        <p:txBody>
          <a:bodyPr lIns="91411" tIns="45706" rIns="91411" bIns="45706" anchor="ctr"/>
          <a:lstStyle>
            <a:lvl1pPr marL="0" indent="0">
              <a:buNone/>
              <a:defRPr>
                <a:solidFill>
                  <a:srgbClr val="5C636C"/>
                </a:solidFill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4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1011"/>
            <a:ext cx="844898" cy="55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bruno.lino\Desktop\Logos\Tira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3" y="1378199"/>
            <a:ext cx="8806350" cy="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bruno.lino\Desktop\Logos\DP6_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126" y="6592529"/>
            <a:ext cx="376091" cy="2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669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91" y="1302620"/>
            <a:ext cx="8608219" cy="5113362"/>
          </a:xfrm>
          <a:prstGeom prst="rect">
            <a:avLst/>
          </a:prstGeom>
        </p:spPr>
        <p:txBody>
          <a:bodyPr lIns="64270" tIns="32135" rIns="64270" bIns="32135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2"/>
            <a:ext cx="433090" cy="246682"/>
          </a:xfrm>
          <a:prstGeom prst="rect">
            <a:avLst/>
          </a:prstGeom>
          <a:ln/>
        </p:spPr>
        <p:txBody>
          <a:bodyPr lIns="64270" tIns="32135" rIns="64270" bIns="32135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3F0B858-381F-4FFD-BD92-4AE5DD1BCF2C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7276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891" y="1302620"/>
            <a:ext cx="4250531" cy="5113362"/>
          </a:xfrm>
          <a:prstGeom prst="rect">
            <a:avLst/>
          </a:prstGeom>
        </p:spPr>
        <p:txBody>
          <a:bodyPr lIns="64284" tIns="32142" rIns="64284" bIns="32142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8" y="1302620"/>
            <a:ext cx="4250531" cy="5113362"/>
          </a:xfrm>
          <a:prstGeom prst="rect">
            <a:avLst/>
          </a:prstGeom>
        </p:spPr>
        <p:txBody>
          <a:bodyPr lIns="64284" tIns="32142" rIns="64284" bIns="32142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84" tIns="32142" rIns="64284" bIns="32142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5C55DA0-7310-4F09-B2EE-D10F510E9E4D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6848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75"/>
            <a:ext cx="2133600" cy="365125"/>
          </a:xfrm>
          <a:prstGeom prst="rect">
            <a:avLst/>
          </a:prstGeom>
        </p:spPr>
        <p:txBody>
          <a:bodyPr lIns="91321" tIns="45661" rIns="91321" bIns="4566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6DC0BAAF-A709-41F0-B2F5-58C6EF6ACEEF}" type="datetimeFigureOut">
              <a:rPr lang="pt-BR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13/03/2012</a:t>
            </a:fld>
            <a:endParaRPr lang="pt-BR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1" y="6356375"/>
            <a:ext cx="2895600" cy="365125"/>
          </a:xfrm>
          <a:prstGeom prst="rect">
            <a:avLst/>
          </a:prstGeom>
        </p:spPr>
        <p:txBody>
          <a:bodyPr lIns="91321" tIns="45661" rIns="91321" bIns="45661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pt-BR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020272" y="6538816"/>
            <a:ext cx="2133600" cy="365125"/>
          </a:xfrm>
          <a:prstGeom prst="rect">
            <a:avLst/>
          </a:prstGeom>
        </p:spPr>
        <p:txBody>
          <a:bodyPr lIns="91430" tIns="45716" rIns="91430" bIns="45716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248CF8D-7940-42DE-82F4-DD85CDB16693}" type="slidenum">
              <a:rPr lang="pt-BR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pt-BR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59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7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7891" y="1302620"/>
            <a:ext cx="4250531" cy="5113362"/>
          </a:xfrm>
          <a:prstGeom prst="rect">
            <a:avLst/>
          </a:prstGeom>
        </p:spPr>
        <p:txBody>
          <a:bodyPr lIns="64284" tIns="32142" rIns="64284" bIns="3214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25578" y="1302621"/>
            <a:ext cx="4250531" cy="2502545"/>
          </a:xfrm>
          <a:prstGeom prst="rect">
            <a:avLst/>
          </a:prstGeom>
        </p:spPr>
        <p:txBody>
          <a:bodyPr lIns="64284" tIns="32142" rIns="64284" bIns="3214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25578" y="3912320"/>
            <a:ext cx="4250531" cy="2503661"/>
          </a:xfrm>
          <a:prstGeom prst="rect">
            <a:avLst/>
          </a:prstGeom>
        </p:spPr>
        <p:txBody>
          <a:bodyPr lIns="64284" tIns="32142" rIns="64284" bIns="32142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84" tIns="32142" rIns="64284" bIns="32142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642DFB9C-DFE3-4619-A224-035F794DBA44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458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85354" y="2674442"/>
            <a:ext cx="7773293" cy="552525"/>
          </a:xfrm>
        </p:spPr>
        <p:txBody>
          <a:bodyPr anchor="t">
            <a:spAutoFit/>
          </a:bodyPr>
          <a:lstStyle>
            <a:lvl1pPr algn="ctr">
              <a:spcBef>
                <a:spcPct val="50000"/>
              </a:spcBef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0341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824" y="3530576"/>
            <a:ext cx="6400354" cy="530911"/>
          </a:xfrm>
          <a:prstGeom prst="rect">
            <a:avLst/>
          </a:prstGeom>
          <a:ln algn="ctr"/>
        </p:spPr>
        <p:txBody>
          <a:bodyPr lIns="91435" tIns="45718" rIns="91435" bIns="45718">
            <a:spAutoFit/>
          </a:bodyPr>
          <a:lstStyle>
            <a:lvl1pPr marL="0" indent="0" algn="ctr">
              <a:spcBef>
                <a:spcPct val="50000"/>
              </a:spcBef>
              <a:buFont typeface="Wingdings" pitchFamily="2" charset="2"/>
              <a:buNone/>
              <a:defRPr sz="19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21650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5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7891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5578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91" tIns="32146" rIns="64291" bIns="32146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F78A8794-CC16-477A-A6B6-30464D001E82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906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5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267891" y="1302619"/>
            <a:ext cx="8608219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endParaRPr lang="pt-BR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91" tIns="32146" rIns="64291" bIns="32146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D67A3AF4-EC04-497F-8392-764CFCDF5BE9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580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62" y="340445"/>
            <a:ext cx="8658448" cy="810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7891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25578" y="1302619"/>
            <a:ext cx="4250531" cy="5113362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endParaRPr lang="pt-BR" noProof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24962" y="6642571"/>
            <a:ext cx="427508" cy="241102"/>
          </a:xfrm>
          <a:prstGeom prst="rect">
            <a:avLst/>
          </a:prstGeom>
          <a:ln/>
        </p:spPr>
        <p:txBody>
          <a:bodyPr lIns="64291" tIns="32146" rIns="64291" bIns="32146"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1FF5896-524D-4656-B713-3DB298F28F9B}" type="slidenum">
              <a:rPr lang="en-US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8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8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251521" y="182567"/>
            <a:ext cx="8717854" cy="870173"/>
          </a:xfrm>
          <a:prstGeom prst="rect">
            <a:avLst/>
          </a:prstGeom>
        </p:spPr>
        <p:txBody>
          <a:bodyPr vert="horz" lIns="91421" tIns="45711" rIns="91421" bIns="45711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35496" y="6475943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@gerson_ribeiro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82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58" r:id="rId3"/>
    <p:sldLayoutId id="2147483655" r:id="rId4"/>
    <p:sldLayoutId id="2147483661" r:id="rId5"/>
    <p:sldLayoutId id="2147483662" r:id="rId6"/>
    <p:sldLayoutId id="2147483659" r:id="rId7"/>
    <p:sldLayoutId id="2147483650" r:id="rId8"/>
    <p:sldLayoutId id="2147483668" r:id="rId9"/>
    <p:sldLayoutId id="2147483670" r:id="rId10"/>
    <p:sldLayoutId id="214748379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212" rtl="0" eaLnBrk="1" latinLnBrk="0" hangingPunct="1">
        <a:spcBef>
          <a:spcPct val="0"/>
        </a:spcBef>
        <a:buNone/>
        <a:defRPr sz="3200" kern="1200">
          <a:solidFill>
            <a:srgbClr val="5C636C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3"/>
        </a:buBlip>
        <a:defRPr sz="3200" kern="1200">
          <a:solidFill>
            <a:srgbClr val="5C636C"/>
          </a:solidFill>
          <a:latin typeface="+mn-lt"/>
          <a:ea typeface="+mn-ea"/>
          <a:cs typeface="+mn-cs"/>
        </a:defRPr>
      </a:lvl1pPr>
      <a:lvl2pPr marL="742798" indent="-28569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4"/>
        </a:buBlip>
        <a:defRPr sz="2800" kern="1200">
          <a:solidFill>
            <a:srgbClr val="5C636C"/>
          </a:solidFill>
          <a:latin typeface="+mn-lt"/>
          <a:ea typeface="+mn-ea"/>
          <a:cs typeface="+mn-cs"/>
        </a:defRPr>
      </a:lvl2pPr>
      <a:lvl3pPr marL="1142765" indent="-22855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4"/>
        </a:buBlip>
        <a:defRPr sz="2400" kern="1200">
          <a:solidFill>
            <a:srgbClr val="5C636C"/>
          </a:solidFill>
          <a:latin typeface="+mn-lt"/>
          <a:ea typeface="+mn-ea"/>
          <a:cs typeface="+mn-cs"/>
        </a:defRPr>
      </a:lvl3pPr>
      <a:lvl4pPr marL="1599872" indent="-22855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4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4pPr>
      <a:lvl5pPr marL="2056980" indent="-228552" algn="l" defTabSz="914212" rtl="0" eaLnBrk="1" latinLnBrk="0" hangingPunct="1">
        <a:lnSpc>
          <a:spcPct val="150000"/>
        </a:lnSpc>
        <a:spcBef>
          <a:spcPts val="0"/>
        </a:spcBef>
        <a:buFontTx/>
        <a:buBlip>
          <a:blip r:embed="rId14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5pPr>
      <a:lvl6pPr marL="2514087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92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99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04" indent="-228552" algn="l" defTabSz="9142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6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2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0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26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32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40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44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52" algn="l" defTabSz="9142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251521" y="182564"/>
            <a:ext cx="8717854" cy="870173"/>
          </a:xfrm>
          <a:prstGeom prst="rect">
            <a:avLst/>
          </a:prstGeom>
        </p:spPr>
        <p:txBody>
          <a:bodyPr vert="horz" lIns="91435" tIns="45718" rIns="91435" bIns="45718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250963" y="6604084"/>
            <a:ext cx="3164639" cy="261606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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2011</a:t>
            </a:r>
            <a:r>
              <a:rPr lang="pt-BR" sz="110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 </a:t>
            </a:r>
            <a:r>
              <a:rPr lang="pt-BR" sz="1100" b="1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  <a:sym typeface="Symbol"/>
              </a:rPr>
              <a:t>dp6 </a:t>
            </a:r>
            <a:r>
              <a:rPr lang="pt-BR" sz="1100" i="1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- </a:t>
            </a:r>
            <a:r>
              <a:rPr lang="pt-BR" sz="1100" i="1" dirty="0">
                <a:solidFill>
                  <a:srgbClr val="000000">
                    <a:lumMod val="50000"/>
                    <a:lumOff val="50000"/>
                  </a:srgbClr>
                </a:solidFill>
                <a:latin typeface="Verdana" pitchFamily="34" charset="0"/>
                <a:cs typeface="Arial" pitchFamily="34" charset="0"/>
              </a:rPr>
              <a:t>todos os direitos reservados</a:t>
            </a:r>
            <a:endParaRPr lang="pt-BR" sz="1100" dirty="0">
              <a:solidFill>
                <a:srgbClr val="000000">
                  <a:lumMod val="50000"/>
                  <a:lumOff val="50000"/>
                </a:srgbClr>
              </a:solidFill>
              <a:latin typeface="Verdana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597352"/>
            <a:ext cx="324328" cy="212867"/>
          </a:xfrm>
          <a:prstGeom prst="rect">
            <a:avLst/>
          </a:prstGeom>
        </p:spPr>
      </p:pic>
      <p:grpSp>
        <p:nvGrpSpPr>
          <p:cNvPr id="5" name="Grupo 8"/>
          <p:cNvGrpSpPr/>
          <p:nvPr userDrawn="1"/>
        </p:nvGrpSpPr>
        <p:grpSpPr>
          <a:xfrm>
            <a:off x="0" y="2079"/>
            <a:ext cx="9144000" cy="41563"/>
            <a:chOff x="0" y="4319385"/>
            <a:chExt cx="9144000" cy="45719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tângulo 9"/>
            <p:cNvSpPr/>
            <p:nvPr userDrawn="1"/>
          </p:nvSpPr>
          <p:spPr>
            <a:xfrm>
              <a:off x="0" y="4319385"/>
              <a:ext cx="2123728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7" name="Retângulo 10"/>
            <p:cNvSpPr/>
            <p:nvPr userDrawn="1"/>
          </p:nvSpPr>
          <p:spPr>
            <a:xfrm>
              <a:off x="2123728" y="4319385"/>
              <a:ext cx="30243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0" name="Retângulo 11"/>
            <p:cNvSpPr/>
            <p:nvPr userDrawn="1"/>
          </p:nvSpPr>
          <p:spPr>
            <a:xfrm>
              <a:off x="5148064" y="4319385"/>
              <a:ext cx="399593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pt-BR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33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3" rtl="0" eaLnBrk="1" latinLnBrk="0" hangingPunct="1">
        <a:spcBef>
          <a:spcPct val="0"/>
        </a:spcBef>
        <a:buNone/>
        <a:defRPr sz="3200" kern="1200">
          <a:solidFill>
            <a:srgbClr val="5C636C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5"/>
        </a:buBlip>
        <a:defRPr sz="3200" kern="1200">
          <a:solidFill>
            <a:srgbClr val="5C636C"/>
          </a:solidFill>
          <a:latin typeface="+mn-lt"/>
          <a:ea typeface="+mn-ea"/>
          <a:cs typeface="+mn-cs"/>
        </a:defRPr>
      </a:lvl1pPr>
      <a:lvl2pPr marL="742912" indent="-285736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800" kern="1200">
          <a:solidFill>
            <a:srgbClr val="5C636C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400" kern="1200">
          <a:solidFill>
            <a:srgbClr val="5C636C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150000"/>
        </a:lnSpc>
        <a:spcBef>
          <a:spcPts val="0"/>
        </a:spcBef>
        <a:buFontTx/>
        <a:buBlip>
          <a:blip r:embed="rId26"/>
        </a:buBlip>
        <a:defRPr sz="2000" kern="1200">
          <a:solidFill>
            <a:srgbClr val="5C636C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p6.com.br/" TargetMode="External"/><Relationship Id="rId2" Type="http://schemas.openxmlformats.org/officeDocument/2006/relationships/hyperlink" Target="mailto:gerson.ribeiro@dp6.com.br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0" y="2290520"/>
            <a:ext cx="9144000" cy="1608133"/>
          </a:xfrm>
          <a:solidFill>
            <a:schemeClr val="bg2">
              <a:lumMod val="50000"/>
              <a:alpha val="67000"/>
            </a:schemeClr>
          </a:solidFill>
        </p:spPr>
        <p:txBody>
          <a:bodyPr vert="horz" lIns="91421" tIns="45711" rIns="91421" bIns="45711" rtlCol="0" anchor="ctr">
            <a:normAutofit/>
          </a:bodyPr>
          <a:lstStyle/>
          <a:p>
            <a:pPr fontAlgn="base"/>
            <a:r>
              <a:rPr lang="pt-BR" b="1" dirty="0" smtClean="0"/>
              <a:t>SEARCH INTELLIGENCE PARA VAREJO</a:t>
            </a:r>
            <a:br>
              <a:rPr lang="pt-BR" b="1" dirty="0" smtClean="0"/>
            </a:br>
            <a:r>
              <a:rPr lang="pt-BR" sz="1400" b="1" dirty="0" smtClean="0"/>
              <a:t/>
            </a:r>
            <a:br>
              <a:rPr lang="pt-BR" sz="1400" b="1" dirty="0" smtClean="0"/>
            </a:br>
            <a:r>
              <a:rPr lang="pt-BR" b="1" dirty="0" smtClean="0"/>
              <a:t>Dicas Práticas de PPC</a:t>
            </a:r>
            <a:endParaRPr lang="pt-BR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10" y="3892112"/>
            <a:ext cx="9266238" cy="555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E-commerce Bras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5481"/>
            <a:ext cx="2971800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308304" y="1940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#searchevendas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76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76159" y="704890"/>
            <a:ext cx="48494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6 Dicas de Sucesso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nunatak.ws/janrro/upload/2006/02/RSE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40481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57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40416" y="704890"/>
            <a:ext cx="42851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Defina os KPIs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ingestao.net/wp-content/uploads/ecommer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872" y="934688"/>
            <a:ext cx="2815952" cy="2815953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 bwMode="auto">
          <a:xfrm rot="19940866">
            <a:off x="230588" y="2703502"/>
            <a:ext cx="3584998" cy="792088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charset="0"/>
              </a:rPr>
              <a:t>Vender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3" name="Picture 6" descr="http://www.carregacartuchos.com.br/images/atendimento%20online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7704" y="4536418"/>
            <a:ext cx="1800199" cy="1626846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 bwMode="auto">
          <a:xfrm rot="1610316">
            <a:off x="2469487" y="4195615"/>
            <a:ext cx="3584998" cy="792088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charset="0"/>
              </a:rPr>
              <a:t>Atender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6" name="Picture 4" descr="http://herdeirodocaos.com/wp-content/uploads/2009/03/anunci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95675" y="2071684"/>
            <a:ext cx="3261983" cy="1833809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 bwMode="auto">
          <a:xfrm rot="19940866">
            <a:off x="5472430" y="3146386"/>
            <a:ext cx="3584998" cy="792088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3001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cs typeface="Arial" charset="0"/>
              </a:rPr>
              <a:t>Publicidade</a:t>
            </a: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01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045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Defina os KPIs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-&gt; CPC, CTR e Visitas não são KPIs, mas sim métricas. #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65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4.bp.blogspot.com/-V2bQkkqyUos/TxyF6Ro1q9I/AAAAAAAAIWk/3G0EFwpvCSc/s1600/Internetlab_lup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544" y="1042391"/>
            <a:ext cx="5338936" cy="533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5345886" y="4941168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CPA</a:t>
            </a:r>
            <a:endParaRPr lang="pt-BR" dirty="0"/>
          </a:p>
        </p:txBody>
      </p:sp>
      <p:sp>
        <p:nvSpPr>
          <p:cNvPr id="12" name="TextBox 11"/>
          <p:cNvSpPr txBox="1"/>
          <p:nvPr/>
        </p:nvSpPr>
        <p:spPr>
          <a:xfrm>
            <a:off x="3381069" y="704890"/>
            <a:ext cx="56444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Métricas de Receita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3707904" y="4581128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Margem</a:t>
            </a:r>
            <a:endParaRPr lang="pt-BR" dirty="0"/>
          </a:p>
        </p:txBody>
      </p:sp>
      <p:sp>
        <p:nvSpPr>
          <p:cNvPr id="18" name="Oval 17"/>
          <p:cNvSpPr/>
          <p:nvPr/>
        </p:nvSpPr>
        <p:spPr>
          <a:xfrm>
            <a:off x="2483768" y="3573016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ROI</a:t>
            </a:r>
            <a:endParaRPr lang="pt-BR" dirty="0"/>
          </a:p>
        </p:txBody>
      </p:sp>
      <p:sp>
        <p:nvSpPr>
          <p:cNvPr id="19" name="Oval 18"/>
          <p:cNvSpPr/>
          <p:nvPr/>
        </p:nvSpPr>
        <p:spPr>
          <a:xfrm>
            <a:off x="2195736" y="2060848"/>
            <a:ext cx="1440160" cy="136815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Saving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35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Definir as Métricas de Receita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é o primeiro passo para se obter sucesso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em Search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26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70561" y="704890"/>
            <a:ext cx="5671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3# Foco em Resultados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://www.faroldenoticias.com.br/site/wp-content/uploads/2011/08/lupa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" y="2924944"/>
            <a:ext cx="5701701" cy="341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9609" y="226758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Cliques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4069" y="251111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CPC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0352" y="1902224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Indice de Qualidade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5633" y="269962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CTR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3907" y="2564904"/>
            <a:ext cx="161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Posição Média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5553" y="3059668"/>
            <a:ext cx="219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Perda de Impressão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68144" y="2749570"/>
            <a:ext cx="84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Visitas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72924" y="3140968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Bounce Rate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05228" y="3563724"/>
            <a:ext cx="209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Taxa de Conversão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00383" y="2468620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Dia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29901" y="4005064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Hora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68144" y="442782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Conversão por Cidade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04048" y="2060848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Funil de Conversão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06075" y="4941168"/>
            <a:ext cx="137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Entry Pages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87556" y="4941168"/>
            <a:ext cx="122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Exit Pages</a:t>
            </a:r>
            <a:endParaRPr lang="pt-BR" dirty="0">
              <a:solidFill>
                <a:srgbClr val="FBAC3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72200" y="5445224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rgbClr val="FBAC3E"/>
                </a:solidFill>
              </a:rPr>
              <a:t>Multi Channel Funnel</a:t>
            </a:r>
            <a:endParaRPr lang="pt-BR" dirty="0">
              <a:solidFill>
                <a:srgbClr val="FBA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05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Analise o pós clique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aumente a taxa de conversão da sua campanha! #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39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95357" y="704890"/>
            <a:ext cx="5246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4# Integre PPC e SEO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://ngerumpi.com/images/medium/lup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233240"/>
            <a:ext cx="4896544" cy="400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35496" y="2132856"/>
            <a:ext cx="5328717" cy="2592288"/>
          </a:xfrm>
          <a:prstGeom prst="rect">
            <a:avLst/>
          </a:prstGeom>
        </p:spPr>
        <p:txBody>
          <a:bodyPr/>
          <a:lstStyle/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Estudo de Kws integrado </a:t>
            </a: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Quais páginas trabalhar em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SEO e PPC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Estratégia Única</a:t>
            </a: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Resultado Macro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Mais Economia</a:t>
            </a:r>
          </a:p>
          <a:p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Mais Receita</a:t>
            </a:r>
          </a:p>
          <a:p>
            <a:pPr marL="0" indent="0">
              <a:buNone/>
            </a:pP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8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PPC não concorre com SEO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-&gt; Integre suas estratégias e aumente seus resultados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em Search  #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57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4933935" cy="3108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753405" y="704890"/>
            <a:ext cx="6288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5# Estratégia Cross Media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573016"/>
            <a:ext cx="3828260" cy="251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6" y="3706399"/>
            <a:ext cx="4191894" cy="241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79912" y="2350621"/>
            <a:ext cx="4366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smtClean="0">
                <a:solidFill>
                  <a:srgbClr val="FBAC3E"/>
                </a:solidFill>
              </a:rPr>
              <a:t>Tudo gera Buscas!!!</a:t>
            </a:r>
            <a:endParaRPr lang="pt-BR" sz="3600" b="1" dirty="0">
              <a:solidFill>
                <a:srgbClr val="FBA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4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91573" y="548680"/>
            <a:ext cx="5250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6# Analise o Mercado</a:t>
            </a:r>
            <a:endParaRPr lang="pt-BR" sz="4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76548"/>
            <a:ext cx="5713664" cy="4904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http://www.wilsonweb.com/wmt14/images/google-insights_150x55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65" y="2204864"/>
            <a:ext cx="2042150" cy="74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322" y="3385700"/>
            <a:ext cx="2162101" cy="30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1" b="4276"/>
          <a:stretch>
            <a:fillRect/>
          </a:stretch>
        </p:blipFill>
        <p:spPr bwMode="auto">
          <a:xfrm>
            <a:off x="6732240" y="3961764"/>
            <a:ext cx="1510969" cy="64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 descr="http://www.bizreport.com/2010/07/26/experianhitwise/experianhitwise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7" y="4897868"/>
            <a:ext cx="1224136" cy="48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62553" y="4188933"/>
            <a:ext cx="1008112" cy="320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3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daniel.carrer\Documents\Logos Inc\logos_dp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6491353"/>
            <a:ext cx="1018758" cy="33265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7903" y="2507412"/>
            <a:ext cx="5040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>
                <a:solidFill>
                  <a:srgbClr val="FBAC3E"/>
                </a:solidFill>
              </a:rPr>
              <a:t>Analisar as Tendências do Mercado e Concorrentes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é imprescindível para se obter sucesso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em Search #searchevendas</a:t>
            </a:r>
            <a:endParaRPr lang="pt-BR" sz="2400" b="1" dirty="0">
              <a:solidFill>
                <a:srgbClr val="FBAC3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5976" y="704890"/>
            <a:ext cx="45432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 Frases do Twitter</a:t>
            </a:r>
            <a:endParaRPr lang="pt-BR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146" name="Picture 2" descr="http://www.converstations.com/wp-content/uploads/2011/10/twitter-icon-1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2776"/>
            <a:ext cx="36004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08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27163" y="4638785"/>
            <a:ext cx="3529013" cy="1526519"/>
          </a:xfrm>
        </p:spPr>
        <p:txBody>
          <a:bodyPr/>
          <a:lstStyle/>
          <a:p>
            <a:r>
              <a:rPr lang="en-US" dirty="0" err="1" smtClean="0"/>
              <a:t>Gerson</a:t>
            </a:r>
            <a:r>
              <a:rPr lang="en-US" dirty="0" smtClean="0"/>
              <a:t> </a:t>
            </a:r>
            <a:r>
              <a:rPr lang="en-US" dirty="0" err="1" smtClean="0"/>
              <a:t>Ribeiro</a:t>
            </a:r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gerson_ribeiro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gerson.ribeiro@dp6.com.br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www.dp6.com.br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61197" y="253097"/>
            <a:ext cx="31229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 smtClean="0">
                <a:solidFill>
                  <a:schemeClr val="bg1"/>
                </a:solidFill>
              </a:rPr>
              <a:t>OBRIGADO!</a:t>
            </a:r>
            <a:endParaRPr lang="pt-BR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DP6">
      <a:dk1>
        <a:srgbClr val="000000"/>
      </a:dk1>
      <a:lt1>
        <a:srgbClr val="FFFFFF"/>
      </a:lt1>
      <a:dk2>
        <a:srgbClr val="5C636C"/>
      </a:dk2>
      <a:lt2>
        <a:srgbClr val="A7A9AD"/>
      </a:lt2>
      <a:accent1>
        <a:srgbClr val="FBAC3E"/>
      </a:accent1>
      <a:accent2>
        <a:srgbClr val="1DA1D9"/>
      </a:accent2>
      <a:accent3>
        <a:srgbClr val="89C43E"/>
      </a:accent3>
      <a:accent4>
        <a:srgbClr val="D77D2F"/>
      </a:accent4>
      <a:accent5>
        <a:srgbClr val="0A74B9"/>
      </a:accent5>
      <a:accent6>
        <a:srgbClr val="109644"/>
      </a:accent6>
      <a:hlink>
        <a:srgbClr val="5C636C"/>
      </a:hlink>
      <a:folHlink>
        <a:srgbClr val="A7A9AD"/>
      </a:folHlink>
    </a:clrScheme>
    <a:fontScheme name="DP6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Tema do Office">
  <a:themeElements>
    <a:clrScheme name="DP6">
      <a:dk1>
        <a:srgbClr val="000000"/>
      </a:dk1>
      <a:lt1>
        <a:srgbClr val="FFFFFF"/>
      </a:lt1>
      <a:dk2>
        <a:srgbClr val="5C636C"/>
      </a:dk2>
      <a:lt2>
        <a:srgbClr val="A7A9AD"/>
      </a:lt2>
      <a:accent1>
        <a:srgbClr val="FBAC3E"/>
      </a:accent1>
      <a:accent2>
        <a:srgbClr val="1DA1D9"/>
      </a:accent2>
      <a:accent3>
        <a:srgbClr val="89C43E"/>
      </a:accent3>
      <a:accent4>
        <a:srgbClr val="D77D2F"/>
      </a:accent4>
      <a:accent5>
        <a:srgbClr val="0A74B9"/>
      </a:accent5>
      <a:accent6>
        <a:srgbClr val="109644"/>
      </a:accent6>
      <a:hlink>
        <a:srgbClr val="5C636C"/>
      </a:hlink>
      <a:folHlink>
        <a:srgbClr val="A7A9AD"/>
      </a:folHlink>
    </a:clrScheme>
    <a:fontScheme name="DP6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irectPerformance-TequilaSunrise 13">
    <a:dk1>
      <a:srgbClr val="939598"/>
    </a:dk1>
    <a:lt1>
      <a:srgbClr val="FFFFFF"/>
    </a:lt1>
    <a:dk2>
      <a:srgbClr val="F8F8F8"/>
    </a:dk2>
    <a:lt2>
      <a:srgbClr val="E0D7C8"/>
    </a:lt2>
    <a:accent1>
      <a:srgbClr val="F99D1E"/>
    </a:accent1>
    <a:accent2>
      <a:srgbClr val="E7702C"/>
    </a:accent2>
    <a:accent3>
      <a:srgbClr val="FFFFFF"/>
    </a:accent3>
    <a:accent4>
      <a:srgbClr val="7D7E81"/>
    </a:accent4>
    <a:accent5>
      <a:srgbClr val="FBCCAB"/>
    </a:accent5>
    <a:accent6>
      <a:srgbClr val="D16527"/>
    </a:accent6>
    <a:hlink>
      <a:srgbClr val="A63412"/>
    </a:hlink>
    <a:folHlink>
      <a:srgbClr val="AB93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16736</TotalTime>
  <Words>222</Words>
  <Application>Microsoft Office PowerPoint</Application>
  <PresentationFormat>On-screen Show (4:3)</PresentationFormat>
  <Paragraphs>54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do Office</vt:lpstr>
      <vt:lpstr>7_Tema do Office</vt:lpstr>
      <vt:lpstr>SEARCH INTELLIGENCE PARA VAREJO  Dicas Práticas de PPC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Lino</dc:creator>
  <cp:lastModifiedBy>gerson.ribeiro</cp:lastModifiedBy>
  <cp:revision>178</cp:revision>
  <dcterms:created xsi:type="dcterms:W3CDTF">2011-10-21T15:07:42Z</dcterms:created>
  <dcterms:modified xsi:type="dcterms:W3CDTF">2012-03-15T10:08:29Z</dcterms:modified>
</cp:coreProperties>
</file>