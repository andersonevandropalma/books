
<file path=[Content_Types].xml><?xml version="1.0" encoding="utf-8"?>
<Types xmlns="http://schemas.openxmlformats.org/package/2006/content-types">
  <Override PartName="/ppt/slides/slide18.xml" ContentType="application/vnd.openxmlformats-officedocument.presentationml.slide+xml"/>
  <Override PartName="/ppt/slides/slide9.xml" ContentType="application/vnd.openxmlformats-officedocument.presentationml.slide+xml"/>
  <Override PartName="/ppt/slides/slide14.xml" ContentType="application/vnd.openxmlformats-officedocument.presentationml.slide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s/slide5.xml" ContentType="application/vnd.openxmlformats-officedocument.presentationml.slide+xml"/>
  <Default Extension="rels" ContentType="application/vnd.openxmlformats-package.relationships+xml"/>
  <Default Extension="jpeg" ContentType="image/jpeg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Layouts/slideLayout5.xml" ContentType="application/vnd.openxmlformats-officedocument.presentationml.slideLayout+xml"/>
  <Override PartName="/docProps/app.xml" ContentType="application/vnd.openxmlformats-officedocument.extended-properties+xml"/>
  <Override PartName="/ppt/theme/theme2.xml" ContentType="application/vnd.openxmlformats-officedocument.theme+xml"/>
  <Override PartName="/ppt/slideLayouts/slideLayout1.xml" ContentType="application/vnd.openxmlformats-officedocument.presentationml.slideLayout+xml"/>
  <Override PartName="/ppt/slides/slide22.xml" ContentType="application/vnd.openxmlformats-officedocument.presentationml.slide+xml"/>
  <Default Extension="xml" ContentType="application/xml"/>
  <Override PartName="/ppt/slides/slide19.xml" ContentType="application/vnd.openxmlformats-officedocument.presentationml.slide+xml"/>
  <Override PartName="/ppt/tableStyles.xml" ContentType="application/vnd.openxmlformats-officedocument.presentationml.tableStyles+xml"/>
  <Override PartName="/ppt/slides/slide15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6.xml" ContentType="application/vnd.openxmlformats-officedocument.presentationml.slide+xml"/>
  <Override PartName="/docProps/core.xml" ContentType="application/vnd.openxmlformats-package.core-properties+xml"/>
  <Override PartName="/ppt/slides/slide11.xml" ContentType="application/vnd.openxmlformats-officedocument.presentationml.slide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Default Extension="png" ContentType="image/png"/>
  <Override PartName="/ppt/slideLayouts/slideLayout2.xml" ContentType="application/vnd.openxmlformats-officedocument.presentationml.slideLayout+xml"/>
  <Override PartName="/ppt/slides/slide23.xml" ContentType="application/vnd.openxmlformats-officedocument.presentationml.slide+xml"/>
  <Override PartName="/ppt/slides/slide16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7.xml" ContentType="application/vnd.openxmlformats-officedocument.presentationml.slide+xml"/>
  <Override PartName="/ppt/presentation.xml" ContentType="application/vnd.openxmlformats-officedocument.presentationml.presentation.main+xml"/>
  <Override PartName="/ppt/slides/slide12.xml" ContentType="application/vnd.openxmlformats-officedocument.presentationml.slide+xml"/>
  <Override PartName="/ppt/slideLayouts/slideLayout7.xml" ContentType="application/vnd.openxmlformats-officedocument.presentationml.slideLayout+xml"/>
  <Override PartName="/ppt/slides/slide3.xml" ContentType="application/vnd.openxmlformats-officedocument.presentationml.slide+xml"/>
  <Override PartName="/ppt/slideLayouts/slideLayout3.xml" ContentType="application/vnd.openxmlformats-officedocument.presentationml.slideLayout+xml"/>
  <Override PartName="/ppt/slides/slide24.xml" ContentType="application/vnd.openxmlformats-officedocument.presentationml.slide+xml"/>
  <Override PartName="/ppt/slides/slide20.xml" ContentType="application/vnd.openxmlformats-officedocument.presentationml.slide+xml"/>
  <Override PartName="/ppt/slides/slide1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slides/slide13.xml" ContentType="application/vnd.openxmlformats-officedocument.presentationml.slide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4.xml" ContentType="application/vnd.openxmlformats-officedocument.presentationml.slide+xml"/>
  <Override PartName="/ppt/slideLayouts/slideLayout4.xml" ContentType="application/vnd.openxmlformats-officedocument.presentationml.slideLayout+xml"/>
  <Override PartName="/ppt/slides/slide25.xml" ContentType="application/vnd.openxmlformats-officedocument.presentationml.slide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s/slide21.xml" ContentType="application/vnd.openxmlformats-officedocument.presentationml.slide+xml"/>
  <Default Extension="bin" ContentType="application/vnd.openxmlformats-officedocument.presentationml.printerSettings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saveSubsetFonts="1" autoCompressPictures="0">
  <p:sldMasterIdLst>
    <p:sldMasterId r:id="rId1"/>
  </p:sldMasterIdLst>
  <p:notesMasterIdLst>
    <p:notesMasterId r:id="rId27"/>
  </p:notesMasterIdLst>
  <p:sldIdLst>
    <p:sldId id="270" r:id="rId2"/>
    <p:sldId id="271" r:id="rId3"/>
    <p:sldId id="269" r:id="rId4"/>
    <p:sldId id="259" r:id="rId5"/>
    <p:sldId id="260" r:id="rId6"/>
    <p:sldId id="257" r:id="rId7"/>
    <p:sldId id="258" r:id="rId8"/>
    <p:sldId id="262" r:id="rId9"/>
    <p:sldId id="272" r:id="rId10"/>
    <p:sldId id="263" r:id="rId11"/>
    <p:sldId id="265" r:id="rId12"/>
    <p:sldId id="273" r:id="rId13"/>
    <p:sldId id="276" r:id="rId14"/>
    <p:sldId id="280" r:id="rId15"/>
    <p:sldId id="279" r:id="rId16"/>
    <p:sldId id="264" r:id="rId17"/>
    <p:sldId id="274" r:id="rId18"/>
    <p:sldId id="275" r:id="rId19"/>
    <p:sldId id="282" r:id="rId20"/>
    <p:sldId id="266" r:id="rId21"/>
    <p:sldId id="277" r:id="rId22"/>
    <p:sldId id="267" r:id="rId23"/>
    <p:sldId id="268" r:id="rId24"/>
    <p:sldId id="281" r:id="rId25"/>
    <p:sldId id="278" r:id="rId26"/>
  </p:sldIdLst>
  <p:sldSz cx="9144000" cy="6858000" type="screen4x3"/>
  <p:notesSz cx="6858000" cy="9144000"/>
  <p:defaultTextStyle>
    <a:defPPr>
      <a:defRPr lang="pt-BR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normalViewPr showOutlineIcons="0">
    <p:restoredLeft sz="15620"/>
    <p:restoredTop sz="94660"/>
  </p:normalViewPr>
  <p:slideViewPr>
    <p:cSldViewPr snapToObjects="1" showGuides="1">
      <p:cViewPr varScale="1">
        <p:scale>
          <a:sx n="94" d="100"/>
          <a:sy n="94" d="100"/>
        </p:scale>
        <p:origin x="-656" y="-96"/>
      </p:cViewPr>
      <p:guideLst>
        <p:guide orient="horz" pos="2208"/>
        <p:guide pos="2832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interSettings" Target="printerSettings/printerSettings1.bin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90D77FA-5FF3-664D-B600-11EE1676360A}" type="datetimeFigureOut">
              <a:rPr lang="pt-BR" smtClean="0"/>
              <a:t>11/2/11</a:t>
            </a:fld>
            <a:endParaRPr lang="pt-B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x-none" smtClean="0"/>
              <a:t>Click to edit Master text styles</a:t>
            </a:r>
          </a:p>
          <a:p>
            <a:pPr lvl="1"/>
            <a:r>
              <a:rPr lang="x-none" smtClean="0"/>
              <a:t>Second level</a:t>
            </a:r>
          </a:p>
          <a:p>
            <a:pPr lvl="2"/>
            <a:r>
              <a:rPr lang="x-none" smtClean="0"/>
              <a:t>Third level</a:t>
            </a:r>
          </a:p>
          <a:p>
            <a:pPr lvl="3"/>
            <a:r>
              <a:rPr lang="x-none" smtClean="0"/>
              <a:t>Fourth level</a:t>
            </a:r>
          </a:p>
          <a:p>
            <a:pPr lvl="4"/>
            <a:r>
              <a:rPr lang="x-none" smtClean="0"/>
              <a:t>Fifth level</a:t>
            </a:r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EA80CBC-2ACE-1542-9000-A6FE7451CE1A}" type="slidenum">
              <a:rPr lang="pt-BR" smtClean="0"/>
              <a:t>‹#›</a:t>
            </a:fld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pt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EA80CBC-2ACE-1542-9000-A6FE7451CE1A}" type="slidenum">
              <a:rPr lang="pt-BR" smtClean="0"/>
              <a:t>2</a:t>
            </a:fld>
            <a:endParaRPr lang="pt-BR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pt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EA80CBC-2ACE-1542-9000-A6FE7451CE1A}" type="slidenum">
              <a:rPr lang="pt-BR" smtClean="0"/>
              <a:t>3</a:t>
            </a:fld>
            <a:endParaRPr lang="pt-BR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x-none" smtClean="0"/>
              <a:t>Click to edit Master title style</a:t>
            </a:r>
            <a:endParaRPr lang="pt-BR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x-none" smtClean="0"/>
              <a:t>Click to edit Master subtitle style</a:t>
            </a:r>
            <a:endParaRPr lang="pt-B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8AC042E3-AFBE-5D4B-8EA3-B07D9241D603}" type="datetimeFigureOut">
              <a:rPr lang="pt-BR" smtClean="0"/>
              <a:t>10/30/11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3FEEF7E3-7568-4D43-98B5-A9C3135035DA}" type="slidenum">
              <a:rPr lang="pt-BR" smtClean="0"/>
              <a:t>‹#›</a:t>
            </a:fld>
            <a:endParaRPr lang="pt-B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x-none" smtClean="0"/>
              <a:t>Click to edit Master title style</a:t>
            </a:r>
            <a:endParaRPr lang="pt-B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x-none" smtClean="0"/>
              <a:t>Click to edit Master text styles</a:t>
            </a:r>
          </a:p>
          <a:p>
            <a:pPr lvl="1"/>
            <a:r>
              <a:rPr lang="x-none" smtClean="0"/>
              <a:t>Second level</a:t>
            </a:r>
          </a:p>
          <a:p>
            <a:pPr lvl="2"/>
            <a:r>
              <a:rPr lang="x-none" smtClean="0"/>
              <a:t>Third level</a:t>
            </a:r>
          </a:p>
          <a:p>
            <a:pPr lvl="3"/>
            <a:r>
              <a:rPr lang="x-none" smtClean="0"/>
              <a:t>Fourth level</a:t>
            </a:r>
          </a:p>
          <a:p>
            <a:pPr lvl="4"/>
            <a:r>
              <a:rPr lang="x-none" smtClean="0"/>
              <a:t>Fifth level</a:t>
            </a:r>
            <a:endParaRPr lang="pt-B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8AC042E3-AFBE-5D4B-8EA3-B07D9241D603}" type="datetimeFigureOut">
              <a:rPr lang="pt-BR" smtClean="0"/>
              <a:t>10/30/11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3FEEF7E3-7568-4D43-98B5-A9C3135035DA}" type="slidenum">
              <a:rPr lang="pt-BR" smtClean="0"/>
              <a:t>‹#›</a:t>
            </a:fld>
            <a:endParaRPr lang="pt-B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x-none" smtClean="0"/>
              <a:t>Click to edit Master title style</a:t>
            </a:r>
            <a:endParaRPr lang="pt-B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x-none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8AC042E3-AFBE-5D4B-8EA3-B07D9241D603}" type="datetimeFigureOut">
              <a:rPr lang="pt-BR" smtClean="0"/>
              <a:t>10/30/11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3FEEF7E3-7568-4D43-98B5-A9C3135035DA}" type="slidenum">
              <a:rPr lang="pt-BR" smtClean="0"/>
              <a:t>‹#›</a:t>
            </a:fld>
            <a:endParaRPr lang="pt-B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x-none" smtClean="0"/>
              <a:t>Click to edit Master title style</a:t>
            </a:r>
            <a:endParaRPr lang="pt-BR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x-none" smtClean="0"/>
              <a:t>Click to edit Master text styles</a:t>
            </a:r>
          </a:p>
          <a:p>
            <a:pPr lvl="1"/>
            <a:r>
              <a:rPr lang="x-none" smtClean="0"/>
              <a:t>Second level</a:t>
            </a:r>
          </a:p>
          <a:p>
            <a:pPr lvl="2"/>
            <a:r>
              <a:rPr lang="x-none" smtClean="0"/>
              <a:t>Third level</a:t>
            </a:r>
          </a:p>
          <a:p>
            <a:pPr lvl="3"/>
            <a:r>
              <a:rPr lang="x-none" smtClean="0"/>
              <a:t>Fourth level</a:t>
            </a:r>
          </a:p>
          <a:p>
            <a:pPr lvl="4"/>
            <a:r>
              <a:rPr lang="x-none" smtClean="0"/>
              <a:t>Fifth level</a:t>
            </a:r>
            <a:endParaRPr lang="pt-BR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x-none" smtClean="0"/>
              <a:t>Click to edit Master text styles</a:t>
            </a:r>
          </a:p>
          <a:p>
            <a:pPr lvl="1"/>
            <a:r>
              <a:rPr lang="x-none" smtClean="0"/>
              <a:t>Second level</a:t>
            </a:r>
          </a:p>
          <a:p>
            <a:pPr lvl="2"/>
            <a:r>
              <a:rPr lang="x-none" smtClean="0"/>
              <a:t>Third level</a:t>
            </a:r>
          </a:p>
          <a:p>
            <a:pPr lvl="3"/>
            <a:r>
              <a:rPr lang="x-none" smtClean="0"/>
              <a:t>Fourth level</a:t>
            </a:r>
          </a:p>
          <a:p>
            <a:pPr lvl="4"/>
            <a:r>
              <a:rPr lang="x-none" smtClean="0"/>
              <a:t>Fifth level</a:t>
            </a:r>
            <a:endParaRPr lang="pt-BR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8AC042E3-AFBE-5D4B-8EA3-B07D9241D603}" type="datetimeFigureOut">
              <a:rPr lang="pt-BR" smtClean="0"/>
              <a:t>10/30/11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3FEEF7E3-7568-4D43-98B5-A9C3135035DA}" type="slidenum">
              <a:rPr lang="pt-BR" smtClean="0"/>
              <a:t>‹#›</a:t>
            </a:fld>
            <a:endParaRPr lang="pt-B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x-none" smtClean="0"/>
              <a:t>Click to edit Master title style</a:t>
            </a:r>
            <a:endParaRPr lang="pt-B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x-none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x-none" smtClean="0"/>
              <a:t>Click to edit Master text styles</a:t>
            </a:r>
          </a:p>
          <a:p>
            <a:pPr lvl="1"/>
            <a:r>
              <a:rPr lang="x-none" smtClean="0"/>
              <a:t>Second level</a:t>
            </a:r>
          </a:p>
          <a:p>
            <a:pPr lvl="2"/>
            <a:r>
              <a:rPr lang="x-none" smtClean="0"/>
              <a:t>Third level</a:t>
            </a:r>
          </a:p>
          <a:p>
            <a:pPr lvl="3"/>
            <a:r>
              <a:rPr lang="x-none" smtClean="0"/>
              <a:t>Fourth level</a:t>
            </a:r>
          </a:p>
          <a:p>
            <a:pPr lvl="4"/>
            <a:r>
              <a:rPr lang="x-none" smtClean="0"/>
              <a:t>Fifth level</a:t>
            </a:r>
            <a:endParaRPr lang="pt-BR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x-none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x-none" smtClean="0"/>
              <a:t>Click to edit Master text styles</a:t>
            </a:r>
          </a:p>
          <a:p>
            <a:pPr lvl="1"/>
            <a:r>
              <a:rPr lang="x-none" smtClean="0"/>
              <a:t>Second level</a:t>
            </a:r>
          </a:p>
          <a:p>
            <a:pPr lvl="2"/>
            <a:r>
              <a:rPr lang="x-none" smtClean="0"/>
              <a:t>Third level</a:t>
            </a:r>
          </a:p>
          <a:p>
            <a:pPr lvl="3"/>
            <a:r>
              <a:rPr lang="x-none" smtClean="0"/>
              <a:t>Fourth level</a:t>
            </a:r>
          </a:p>
          <a:p>
            <a:pPr lvl="4"/>
            <a:r>
              <a:rPr lang="x-none" smtClean="0"/>
              <a:t>Fifth level</a:t>
            </a:r>
            <a:endParaRPr lang="pt-BR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8AC042E3-AFBE-5D4B-8EA3-B07D9241D603}" type="datetimeFigureOut">
              <a:rPr lang="pt-BR" smtClean="0"/>
              <a:t>10/30/11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3FEEF7E3-7568-4D43-98B5-A9C3135035DA}" type="slidenum">
              <a:rPr lang="pt-BR" smtClean="0"/>
              <a:t>‹#›</a:t>
            </a:fld>
            <a:endParaRPr lang="pt-B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x-none" smtClean="0"/>
              <a:t>Click to edit Master title style</a:t>
            </a:r>
            <a:endParaRPr lang="pt-BR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8AC042E3-AFBE-5D4B-8EA3-B07D9241D603}" type="datetimeFigureOut">
              <a:rPr lang="pt-BR" smtClean="0"/>
              <a:t>10/30/11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3FEEF7E3-7568-4D43-98B5-A9C3135035DA}" type="slidenum">
              <a:rPr lang="pt-BR" smtClean="0"/>
              <a:t>‹#›</a:t>
            </a:fld>
            <a:endParaRPr lang="pt-B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8AC042E3-AFBE-5D4B-8EA3-B07D9241D603}" type="datetimeFigureOut">
              <a:rPr lang="pt-BR" smtClean="0"/>
              <a:t>10/30/11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3FEEF7E3-7568-4D43-98B5-A9C3135035DA}" type="slidenum">
              <a:rPr lang="pt-BR" smtClean="0"/>
              <a:t>‹#›</a:t>
            </a:fld>
            <a:endParaRPr lang="pt-B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x-none" smtClean="0"/>
              <a:t>Click to edit Master title style</a:t>
            </a:r>
            <a:endParaRPr lang="pt-B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x-none" smtClean="0"/>
              <a:t>Click to edit Master text styles</a:t>
            </a:r>
          </a:p>
          <a:p>
            <a:pPr lvl="1"/>
            <a:r>
              <a:rPr lang="x-none" smtClean="0"/>
              <a:t>Second level</a:t>
            </a:r>
          </a:p>
          <a:p>
            <a:pPr lvl="2"/>
            <a:r>
              <a:rPr lang="x-none" smtClean="0"/>
              <a:t>Third level</a:t>
            </a:r>
          </a:p>
          <a:p>
            <a:pPr lvl="3"/>
            <a:r>
              <a:rPr lang="x-none" smtClean="0"/>
              <a:t>Fourth level</a:t>
            </a:r>
          </a:p>
          <a:p>
            <a:pPr lvl="4"/>
            <a:r>
              <a:rPr lang="x-none" smtClean="0"/>
              <a:t>Fifth level</a:t>
            </a:r>
            <a:endParaRPr lang="pt-BR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x-none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8AC042E3-AFBE-5D4B-8EA3-B07D9241D603}" type="datetimeFigureOut">
              <a:rPr lang="pt-BR" smtClean="0"/>
              <a:t>10/30/11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3FEEF7E3-7568-4D43-98B5-A9C3135035DA}" type="slidenum">
              <a:rPr lang="pt-BR" smtClean="0"/>
              <a:t>‹#›</a:t>
            </a:fld>
            <a:endParaRPr lang="pt-B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x-none" smtClean="0"/>
              <a:t>Click to edit Master title style</a:t>
            </a:r>
            <a:endParaRPr lang="pt-BR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x-none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8AC042E3-AFBE-5D4B-8EA3-B07D9241D603}" type="datetimeFigureOut">
              <a:rPr lang="pt-BR" smtClean="0"/>
              <a:t>10/30/11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3FEEF7E3-7568-4D43-98B5-A9C3135035DA}" type="slidenum">
              <a:rPr lang="pt-BR" smtClean="0"/>
              <a:t>‹#›</a:t>
            </a:fld>
            <a:endParaRPr lang="pt-B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x-none" smtClean="0"/>
              <a:t>Click to edit Master title style</a:t>
            </a:r>
            <a:endParaRPr lang="pt-BR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x-none" smtClean="0"/>
              <a:t>Click to edit Master text styles</a:t>
            </a:r>
          </a:p>
          <a:p>
            <a:pPr lvl="1"/>
            <a:r>
              <a:rPr lang="x-none" smtClean="0"/>
              <a:t>Second level</a:t>
            </a:r>
          </a:p>
          <a:p>
            <a:pPr lvl="2"/>
            <a:r>
              <a:rPr lang="x-none" smtClean="0"/>
              <a:t>Third level</a:t>
            </a:r>
          </a:p>
          <a:p>
            <a:pPr lvl="3"/>
            <a:r>
              <a:rPr lang="x-none" smtClean="0"/>
              <a:t>Fourth level</a:t>
            </a:r>
          </a:p>
          <a:p>
            <a:pPr lvl="4"/>
            <a:r>
              <a:rPr lang="x-none" smtClean="0"/>
              <a:t>Fifth level</a:t>
            </a:r>
            <a:endParaRPr lang="pt-B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8AC042E3-AFBE-5D4B-8EA3-B07D9241D603}" type="datetimeFigureOut">
              <a:rPr lang="pt-BR" smtClean="0"/>
              <a:t>10/30/11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3FEEF7E3-7568-4D43-98B5-A9C3135035DA}" type="slidenum">
              <a:rPr lang="pt-BR" smtClean="0"/>
              <a:t>‹#›</a:t>
            </a:fld>
            <a:endParaRPr lang="pt-B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x-none" smtClean="0"/>
              <a:t>Click to edit Master title style</a:t>
            </a:r>
            <a:endParaRPr lang="pt-BR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x-none" smtClean="0"/>
              <a:t>Click to edit Master text styles</a:t>
            </a:r>
          </a:p>
          <a:p>
            <a:pPr lvl="1"/>
            <a:r>
              <a:rPr lang="x-none" smtClean="0"/>
              <a:t>Second level</a:t>
            </a:r>
          </a:p>
          <a:p>
            <a:pPr lvl="2"/>
            <a:r>
              <a:rPr lang="x-none" smtClean="0"/>
              <a:t>Third level</a:t>
            </a:r>
          </a:p>
          <a:p>
            <a:pPr lvl="3"/>
            <a:r>
              <a:rPr lang="x-none" smtClean="0"/>
              <a:t>Fourth level</a:t>
            </a:r>
          </a:p>
          <a:p>
            <a:pPr lvl="4"/>
            <a:r>
              <a:rPr lang="x-none" smtClean="0"/>
              <a:t>Fifth level</a:t>
            </a:r>
            <a:endParaRPr lang="pt-B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8AC042E3-AFBE-5D4B-8EA3-B07D9241D603}" type="datetimeFigureOut">
              <a:rPr lang="pt-BR" smtClean="0"/>
              <a:t>10/30/11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3FEEF7E3-7568-4D43-98B5-A9C3135035DA}" type="slidenum">
              <a:rPr lang="pt-BR" smtClean="0"/>
              <a:t>‹#›</a:t>
            </a:fld>
            <a:endParaRPr lang="pt-B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r:id="rId1"/>
    <p:sldLayoutId r:id="rId2"/>
    <p:sldLayoutId r:id="rId3"/>
    <p:sldLayoutId r:id="rId4"/>
    <p:sldLayoutId r:id="rId5"/>
    <p:sldLayoutId r:id="rId6"/>
    <p:sldLayoutId r:id="rId7"/>
    <p:sldLayoutId r:id="rId8"/>
    <p:sldLayoutId r:id="rId9"/>
    <p:sldLayoutId r:id="rId10"/>
    <p:sldLayoutId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://www.sebraepr.com.br/" TargetMode="External"/><Relationship Id="rId3" Type="http://schemas.openxmlformats.org/officeDocument/2006/relationships/hyperlink" Target="http://www.agencia.curitiba.pr.gov.br" TargetMode="Externa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alphaModFix amt="50000"/>
          </a:blip>
          <a:srcRect t="44185" b="12199"/>
          <a:stretch>
            <a:fillRect/>
          </a:stretch>
        </p:blipFill>
        <p:spPr>
          <a:xfrm>
            <a:off x="0" y="0"/>
            <a:ext cx="9144000" cy="34290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alphaModFix amt="50000"/>
          </a:blip>
          <a:srcRect t="1553" b="28551"/>
          <a:stretch>
            <a:fillRect/>
          </a:stretch>
        </p:blipFill>
        <p:spPr>
          <a:xfrm>
            <a:off x="0" y="3429000"/>
            <a:ext cx="9144000" cy="34290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1828800"/>
            <a:ext cx="9144000" cy="3048000"/>
          </a:xfrm>
          <a:prstGeom prst="rect">
            <a:avLst/>
          </a:prstGeom>
          <a:solidFill>
            <a:srgbClr val="FF6600">
              <a:alpha val="80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Rectangle 3"/>
          <p:cNvSpPr/>
          <p:nvPr/>
        </p:nvSpPr>
        <p:spPr>
          <a:xfrm>
            <a:off x="1562100" y="2286000"/>
            <a:ext cx="6019800" cy="21236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sz="4400" dirty="0" smtClean="0">
                <a:solidFill>
                  <a:srgbClr val="FFFFFF"/>
                </a:solidFill>
              </a:rPr>
              <a:t>Gerenciamento e Administração de uma Agência de Comunicação</a:t>
            </a:r>
            <a:endParaRPr lang="pt-BR" sz="4400" dirty="0">
              <a:solidFill>
                <a:srgbClr val="FFFFFF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366391" y="5715000"/>
            <a:ext cx="441121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 smtClean="0">
                <a:solidFill>
                  <a:schemeClr val="bg1"/>
                </a:solidFill>
              </a:rPr>
              <a:t>Administrar uma ag</a:t>
            </a:r>
            <a:r>
              <a:rPr lang="pt-BR" sz="2400" dirty="0" smtClean="0">
                <a:solidFill>
                  <a:schemeClr val="bg1"/>
                </a:solidFill>
              </a:rPr>
              <a:t>ência</a:t>
            </a:r>
            <a:r>
              <a:rPr lang="pt-BR" sz="2400" dirty="0" smtClean="0">
                <a:solidFill>
                  <a:schemeClr val="bg1"/>
                </a:solidFill>
              </a:rPr>
              <a:t>  n</a:t>
            </a:r>
            <a:r>
              <a:rPr lang="pt-BR" sz="2400" dirty="0" smtClean="0">
                <a:solidFill>
                  <a:schemeClr val="bg1"/>
                </a:solidFill>
              </a:rPr>
              <a:t>ão é um filme de terror.</a:t>
            </a:r>
            <a:endParaRPr lang="pt-BR" sz="2400" dirty="0">
              <a:solidFill>
                <a:schemeClr val="bg1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2607564" y="772180"/>
            <a:ext cx="394563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2800" dirty="0" smtClean="0">
                <a:solidFill>
                  <a:schemeClr val="bg1"/>
                </a:solidFill>
              </a:rPr>
              <a:t>Primeiro de tudo, saiba....</a:t>
            </a:r>
            <a:endParaRPr lang="pt-BR" sz="2800" dirty="0" smtClean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alphaModFix/>
            <a:lum bright="32000" contrast="17000"/>
          </a:blip>
          <a:srcRect t="22118" b="21007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5181600" y="228600"/>
            <a:ext cx="3716282" cy="58477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3200" dirty="0" smtClean="0"/>
              <a:t>Mas pode ser tornar!</a:t>
            </a:r>
            <a:endParaRPr lang="pt-BR" sz="32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399312" y="1929824"/>
            <a:ext cx="4192975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200" dirty="0" smtClean="0"/>
              <a:t>O Que </a:t>
            </a:r>
            <a:r>
              <a:rPr lang="pt-BR" sz="3200" dirty="0" smtClean="0"/>
              <a:t>é administração?</a:t>
            </a:r>
            <a:endParaRPr lang="pt-BR" sz="3200" dirty="0"/>
          </a:p>
        </p:txBody>
      </p:sp>
      <p:sp>
        <p:nvSpPr>
          <p:cNvPr id="5" name="TextBox 4"/>
          <p:cNvSpPr txBox="1"/>
          <p:nvPr/>
        </p:nvSpPr>
        <p:spPr>
          <a:xfrm>
            <a:off x="1028700" y="2971800"/>
            <a:ext cx="6934200" cy="923330"/>
          </a:xfrm>
          <a:prstGeom prst="rect">
            <a:avLst/>
          </a:prstGeom>
          <a:solidFill>
            <a:srgbClr val="FF6600">
              <a:alpha val="80000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pt-BR" dirty="0" smtClean="0">
                <a:solidFill>
                  <a:schemeClr val="bg1"/>
                </a:solidFill>
              </a:rPr>
              <a:t>A administra</a:t>
            </a:r>
            <a:r>
              <a:rPr lang="pt-BR" dirty="0" smtClean="0">
                <a:solidFill>
                  <a:schemeClr val="bg1"/>
                </a:solidFill>
              </a:rPr>
              <a:t>ção é o processo de planejar, organizar, dirigir e controlar o uso dos recursos organizacionais para alcançar determinados objetivos de maneira eficaz e eficiente. (</a:t>
            </a:r>
            <a:r>
              <a:rPr lang="pt-BR" dirty="0" err="1">
                <a:solidFill>
                  <a:schemeClr val="bg1"/>
                </a:solidFill>
              </a:rPr>
              <a:t>C</a:t>
            </a:r>
            <a:r>
              <a:rPr lang="pt-BR" dirty="0" err="1" smtClean="0">
                <a:solidFill>
                  <a:schemeClr val="bg1"/>
                </a:solidFill>
              </a:rPr>
              <a:t>hiavenato</a:t>
            </a:r>
            <a:r>
              <a:rPr lang="pt-BR" dirty="0" smtClean="0">
                <a:solidFill>
                  <a:schemeClr val="bg1"/>
                </a:solidFill>
              </a:rPr>
              <a:t>, 1999)</a:t>
            </a:r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04875" y="4876800"/>
            <a:ext cx="71818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smtClean="0"/>
              <a:t>Muito bacana, mas acho que estamos no curso errado, aqui </a:t>
            </a:r>
            <a:r>
              <a:rPr lang="pt-BR" dirty="0" smtClean="0"/>
              <a:t>é publicidade!</a:t>
            </a:r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lum bright="6000" contrast="41000"/>
          </a:blip>
          <a:srcRect l="6325" t="2151" r="4888" b="3226"/>
          <a:stretch>
            <a:fillRect/>
          </a:stretch>
        </p:blipFill>
        <p:spPr>
          <a:xfrm>
            <a:off x="0" y="0"/>
            <a:ext cx="9144000" cy="6864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19150" y="5410200"/>
            <a:ext cx="7353300" cy="1200328"/>
          </a:xfrm>
          <a:prstGeom prst="rect">
            <a:avLst/>
          </a:prstGeom>
          <a:solidFill>
            <a:srgbClr val="FF6600">
              <a:alpha val="40000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pt-BR" sz="2400" dirty="0" smtClean="0">
                <a:solidFill>
                  <a:srgbClr val="FFFFFF"/>
                </a:solidFill>
              </a:rPr>
              <a:t>Mas voc</a:t>
            </a:r>
            <a:r>
              <a:rPr lang="pt-BR" sz="2400" dirty="0" smtClean="0">
                <a:solidFill>
                  <a:srgbClr val="FFFFFF"/>
                </a:solidFill>
              </a:rPr>
              <a:t>ê tem ou quer ter uma agência, então algo esta errado, você precisa de administração e processos se decidir </a:t>
            </a:r>
            <a:r>
              <a:rPr lang="pt-BR" sz="2400" smtClean="0">
                <a:solidFill>
                  <a:srgbClr val="FFFFFF"/>
                </a:solidFill>
              </a:rPr>
              <a:t>ser empreendedor</a:t>
            </a:r>
            <a:r>
              <a:rPr lang="pt-BR" sz="2400" dirty="0" smtClean="0">
                <a:solidFill>
                  <a:srgbClr val="FFFFFF"/>
                </a:solidFill>
              </a:rPr>
              <a:t>!</a:t>
            </a:r>
            <a:endParaRPr lang="pt-BR" sz="2400" dirty="0">
              <a:solidFill>
                <a:srgbClr val="FFFFFF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28650" y="914400"/>
            <a:ext cx="7886700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sz="3200" dirty="0" smtClean="0">
                <a:solidFill>
                  <a:srgbClr val="FFFFFF"/>
                </a:solidFill>
              </a:rPr>
              <a:t>Publicitários não querem ser administradores.</a:t>
            </a:r>
          </a:p>
          <a:p>
            <a:pPr algn="ctr"/>
            <a:r>
              <a:rPr lang="pt-BR" sz="3200" dirty="0" smtClean="0">
                <a:solidFill>
                  <a:srgbClr val="FFFFFF"/>
                </a:solidFill>
              </a:rPr>
              <a:t>Eles n</a:t>
            </a:r>
            <a:r>
              <a:rPr lang="pt-BR" sz="3200" dirty="0" smtClean="0">
                <a:solidFill>
                  <a:srgbClr val="FFFFFF"/>
                </a:solidFill>
              </a:rPr>
              <a:t>em são preparados para isso...</a:t>
            </a:r>
            <a:endParaRPr lang="pt-BR" sz="3200" dirty="0">
              <a:solidFill>
                <a:srgbClr val="FFFFFF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209800" y="533400"/>
            <a:ext cx="4572000" cy="1077218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pt-BR" sz="3200" dirty="0" smtClean="0"/>
              <a:t>Será que realmente quero ser um empreendedor?</a:t>
            </a:r>
            <a:endParaRPr lang="pt-BR" sz="3200" dirty="0"/>
          </a:p>
        </p:txBody>
      </p:sp>
      <p:sp>
        <p:nvSpPr>
          <p:cNvPr id="5" name="TextBox 4"/>
          <p:cNvSpPr txBox="1"/>
          <p:nvPr/>
        </p:nvSpPr>
        <p:spPr>
          <a:xfrm>
            <a:off x="457200" y="2514600"/>
            <a:ext cx="3581400" cy="3693319"/>
          </a:xfrm>
          <a:prstGeom prst="rect">
            <a:avLst/>
          </a:prstGeom>
          <a:solidFill>
            <a:srgbClr val="FF6600">
              <a:alpha val="80000"/>
            </a:srgbClr>
          </a:solidFill>
        </p:spPr>
        <p:txBody>
          <a:bodyPr wrap="square" rtlCol="0">
            <a:spAutoFit/>
          </a:bodyPr>
          <a:lstStyle/>
          <a:p>
            <a:r>
              <a:rPr lang="pt-BR" b="1" dirty="0" smtClean="0">
                <a:solidFill>
                  <a:srgbClr val="FFFFFF"/>
                </a:solidFill>
              </a:rPr>
              <a:t>Vantagens</a:t>
            </a:r>
          </a:p>
          <a:p>
            <a:endParaRPr lang="pt-BR" dirty="0" smtClean="0">
              <a:solidFill>
                <a:srgbClr val="FFFFFF"/>
              </a:solidFill>
            </a:endParaRPr>
          </a:p>
          <a:p>
            <a:pPr>
              <a:buFont typeface="Arial"/>
              <a:buChar char="•"/>
            </a:pPr>
            <a:r>
              <a:rPr lang="pt-BR" dirty="0" smtClean="0">
                <a:solidFill>
                  <a:srgbClr val="FFFFFF"/>
                </a:solidFill>
              </a:rPr>
              <a:t> Posso ganhar mais do que como empregado;</a:t>
            </a:r>
          </a:p>
          <a:p>
            <a:endParaRPr lang="pt-BR" dirty="0" smtClean="0">
              <a:solidFill>
                <a:srgbClr val="FFFFFF"/>
              </a:solidFill>
            </a:endParaRPr>
          </a:p>
          <a:p>
            <a:pPr>
              <a:buFont typeface="Arial"/>
              <a:buChar char="•"/>
            </a:pPr>
            <a:r>
              <a:rPr lang="pt-BR" dirty="0" smtClean="0">
                <a:solidFill>
                  <a:srgbClr val="FFFFFF"/>
                </a:solidFill>
              </a:rPr>
              <a:t> Posso fazer o meu hor</a:t>
            </a:r>
            <a:r>
              <a:rPr lang="pt-BR" dirty="0" smtClean="0">
                <a:solidFill>
                  <a:srgbClr val="FFFFFF"/>
                </a:solidFill>
              </a:rPr>
              <a:t>ário;</a:t>
            </a:r>
          </a:p>
          <a:p>
            <a:endParaRPr lang="pt-BR" dirty="0" smtClean="0">
              <a:solidFill>
                <a:srgbClr val="FFFFFF"/>
              </a:solidFill>
            </a:endParaRPr>
          </a:p>
          <a:p>
            <a:pPr>
              <a:buFont typeface="Arial"/>
              <a:buChar char="•"/>
            </a:pPr>
            <a:r>
              <a:rPr lang="pt-BR" dirty="0" smtClean="0">
                <a:solidFill>
                  <a:srgbClr val="FFFFFF"/>
                </a:solidFill>
              </a:rPr>
              <a:t> Posso decidir a decoração da agência, se usaremos Mac OS ou </a:t>
            </a:r>
            <a:r>
              <a:rPr lang="pt-BR" dirty="0">
                <a:solidFill>
                  <a:srgbClr val="FFFFFF"/>
                </a:solidFill>
              </a:rPr>
              <a:t>W</a:t>
            </a:r>
            <a:r>
              <a:rPr lang="pt-BR" dirty="0" smtClean="0">
                <a:solidFill>
                  <a:srgbClr val="FFFFFF"/>
                </a:solidFill>
              </a:rPr>
              <a:t>indows, se queremos ser grandes ou pequenos, se seremos </a:t>
            </a:r>
            <a:r>
              <a:rPr lang="pt-BR" dirty="0" err="1" smtClean="0">
                <a:solidFill>
                  <a:srgbClr val="FFFFFF"/>
                </a:solidFill>
              </a:rPr>
              <a:t>dog</a:t>
            </a:r>
            <a:r>
              <a:rPr lang="pt-BR" dirty="0" smtClean="0">
                <a:solidFill>
                  <a:srgbClr val="FFFFFF"/>
                </a:solidFill>
              </a:rPr>
              <a:t> </a:t>
            </a:r>
            <a:r>
              <a:rPr lang="pt-BR" dirty="0" err="1" smtClean="0">
                <a:solidFill>
                  <a:srgbClr val="FFFFFF"/>
                </a:solidFill>
              </a:rPr>
              <a:t>friendly</a:t>
            </a:r>
            <a:r>
              <a:rPr lang="pt-BR" dirty="0" smtClean="0">
                <a:solidFill>
                  <a:srgbClr val="FFFFFF"/>
                </a:solidFill>
              </a:rPr>
              <a:t>, enfim, decidimos que caminhos iremos trilhar. </a:t>
            </a:r>
            <a:endParaRPr lang="pt-BR" dirty="0" smtClean="0">
              <a:solidFill>
                <a:srgbClr val="FFFFFF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343400" y="2514600"/>
            <a:ext cx="4114800" cy="3693319"/>
          </a:xfrm>
          <a:prstGeom prst="rect">
            <a:avLst/>
          </a:prstGeom>
          <a:solidFill>
            <a:srgbClr val="FF6600">
              <a:alpha val="80000"/>
            </a:srgbClr>
          </a:solidFill>
        </p:spPr>
        <p:txBody>
          <a:bodyPr wrap="square" rtlCol="0">
            <a:spAutoFit/>
          </a:bodyPr>
          <a:lstStyle/>
          <a:p>
            <a:r>
              <a:rPr lang="pt-BR" b="1" dirty="0" smtClean="0">
                <a:solidFill>
                  <a:srgbClr val="FFFFFF"/>
                </a:solidFill>
              </a:rPr>
              <a:t>Desvantagens</a:t>
            </a:r>
          </a:p>
          <a:p>
            <a:endParaRPr lang="pt-BR" dirty="0" smtClean="0">
              <a:solidFill>
                <a:srgbClr val="FFFFFF"/>
              </a:solidFill>
            </a:endParaRPr>
          </a:p>
          <a:p>
            <a:pPr>
              <a:buFont typeface="Arial"/>
              <a:buChar char="•"/>
            </a:pPr>
            <a:r>
              <a:rPr lang="pt-BR" dirty="0" smtClean="0">
                <a:solidFill>
                  <a:srgbClr val="FFFFFF"/>
                </a:solidFill>
              </a:rPr>
              <a:t> Dinheiro n</a:t>
            </a:r>
            <a:r>
              <a:rPr lang="pt-BR" dirty="0" smtClean="0">
                <a:solidFill>
                  <a:srgbClr val="FFFFFF"/>
                </a:solidFill>
              </a:rPr>
              <a:t>ão é o maior motivador, acredite em mim, tem horas que não compensa!</a:t>
            </a:r>
          </a:p>
          <a:p>
            <a:endParaRPr lang="pt-BR" dirty="0" smtClean="0">
              <a:solidFill>
                <a:srgbClr val="FFFFFF"/>
              </a:solidFill>
            </a:endParaRPr>
          </a:p>
          <a:p>
            <a:pPr>
              <a:buFont typeface="Arial"/>
              <a:buChar char="•"/>
            </a:pPr>
            <a:r>
              <a:rPr lang="pt-BR" dirty="0" smtClean="0">
                <a:solidFill>
                  <a:srgbClr val="FFFFFF"/>
                </a:solidFill>
              </a:rPr>
              <a:t> A rede de contatos desenvolvida </a:t>
            </a:r>
            <a:r>
              <a:rPr lang="pt-BR" dirty="0" smtClean="0">
                <a:solidFill>
                  <a:srgbClr val="FFFFFF"/>
                </a:solidFill>
              </a:rPr>
              <a:t>é menor, e quase sempre será focado no comercial.</a:t>
            </a:r>
          </a:p>
          <a:p>
            <a:endParaRPr lang="pt-BR" dirty="0" smtClean="0">
              <a:solidFill>
                <a:srgbClr val="FFFFFF"/>
              </a:solidFill>
            </a:endParaRPr>
          </a:p>
          <a:p>
            <a:pPr>
              <a:buFont typeface="Arial"/>
              <a:buChar char="•"/>
            </a:pPr>
            <a:r>
              <a:rPr lang="pt-BR" dirty="0" smtClean="0">
                <a:solidFill>
                  <a:srgbClr val="FFFFFF"/>
                </a:solidFill>
              </a:rPr>
              <a:t> Sério, ter empresa é administrar um negócio, e isso é um emprego a parte dentro ou fora do horário comercial.</a:t>
            </a:r>
            <a:endParaRPr lang="pt-BR" dirty="0" smtClean="0">
              <a:solidFill>
                <a:srgbClr val="FFFFFF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42817" y="2512873"/>
            <a:ext cx="6058366" cy="1754327"/>
          </a:xfrm>
          <a:prstGeom prst="rect">
            <a:avLst/>
          </a:prstGeom>
          <a:solidFill>
            <a:srgbClr val="FF6600">
              <a:alpha val="40000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pt-BR" sz="3600" dirty="0" smtClean="0">
                <a:solidFill>
                  <a:srgbClr val="FFFFFF"/>
                </a:solidFill>
              </a:rPr>
              <a:t>Ta bom, mas ainda assim</a:t>
            </a:r>
            <a:r>
              <a:rPr lang="pt-BR" sz="3600" dirty="0" smtClean="0">
                <a:solidFill>
                  <a:srgbClr val="FFFFFF"/>
                </a:solidFill>
              </a:rPr>
              <a:t> decidi ser dono da minha agência,     EU SOU EMPREENDEDOR!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800100" y="5181600"/>
            <a:ext cx="73914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dirty="0" smtClean="0"/>
              <a:t>Pesquisa </a:t>
            </a:r>
            <a:r>
              <a:rPr lang="pt-BR" dirty="0" err="1" smtClean="0"/>
              <a:t>vox</a:t>
            </a:r>
            <a:r>
              <a:rPr lang="pt-BR" dirty="0" smtClean="0"/>
              <a:t> </a:t>
            </a:r>
            <a:r>
              <a:rPr lang="pt-BR" dirty="0" err="1" smtClean="0"/>
              <a:t>populli</a:t>
            </a:r>
            <a:r>
              <a:rPr lang="pt-BR" dirty="0" smtClean="0"/>
              <a:t> de 2007 aponta que ainda temos um alto índice de mortalidade nas empresas brasileiras, 1 em cada 3.</a:t>
            </a:r>
            <a:endParaRPr lang="pt-BR" dirty="0"/>
          </a:p>
        </p:txBody>
      </p:sp>
      <p:sp>
        <p:nvSpPr>
          <p:cNvPr id="5" name="Rectangle 4"/>
          <p:cNvSpPr/>
          <p:nvPr/>
        </p:nvSpPr>
        <p:spPr>
          <a:xfrm>
            <a:off x="1382866" y="914400"/>
            <a:ext cx="6378268" cy="58477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3200" dirty="0" smtClean="0"/>
              <a:t>Algumas razões para o barco afundar</a:t>
            </a:r>
            <a:endParaRPr lang="pt-BR" sz="3200" dirty="0" smtClean="0"/>
          </a:p>
        </p:txBody>
      </p:sp>
      <p:sp>
        <p:nvSpPr>
          <p:cNvPr id="6" name="Rectangle 5"/>
          <p:cNvSpPr/>
          <p:nvPr/>
        </p:nvSpPr>
        <p:spPr>
          <a:xfrm>
            <a:off x="2209800" y="2459504"/>
            <a:ext cx="4572000" cy="1938992"/>
          </a:xfrm>
          <a:prstGeom prst="rect">
            <a:avLst/>
          </a:prstGeom>
          <a:solidFill>
            <a:srgbClr val="FF6600">
              <a:alpha val="80000"/>
            </a:srgbClr>
          </a:solidFill>
        </p:spPr>
        <p:txBody>
          <a:bodyPr>
            <a:spAutoFit/>
          </a:bodyPr>
          <a:lstStyle/>
          <a:p>
            <a:pPr algn="ctr">
              <a:buFont typeface="Arial"/>
              <a:buChar char="•"/>
            </a:pPr>
            <a:r>
              <a:rPr lang="pt-BR" sz="2400" dirty="0" smtClean="0">
                <a:solidFill>
                  <a:srgbClr val="FFFFFF"/>
                </a:solidFill>
              </a:rPr>
              <a:t> Falta de capacidade gerencial</a:t>
            </a:r>
          </a:p>
          <a:p>
            <a:pPr algn="ctr">
              <a:buFont typeface="Arial"/>
              <a:buChar char="•"/>
            </a:pPr>
            <a:r>
              <a:rPr lang="pt-BR" sz="2400" dirty="0" smtClean="0">
                <a:solidFill>
                  <a:srgbClr val="FFFFFF"/>
                </a:solidFill>
              </a:rPr>
              <a:t> Causas macro econômicas</a:t>
            </a:r>
          </a:p>
          <a:p>
            <a:pPr algn="ctr">
              <a:buFont typeface="Arial"/>
              <a:buChar char="•"/>
            </a:pPr>
            <a:r>
              <a:rPr lang="pt-BR" sz="2400" dirty="0" smtClean="0">
                <a:solidFill>
                  <a:srgbClr val="FFFFFF"/>
                </a:solidFill>
              </a:rPr>
              <a:t> Formação inadequada de preços</a:t>
            </a:r>
          </a:p>
          <a:p>
            <a:pPr algn="ctr">
              <a:buFont typeface="Arial"/>
              <a:buChar char="•"/>
            </a:pPr>
            <a:r>
              <a:rPr lang="pt-BR" sz="2400" dirty="0" smtClean="0">
                <a:solidFill>
                  <a:srgbClr val="FFFFFF"/>
                </a:solidFill>
              </a:rPr>
              <a:t> Falta de planejamento</a:t>
            </a:r>
          </a:p>
          <a:p>
            <a:pPr algn="ctr">
              <a:buFont typeface="Arial"/>
              <a:buChar char="•"/>
            </a:pPr>
            <a:r>
              <a:rPr lang="pt-BR" sz="2400" dirty="0" smtClean="0">
                <a:solidFill>
                  <a:srgbClr val="FFFFFF"/>
                </a:solidFill>
              </a:rPr>
              <a:t> N</a:t>
            </a:r>
            <a:r>
              <a:rPr lang="pt-BR" sz="2400" dirty="0" smtClean="0">
                <a:solidFill>
                  <a:srgbClr val="FFFFFF"/>
                </a:solidFill>
              </a:rPr>
              <a:t>ão saber cobrar!</a:t>
            </a:r>
            <a:endParaRPr lang="pt-BR" sz="2400" dirty="0" smtClean="0">
              <a:solidFill>
                <a:srgbClr val="FFFFFF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47750" y="2667000"/>
            <a:ext cx="6896100" cy="1569660"/>
          </a:xfrm>
          <a:prstGeom prst="rect">
            <a:avLst/>
          </a:prstGeom>
          <a:solidFill>
            <a:srgbClr val="FF6600">
              <a:alpha val="80000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pt-BR" sz="3200" dirty="0" smtClean="0">
                <a:solidFill>
                  <a:srgbClr val="FFFFFF"/>
                </a:solidFill>
              </a:rPr>
              <a:t>Acho que sua ag</a:t>
            </a:r>
            <a:r>
              <a:rPr lang="pt-BR" sz="3200" dirty="0" smtClean="0">
                <a:solidFill>
                  <a:srgbClr val="FFFFFF"/>
                </a:solidFill>
              </a:rPr>
              <a:t>ência vai terminar  num pântano se você não prestar atenção em fazer gestão do seu negócio!</a:t>
            </a:r>
            <a:endParaRPr lang="pt-BR" sz="3200" dirty="0">
              <a:solidFill>
                <a:srgbClr val="FFFFFF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34857"/>
            <a:ext cx="8534400" cy="6723143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877793" y="1447800"/>
            <a:ext cx="5388414" cy="58477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3200" dirty="0" smtClean="0"/>
              <a:t>Mas ent</a:t>
            </a:r>
            <a:r>
              <a:rPr lang="pt-BR" sz="3200" dirty="0" smtClean="0"/>
              <a:t>ão, p</a:t>
            </a:r>
            <a:r>
              <a:rPr lang="pt-BR" sz="3200" dirty="0" smtClean="0"/>
              <a:t>or onde começar?</a:t>
            </a:r>
            <a:endParaRPr lang="pt-BR" sz="32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114550" y="914400"/>
            <a:ext cx="4914900" cy="5847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3200" dirty="0" smtClean="0"/>
              <a:t>Finanças </a:t>
            </a:r>
            <a:r>
              <a:rPr lang="pt-BR" sz="3200" dirty="0" smtClean="0"/>
              <a:t>é bacana</a:t>
            </a:r>
            <a:r>
              <a:rPr lang="pt-BR" sz="3200" dirty="0" smtClean="0"/>
              <a:t>, acredite!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33600" y="2438400"/>
            <a:ext cx="4762500" cy="1938992"/>
          </a:xfrm>
          <a:prstGeom prst="rect">
            <a:avLst/>
          </a:prstGeom>
          <a:solidFill>
            <a:srgbClr val="FF6600">
              <a:alpha val="80000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pt-BR" sz="2400" dirty="0" smtClean="0">
                <a:solidFill>
                  <a:srgbClr val="FFFFFF"/>
                </a:solidFill>
              </a:rPr>
              <a:t>Um dia voc</a:t>
            </a:r>
            <a:r>
              <a:rPr lang="pt-BR" sz="2400" dirty="0" smtClean="0">
                <a:solidFill>
                  <a:srgbClr val="FFFFFF"/>
                </a:solidFill>
              </a:rPr>
              <a:t>ê se irá se  perguntar:</a:t>
            </a:r>
          </a:p>
          <a:p>
            <a:pPr algn="ctr"/>
            <a:endParaRPr lang="pt-BR" sz="2400" dirty="0" smtClean="0">
              <a:solidFill>
                <a:srgbClr val="FFFFFF"/>
              </a:solidFill>
            </a:endParaRPr>
          </a:p>
          <a:p>
            <a:pPr algn="ctr"/>
            <a:r>
              <a:rPr lang="pt-BR" sz="2400" dirty="0" smtClean="0">
                <a:solidFill>
                  <a:srgbClr val="FFFFFF"/>
                </a:solidFill>
              </a:rPr>
              <a:t>Para onde esta indo meu dinheiro?</a:t>
            </a:r>
          </a:p>
          <a:p>
            <a:pPr algn="ctr"/>
            <a:r>
              <a:rPr lang="pt-BR" sz="2400" dirty="0" smtClean="0">
                <a:solidFill>
                  <a:srgbClr val="FFFFFF"/>
                </a:solidFill>
              </a:rPr>
              <a:t>Como faço para ganhar mais?</a:t>
            </a:r>
          </a:p>
          <a:p>
            <a:pPr algn="ctr"/>
            <a:r>
              <a:rPr lang="pt-BR" sz="2400" dirty="0" smtClean="0">
                <a:solidFill>
                  <a:srgbClr val="FFFFFF"/>
                </a:solidFill>
              </a:rPr>
              <a:t>E quando vou receber?</a:t>
            </a:r>
          </a:p>
        </p:txBody>
      </p:sp>
      <p:sp>
        <p:nvSpPr>
          <p:cNvPr id="6" name="Rectangle 5"/>
          <p:cNvSpPr/>
          <p:nvPr/>
        </p:nvSpPr>
        <p:spPr>
          <a:xfrm>
            <a:off x="742950" y="5029200"/>
            <a:ext cx="7505700" cy="1200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sz="2400" dirty="0" smtClean="0"/>
              <a:t>Aprender </a:t>
            </a:r>
            <a:r>
              <a:rPr lang="pt-BR" sz="2400" b="1" dirty="0" smtClean="0"/>
              <a:t>fluxo de caixa </a:t>
            </a:r>
            <a:r>
              <a:rPr lang="pt-BR" sz="2400" dirty="0" smtClean="0"/>
              <a:t>é essencial para a sua sobrevivência como negócio. Você só precisa saber fazer as </a:t>
            </a:r>
            <a:r>
              <a:rPr lang="pt-BR" sz="2400" b="1" dirty="0" smtClean="0"/>
              <a:t>operações básicas </a:t>
            </a:r>
            <a:r>
              <a:rPr lang="pt-BR" sz="2400" dirty="0" smtClean="0"/>
              <a:t>e </a:t>
            </a:r>
            <a:r>
              <a:rPr lang="pt-BR" sz="2400" b="1" dirty="0" smtClean="0"/>
              <a:t>não ter medo de matemática</a:t>
            </a:r>
            <a:r>
              <a:rPr lang="pt-BR" sz="2400" dirty="0" smtClean="0"/>
              <a:t>. </a:t>
            </a:r>
            <a:endParaRPr lang="pt-BR" sz="2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rcRect r="10935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981200" y="2590800"/>
            <a:ext cx="5181600" cy="1569660"/>
          </a:xfrm>
          <a:prstGeom prst="rect">
            <a:avLst/>
          </a:prstGeom>
          <a:solidFill>
            <a:srgbClr val="FF6600">
              <a:alpha val="80000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pt-BR" sz="3200" dirty="0" smtClean="0">
                <a:solidFill>
                  <a:srgbClr val="FFFFFF"/>
                </a:solidFill>
              </a:rPr>
              <a:t>A primeira grande forma de ganhar dinheiro </a:t>
            </a:r>
            <a:r>
              <a:rPr lang="pt-BR" sz="3200" dirty="0" smtClean="0">
                <a:solidFill>
                  <a:srgbClr val="FFFFFF"/>
                </a:solidFill>
              </a:rPr>
              <a:t>é</a:t>
            </a:r>
            <a:r>
              <a:rPr lang="pt-BR" sz="3200" dirty="0" smtClean="0">
                <a:solidFill>
                  <a:srgbClr val="FFFFFF"/>
                </a:solidFill>
              </a:rPr>
              <a:t> n</a:t>
            </a:r>
            <a:r>
              <a:rPr lang="pt-BR" sz="3200" dirty="0" smtClean="0">
                <a:solidFill>
                  <a:srgbClr val="FFFFFF"/>
                </a:solidFill>
              </a:rPr>
              <a:t>ão perdendo dinheiro!</a:t>
            </a:r>
            <a:endParaRPr lang="pt-BR" sz="3200" dirty="0">
              <a:solidFill>
                <a:srgbClr val="FFFFFF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1524000"/>
            <a:ext cx="6962395" cy="3962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58849" y="609600"/>
            <a:ext cx="4473901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200" dirty="0" smtClean="0"/>
              <a:t>Fluxo de Caixa (</a:t>
            </a:r>
            <a:r>
              <a:rPr lang="pt-BR" sz="3200" dirty="0" err="1" smtClean="0"/>
              <a:t>cash</a:t>
            </a:r>
            <a:r>
              <a:rPr lang="pt-BR" sz="3200" dirty="0" smtClean="0"/>
              <a:t> </a:t>
            </a:r>
            <a:r>
              <a:rPr lang="pt-BR" sz="3200" dirty="0" err="1" smtClean="0"/>
              <a:t>flow</a:t>
            </a:r>
            <a:r>
              <a:rPr lang="pt-BR" sz="3200" dirty="0" smtClean="0"/>
              <a:t>)</a:t>
            </a:r>
            <a:endParaRPr lang="pt-BR" sz="3200" dirty="0"/>
          </a:p>
        </p:txBody>
      </p:sp>
      <p:sp>
        <p:nvSpPr>
          <p:cNvPr id="6" name="TextBox 5"/>
          <p:cNvSpPr txBox="1"/>
          <p:nvPr/>
        </p:nvSpPr>
        <p:spPr>
          <a:xfrm>
            <a:off x="3119292" y="6019800"/>
            <a:ext cx="2753015" cy="369332"/>
          </a:xfrm>
          <a:prstGeom prst="rect">
            <a:avLst/>
          </a:prstGeom>
          <a:solidFill>
            <a:srgbClr val="FF6600">
              <a:alpha val="80000"/>
            </a:srgbClr>
          </a:solidFill>
        </p:spPr>
        <p:txBody>
          <a:bodyPr wrap="none" rtlCol="0">
            <a:spAutoFit/>
          </a:bodyPr>
          <a:lstStyle/>
          <a:p>
            <a:r>
              <a:rPr lang="pt-BR" dirty="0" smtClean="0">
                <a:solidFill>
                  <a:schemeClr val="bg1"/>
                </a:solidFill>
              </a:rPr>
              <a:t>Assustador </a:t>
            </a:r>
            <a:r>
              <a:rPr lang="pt-BR" dirty="0" err="1" smtClean="0">
                <a:solidFill>
                  <a:schemeClr val="bg1"/>
                </a:solidFill>
              </a:rPr>
              <a:t>n</a:t>
            </a:r>
            <a:r>
              <a:rPr lang="pt-BR" dirty="0" err="1" smtClean="0">
                <a:solidFill>
                  <a:schemeClr val="bg1"/>
                </a:solidFill>
              </a:rPr>
              <a:t>é</a:t>
            </a:r>
            <a:r>
              <a:rPr lang="pt-BR" dirty="0" smtClean="0">
                <a:solidFill>
                  <a:schemeClr val="bg1"/>
                </a:solidFill>
              </a:rPr>
              <a:t>? Nem tanto!</a:t>
            </a:r>
            <a:endParaRPr lang="pt-BR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252538" y="990600"/>
            <a:ext cx="4486524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3200" dirty="0" smtClean="0"/>
              <a:t>Or</a:t>
            </a:r>
            <a:r>
              <a:rPr lang="pt-BR" sz="3200" dirty="0" smtClean="0"/>
              <a:t>çamentos, você precisa</a:t>
            </a:r>
          </a:p>
          <a:p>
            <a:pPr algn="ctr"/>
            <a:r>
              <a:rPr lang="pt-BR" sz="3200" dirty="0" smtClean="0"/>
              <a:t>aprender o básico</a:t>
            </a:r>
            <a:endParaRPr lang="pt-BR" sz="3200" dirty="0"/>
          </a:p>
        </p:txBody>
      </p:sp>
      <p:sp>
        <p:nvSpPr>
          <p:cNvPr id="5" name="TextBox 4"/>
          <p:cNvSpPr txBox="1"/>
          <p:nvPr/>
        </p:nvSpPr>
        <p:spPr>
          <a:xfrm>
            <a:off x="1360379" y="2754868"/>
            <a:ext cx="62708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smtClean="0"/>
              <a:t>S</a:t>
            </a:r>
            <a:r>
              <a:rPr lang="pt-BR" dirty="0" smtClean="0"/>
              <a:t>ó existe um jeito de definir o valor do seu trabalho, é por horas!</a:t>
            </a:r>
            <a:endParaRPr lang="pt-BR" dirty="0"/>
          </a:p>
        </p:txBody>
      </p:sp>
      <p:sp>
        <p:nvSpPr>
          <p:cNvPr id="6" name="TextBox 5"/>
          <p:cNvSpPr txBox="1"/>
          <p:nvPr/>
        </p:nvSpPr>
        <p:spPr>
          <a:xfrm>
            <a:off x="914400" y="5401270"/>
            <a:ext cx="71628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b="1" dirty="0" smtClean="0"/>
              <a:t>Custos fixos (CF): </a:t>
            </a:r>
            <a:r>
              <a:rPr lang="pt-BR" dirty="0" smtClean="0"/>
              <a:t>tudo que tem sa</a:t>
            </a:r>
            <a:r>
              <a:rPr lang="pt-BR" dirty="0" smtClean="0"/>
              <a:t>ída mensal fixa.</a:t>
            </a:r>
          </a:p>
          <a:p>
            <a:pPr algn="ctr"/>
            <a:r>
              <a:rPr lang="pt-BR" b="1" dirty="0" smtClean="0"/>
              <a:t>Taxa de marcação (TM):</a:t>
            </a:r>
            <a:r>
              <a:rPr lang="pt-BR" dirty="0" smtClean="0"/>
              <a:t> Quanto você quer ganhar? Sua margem de lucro.</a:t>
            </a:r>
          </a:p>
          <a:p>
            <a:pPr algn="ctr"/>
            <a:r>
              <a:rPr lang="pt-BR" b="1" dirty="0" smtClean="0"/>
              <a:t>Capacidade mensal (CM): </a:t>
            </a:r>
            <a:r>
              <a:rPr lang="pt-BR" dirty="0" smtClean="0"/>
              <a:t>Horas disponíveis para trabalhar.</a:t>
            </a:r>
            <a:endParaRPr lang="pt-BR" dirty="0"/>
          </a:p>
        </p:txBody>
      </p:sp>
      <p:sp>
        <p:nvSpPr>
          <p:cNvPr id="7" name="TextBox 6"/>
          <p:cNvSpPr txBox="1"/>
          <p:nvPr/>
        </p:nvSpPr>
        <p:spPr>
          <a:xfrm>
            <a:off x="3238500" y="4520624"/>
            <a:ext cx="2514600" cy="584776"/>
          </a:xfrm>
          <a:prstGeom prst="rect">
            <a:avLst/>
          </a:prstGeom>
          <a:solidFill>
            <a:srgbClr val="FF6600">
              <a:alpha val="80000"/>
            </a:srgbClr>
          </a:solidFill>
        </p:spPr>
        <p:txBody>
          <a:bodyPr wrap="square" rtlCol="0">
            <a:spAutoFit/>
          </a:bodyPr>
          <a:lstStyle/>
          <a:p>
            <a:r>
              <a:rPr lang="pt-BR" sz="3200" dirty="0" smtClean="0">
                <a:solidFill>
                  <a:srgbClr val="FFFFFF"/>
                </a:solidFill>
              </a:rPr>
              <a:t>CF * TM / CM </a:t>
            </a:r>
            <a:endParaRPr lang="pt-BR" sz="3200" dirty="0">
              <a:solidFill>
                <a:srgbClr val="FFFFFF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2442751" y="3897868"/>
            <a:ext cx="4258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pt-BR" dirty="0" smtClean="0"/>
              <a:t>Sendo bem simples (bem simples mesmo!):</a:t>
            </a:r>
            <a:endParaRPr lang="pt-BR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rcRect b="25000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514600" y="381000"/>
            <a:ext cx="3962400" cy="1077218"/>
          </a:xfrm>
          <a:prstGeom prst="rect">
            <a:avLst/>
          </a:prstGeom>
          <a:solidFill>
            <a:srgbClr val="FF6600">
              <a:alpha val="80000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pt-BR" sz="3200" dirty="0" smtClean="0">
                <a:solidFill>
                  <a:schemeClr val="bg1"/>
                </a:solidFill>
              </a:rPr>
              <a:t>Contabilista, voc</a:t>
            </a:r>
            <a:r>
              <a:rPr lang="pt-BR" sz="3200" dirty="0" smtClean="0">
                <a:solidFill>
                  <a:schemeClr val="bg1"/>
                </a:solidFill>
              </a:rPr>
              <a:t>ê vai precisar de um!</a:t>
            </a:r>
            <a:endParaRPr lang="pt-BR" sz="3200" dirty="0">
              <a:solidFill>
                <a:schemeClr val="bg1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828800" y="4038600"/>
            <a:ext cx="5181600" cy="1754327"/>
          </a:xfrm>
          <a:prstGeom prst="rect">
            <a:avLst/>
          </a:prstGeom>
          <a:solidFill>
            <a:srgbClr val="FF6600">
              <a:alpha val="80000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pt-BR" dirty="0" smtClean="0">
                <a:solidFill>
                  <a:srgbClr val="FFFFFF"/>
                </a:solidFill>
              </a:rPr>
              <a:t>Ag</a:t>
            </a:r>
            <a:r>
              <a:rPr lang="pt-BR" dirty="0" smtClean="0">
                <a:solidFill>
                  <a:srgbClr val="FFFFFF"/>
                </a:solidFill>
              </a:rPr>
              <a:t>ências trabalham com entradas e saídas que outras empresas não tem nem idéia. Por exemplo comissão dos veículos, BV que some na contabilidade, </a:t>
            </a:r>
            <a:r>
              <a:rPr lang="pt-BR" dirty="0" err="1" smtClean="0">
                <a:solidFill>
                  <a:srgbClr val="FFFFFF"/>
                </a:solidFill>
              </a:rPr>
              <a:t>freelancers</a:t>
            </a:r>
            <a:r>
              <a:rPr lang="pt-BR" dirty="0" smtClean="0">
                <a:solidFill>
                  <a:srgbClr val="FFFFFF"/>
                </a:solidFill>
              </a:rPr>
              <a:t> sem recolhimento e etc. </a:t>
            </a:r>
          </a:p>
          <a:p>
            <a:pPr algn="ctr"/>
            <a:endParaRPr lang="pt-BR" dirty="0" smtClean="0">
              <a:solidFill>
                <a:srgbClr val="FFFFFF"/>
              </a:solidFill>
            </a:endParaRPr>
          </a:p>
          <a:p>
            <a:pPr algn="ctr"/>
            <a:r>
              <a:rPr lang="pt-BR" dirty="0" smtClean="0">
                <a:solidFill>
                  <a:srgbClr val="FFFFFF"/>
                </a:solidFill>
              </a:rPr>
              <a:t>Tenha um bom contador!</a:t>
            </a:r>
            <a:endParaRPr lang="pt-BR" dirty="0">
              <a:solidFill>
                <a:srgbClr val="FFFFFF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286000" y="1524000"/>
            <a:ext cx="4724400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sz="3200" dirty="0" smtClean="0"/>
              <a:t>Pessoas, você precisa delas, e elas de você.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00200" y="3962400"/>
            <a:ext cx="5943600" cy="1569660"/>
          </a:xfrm>
          <a:prstGeom prst="rect">
            <a:avLst/>
          </a:prstGeom>
          <a:solidFill>
            <a:srgbClr val="FF6600">
              <a:alpha val="80000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pt-BR" sz="2400" dirty="0" smtClean="0">
                <a:solidFill>
                  <a:srgbClr val="FFFFFF"/>
                </a:solidFill>
              </a:rPr>
              <a:t>Em administra</a:t>
            </a:r>
            <a:r>
              <a:rPr lang="pt-BR" sz="2400" dirty="0" smtClean="0">
                <a:solidFill>
                  <a:srgbClr val="FFFFFF"/>
                </a:solidFill>
              </a:rPr>
              <a:t>ção chamamos isso de </a:t>
            </a:r>
            <a:r>
              <a:rPr lang="pt-BR" sz="2400" dirty="0" smtClean="0">
                <a:solidFill>
                  <a:srgbClr val="FFFFFF"/>
                </a:solidFill>
              </a:rPr>
              <a:t>gest</a:t>
            </a:r>
            <a:r>
              <a:rPr lang="pt-BR" sz="2400" dirty="0" smtClean="0">
                <a:solidFill>
                  <a:srgbClr val="FFFFFF"/>
                </a:solidFill>
              </a:rPr>
              <a:t>ão de Recursos Humanos, mas sendo bem simples, se chama “como contratar e manter funcionários”</a:t>
            </a:r>
            <a:endParaRPr lang="pt-BR" sz="2400" dirty="0">
              <a:solidFill>
                <a:srgbClr val="FFFFFF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rcRect r="11458"/>
          <a:stretch>
            <a:fillRect/>
          </a:stretch>
        </p:blipFill>
        <p:spPr>
          <a:xfrm>
            <a:off x="-1" y="0"/>
            <a:ext cx="9144001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81000" y="5029200"/>
            <a:ext cx="6858000" cy="1477328"/>
          </a:xfrm>
          <a:prstGeom prst="rect">
            <a:avLst/>
          </a:prstGeom>
          <a:solidFill>
            <a:srgbClr val="FF6600">
              <a:alpha val="80000"/>
            </a:srgbClr>
          </a:solidFill>
        </p:spPr>
        <p:txBody>
          <a:bodyPr wrap="square" rtlCol="0">
            <a:spAutoFit/>
          </a:bodyPr>
          <a:lstStyle/>
          <a:p>
            <a:r>
              <a:rPr lang="pt-BR" dirty="0" smtClean="0">
                <a:solidFill>
                  <a:srgbClr val="FFFFFF"/>
                </a:solidFill>
              </a:rPr>
              <a:t>Um dia voc</a:t>
            </a:r>
            <a:r>
              <a:rPr lang="pt-BR" dirty="0" smtClean="0">
                <a:solidFill>
                  <a:srgbClr val="FFFFFF"/>
                </a:solidFill>
              </a:rPr>
              <a:t>ê vai dizer:</a:t>
            </a:r>
          </a:p>
          <a:p>
            <a:r>
              <a:rPr lang="pt-BR" dirty="0" smtClean="0">
                <a:solidFill>
                  <a:srgbClr val="FFFFFF"/>
                </a:solidFill>
              </a:rPr>
              <a:t>“Quero um estagiário ou funcionário”, daí seu </a:t>
            </a:r>
            <a:r>
              <a:rPr lang="pt-BR" b="1" dirty="0" smtClean="0">
                <a:solidFill>
                  <a:srgbClr val="FFFFFF"/>
                </a:solidFill>
              </a:rPr>
              <a:t>pesadelo</a:t>
            </a:r>
            <a:r>
              <a:rPr lang="pt-BR" dirty="0" smtClean="0">
                <a:solidFill>
                  <a:srgbClr val="FFFFFF"/>
                </a:solidFill>
              </a:rPr>
              <a:t> irá começar...</a:t>
            </a:r>
          </a:p>
          <a:p>
            <a:endParaRPr lang="pt-BR" dirty="0">
              <a:solidFill>
                <a:srgbClr val="FFFFFF"/>
              </a:solidFill>
            </a:endParaRPr>
          </a:p>
          <a:p>
            <a:r>
              <a:rPr lang="pt-BR" dirty="0" smtClean="0">
                <a:solidFill>
                  <a:srgbClr val="FFFFFF"/>
                </a:solidFill>
              </a:rPr>
              <a:t>Mas ele irá se tornar um </a:t>
            </a:r>
            <a:r>
              <a:rPr lang="pt-BR" b="1" dirty="0" smtClean="0">
                <a:solidFill>
                  <a:srgbClr val="FFFFFF"/>
                </a:solidFill>
              </a:rPr>
              <a:t>inferno</a:t>
            </a:r>
            <a:r>
              <a:rPr lang="pt-BR" dirty="0" smtClean="0">
                <a:solidFill>
                  <a:srgbClr val="FFFFFF"/>
                </a:solidFill>
              </a:rPr>
              <a:t> no dia que ouvir: “To indo nessa, me ofereceram uma proposta melhor”.</a:t>
            </a:r>
            <a:endParaRPr lang="pt-BR" dirty="0">
              <a:solidFill>
                <a:srgbClr val="FFFFFF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2667000"/>
            <a:ext cx="3975100" cy="39751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70092" y="609600"/>
            <a:ext cx="702642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200" dirty="0" smtClean="0"/>
              <a:t>Al</a:t>
            </a:r>
            <a:r>
              <a:rPr lang="pt-BR" sz="3200" dirty="0" smtClean="0"/>
              <a:t>ém disso, temos mais um pequeno, porém administrável, problema...</a:t>
            </a:r>
            <a:endParaRPr lang="pt-BR" sz="3200" dirty="0"/>
          </a:p>
        </p:txBody>
      </p:sp>
      <p:sp>
        <p:nvSpPr>
          <p:cNvPr id="6" name="TextBox 5"/>
          <p:cNvSpPr txBox="1"/>
          <p:nvPr/>
        </p:nvSpPr>
        <p:spPr>
          <a:xfrm>
            <a:off x="974574" y="2205335"/>
            <a:ext cx="704245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b="1" dirty="0" smtClean="0"/>
              <a:t>Estagiário</a:t>
            </a:r>
            <a:r>
              <a:rPr lang="pt-BR" dirty="0" smtClean="0"/>
              <a:t> agora tem direito a férias, e se você administrar errado e principalmente, se voc</a:t>
            </a:r>
            <a:r>
              <a:rPr lang="pt-BR" dirty="0" smtClean="0"/>
              <a:t>ê</a:t>
            </a:r>
            <a:r>
              <a:rPr lang="pt-BR" dirty="0" smtClean="0"/>
              <a:t> abusar, ele pode entrar no justi</a:t>
            </a:r>
            <a:r>
              <a:rPr lang="pt-BR" dirty="0" smtClean="0"/>
              <a:t>ça do trabalho, e num passe de mágica ele se torna um...</a:t>
            </a:r>
            <a:endParaRPr lang="pt-BR" dirty="0" smtClean="0"/>
          </a:p>
          <a:p>
            <a:pPr algn="ctr"/>
            <a:endParaRPr lang="pt-BR" dirty="0"/>
          </a:p>
        </p:txBody>
      </p:sp>
      <p:sp>
        <p:nvSpPr>
          <p:cNvPr id="7" name="TextBox 6"/>
          <p:cNvSpPr txBox="1"/>
          <p:nvPr/>
        </p:nvSpPr>
        <p:spPr>
          <a:xfrm>
            <a:off x="517374" y="3653135"/>
            <a:ext cx="397842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 smtClean="0"/>
              <a:t>Funcion</a:t>
            </a:r>
            <a:r>
              <a:rPr lang="pt-BR" b="1" dirty="0" smtClean="0"/>
              <a:t>ário CLT</a:t>
            </a:r>
            <a:r>
              <a:rPr lang="pt-BR" dirty="0" smtClean="0"/>
              <a:t>. São tantos impostos, regulamentos e detalhes em contratos. E se você não fizer tudo corretamente, num outro passe de mágica...</a:t>
            </a:r>
            <a:endParaRPr lang="pt-BR" dirty="0" smtClean="0"/>
          </a:p>
          <a:p>
            <a:endParaRPr lang="pt-BR" dirty="0"/>
          </a:p>
        </p:txBody>
      </p:sp>
      <p:sp>
        <p:nvSpPr>
          <p:cNvPr id="8" name="TextBox 7"/>
          <p:cNvSpPr txBox="1"/>
          <p:nvPr/>
        </p:nvSpPr>
        <p:spPr>
          <a:xfrm>
            <a:off x="517375" y="5257800"/>
            <a:ext cx="397842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smtClean="0"/>
              <a:t>Voc</a:t>
            </a:r>
            <a:r>
              <a:rPr lang="pt-BR" dirty="0" smtClean="0"/>
              <a:t>ê terá a </a:t>
            </a:r>
            <a:r>
              <a:rPr lang="pt-BR" b="1" dirty="0" smtClean="0"/>
              <a:t>justiça do trabalho </a:t>
            </a:r>
            <a:r>
              <a:rPr lang="pt-BR" dirty="0" smtClean="0"/>
              <a:t>no seu pescoço. E até que se prove o contrário, funcionários ganham mais do que os patrões, e as multas não são bacanas!</a:t>
            </a:r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560942" y="685800"/>
            <a:ext cx="5869716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200" dirty="0" smtClean="0"/>
              <a:t>M</a:t>
            </a:r>
            <a:r>
              <a:rPr lang="pt-BR" sz="3200" dirty="0" smtClean="0"/>
              <a:t>áximo cuidado com </a:t>
            </a:r>
            <a:r>
              <a:rPr lang="pt-BR" sz="3200" dirty="0" err="1" smtClean="0"/>
              <a:t>freelancers</a:t>
            </a:r>
            <a:r>
              <a:rPr lang="pt-BR" sz="3200" dirty="0" smtClean="0"/>
              <a:t>!</a:t>
            </a:r>
            <a:endParaRPr lang="pt-BR" sz="3200" dirty="0"/>
          </a:p>
        </p:txBody>
      </p:sp>
      <p:sp>
        <p:nvSpPr>
          <p:cNvPr id="5" name="TextBox 4"/>
          <p:cNvSpPr txBox="1"/>
          <p:nvPr/>
        </p:nvSpPr>
        <p:spPr>
          <a:xfrm>
            <a:off x="704850" y="3999636"/>
            <a:ext cx="7581900" cy="2585323"/>
          </a:xfrm>
          <a:prstGeom prst="rect">
            <a:avLst/>
          </a:prstGeom>
          <a:solidFill>
            <a:srgbClr val="FF6600">
              <a:alpha val="80000"/>
            </a:srgbClr>
          </a:solidFill>
        </p:spPr>
        <p:txBody>
          <a:bodyPr wrap="square" rtlCol="0">
            <a:spAutoFit/>
          </a:bodyPr>
          <a:lstStyle/>
          <a:p>
            <a:r>
              <a:rPr lang="pt-BR" dirty="0" smtClean="0">
                <a:solidFill>
                  <a:srgbClr val="FFFFFF"/>
                </a:solidFill>
              </a:rPr>
              <a:t>Algumas dicas:</a:t>
            </a:r>
          </a:p>
          <a:p>
            <a:endParaRPr lang="pt-BR" dirty="0" smtClean="0">
              <a:solidFill>
                <a:srgbClr val="FFFFFF"/>
              </a:solidFill>
            </a:endParaRPr>
          </a:p>
          <a:p>
            <a:pPr>
              <a:buFont typeface="Arial"/>
              <a:buChar char="•"/>
            </a:pPr>
            <a:r>
              <a:rPr lang="pt-BR" dirty="0" smtClean="0">
                <a:solidFill>
                  <a:srgbClr val="FFFFFF"/>
                </a:solidFill>
              </a:rPr>
              <a:t> Tenha </a:t>
            </a:r>
            <a:r>
              <a:rPr lang="pt-BR" dirty="0" err="1" smtClean="0">
                <a:solidFill>
                  <a:srgbClr val="FFFFFF"/>
                </a:solidFill>
              </a:rPr>
              <a:t>freelancers</a:t>
            </a:r>
            <a:r>
              <a:rPr lang="pt-BR" dirty="0" smtClean="0">
                <a:solidFill>
                  <a:srgbClr val="FFFFFF"/>
                </a:solidFill>
              </a:rPr>
              <a:t> de confiança, vários;</a:t>
            </a:r>
          </a:p>
          <a:p>
            <a:pPr>
              <a:buFont typeface="Arial"/>
              <a:buChar char="•"/>
            </a:pPr>
            <a:r>
              <a:rPr lang="pt-BR" dirty="0" smtClean="0">
                <a:solidFill>
                  <a:srgbClr val="FFFFFF"/>
                </a:solidFill>
              </a:rPr>
              <a:t> Peça nota </a:t>
            </a:r>
            <a:r>
              <a:rPr lang="pt-BR" dirty="0" smtClean="0">
                <a:solidFill>
                  <a:srgbClr val="FFFFFF"/>
                </a:solidFill>
              </a:rPr>
              <a:t>ou RPA</a:t>
            </a:r>
            <a:r>
              <a:rPr lang="pt-BR" dirty="0" smtClean="0">
                <a:solidFill>
                  <a:srgbClr val="FFFFFF"/>
                </a:solidFill>
              </a:rPr>
              <a:t>;</a:t>
            </a:r>
          </a:p>
          <a:p>
            <a:pPr>
              <a:buFont typeface="Arial"/>
              <a:buChar char="•"/>
            </a:pPr>
            <a:r>
              <a:rPr lang="pt-BR" dirty="0" smtClean="0">
                <a:solidFill>
                  <a:srgbClr val="FFFFFF"/>
                </a:solidFill>
              </a:rPr>
              <a:t> Se for RPA, evite usar o mesmo mais de 3 vezes em 90 dias;</a:t>
            </a:r>
          </a:p>
          <a:p>
            <a:pPr>
              <a:buFont typeface="Arial"/>
              <a:buChar char="•"/>
            </a:pPr>
            <a:r>
              <a:rPr lang="pt-BR" dirty="0" smtClean="0">
                <a:solidFill>
                  <a:srgbClr val="FFFFFF"/>
                </a:solidFill>
              </a:rPr>
              <a:t> Evite criar </a:t>
            </a:r>
            <a:r>
              <a:rPr lang="pt-BR" dirty="0" err="1" smtClean="0">
                <a:solidFill>
                  <a:srgbClr val="FFFFFF"/>
                </a:solidFill>
              </a:rPr>
              <a:t>frequencia</a:t>
            </a:r>
            <a:r>
              <a:rPr lang="pt-BR" dirty="0" smtClean="0">
                <a:solidFill>
                  <a:srgbClr val="FFFFFF"/>
                </a:solidFill>
              </a:rPr>
              <a:t> no trabalho;</a:t>
            </a:r>
          </a:p>
          <a:p>
            <a:pPr>
              <a:buFont typeface="Arial"/>
              <a:buChar char="•"/>
            </a:pPr>
            <a:r>
              <a:rPr lang="pt-BR" dirty="0" smtClean="0">
                <a:solidFill>
                  <a:srgbClr val="FFFFFF"/>
                </a:solidFill>
              </a:rPr>
              <a:t> Nunca negocie valores fixos por mês, se for assim, contrate logo;</a:t>
            </a:r>
          </a:p>
          <a:p>
            <a:pPr>
              <a:buFont typeface="Arial"/>
              <a:buChar char="•"/>
            </a:pPr>
            <a:r>
              <a:rPr lang="pt-BR" dirty="0" smtClean="0">
                <a:solidFill>
                  <a:srgbClr val="FFFFFF"/>
                </a:solidFill>
              </a:rPr>
              <a:t> Nunca sugira ou prometa emprego ou contratação, em especial, nunca documente isso num e-mail. </a:t>
            </a:r>
            <a:endParaRPr lang="pt-BR" dirty="0">
              <a:solidFill>
                <a:srgbClr val="FFFFFF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952500" y="1828800"/>
            <a:ext cx="708660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dirty="0" smtClean="0"/>
              <a:t>A lei aqui é cruel, se não é empresa é funcionário. Não existe essa de trabalhador informal para a receita federal.</a:t>
            </a:r>
          </a:p>
          <a:p>
            <a:pPr algn="ctr"/>
            <a:endParaRPr lang="pt-BR" dirty="0" smtClean="0"/>
          </a:p>
          <a:p>
            <a:pPr algn="ctr"/>
            <a:r>
              <a:rPr lang="pt-BR" dirty="0" err="1" smtClean="0"/>
              <a:t>Freelas</a:t>
            </a:r>
            <a:r>
              <a:rPr lang="pt-BR" dirty="0" smtClean="0"/>
              <a:t> podem, depois de fazer alguns </a:t>
            </a:r>
            <a:r>
              <a:rPr lang="pt-BR" dirty="0" err="1" smtClean="0"/>
              <a:t>jobs</a:t>
            </a:r>
            <a:r>
              <a:rPr lang="pt-BR" dirty="0" smtClean="0"/>
              <a:t>, entrar na justiça do trabalho e pedir seus direitos, e acredite, ele tem esses direitos.</a:t>
            </a:r>
            <a:endParaRPr lang="pt-BR" dirty="0" smtClean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124200" y="685800"/>
            <a:ext cx="2743200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sz="3200" dirty="0" smtClean="0"/>
              <a:t>Planejando para ser feliz.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09700" y="2209800"/>
            <a:ext cx="6172200" cy="3139321"/>
          </a:xfrm>
          <a:prstGeom prst="rect">
            <a:avLst/>
          </a:prstGeom>
          <a:solidFill>
            <a:srgbClr val="FF6600">
              <a:alpha val="80000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pt-BR" b="1" dirty="0" smtClean="0">
                <a:solidFill>
                  <a:srgbClr val="FFFFFF"/>
                </a:solidFill>
              </a:rPr>
              <a:t>Se pergunte:</a:t>
            </a:r>
          </a:p>
          <a:p>
            <a:pPr algn="ctr"/>
            <a:endParaRPr lang="pt-BR" b="1" dirty="0" smtClean="0">
              <a:solidFill>
                <a:srgbClr val="FFFFFF"/>
              </a:solidFill>
            </a:endParaRPr>
          </a:p>
          <a:p>
            <a:pPr algn="ctr">
              <a:buFontTx/>
              <a:buChar char="•"/>
            </a:pPr>
            <a:r>
              <a:rPr lang="pt-BR" dirty="0" smtClean="0">
                <a:solidFill>
                  <a:srgbClr val="FFFFFF"/>
                </a:solidFill>
              </a:rPr>
              <a:t> Porque quero ter um negócio? </a:t>
            </a:r>
          </a:p>
          <a:p>
            <a:pPr algn="ctr">
              <a:buFontTx/>
              <a:buChar char="•"/>
            </a:pPr>
            <a:r>
              <a:rPr lang="pt-BR" dirty="0" smtClean="0">
                <a:solidFill>
                  <a:srgbClr val="FFFFFF"/>
                </a:solidFill>
              </a:rPr>
              <a:t> O que devo vender?</a:t>
            </a:r>
          </a:p>
          <a:p>
            <a:pPr algn="ctr">
              <a:buFontTx/>
              <a:buChar char="•"/>
            </a:pPr>
            <a:r>
              <a:rPr lang="pt-BR" dirty="0" smtClean="0">
                <a:solidFill>
                  <a:srgbClr val="FFFFFF"/>
                </a:solidFill>
              </a:rPr>
              <a:t> Como devo vender?</a:t>
            </a:r>
          </a:p>
          <a:p>
            <a:pPr algn="ctr">
              <a:buFontTx/>
              <a:buChar char="•"/>
            </a:pPr>
            <a:r>
              <a:rPr lang="pt-BR" dirty="0" smtClean="0">
                <a:solidFill>
                  <a:srgbClr val="FFFFFF"/>
                </a:solidFill>
              </a:rPr>
              <a:t> Quanto quero ganhar?</a:t>
            </a:r>
            <a:endParaRPr lang="pt-BR" dirty="0" smtClean="0">
              <a:solidFill>
                <a:srgbClr val="FFFFFF"/>
              </a:solidFill>
            </a:endParaRPr>
          </a:p>
          <a:p>
            <a:pPr algn="ctr">
              <a:buFontTx/>
              <a:buChar char="•"/>
            </a:pPr>
            <a:r>
              <a:rPr lang="pt-BR" dirty="0" smtClean="0">
                <a:solidFill>
                  <a:srgbClr val="FFFFFF"/>
                </a:solidFill>
              </a:rPr>
              <a:t> Quem s</a:t>
            </a:r>
            <a:r>
              <a:rPr lang="pt-BR" dirty="0" smtClean="0">
                <a:solidFill>
                  <a:srgbClr val="FFFFFF"/>
                </a:solidFill>
              </a:rPr>
              <a:t>ão meus concorrentes</a:t>
            </a:r>
            <a:r>
              <a:rPr lang="pt-BR" dirty="0" smtClean="0">
                <a:solidFill>
                  <a:srgbClr val="FFFFFF"/>
                </a:solidFill>
              </a:rPr>
              <a:t>?</a:t>
            </a:r>
          </a:p>
          <a:p>
            <a:pPr algn="ctr">
              <a:buFontTx/>
              <a:buChar char="•"/>
            </a:pPr>
            <a:r>
              <a:rPr lang="pt-BR" dirty="0" smtClean="0">
                <a:solidFill>
                  <a:srgbClr val="FFFFFF"/>
                </a:solidFill>
              </a:rPr>
              <a:t> Quanto ele cobra?</a:t>
            </a:r>
          </a:p>
          <a:p>
            <a:pPr algn="ctr">
              <a:buFontTx/>
              <a:buChar char="•"/>
            </a:pPr>
            <a:r>
              <a:rPr lang="pt-BR" dirty="0" smtClean="0">
                <a:solidFill>
                  <a:srgbClr val="FFFFFF"/>
                </a:solidFill>
              </a:rPr>
              <a:t> O que faço de diferente?</a:t>
            </a:r>
          </a:p>
          <a:p>
            <a:pPr algn="ctr">
              <a:buFontTx/>
              <a:buChar char="•"/>
            </a:pPr>
            <a:r>
              <a:rPr lang="pt-BR" dirty="0" smtClean="0">
                <a:solidFill>
                  <a:srgbClr val="FFFFFF"/>
                </a:solidFill>
              </a:rPr>
              <a:t> O que quero ser quando crescer?</a:t>
            </a:r>
          </a:p>
          <a:p>
            <a:pPr algn="ctr">
              <a:buFontTx/>
              <a:buChar char="•"/>
            </a:pPr>
            <a:r>
              <a:rPr lang="pt-BR" dirty="0" smtClean="0">
                <a:solidFill>
                  <a:srgbClr val="FFFFFF"/>
                </a:solidFill>
              </a:rPr>
              <a:t> Como chegar lá?</a:t>
            </a:r>
            <a:endParaRPr lang="pt-BR" dirty="0">
              <a:solidFill>
                <a:srgbClr val="FFFFFF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286000" y="5678269"/>
            <a:ext cx="4572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pt-BR" dirty="0" smtClean="0"/>
              <a:t>Cada decisão conta, e ela deve ser pensada e repensada antes de agir.</a:t>
            </a:r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alphaModFix/>
            <a:lum bright="20000" contrast="15000"/>
          </a:blip>
          <a:srcRect l="6787" r="532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828800" y="1828562"/>
            <a:ext cx="5334000" cy="3539430"/>
          </a:xfrm>
          <a:prstGeom prst="rect">
            <a:avLst/>
          </a:prstGeom>
          <a:solidFill>
            <a:srgbClr val="FF6600">
              <a:alpha val="80000"/>
            </a:srgbClr>
          </a:solidFill>
        </p:spPr>
        <p:txBody>
          <a:bodyPr wrap="square">
            <a:spAutoFit/>
          </a:bodyPr>
          <a:lstStyle/>
          <a:p>
            <a:pPr algn="ctr"/>
            <a:r>
              <a:rPr lang="pt-BR" sz="3200" dirty="0" smtClean="0">
                <a:solidFill>
                  <a:srgbClr val="FFFFFF"/>
                </a:solidFill>
              </a:rPr>
              <a:t>Planos de negócios</a:t>
            </a:r>
          </a:p>
          <a:p>
            <a:pPr algn="ctr"/>
            <a:r>
              <a:rPr lang="pt-BR" sz="3200" dirty="0" smtClean="0">
                <a:solidFill>
                  <a:srgbClr val="FFFFFF"/>
                </a:solidFill>
              </a:rPr>
              <a:t>=</a:t>
            </a:r>
          </a:p>
          <a:p>
            <a:pPr algn="ctr"/>
            <a:r>
              <a:rPr lang="pt-BR" sz="3200" dirty="0" smtClean="0">
                <a:solidFill>
                  <a:srgbClr val="FFFFFF"/>
                </a:solidFill>
              </a:rPr>
              <a:t>Quem sou e onde quero chegar.</a:t>
            </a:r>
          </a:p>
          <a:p>
            <a:pPr algn="ctr"/>
            <a:endParaRPr lang="pt-BR" sz="3200" dirty="0" smtClean="0">
              <a:solidFill>
                <a:srgbClr val="FFFFFF"/>
              </a:solidFill>
            </a:endParaRPr>
          </a:p>
          <a:p>
            <a:pPr algn="ctr"/>
            <a:r>
              <a:rPr lang="pt-BR" sz="2800" dirty="0" smtClean="0">
                <a:solidFill>
                  <a:srgbClr val="FFFFFF"/>
                </a:solidFill>
              </a:rPr>
              <a:t>Ser</a:t>
            </a:r>
            <a:r>
              <a:rPr lang="pt-BR" sz="2800" dirty="0" smtClean="0">
                <a:solidFill>
                  <a:srgbClr val="FFFFFF"/>
                </a:solidFill>
              </a:rPr>
              <a:t>á sua bússola nesse selvagem mundo capitalista ;-)</a:t>
            </a:r>
            <a:endParaRPr lang="pt-BR" sz="2800" dirty="0" smtClean="0">
              <a:solidFill>
                <a:srgbClr val="FFFFFF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628900" y="609600"/>
            <a:ext cx="3733800" cy="5847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sz="3200" dirty="0" smtClean="0"/>
              <a:t>Para o dia a dia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24000" y="2286000"/>
            <a:ext cx="6019800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 smtClean="0"/>
              <a:t>Planilhas: elas realmente s</a:t>
            </a:r>
            <a:r>
              <a:rPr lang="pt-BR" sz="2400" b="1" dirty="0" smtClean="0"/>
              <a:t>ão necessárias.</a:t>
            </a:r>
          </a:p>
          <a:p>
            <a:endParaRPr lang="pt-BR" dirty="0" smtClean="0"/>
          </a:p>
          <a:p>
            <a:r>
              <a:rPr lang="pt-BR" dirty="0" smtClean="0"/>
              <a:t>Use-as para fluxo de caixa, gestão de clientes, gestão de fornecedores, cálculo de valor/hora, planejamento e etc.</a:t>
            </a:r>
          </a:p>
          <a:p>
            <a:endParaRPr lang="pt-BR" dirty="0" smtClean="0"/>
          </a:p>
          <a:p>
            <a:r>
              <a:rPr lang="pt-BR" b="1" dirty="0" smtClean="0"/>
              <a:t>Dica 1: </a:t>
            </a:r>
            <a:r>
              <a:rPr lang="pt-BR" dirty="0" smtClean="0"/>
              <a:t>Eu uso o </a:t>
            </a:r>
            <a:r>
              <a:rPr lang="pt-BR" dirty="0" err="1" smtClean="0"/>
              <a:t>dropbox</a:t>
            </a:r>
            <a:r>
              <a:rPr lang="pt-BR" dirty="0" smtClean="0"/>
              <a:t> e tenho as pastas dividias em assuntos (finanças, contratos, orçamentos e </a:t>
            </a:r>
            <a:r>
              <a:rPr lang="pt-BR" dirty="0" err="1" smtClean="0"/>
              <a:t>etc</a:t>
            </a:r>
            <a:r>
              <a:rPr lang="pt-BR" dirty="0" smtClean="0"/>
              <a:t>). Compartilho apenas com os meus sócios.</a:t>
            </a:r>
          </a:p>
          <a:p>
            <a:endParaRPr lang="pt-BR" dirty="0" smtClean="0"/>
          </a:p>
          <a:p>
            <a:r>
              <a:rPr lang="pt-BR" b="1" dirty="0" smtClean="0"/>
              <a:t>Dica 2: </a:t>
            </a:r>
            <a:r>
              <a:rPr lang="pt-BR" dirty="0" smtClean="0"/>
              <a:t>Eu passei a usar uma ferramenta online chamada </a:t>
            </a:r>
            <a:r>
              <a:rPr lang="pt-BR" dirty="0" err="1" smtClean="0"/>
              <a:t>bling</a:t>
            </a:r>
            <a:r>
              <a:rPr lang="pt-BR" dirty="0" smtClean="0"/>
              <a:t> (bling.com.</a:t>
            </a:r>
            <a:r>
              <a:rPr lang="pt-BR" dirty="0" err="1" smtClean="0"/>
              <a:t>br</a:t>
            </a:r>
            <a:r>
              <a:rPr lang="pt-BR" dirty="0" smtClean="0"/>
              <a:t>). É ótima para fluxo de caixa, é de graça na sua versão mais básica.</a:t>
            </a:r>
          </a:p>
          <a:p>
            <a:endParaRPr lang="pt-BR" dirty="0" smtClean="0"/>
          </a:p>
          <a:p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943100" y="457200"/>
            <a:ext cx="5105400" cy="5847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sz="3200" dirty="0" smtClean="0"/>
              <a:t>Dicas finais</a:t>
            </a:r>
            <a:endParaRPr lang="pt-BR" sz="3200" dirty="0"/>
          </a:p>
        </p:txBody>
      </p:sp>
      <p:sp>
        <p:nvSpPr>
          <p:cNvPr id="5" name="TextBox 4"/>
          <p:cNvSpPr txBox="1"/>
          <p:nvPr/>
        </p:nvSpPr>
        <p:spPr>
          <a:xfrm>
            <a:off x="1219200" y="2514600"/>
            <a:ext cx="693420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 smtClean="0"/>
              <a:t>Livros:</a:t>
            </a:r>
          </a:p>
          <a:p>
            <a:pPr>
              <a:buFont typeface="Arial"/>
              <a:buChar char="•"/>
            </a:pPr>
            <a:r>
              <a:rPr lang="pt-BR" dirty="0" smtClean="0"/>
              <a:t> Lino Pinto, Ant</a:t>
            </a:r>
            <a:r>
              <a:rPr lang="pt-BR" dirty="0" smtClean="0"/>
              <a:t>ônio: </a:t>
            </a:r>
            <a:r>
              <a:rPr lang="pt-BR" dirty="0" smtClean="0"/>
              <a:t>Pequenas ag</a:t>
            </a:r>
            <a:r>
              <a:rPr lang="pt-BR" dirty="0" smtClean="0"/>
              <a:t>ências, grandes resultados. Clio editora, 2011</a:t>
            </a:r>
          </a:p>
          <a:p>
            <a:pPr>
              <a:buFont typeface="Arial"/>
              <a:buChar char="•"/>
            </a:pPr>
            <a:r>
              <a:rPr lang="pt-BR" dirty="0" smtClean="0"/>
              <a:t> Socorro: Tenho uma empresa. </a:t>
            </a:r>
            <a:r>
              <a:rPr lang="pt-BR" dirty="0" err="1" smtClean="0"/>
              <a:t>Adempe</a:t>
            </a:r>
            <a:r>
              <a:rPr lang="pt-BR" dirty="0" smtClean="0"/>
              <a:t> editora, 1997</a:t>
            </a:r>
          </a:p>
          <a:p>
            <a:pPr>
              <a:buFont typeface="Arial"/>
              <a:buChar char="•"/>
            </a:pPr>
            <a:r>
              <a:rPr lang="pt-BR" dirty="0" smtClean="0"/>
              <a:t> Vários livros e apostilas que o SEBRAE disponibiliza de graça.</a:t>
            </a:r>
          </a:p>
          <a:p>
            <a:endParaRPr lang="pt-BR" dirty="0" smtClean="0"/>
          </a:p>
          <a:p>
            <a:r>
              <a:rPr lang="pt-BR" b="1" dirty="0" smtClean="0"/>
              <a:t>Sites úteis:</a:t>
            </a:r>
          </a:p>
          <a:p>
            <a:r>
              <a:rPr lang="pt-BR" dirty="0" smtClean="0"/>
              <a:t>SEBRAE: </a:t>
            </a:r>
            <a:r>
              <a:rPr lang="pt-BR" dirty="0" smtClean="0">
                <a:hlinkClick r:id="rId2"/>
              </a:rPr>
              <a:t>http://www.sebraepr.com.br/</a:t>
            </a:r>
            <a:endParaRPr lang="pt-BR" dirty="0" smtClean="0"/>
          </a:p>
          <a:p>
            <a:r>
              <a:rPr lang="pt-BR" dirty="0" smtClean="0"/>
              <a:t>Programa Bom Neg</a:t>
            </a:r>
            <a:r>
              <a:rPr lang="pt-BR" dirty="0" smtClean="0"/>
              <a:t>ócio: </a:t>
            </a:r>
            <a:r>
              <a:rPr lang="pt-BR" dirty="0" smtClean="0">
                <a:hlinkClick r:id="rId3"/>
              </a:rPr>
              <a:t>http://www.agencia.curitiba.pr.gov.br</a:t>
            </a:r>
            <a:endParaRPr lang="pt-BR" dirty="0" smtClean="0"/>
          </a:p>
          <a:p>
            <a:endParaRPr lang="pt-BR" dirty="0" smtClean="0"/>
          </a:p>
          <a:p>
            <a:endParaRPr lang="pt-BR" dirty="0" smtClean="0"/>
          </a:p>
          <a:p>
            <a:endParaRPr lang="pt-BR" dirty="0" smtClean="0"/>
          </a:p>
          <a:p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4365010"/>
            <a:ext cx="7543800" cy="461665"/>
          </a:xfrm>
          <a:prstGeom prst="rect">
            <a:avLst/>
          </a:prstGeom>
          <a:solidFill>
            <a:srgbClr val="FF6600">
              <a:alpha val="0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pt-BR" sz="2400" b="1" dirty="0" smtClean="0">
                <a:solidFill>
                  <a:srgbClr val="FFFFFF"/>
                </a:solidFill>
              </a:rPr>
              <a:t>Se pergunte: Porque acordo toda manhã e vou trabalhar?</a:t>
            </a:r>
            <a:endParaRPr lang="pt-BR" dirty="0">
              <a:solidFill>
                <a:srgbClr val="FFFFFF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413439" y="381000"/>
            <a:ext cx="4164722" cy="107721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pt-BR" sz="3200" dirty="0" smtClean="0"/>
              <a:t>Acima de tudo, faça seu</a:t>
            </a:r>
          </a:p>
          <a:p>
            <a:pPr algn="ctr"/>
            <a:r>
              <a:rPr lang="pt-BR" sz="3200" dirty="0" smtClean="0"/>
              <a:t>negócio ter sentido</a:t>
            </a:r>
            <a:endParaRPr lang="pt-BR" sz="3200" dirty="0"/>
          </a:p>
        </p:txBody>
      </p:sp>
      <p:sp>
        <p:nvSpPr>
          <p:cNvPr id="7" name="Rectangle 6"/>
          <p:cNvSpPr/>
          <p:nvPr/>
        </p:nvSpPr>
        <p:spPr>
          <a:xfrm>
            <a:off x="2209800" y="4951273"/>
            <a:ext cx="4572000" cy="1754327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pt-BR" dirty="0" smtClean="0">
                <a:solidFill>
                  <a:srgbClr val="FFFFFF"/>
                </a:solidFill>
              </a:rPr>
              <a:t>Dinheiro não é a maior razão para ninguém trabalhar, principalmente ter um negócio.</a:t>
            </a:r>
          </a:p>
          <a:p>
            <a:pPr algn="ctr"/>
            <a:endParaRPr lang="pt-BR" dirty="0" smtClean="0">
              <a:solidFill>
                <a:srgbClr val="FFFFFF"/>
              </a:solidFill>
            </a:endParaRPr>
          </a:p>
          <a:p>
            <a:pPr algn="ctr"/>
            <a:r>
              <a:rPr lang="pt-BR" dirty="0" smtClean="0">
                <a:solidFill>
                  <a:srgbClr val="FFFFFF"/>
                </a:solidFill>
              </a:rPr>
              <a:t> Ame o que faz, compartilhe com as pessoas, faça o seu trabalho melhorar a sociedade.</a:t>
            </a:r>
          </a:p>
          <a:p>
            <a:pPr algn="ctr"/>
            <a:r>
              <a:rPr lang="pt-BR" dirty="0" smtClean="0">
                <a:solidFill>
                  <a:srgbClr val="FFFFFF"/>
                </a:solidFill>
              </a:rPr>
              <a:t>O dinheiro chegará!</a:t>
            </a:r>
            <a:endParaRPr lang="pt-BR"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3048000" y="5715000"/>
            <a:ext cx="2971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 smtClean="0"/>
              <a:t>leo@ag</a:t>
            </a:r>
            <a:r>
              <a:rPr lang="pt-BR" sz="2400" dirty="0" smtClean="0"/>
              <a:t>enciaq.com.br</a:t>
            </a:r>
            <a:endParaRPr lang="pt-BR" sz="2400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324819" cy="4419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038600" y="228600"/>
            <a:ext cx="4572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sz="3200" dirty="0" smtClean="0"/>
              <a:t>Nem doeu tanto assim...</a:t>
            </a:r>
          </a:p>
          <a:p>
            <a:pPr algn="r"/>
            <a:endParaRPr lang="pt-BR" sz="3200" dirty="0" smtClean="0"/>
          </a:p>
          <a:p>
            <a:pPr algn="r"/>
            <a:r>
              <a:rPr lang="pt-BR" sz="3200" dirty="0" smtClean="0"/>
              <a:t>Obrigado!</a:t>
            </a:r>
            <a:endParaRPr lang="pt-BR" sz="3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5038</TotalTime>
  <Words>1213</Words>
  <Application>Microsoft Macintosh PowerPoint</Application>
  <PresentationFormat>On-screen Show (4:3)</PresentationFormat>
  <Paragraphs>129</Paragraphs>
  <Slides>25</Slides>
  <Notes>2</Notes>
  <HiddenSlides>0</HiddenSlides>
  <MMClips>0</MMClips>
  <ScaleCrop>false</ScaleCrop>
  <HeadingPairs>
    <vt:vector size="4" baseType="variant">
      <vt:variant>
        <vt:lpstr>Design Template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6" baseType="lpstr"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zzzzzzzz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leonardo</dc:creator>
  <cp:lastModifiedBy>leonardo</cp:lastModifiedBy>
  <cp:revision>162</cp:revision>
  <dcterms:created xsi:type="dcterms:W3CDTF">2011-10-30T14:09:40Z</dcterms:created>
  <dcterms:modified xsi:type="dcterms:W3CDTF">2011-11-03T02:08:32Z</dcterms:modified>
</cp:coreProperties>
</file>